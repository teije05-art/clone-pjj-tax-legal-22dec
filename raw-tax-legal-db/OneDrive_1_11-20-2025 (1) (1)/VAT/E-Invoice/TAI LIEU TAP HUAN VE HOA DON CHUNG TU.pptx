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diagrams/data1.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2.xml" ContentType="application/vnd.openxmlformats-officedocument.drawingml.diagramData+xml"/>
  <Override PartName="/ppt/presentation.xml" ContentType="application/vnd.openxmlformats-officedocument.presentationml.presentation.main+xml"/>
  <Override PartName="/ppt/slides/slide3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77.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95.xml" ContentType="application/vnd.openxmlformats-officedocument.presentationml.slide+xml"/>
  <Override PartName="/ppt/slides/slide94.xml" ContentType="application/vnd.openxmlformats-officedocument.presentationml.slide+xml"/>
  <Override PartName="/ppt/slides/slide93.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71.xml" ContentType="application/vnd.openxmlformats-officedocument.presentationml.slide+xml"/>
  <Override PartName="/ppt/slides/slide70.xml" ContentType="application/vnd.openxmlformats-officedocument.presentationml.slide+xml"/>
  <Override PartName="/ppt/slides/slide69.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3.xml" ContentType="application/vnd.openxmlformats-officedocument.presentationml.slide+xml"/>
  <Override PartName="/ppt/slides/slide62.xml" ContentType="application/vnd.openxmlformats-officedocument.presentationml.slide+xml"/>
  <Override PartName="/ppt/slides/slide61.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2.xml" ContentType="application/vnd.openxmlformats-officedocument.presentationml.slide+xml"/>
  <Override PartName="/ppt/slides/slide3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21.xml" ContentType="application/vnd.openxmlformats-officedocument.presentationml.slide+xml"/>
  <Override PartName="/ppt/slides/slide13.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109.xml" ContentType="application/vnd.openxmlformats-officedocument.presentationml.slide+xml"/>
  <Override PartName="/ppt/slides/slide108.xml" ContentType="application/vnd.openxmlformats-officedocument.presentationml.slide+xml"/>
  <Override PartName="/ppt/slides/slide107.xml" ContentType="application/vnd.openxmlformats-officedocument.presentationml.slide+xml"/>
  <Override PartName="/ppt/slides/slide106.xml" ContentType="application/vnd.openxmlformats-officedocument.presentationml.slide+xml"/>
  <Override PartName="/ppt/slides/slide105.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104.xml" ContentType="application/vnd.openxmlformats-officedocument.presentationml.slide+xml"/>
  <Override PartName="/ppt/slides/slide3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3.xml" ContentType="application/vnd.openxmlformats-officedocument.presentationml.slide+xml"/>
  <Override PartName="/ppt/slides/slide29.xml" ContentType="application/vnd.openxmlformats-officedocument.presentationml.slide+xml"/>
  <Override PartName="/ppt/slides/slide31.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notesSlides/notesSlide2.xml" ContentType="application/vnd.openxmlformats-officedocument.presentationml.notesSlide+xml"/>
  <Override PartName="/ppt/slideLayouts/slideLayout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notesMasters/notesMaster1.xml" ContentType="application/vnd.openxmlformats-officedocument.presentationml.notesMaster+xml"/>
  <Override PartName="/ppt/theme/theme2.xml" ContentType="application/vnd.openxmlformats-officedocument.theme+xml"/>
  <Override PartName="/ppt/theme/theme3.xml" ContentType="application/vnd.openxmlformats-officedocument.them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diagrams/layout2.xml" ContentType="application/vnd.openxmlformats-officedocument.drawingml.diagramLayout+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colors4.xml" ContentType="application/vnd.openxmlformats-officedocument.drawingml.diagramColors+xml"/>
  <Override PartName="/ppt/diagrams/drawing4.xml" ContentType="application/vnd.ms-office.drawingml.diagramDrawing+xml"/>
  <Override PartName="/ppt/diagrams/layout4.xml" ContentType="application/vnd.openxmlformats-officedocument.drawingml.diagramLayout+xml"/>
  <Override PartName="/ppt/diagrams/quickStyle4.xml" ContentType="application/vnd.openxmlformats-officedocument.drawingml.diagramStyle+xml"/>
  <Override PartName="/ppt/theme/theme1.xml" ContentType="application/vnd.openxmlformats-officedocument.theme+xml"/>
  <Override PartName="/ppt/diagrams/drawing2.xml" ContentType="application/vnd.ms-office.drawingml.diagramDrawing+xml"/>
  <Override PartName="/ppt/diagrams/colors2.xml" ContentType="application/vnd.openxmlformats-officedocument.drawingml.diagramColors+xml"/>
  <Override PartName="/ppt/diagrams/quickStyle3.xml" ContentType="application/vnd.openxmlformats-officedocument.drawingml.diagramStyle+xml"/>
  <Override PartName="/ppt/diagrams/layout3.xml" ContentType="application/vnd.openxmlformats-officedocument.drawingml.diagramLayout+xml"/>
  <Override PartName="/ppt/diagrams/drawing3.xml" ContentType="application/vnd.ms-office.drawingml.diagramDrawing+xml"/>
  <Override PartName="/ppt/diagrams/colors3.xml" ContentType="application/vnd.openxmlformats-officedocument.drawingml.diagramColors+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notesMasterIdLst>
    <p:notesMasterId r:id="rId111"/>
  </p:notesMasterIdLst>
  <p:handoutMasterIdLst>
    <p:handoutMasterId r:id="rId112"/>
  </p:handoutMasterIdLst>
  <p:sldIdLst>
    <p:sldId id="256" r:id="rId2"/>
    <p:sldId id="257" r:id="rId3"/>
    <p:sldId id="258" r:id="rId4"/>
    <p:sldId id="259" r:id="rId5"/>
    <p:sldId id="260" r:id="rId6"/>
    <p:sldId id="262" r:id="rId7"/>
    <p:sldId id="263" r:id="rId8"/>
    <p:sldId id="264" r:id="rId9"/>
    <p:sldId id="265" r:id="rId10"/>
    <p:sldId id="266" r:id="rId11"/>
    <p:sldId id="282" r:id="rId12"/>
    <p:sldId id="268" r:id="rId13"/>
    <p:sldId id="269" r:id="rId14"/>
    <p:sldId id="270" r:id="rId15"/>
    <p:sldId id="446" r:id="rId16"/>
    <p:sldId id="457" r:id="rId17"/>
    <p:sldId id="283" r:id="rId18"/>
    <p:sldId id="284" r:id="rId19"/>
    <p:sldId id="448" r:id="rId20"/>
    <p:sldId id="295" r:id="rId21"/>
    <p:sldId id="297" r:id="rId22"/>
    <p:sldId id="285" r:id="rId23"/>
    <p:sldId id="286" r:id="rId24"/>
    <p:sldId id="449" r:id="rId25"/>
    <p:sldId id="450" r:id="rId26"/>
    <p:sldId id="451" r:id="rId27"/>
    <p:sldId id="452" r:id="rId28"/>
    <p:sldId id="453" r:id="rId29"/>
    <p:sldId id="454" r:id="rId30"/>
    <p:sldId id="455" r:id="rId31"/>
    <p:sldId id="456" r:id="rId32"/>
    <p:sldId id="301" r:id="rId33"/>
    <p:sldId id="302" r:id="rId34"/>
    <p:sldId id="303" r:id="rId35"/>
    <p:sldId id="304" r:id="rId36"/>
    <p:sldId id="305" r:id="rId37"/>
    <p:sldId id="307" r:id="rId38"/>
    <p:sldId id="325" r:id="rId39"/>
    <p:sldId id="407" r:id="rId40"/>
    <p:sldId id="408" r:id="rId41"/>
    <p:sldId id="409" r:id="rId42"/>
    <p:sldId id="410" r:id="rId43"/>
    <p:sldId id="327" r:id="rId44"/>
    <p:sldId id="415" r:id="rId45"/>
    <p:sldId id="416" r:id="rId46"/>
    <p:sldId id="328" r:id="rId47"/>
    <p:sldId id="418" r:id="rId48"/>
    <p:sldId id="419" r:id="rId49"/>
    <p:sldId id="420" r:id="rId50"/>
    <p:sldId id="329" r:id="rId51"/>
    <p:sldId id="330" r:id="rId52"/>
    <p:sldId id="331" r:id="rId53"/>
    <p:sldId id="332" r:id="rId54"/>
    <p:sldId id="333" r:id="rId55"/>
    <p:sldId id="334" r:id="rId56"/>
    <p:sldId id="335" r:id="rId57"/>
    <p:sldId id="336" r:id="rId58"/>
    <p:sldId id="404" r:id="rId59"/>
    <p:sldId id="405" r:id="rId60"/>
    <p:sldId id="406" r:id="rId61"/>
    <p:sldId id="337" r:id="rId62"/>
    <p:sldId id="338" r:id="rId63"/>
    <p:sldId id="421" r:id="rId64"/>
    <p:sldId id="423" r:id="rId65"/>
    <p:sldId id="424" r:id="rId66"/>
    <p:sldId id="462" r:id="rId67"/>
    <p:sldId id="339" r:id="rId68"/>
    <p:sldId id="340" r:id="rId69"/>
    <p:sldId id="425" r:id="rId70"/>
    <p:sldId id="426" r:id="rId71"/>
    <p:sldId id="427" r:id="rId72"/>
    <p:sldId id="428" r:id="rId73"/>
    <p:sldId id="429" r:id="rId74"/>
    <p:sldId id="350" r:id="rId75"/>
    <p:sldId id="351" r:id="rId76"/>
    <p:sldId id="354" r:id="rId77"/>
    <p:sldId id="355" r:id="rId78"/>
    <p:sldId id="361" r:id="rId79"/>
    <p:sldId id="362" r:id="rId80"/>
    <p:sldId id="363" r:id="rId81"/>
    <p:sldId id="370" r:id="rId82"/>
    <p:sldId id="371" r:id="rId83"/>
    <p:sldId id="372" r:id="rId84"/>
    <p:sldId id="383" r:id="rId85"/>
    <p:sldId id="384" r:id="rId86"/>
    <p:sldId id="385" r:id="rId87"/>
    <p:sldId id="386" r:id="rId88"/>
    <p:sldId id="387" r:id="rId89"/>
    <p:sldId id="388" r:id="rId90"/>
    <p:sldId id="389" r:id="rId91"/>
    <p:sldId id="390" r:id="rId92"/>
    <p:sldId id="391" r:id="rId93"/>
    <p:sldId id="392" r:id="rId94"/>
    <p:sldId id="393" r:id="rId95"/>
    <p:sldId id="394" r:id="rId96"/>
    <p:sldId id="395" r:id="rId97"/>
    <p:sldId id="396" r:id="rId98"/>
    <p:sldId id="374" r:id="rId99"/>
    <p:sldId id="375" r:id="rId100"/>
    <p:sldId id="380" r:id="rId101"/>
    <p:sldId id="381" r:id="rId102"/>
    <p:sldId id="430" r:id="rId103"/>
    <p:sldId id="442" r:id="rId104"/>
    <p:sldId id="437" r:id="rId105"/>
    <p:sldId id="438" r:id="rId106"/>
    <p:sldId id="443" r:id="rId107"/>
    <p:sldId id="444" r:id="rId108"/>
    <p:sldId id="382" r:id="rId109"/>
    <p:sldId id="447" r:id="rId110"/>
  </p:sldIdLst>
  <p:sldSz cx="12192000" cy="6858000"/>
  <p:notesSz cx="6735763" cy="986948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1991" autoAdjust="0"/>
  </p:normalViewPr>
  <p:slideViewPr>
    <p:cSldViewPr snapToGrid="0">
      <p:cViewPr varScale="1">
        <p:scale>
          <a:sx n="60" d="100"/>
          <a:sy n="60" d="100"/>
        </p:scale>
        <p:origin x="1140"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customXml" Target="../customXml/item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handoutMaster" Target="handoutMasters/handout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118" Type="http://schemas.openxmlformats.org/officeDocument/2006/relationships/customXml" Target="../customXml/item2.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viewProps" Target="viewProps.xml"/><Relationship Id="rId119" Type="http://schemas.openxmlformats.org/officeDocument/2006/relationships/customXml" Target="../customXml/item3.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4AB6AF-B043-4016-91BB-3EEADE44EFB3}" type="doc">
      <dgm:prSet loTypeId="urn:microsoft.com/office/officeart/2005/8/layout/orgChart1" loCatId="hierarchy" qsTypeId="urn:microsoft.com/office/officeart/2005/8/quickstyle/3d2" qsCatId="3D" csTypeId="urn:microsoft.com/office/officeart/2005/8/colors/colorful2" csCatId="colorful" phldr="1"/>
      <dgm:spPr/>
      <dgm:t>
        <a:bodyPr/>
        <a:lstStyle/>
        <a:p>
          <a:endParaRPr lang="en-US"/>
        </a:p>
      </dgm:t>
    </dgm:pt>
    <dgm:pt modelId="{D6C519C5-86F9-48B0-B7AC-6CCFDC8F3E1B}">
      <dgm:prSet phldrT="[Text]" custT="1"/>
      <dgm:spPr/>
      <dgm:t>
        <a:bodyPr/>
        <a:lstStyle/>
        <a:p>
          <a:r>
            <a:rPr lang="en-US" sz="2400" b="1" dirty="0">
              <a:solidFill>
                <a:schemeClr val="tx1"/>
              </a:solidFill>
              <a:latin typeface="+mj-lt"/>
              <a:cs typeface="Arial" panose="020B0604020202020204" pitchFamily="34" charset="0"/>
            </a:rPr>
            <a:t>1. HÓA ĐƠN</a:t>
          </a:r>
        </a:p>
      </dgm:t>
    </dgm:pt>
    <dgm:pt modelId="{D15D012A-39AB-49B5-BDF1-1D37C5FD5343}" type="parTrans" cxnId="{91DFF118-C649-4D0F-808D-DD21EA5D6178}">
      <dgm:prSet/>
      <dgm:spPr/>
      <dgm:t>
        <a:bodyPr/>
        <a:lstStyle/>
        <a:p>
          <a:endParaRPr lang="en-US"/>
        </a:p>
      </dgm:t>
    </dgm:pt>
    <dgm:pt modelId="{271F7EE0-AC2C-4135-A4CE-4ABE626BBACF}" type="sibTrans" cxnId="{91DFF118-C649-4D0F-808D-DD21EA5D6178}">
      <dgm:prSet/>
      <dgm:spPr/>
      <dgm:t>
        <a:bodyPr/>
        <a:lstStyle/>
        <a:p>
          <a:endParaRPr lang="en-US"/>
        </a:p>
      </dgm:t>
    </dgm:pt>
    <dgm:pt modelId="{F97A3767-09D8-4257-A87B-212AD30859AD}">
      <dgm:prSet phldrT="[Text]" custT="1"/>
      <dgm:spPr/>
      <dgm:t>
        <a:bodyPr/>
        <a:lstStyle/>
        <a:p>
          <a:r>
            <a:rPr lang="en-US" sz="2000" b="1" baseline="0" dirty="0" err="1">
              <a:solidFill>
                <a:schemeClr val="tx1"/>
              </a:solidFill>
              <a:latin typeface="+mj-lt"/>
              <a:cs typeface="Arial" panose="020B0604020202020204" pitchFamily="34" charset="0"/>
            </a:rPr>
            <a:t>Hóa</a:t>
          </a:r>
          <a:r>
            <a:rPr lang="en-US" sz="2000" b="1" baseline="0" dirty="0">
              <a:solidFill>
                <a:schemeClr val="tx1"/>
              </a:solidFill>
              <a:latin typeface="+mj-lt"/>
              <a:cs typeface="Arial" panose="020B0604020202020204" pitchFamily="34" charset="0"/>
            </a:rPr>
            <a:t> </a:t>
          </a:r>
          <a:r>
            <a:rPr lang="en-US" sz="2000" b="1" baseline="0" dirty="0" err="1">
              <a:solidFill>
                <a:schemeClr val="tx1"/>
              </a:solidFill>
              <a:latin typeface="+mj-lt"/>
              <a:cs typeface="Arial" panose="020B0604020202020204" pitchFamily="34" charset="0"/>
            </a:rPr>
            <a:t>đơn</a:t>
          </a:r>
          <a:r>
            <a:rPr lang="en-US" sz="2000" b="1" baseline="0" dirty="0">
              <a:solidFill>
                <a:schemeClr val="tx1"/>
              </a:solidFill>
              <a:latin typeface="+mj-lt"/>
              <a:cs typeface="Arial" panose="020B0604020202020204" pitchFamily="34" charset="0"/>
            </a:rPr>
            <a:t> </a:t>
          </a:r>
          <a:r>
            <a:rPr lang="en-US" sz="2000" b="1" baseline="0" dirty="0" err="1">
              <a:solidFill>
                <a:schemeClr val="tx1"/>
              </a:solidFill>
              <a:latin typeface="+mj-lt"/>
              <a:cs typeface="Arial" panose="020B0604020202020204" pitchFamily="34" charset="0"/>
            </a:rPr>
            <a:t>điện</a:t>
          </a:r>
          <a:r>
            <a:rPr lang="en-US" sz="2000" b="1" baseline="0" dirty="0">
              <a:solidFill>
                <a:schemeClr val="tx1"/>
              </a:solidFill>
              <a:latin typeface="+mj-lt"/>
              <a:cs typeface="Arial" panose="020B0604020202020204" pitchFamily="34" charset="0"/>
            </a:rPr>
            <a:t> </a:t>
          </a:r>
          <a:r>
            <a:rPr lang="en-US" sz="2000" b="1" baseline="0" dirty="0" err="1">
              <a:solidFill>
                <a:schemeClr val="tx1"/>
              </a:solidFill>
              <a:latin typeface="+mj-lt"/>
              <a:cs typeface="Arial" panose="020B0604020202020204" pitchFamily="34" charset="0"/>
            </a:rPr>
            <a:t>tử</a:t>
          </a:r>
          <a:endParaRPr lang="en-US" sz="2000" b="1" baseline="0" dirty="0">
            <a:solidFill>
              <a:schemeClr val="tx1"/>
            </a:solidFill>
            <a:latin typeface="+mj-lt"/>
            <a:cs typeface="Arial" panose="020B0604020202020204" pitchFamily="34" charset="0"/>
          </a:endParaRPr>
        </a:p>
      </dgm:t>
    </dgm:pt>
    <dgm:pt modelId="{8EA06B79-45B9-44BA-AC73-F626650F19FC}" type="parTrans" cxnId="{4D3CEB9D-A77E-478D-BC18-9B7AEAD793E0}">
      <dgm:prSet/>
      <dgm:spPr/>
      <dgm:t>
        <a:bodyPr/>
        <a:lstStyle/>
        <a:p>
          <a:endParaRPr lang="en-US"/>
        </a:p>
      </dgm:t>
    </dgm:pt>
    <dgm:pt modelId="{B04048B8-8B55-40F4-8111-72A6D241E129}" type="sibTrans" cxnId="{4D3CEB9D-A77E-478D-BC18-9B7AEAD793E0}">
      <dgm:prSet/>
      <dgm:spPr/>
      <dgm:t>
        <a:bodyPr/>
        <a:lstStyle/>
        <a:p>
          <a:endParaRPr lang="en-US"/>
        </a:p>
      </dgm:t>
    </dgm:pt>
    <dgm:pt modelId="{30ACB95A-F92E-481D-BE17-8239401D02D8}">
      <dgm:prSet phldrT="[Text]" custT="1"/>
      <dgm:spPr/>
      <dgm:t>
        <a:bodyPr/>
        <a:lstStyle/>
        <a:p>
          <a:r>
            <a:rPr lang="en-US" sz="1800" b="1" i="1" dirty="0" err="1">
              <a:solidFill>
                <a:schemeClr val="tx1"/>
              </a:solidFill>
              <a:latin typeface="+mj-lt"/>
              <a:cs typeface="Arial" panose="020B0604020202020204" pitchFamily="34" charset="0"/>
            </a:rPr>
            <a:t>Hóa</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đơn</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điện</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tử</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có</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mã</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của</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cơ</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quan</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thuế</a:t>
          </a:r>
          <a:r>
            <a:rPr lang="en-US" sz="1800" b="1" i="1" dirty="0">
              <a:solidFill>
                <a:schemeClr val="tx1"/>
              </a:solidFill>
              <a:latin typeface="+mj-lt"/>
              <a:cs typeface="Arial" panose="020B0604020202020204" pitchFamily="34" charset="0"/>
            </a:rPr>
            <a:t> </a:t>
          </a:r>
          <a:endParaRPr lang="en-US" sz="1800" dirty="0">
            <a:solidFill>
              <a:schemeClr val="tx1"/>
            </a:solidFill>
            <a:latin typeface="+mj-lt"/>
            <a:cs typeface="Arial" panose="020B0604020202020204" pitchFamily="34" charset="0"/>
          </a:endParaRPr>
        </a:p>
      </dgm:t>
    </dgm:pt>
    <dgm:pt modelId="{FB86A0BD-1A81-498A-A952-F3561698209F}" type="parTrans" cxnId="{0630A29F-7077-4E90-BEAB-0010965FF0C0}">
      <dgm:prSet/>
      <dgm:spPr/>
      <dgm:t>
        <a:bodyPr/>
        <a:lstStyle/>
        <a:p>
          <a:endParaRPr lang="en-US"/>
        </a:p>
      </dgm:t>
    </dgm:pt>
    <dgm:pt modelId="{BA27A2CA-723E-40DD-881D-1F0544550839}" type="sibTrans" cxnId="{0630A29F-7077-4E90-BEAB-0010965FF0C0}">
      <dgm:prSet/>
      <dgm:spPr/>
      <dgm:t>
        <a:bodyPr/>
        <a:lstStyle/>
        <a:p>
          <a:endParaRPr lang="en-US"/>
        </a:p>
      </dgm:t>
    </dgm:pt>
    <dgm:pt modelId="{0F629718-5671-4E7A-9FB2-9EA414685B84}">
      <dgm:prSet phldrT="[Text]" custT="1"/>
      <dgm:spPr/>
      <dgm:t>
        <a:bodyPr/>
        <a:lstStyle/>
        <a:p>
          <a:r>
            <a:rPr lang="en-US" sz="1800" b="1" i="1" dirty="0" err="1">
              <a:solidFill>
                <a:schemeClr val="tx1"/>
              </a:solidFill>
              <a:latin typeface="+mj-lt"/>
              <a:cs typeface="Arial" panose="020B0604020202020204" pitchFamily="34" charset="0"/>
            </a:rPr>
            <a:t>Hóa</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đơn</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điện</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tử</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không</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có</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mã</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của</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cơ</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quan</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thuế</a:t>
          </a:r>
          <a:r>
            <a:rPr lang="en-US" sz="1800" b="1" i="1" dirty="0">
              <a:solidFill>
                <a:schemeClr val="tx1"/>
              </a:solidFill>
              <a:latin typeface="+mj-lt"/>
              <a:cs typeface="Arial" panose="020B0604020202020204" pitchFamily="34" charset="0"/>
            </a:rPr>
            <a:t> </a:t>
          </a:r>
          <a:endParaRPr lang="en-US" sz="1800" dirty="0">
            <a:solidFill>
              <a:schemeClr val="tx1"/>
            </a:solidFill>
            <a:latin typeface="+mj-lt"/>
            <a:cs typeface="Arial" panose="020B0604020202020204" pitchFamily="34" charset="0"/>
          </a:endParaRPr>
        </a:p>
      </dgm:t>
    </dgm:pt>
    <dgm:pt modelId="{4C6FCE9C-F4B6-4319-9E48-34E273DC36B8}" type="parTrans" cxnId="{D28FFA9D-8C9C-4A99-A693-9DF7EFF413FA}">
      <dgm:prSet/>
      <dgm:spPr/>
      <dgm:t>
        <a:bodyPr/>
        <a:lstStyle/>
        <a:p>
          <a:endParaRPr lang="en-US"/>
        </a:p>
      </dgm:t>
    </dgm:pt>
    <dgm:pt modelId="{E310E9AF-D404-4E13-B880-6F892A9CDCD2}" type="sibTrans" cxnId="{D28FFA9D-8C9C-4A99-A693-9DF7EFF413FA}">
      <dgm:prSet/>
      <dgm:spPr/>
      <dgm:t>
        <a:bodyPr/>
        <a:lstStyle/>
        <a:p>
          <a:endParaRPr lang="en-US"/>
        </a:p>
      </dgm:t>
    </dgm:pt>
    <dgm:pt modelId="{FFB65646-E585-4005-8ABC-ABBB47924E56}">
      <dgm:prSet custT="1"/>
      <dgm:spPr/>
      <dgm:t>
        <a:bodyPr/>
        <a:lstStyle/>
        <a:p>
          <a:r>
            <a:rPr lang="en-US" sz="1800" b="1" i="1" dirty="0" err="1">
              <a:solidFill>
                <a:schemeClr val="tx1"/>
              </a:solidFill>
              <a:latin typeface="+mj-lt"/>
              <a:cs typeface="Arial" panose="020B0604020202020204" pitchFamily="34" charset="0"/>
            </a:rPr>
            <a:t>Hóa</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đơn</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được</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khởi</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tạo</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từ</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máy</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tính</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tiền</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có</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kết</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nối</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chuyển</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dữ</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liệu</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với</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cơ</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quan</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thuế</a:t>
          </a:r>
          <a:endParaRPr lang="en-US" sz="1800" dirty="0">
            <a:solidFill>
              <a:schemeClr val="tx1"/>
            </a:solidFill>
            <a:latin typeface="+mj-lt"/>
            <a:cs typeface="Arial" panose="020B0604020202020204" pitchFamily="34" charset="0"/>
          </a:endParaRPr>
        </a:p>
      </dgm:t>
    </dgm:pt>
    <dgm:pt modelId="{413B5DFD-87E1-4327-A7C0-4E2A7F6487E6}" type="parTrans" cxnId="{1E6CC3E8-8904-4EA0-B58C-59B937940FB1}">
      <dgm:prSet/>
      <dgm:spPr/>
      <dgm:t>
        <a:bodyPr/>
        <a:lstStyle/>
        <a:p>
          <a:endParaRPr lang="en-US"/>
        </a:p>
      </dgm:t>
    </dgm:pt>
    <dgm:pt modelId="{55D6DB9B-F25C-491D-A854-07BB84FE1FCB}" type="sibTrans" cxnId="{1E6CC3E8-8904-4EA0-B58C-59B937940FB1}">
      <dgm:prSet/>
      <dgm:spPr/>
      <dgm:t>
        <a:bodyPr/>
        <a:lstStyle/>
        <a:p>
          <a:endParaRPr lang="en-US"/>
        </a:p>
      </dgm:t>
    </dgm:pt>
    <dgm:pt modelId="{624D30A7-03A0-41B8-9175-496F35E20594}">
      <dgm:prSet phldrT="[Text]" custT="1"/>
      <dgm:spPr/>
      <dgm:t>
        <a:bodyPr/>
        <a:lstStyle/>
        <a:p>
          <a:r>
            <a:rPr lang="en-US" sz="2000" b="1" dirty="0" err="1">
              <a:solidFill>
                <a:schemeClr val="tx1"/>
              </a:solidFill>
              <a:latin typeface="+mj-lt"/>
              <a:cs typeface="Arial" panose="020B0604020202020204" pitchFamily="34" charset="0"/>
            </a:rPr>
            <a:t>Hóa</a:t>
          </a:r>
          <a:r>
            <a:rPr lang="en-US" sz="2000" b="1" dirty="0">
              <a:solidFill>
                <a:schemeClr val="tx1"/>
              </a:solidFill>
              <a:latin typeface="+mj-lt"/>
              <a:cs typeface="Arial" panose="020B0604020202020204" pitchFamily="34" charset="0"/>
            </a:rPr>
            <a:t> </a:t>
          </a:r>
          <a:r>
            <a:rPr lang="en-US" sz="2000" b="1" dirty="0" err="1">
              <a:solidFill>
                <a:schemeClr val="tx1"/>
              </a:solidFill>
              <a:latin typeface="+mj-lt"/>
              <a:cs typeface="Arial" panose="020B0604020202020204" pitchFamily="34" charset="0"/>
            </a:rPr>
            <a:t>đơn</a:t>
          </a:r>
          <a:r>
            <a:rPr lang="en-US" sz="2000" b="1" dirty="0">
              <a:solidFill>
                <a:schemeClr val="tx1"/>
              </a:solidFill>
              <a:latin typeface="+mj-lt"/>
              <a:cs typeface="Arial" panose="020B0604020202020204" pitchFamily="34" charset="0"/>
            </a:rPr>
            <a:t> do </a:t>
          </a:r>
          <a:r>
            <a:rPr lang="en-US" sz="2000" b="1" dirty="0" err="1">
              <a:solidFill>
                <a:schemeClr val="tx1"/>
              </a:solidFill>
              <a:latin typeface="+mj-lt"/>
              <a:cs typeface="Arial" panose="020B0604020202020204" pitchFamily="34" charset="0"/>
            </a:rPr>
            <a:t>cơ</a:t>
          </a:r>
          <a:r>
            <a:rPr lang="en-US" sz="2000" b="1" dirty="0">
              <a:solidFill>
                <a:schemeClr val="tx1"/>
              </a:solidFill>
              <a:latin typeface="+mj-lt"/>
              <a:cs typeface="Arial" panose="020B0604020202020204" pitchFamily="34" charset="0"/>
            </a:rPr>
            <a:t> </a:t>
          </a:r>
          <a:r>
            <a:rPr lang="en-US" sz="2000" b="1" dirty="0" err="1">
              <a:solidFill>
                <a:schemeClr val="tx1"/>
              </a:solidFill>
              <a:latin typeface="+mj-lt"/>
              <a:cs typeface="Arial" panose="020B0604020202020204" pitchFamily="34" charset="0"/>
            </a:rPr>
            <a:t>quan</a:t>
          </a:r>
          <a:r>
            <a:rPr lang="en-US" sz="2000" b="1" dirty="0">
              <a:solidFill>
                <a:schemeClr val="tx1"/>
              </a:solidFill>
              <a:latin typeface="+mj-lt"/>
              <a:cs typeface="Arial" panose="020B0604020202020204" pitchFamily="34" charset="0"/>
            </a:rPr>
            <a:t> </a:t>
          </a:r>
          <a:r>
            <a:rPr lang="en-US" sz="2000" b="1" dirty="0" err="1">
              <a:solidFill>
                <a:schemeClr val="tx1"/>
              </a:solidFill>
              <a:latin typeface="+mj-lt"/>
              <a:cs typeface="Arial" panose="020B0604020202020204" pitchFamily="34" charset="0"/>
            </a:rPr>
            <a:t>thuế</a:t>
          </a:r>
          <a:r>
            <a:rPr lang="en-US" sz="2000" b="1" dirty="0">
              <a:solidFill>
                <a:schemeClr val="tx1"/>
              </a:solidFill>
              <a:latin typeface="+mj-lt"/>
              <a:cs typeface="Arial" panose="020B0604020202020204" pitchFamily="34" charset="0"/>
            </a:rPr>
            <a:t> </a:t>
          </a:r>
          <a:r>
            <a:rPr lang="en-US" sz="2000" b="1" dirty="0" err="1">
              <a:solidFill>
                <a:schemeClr val="tx1"/>
              </a:solidFill>
              <a:latin typeface="+mj-lt"/>
              <a:cs typeface="Arial" panose="020B0604020202020204" pitchFamily="34" charset="0"/>
            </a:rPr>
            <a:t>đặt</a:t>
          </a:r>
          <a:r>
            <a:rPr lang="en-US" sz="2000" b="1" dirty="0">
              <a:solidFill>
                <a:schemeClr val="tx1"/>
              </a:solidFill>
              <a:latin typeface="+mj-lt"/>
              <a:cs typeface="Arial" panose="020B0604020202020204" pitchFamily="34" charset="0"/>
            </a:rPr>
            <a:t> in (</a:t>
          </a:r>
          <a:r>
            <a:rPr lang="en-US" sz="2000" b="1" dirty="0" err="1">
              <a:solidFill>
                <a:schemeClr val="tx1"/>
              </a:solidFill>
              <a:latin typeface="+mj-lt"/>
              <a:cs typeface="Arial" panose="020B0604020202020204" pitchFamily="34" charset="0"/>
            </a:rPr>
            <a:t>hóa</a:t>
          </a:r>
          <a:r>
            <a:rPr lang="en-US" sz="2000" b="1" dirty="0">
              <a:solidFill>
                <a:schemeClr val="tx1"/>
              </a:solidFill>
              <a:latin typeface="+mj-lt"/>
              <a:cs typeface="Arial" panose="020B0604020202020204" pitchFamily="34" charset="0"/>
            </a:rPr>
            <a:t> </a:t>
          </a:r>
          <a:r>
            <a:rPr lang="en-US" sz="2000" b="1" dirty="0" err="1">
              <a:solidFill>
                <a:schemeClr val="tx1"/>
              </a:solidFill>
              <a:latin typeface="+mj-lt"/>
              <a:cs typeface="Arial" panose="020B0604020202020204" pitchFamily="34" charset="0"/>
            </a:rPr>
            <a:t>đơn</a:t>
          </a:r>
          <a:r>
            <a:rPr lang="en-US" sz="2000" b="1" dirty="0">
              <a:solidFill>
                <a:schemeClr val="tx1"/>
              </a:solidFill>
              <a:latin typeface="+mj-lt"/>
              <a:cs typeface="Arial" panose="020B0604020202020204" pitchFamily="34" charset="0"/>
            </a:rPr>
            <a:t> </a:t>
          </a:r>
          <a:r>
            <a:rPr lang="en-US" sz="2000" b="1" dirty="0" err="1">
              <a:solidFill>
                <a:schemeClr val="tx1"/>
              </a:solidFill>
              <a:latin typeface="+mj-lt"/>
              <a:cs typeface="Arial" panose="020B0604020202020204" pitchFamily="34" charset="0"/>
            </a:rPr>
            <a:t>giấy</a:t>
          </a:r>
          <a:r>
            <a:rPr lang="en-US" sz="2000" b="1" dirty="0">
              <a:solidFill>
                <a:schemeClr val="tx1"/>
              </a:solidFill>
              <a:latin typeface="+mj-lt"/>
              <a:cs typeface="Arial" panose="020B0604020202020204" pitchFamily="34" charset="0"/>
            </a:rPr>
            <a:t>)</a:t>
          </a:r>
        </a:p>
      </dgm:t>
    </dgm:pt>
    <dgm:pt modelId="{82BC6C92-A964-495D-9B86-DE99FEC4067B}" type="sibTrans" cxnId="{6D53571E-DA16-4D74-BF93-1A3628DFAD07}">
      <dgm:prSet/>
      <dgm:spPr/>
      <dgm:t>
        <a:bodyPr/>
        <a:lstStyle/>
        <a:p>
          <a:endParaRPr lang="en-US"/>
        </a:p>
      </dgm:t>
    </dgm:pt>
    <dgm:pt modelId="{B40F80F7-4F0E-4D4E-8F84-94B7A398A546}" type="parTrans" cxnId="{6D53571E-DA16-4D74-BF93-1A3628DFAD07}">
      <dgm:prSet/>
      <dgm:spPr/>
      <dgm:t>
        <a:bodyPr/>
        <a:lstStyle/>
        <a:p>
          <a:endParaRPr lang="en-US"/>
        </a:p>
      </dgm:t>
    </dgm:pt>
    <dgm:pt modelId="{F301333E-A4FD-4B14-923D-113C51002FD7}" type="pres">
      <dgm:prSet presAssocID="{F24AB6AF-B043-4016-91BB-3EEADE44EFB3}" presName="hierChild1" presStyleCnt="0">
        <dgm:presLayoutVars>
          <dgm:orgChart val="1"/>
          <dgm:chPref val="1"/>
          <dgm:dir/>
          <dgm:animOne val="branch"/>
          <dgm:animLvl val="lvl"/>
          <dgm:resizeHandles/>
        </dgm:presLayoutVars>
      </dgm:prSet>
      <dgm:spPr/>
      <dgm:t>
        <a:bodyPr/>
        <a:lstStyle/>
        <a:p>
          <a:endParaRPr lang="en-US"/>
        </a:p>
      </dgm:t>
    </dgm:pt>
    <dgm:pt modelId="{5C124A89-D42D-47E7-A930-24D76E6F0F68}" type="pres">
      <dgm:prSet presAssocID="{D6C519C5-86F9-48B0-B7AC-6CCFDC8F3E1B}" presName="hierRoot1" presStyleCnt="0">
        <dgm:presLayoutVars>
          <dgm:hierBranch val="init"/>
        </dgm:presLayoutVars>
      </dgm:prSet>
      <dgm:spPr/>
    </dgm:pt>
    <dgm:pt modelId="{BC0B43CF-65F7-4B1A-8F41-BD2AA5FB71D0}" type="pres">
      <dgm:prSet presAssocID="{D6C519C5-86F9-48B0-B7AC-6CCFDC8F3E1B}" presName="rootComposite1" presStyleCnt="0"/>
      <dgm:spPr/>
    </dgm:pt>
    <dgm:pt modelId="{E261738A-F815-4832-9305-88051B383600}" type="pres">
      <dgm:prSet presAssocID="{D6C519C5-86F9-48B0-B7AC-6CCFDC8F3E1B}" presName="rootText1" presStyleLbl="node0" presStyleIdx="0" presStyleCnt="1" custScaleX="163058" custScaleY="122347" custLinFactNeighborX="-20" custLinFactNeighborY="-244">
        <dgm:presLayoutVars>
          <dgm:chPref val="3"/>
        </dgm:presLayoutVars>
      </dgm:prSet>
      <dgm:spPr/>
      <dgm:t>
        <a:bodyPr/>
        <a:lstStyle/>
        <a:p>
          <a:endParaRPr lang="en-US"/>
        </a:p>
      </dgm:t>
    </dgm:pt>
    <dgm:pt modelId="{24F1511D-DB68-43FF-B907-43BC34220464}" type="pres">
      <dgm:prSet presAssocID="{D6C519C5-86F9-48B0-B7AC-6CCFDC8F3E1B}" presName="rootConnector1" presStyleLbl="node1" presStyleIdx="0" presStyleCnt="0"/>
      <dgm:spPr/>
      <dgm:t>
        <a:bodyPr/>
        <a:lstStyle/>
        <a:p>
          <a:endParaRPr lang="en-US"/>
        </a:p>
      </dgm:t>
    </dgm:pt>
    <dgm:pt modelId="{505F3111-1F48-4E21-8E26-C9989C622DEE}" type="pres">
      <dgm:prSet presAssocID="{D6C519C5-86F9-48B0-B7AC-6CCFDC8F3E1B}" presName="hierChild2" presStyleCnt="0"/>
      <dgm:spPr/>
    </dgm:pt>
    <dgm:pt modelId="{5C71DD4F-126F-4385-93D6-14B0217361B3}" type="pres">
      <dgm:prSet presAssocID="{8EA06B79-45B9-44BA-AC73-F626650F19FC}" presName="Name37" presStyleLbl="parChTrans1D2" presStyleIdx="0" presStyleCnt="2"/>
      <dgm:spPr/>
      <dgm:t>
        <a:bodyPr/>
        <a:lstStyle/>
        <a:p>
          <a:endParaRPr lang="en-US"/>
        </a:p>
      </dgm:t>
    </dgm:pt>
    <dgm:pt modelId="{8736A519-7B2F-40EB-8BE3-4ACA05402D10}" type="pres">
      <dgm:prSet presAssocID="{F97A3767-09D8-4257-A87B-212AD30859AD}" presName="hierRoot2" presStyleCnt="0">
        <dgm:presLayoutVars>
          <dgm:hierBranch val="init"/>
        </dgm:presLayoutVars>
      </dgm:prSet>
      <dgm:spPr/>
    </dgm:pt>
    <dgm:pt modelId="{46B99D71-392D-4568-9BCD-11307D11A988}" type="pres">
      <dgm:prSet presAssocID="{F97A3767-09D8-4257-A87B-212AD30859AD}" presName="rootComposite" presStyleCnt="0"/>
      <dgm:spPr/>
    </dgm:pt>
    <dgm:pt modelId="{AC39F92E-EB58-4139-A2F3-4D72E9E93AB3}" type="pres">
      <dgm:prSet presAssocID="{F97A3767-09D8-4257-A87B-212AD30859AD}" presName="rootText" presStyleLbl="node2" presStyleIdx="0" presStyleCnt="2" custScaleX="205834" custLinFactX="-11275" custLinFactNeighborX="-100000">
        <dgm:presLayoutVars>
          <dgm:chPref val="3"/>
        </dgm:presLayoutVars>
      </dgm:prSet>
      <dgm:spPr/>
      <dgm:t>
        <a:bodyPr/>
        <a:lstStyle/>
        <a:p>
          <a:endParaRPr lang="en-US"/>
        </a:p>
      </dgm:t>
    </dgm:pt>
    <dgm:pt modelId="{7B4C179D-0D95-465D-BF0F-5254B9EDFFEB}" type="pres">
      <dgm:prSet presAssocID="{F97A3767-09D8-4257-A87B-212AD30859AD}" presName="rootConnector" presStyleLbl="node2" presStyleIdx="0" presStyleCnt="2"/>
      <dgm:spPr/>
      <dgm:t>
        <a:bodyPr/>
        <a:lstStyle/>
        <a:p>
          <a:endParaRPr lang="en-US"/>
        </a:p>
      </dgm:t>
    </dgm:pt>
    <dgm:pt modelId="{D0292E79-DB35-42EA-8D93-57B337EA2F35}" type="pres">
      <dgm:prSet presAssocID="{F97A3767-09D8-4257-A87B-212AD30859AD}" presName="hierChild4" presStyleCnt="0"/>
      <dgm:spPr/>
    </dgm:pt>
    <dgm:pt modelId="{CE228C39-FE5A-4CCB-85FD-61BE68327BCF}" type="pres">
      <dgm:prSet presAssocID="{FB86A0BD-1A81-498A-A952-F3561698209F}" presName="Name37" presStyleLbl="parChTrans1D3" presStyleIdx="0" presStyleCnt="3"/>
      <dgm:spPr/>
      <dgm:t>
        <a:bodyPr/>
        <a:lstStyle/>
        <a:p>
          <a:endParaRPr lang="en-US"/>
        </a:p>
      </dgm:t>
    </dgm:pt>
    <dgm:pt modelId="{742D17EA-CFF3-4430-ACB2-94EDFB1751DF}" type="pres">
      <dgm:prSet presAssocID="{30ACB95A-F92E-481D-BE17-8239401D02D8}" presName="hierRoot2" presStyleCnt="0">
        <dgm:presLayoutVars>
          <dgm:hierBranch val="init"/>
        </dgm:presLayoutVars>
      </dgm:prSet>
      <dgm:spPr/>
    </dgm:pt>
    <dgm:pt modelId="{2C172EF1-192A-4659-A417-CB2D5A847C9B}" type="pres">
      <dgm:prSet presAssocID="{30ACB95A-F92E-481D-BE17-8239401D02D8}" presName="rootComposite" presStyleCnt="0"/>
      <dgm:spPr/>
    </dgm:pt>
    <dgm:pt modelId="{7D4318C1-9673-433E-BFC9-D055633CA9AF}" type="pres">
      <dgm:prSet presAssocID="{30ACB95A-F92E-481D-BE17-8239401D02D8}" presName="rootText" presStyleLbl="node3" presStyleIdx="0" presStyleCnt="3" custScaleX="415832">
        <dgm:presLayoutVars>
          <dgm:chPref val="3"/>
        </dgm:presLayoutVars>
      </dgm:prSet>
      <dgm:spPr/>
      <dgm:t>
        <a:bodyPr/>
        <a:lstStyle/>
        <a:p>
          <a:endParaRPr lang="en-US"/>
        </a:p>
      </dgm:t>
    </dgm:pt>
    <dgm:pt modelId="{E82ADA0B-CF98-48E2-8690-0D5EEE9A85AF}" type="pres">
      <dgm:prSet presAssocID="{30ACB95A-F92E-481D-BE17-8239401D02D8}" presName="rootConnector" presStyleLbl="node3" presStyleIdx="0" presStyleCnt="3"/>
      <dgm:spPr/>
      <dgm:t>
        <a:bodyPr/>
        <a:lstStyle/>
        <a:p>
          <a:endParaRPr lang="en-US"/>
        </a:p>
      </dgm:t>
    </dgm:pt>
    <dgm:pt modelId="{C992BB76-AF0C-4778-BD35-A4F446D08C23}" type="pres">
      <dgm:prSet presAssocID="{30ACB95A-F92E-481D-BE17-8239401D02D8}" presName="hierChild4" presStyleCnt="0"/>
      <dgm:spPr/>
    </dgm:pt>
    <dgm:pt modelId="{A1DB1DE5-2175-41A7-B826-D2DAB1A0460D}" type="pres">
      <dgm:prSet presAssocID="{30ACB95A-F92E-481D-BE17-8239401D02D8}" presName="hierChild5" presStyleCnt="0"/>
      <dgm:spPr/>
    </dgm:pt>
    <dgm:pt modelId="{BF56E96E-0F9C-4954-9438-576A6DC2BB5D}" type="pres">
      <dgm:prSet presAssocID="{4C6FCE9C-F4B6-4319-9E48-34E273DC36B8}" presName="Name37" presStyleLbl="parChTrans1D3" presStyleIdx="1" presStyleCnt="3"/>
      <dgm:spPr/>
      <dgm:t>
        <a:bodyPr/>
        <a:lstStyle/>
        <a:p>
          <a:endParaRPr lang="en-US"/>
        </a:p>
      </dgm:t>
    </dgm:pt>
    <dgm:pt modelId="{9533ED27-24B0-489C-9F17-B12435726586}" type="pres">
      <dgm:prSet presAssocID="{0F629718-5671-4E7A-9FB2-9EA414685B84}" presName="hierRoot2" presStyleCnt="0">
        <dgm:presLayoutVars>
          <dgm:hierBranch val="init"/>
        </dgm:presLayoutVars>
      </dgm:prSet>
      <dgm:spPr/>
    </dgm:pt>
    <dgm:pt modelId="{BF7A5F81-9468-4437-86FB-80EC8DDE6919}" type="pres">
      <dgm:prSet presAssocID="{0F629718-5671-4E7A-9FB2-9EA414685B84}" presName="rootComposite" presStyleCnt="0"/>
      <dgm:spPr/>
    </dgm:pt>
    <dgm:pt modelId="{F7F03039-68B9-4AAD-93FC-CD49D9D0F718}" type="pres">
      <dgm:prSet presAssocID="{0F629718-5671-4E7A-9FB2-9EA414685B84}" presName="rootText" presStyleLbl="node3" presStyleIdx="1" presStyleCnt="3" custScaleX="464903">
        <dgm:presLayoutVars>
          <dgm:chPref val="3"/>
        </dgm:presLayoutVars>
      </dgm:prSet>
      <dgm:spPr/>
      <dgm:t>
        <a:bodyPr/>
        <a:lstStyle/>
        <a:p>
          <a:endParaRPr lang="en-US"/>
        </a:p>
      </dgm:t>
    </dgm:pt>
    <dgm:pt modelId="{8A56CEF3-A64F-46B3-B2BD-D1CA925EA437}" type="pres">
      <dgm:prSet presAssocID="{0F629718-5671-4E7A-9FB2-9EA414685B84}" presName="rootConnector" presStyleLbl="node3" presStyleIdx="1" presStyleCnt="3"/>
      <dgm:spPr/>
      <dgm:t>
        <a:bodyPr/>
        <a:lstStyle/>
        <a:p>
          <a:endParaRPr lang="en-US"/>
        </a:p>
      </dgm:t>
    </dgm:pt>
    <dgm:pt modelId="{5B89D029-CF44-4AC7-85EA-CE8137B61E66}" type="pres">
      <dgm:prSet presAssocID="{0F629718-5671-4E7A-9FB2-9EA414685B84}" presName="hierChild4" presStyleCnt="0"/>
      <dgm:spPr/>
    </dgm:pt>
    <dgm:pt modelId="{2D909092-19B1-48CC-BF9B-FF92F57DA217}" type="pres">
      <dgm:prSet presAssocID="{0F629718-5671-4E7A-9FB2-9EA414685B84}" presName="hierChild5" presStyleCnt="0"/>
      <dgm:spPr/>
    </dgm:pt>
    <dgm:pt modelId="{2D15B40A-4E23-4813-9BE0-3684512CFA32}" type="pres">
      <dgm:prSet presAssocID="{413B5DFD-87E1-4327-A7C0-4E2A7F6487E6}" presName="Name37" presStyleLbl="parChTrans1D3" presStyleIdx="2" presStyleCnt="3"/>
      <dgm:spPr/>
      <dgm:t>
        <a:bodyPr/>
        <a:lstStyle/>
        <a:p>
          <a:endParaRPr lang="en-US"/>
        </a:p>
      </dgm:t>
    </dgm:pt>
    <dgm:pt modelId="{80E14B54-7F19-4EC5-B728-D0FCCDE719F5}" type="pres">
      <dgm:prSet presAssocID="{FFB65646-E585-4005-8ABC-ABBB47924E56}" presName="hierRoot2" presStyleCnt="0">
        <dgm:presLayoutVars>
          <dgm:hierBranch val="init"/>
        </dgm:presLayoutVars>
      </dgm:prSet>
      <dgm:spPr/>
    </dgm:pt>
    <dgm:pt modelId="{04539AD6-F681-4431-88FD-E36C40C0F3FB}" type="pres">
      <dgm:prSet presAssocID="{FFB65646-E585-4005-8ABC-ABBB47924E56}" presName="rootComposite" presStyleCnt="0"/>
      <dgm:spPr/>
    </dgm:pt>
    <dgm:pt modelId="{999B9D57-B822-4DE1-804C-60B3B2ACE03E}" type="pres">
      <dgm:prSet presAssocID="{FFB65646-E585-4005-8ABC-ABBB47924E56}" presName="rootText" presStyleLbl="node3" presStyleIdx="2" presStyleCnt="3" custScaleX="557262" custLinFactNeighborX="-31893" custLinFactNeighborY="5806">
        <dgm:presLayoutVars>
          <dgm:chPref val="3"/>
        </dgm:presLayoutVars>
      </dgm:prSet>
      <dgm:spPr/>
      <dgm:t>
        <a:bodyPr/>
        <a:lstStyle/>
        <a:p>
          <a:endParaRPr lang="en-US"/>
        </a:p>
      </dgm:t>
    </dgm:pt>
    <dgm:pt modelId="{72C9728D-EFFC-4B3F-854C-273BD234AA50}" type="pres">
      <dgm:prSet presAssocID="{FFB65646-E585-4005-8ABC-ABBB47924E56}" presName="rootConnector" presStyleLbl="node3" presStyleIdx="2" presStyleCnt="3"/>
      <dgm:spPr/>
      <dgm:t>
        <a:bodyPr/>
        <a:lstStyle/>
        <a:p>
          <a:endParaRPr lang="en-US"/>
        </a:p>
      </dgm:t>
    </dgm:pt>
    <dgm:pt modelId="{1D38C22D-1A78-4CEB-9CEA-D4733F8C4D3C}" type="pres">
      <dgm:prSet presAssocID="{FFB65646-E585-4005-8ABC-ABBB47924E56}" presName="hierChild4" presStyleCnt="0"/>
      <dgm:spPr/>
    </dgm:pt>
    <dgm:pt modelId="{7F51AD6E-4A78-4C8C-B26D-36BF2B9A9B02}" type="pres">
      <dgm:prSet presAssocID="{FFB65646-E585-4005-8ABC-ABBB47924E56}" presName="hierChild5" presStyleCnt="0"/>
      <dgm:spPr/>
    </dgm:pt>
    <dgm:pt modelId="{0F342F11-A1C6-44FA-8470-B7B3A75CF677}" type="pres">
      <dgm:prSet presAssocID="{F97A3767-09D8-4257-A87B-212AD30859AD}" presName="hierChild5" presStyleCnt="0"/>
      <dgm:spPr/>
    </dgm:pt>
    <dgm:pt modelId="{5DB2E8D4-CAF7-4377-B0A7-57C1C5E74406}" type="pres">
      <dgm:prSet presAssocID="{B40F80F7-4F0E-4D4E-8F84-94B7A398A546}" presName="Name37" presStyleLbl="parChTrans1D2" presStyleIdx="1" presStyleCnt="2"/>
      <dgm:spPr/>
      <dgm:t>
        <a:bodyPr/>
        <a:lstStyle/>
        <a:p>
          <a:endParaRPr lang="en-US"/>
        </a:p>
      </dgm:t>
    </dgm:pt>
    <dgm:pt modelId="{C52A56D9-5EA2-4748-94F3-411B16A169D6}" type="pres">
      <dgm:prSet presAssocID="{624D30A7-03A0-41B8-9175-496F35E20594}" presName="hierRoot2" presStyleCnt="0">
        <dgm:presLayoutVars>
          <dgm:hierBranch val="init"/>
        </dgm:presLayoutVars>
      </dgm:prSet>
      <dgm:spPr/>
    </dgm:pt>
    <dgm:pt modelId="{C79C1602-4E3B-4241-886A-7213D3C1BE39}" type="pres">
      <dgm:prSet presAssocID="{624D30A7-03A0-41B8-9175-496F35E20594}" presName="rootComposite" presStyleCnt="0"/>
      <dgm:spPr/>
    </dgm:pt>
    <dgm:pt modelId="{A4A4714B-C13A-40DA-A4B3-5734A5B9E965}" type="pres">
      <dgm:prSet presAssocID="{624D30A7-03A0-41B8-9175-496F35E20594}" presName="rootText" presStyleLbl="node2" presStyleIdx="1" presStyleCnt="2" custScaleX="276815">
        <dgm:presLayoutVars>
          <dgm:chPref val="3"/>
        </dgm:presLayoutVars>
      </dgm:prSet>
      <dgm:spPr/>
      <dgm:t>
        <a:bodyPr/>
        <a:lstStyle/>
        <a:p>
          <a:endParaRPr lang="en-US"/>
        </a:p>
      </dgm:t>
    </dgm:pt>
    <dgm:pt modelId="{A4D57FFA-54B8-4F0D-B590-A33E17654D3E}" type="pres">
      <dgm:prSet presAssocID="{624D30A7-03A0-41B8-9175-496F35E20594}" presName="rootConnector" presStyleLbl="node2" presStyleIdx="1" presStyleCnt="2"/>
      <dgm:spPr/>
      <dgm:t>
        <a:bodyPr/>
        <a:lstStyle/>
        <a:p>
          <a:endParaRPr lang="en-US"/>
        </a:p>
      </dgm:t>
    </dgm:pt>
    <dgm:pt modelId="{630177E5-2FFC-4EB0-AA15-0A233EB59F4D}" type="pres">
      <dgm:prSet presAssocID="{624D30A7-03A0-41B8-9175-496F35E20594}" presName="hierChild4" presStyleCnt="0"/>
      <dgm:spPr/>
    </dgm:pt>
    <dgm:pt modelId="{8BD9506F-16C7-4C18-8D7B-0C468E2E5965}" type="pres">
      <dgm:prSet presAssocID="{624D30A7-03A0-41B8-9175-496F35E20594}" presName="hierChild5" presStyleCnt="0"/>
      <dgm:spPr/>
    </dgm:pt>
    <dgm:pt modelId="{C12D2B7E-BBCD-4717-832D-14CD0F1E6E63}" type="pres">
      <dgm:prSet presAssocID="{D6C519C5-86F9-48B0-B7AC-6CCFDC8F3E1B}" presName="hierChild3" presStyleCnt="0"/>
      <dgm:spPr/>
    </dgm:pt>
  </dgm:ptLst>
  <dgm:cxnLst>
    <dgm:cxn modelId="{E4A379B8-9D00-42A3-874E-F3C303016D49}" type="presOf" srcId="{D6C519C5-86F9-48B0-B7AC-6CCFDC8F3E1B}" destId="{E261738A-F815-4832-9305-88051B383600}" srcOrd="0" destOrd="0" presId="urn:microsoft.com/office/officeart/2005/8/layout/orgChart1"/>
    <dgm:cxn modelId="{83DCC900-810C-4FA7-8350-430F9D7C27C3}" type="presOf" srcId="{FFB65646-E585-4005-8ABC-ABBB47924E56}" destId="{72C9728D-EFFC-4B3F-854C-273BD234AA50}" srcOrd="1" destOrd="0" presId="urn:microsoft.com/office/officeart/2005/8/layout/orgChart1"/>
    <dgm:cxn modelId="{9B117D00-FA5C-42DA-946A-3943C38EA6A5}" type="presOf" srcId="{624D30A7-03A0-41B8-9175-496F35E20594}" destId="{A4A4714B-C13A-40DA-A4B3-5734A5B9E965}" srcOrd="0" destOrd="0" presId="urn:microsoft.com/office/officeart/2005/8/layout/orgChart1"/>
    <dgm:cxn modelId="{00CEFEB6-E5FA-497A-976B-E9BC386F88FC}" type="presOf" srcId="{F24AB6AF-B043-4016-91BB-3EEADE44EFB3}" destId="{F301333E-A4FD-4B14-923D-113C51002FD7}" srcOrd="0" destOrd="0" presId="urn:microsoft.com/office/officeart/2005/8/layout/orgChart1"/>
    <dgm:cxn modelId="{9B5D839E-971D-4B91-B77C-EB2F74BF4F93}" type="presOf" srcId="{624D30A7-03A0-41B8-9175-496F35E20594}" destId="{A4D57FFA-54B8-4F0D-B590-A33E17654D3E}" srcOrd="1" destOrd="0" presId="urn:microsoft.com/office/officeart/2005/8/layout/orgChart1"/>
    <dgm:cxn modelId="{8DB1063B-74A0-449F-B006-DA1F1E4E5114}" type="presOf" srcId="{8EA06B79-45B9-44BA-AC73-F626650F19FC}" destId="{5C71DD4F-126F-4385-93D6-14B0217361B3}" srcOrd="0" destOrd="0" presId="urn:microsoft.com/office/officeart/2005/8/layout/orgChart1"/>
    <dgm:cxn modelId="{91DFF118-C649-4D0F-808D-DD21EA5D6178}" srcId="{F24AB6AF-B043-4016-91BB-3EEADE44EFB3}" destId="{D6C519C5-86F9-48B0-B7AC-6CCFDC8F3E1B}" srcOrd="0" destOrd="0" parTransId="{D15D012A-39AB-49B5-BDF1-1D37C5FD5343}" sibTransId="{271F7EE0-AC2C-4135-A4CE-4ABE626BBACF}"/>
    <dgm:cxn modelId="{D28FFA9D-8C9C-4A99-A693-9DF7EFF413FA}" srcId="{F97A3767-09D8-4257-A87B-212AD30859AD}" destId="{0F629718-5671-4E7A-9FB2-9EA414685B84}" srcOrd="1" destOrd="0" parTransId="{4C6FCE9C-F4B6-4319-9E48-34E273DC36B8}" sibTransId="{E310E9AF-D404-4E13-B880-6F892A9CDCD2}"/>
    <dgm:cxn modelId="{90CDC33E-E462-4DFD-AB27-85F7D3A064C8}" type="presOf" srcId="{F97A3767-09D8-4257-A87B-212AD30859AD}" destId="{7B4C179D-0D95-465D-BF0F-5254B9EDFFEB}" srcOrd="1" destOrd="0" presId="urn:microsoft.com/office/officeart/2005/8/layout/orgChart1"/>
    <dgm:cxn modelId="{0630A29F-7077-4E90-BEAB-0010965FF0C0}" srcId="{F97A3767-09D8-4257-A87B-212AD30859AD}" destId="{30ACB95A-F92E-481D-BE17-8239401D02D8}" srcOrd="0" destOrd="0" parTransId="{FB86A0BD-1A81-498A-A952-F3561698209F}" sibTransId="{BA27A2CA-723E-40DD-881D-1F0544550839}"/>
    <dgm:cxn modelId="{BCD9AB01-9447-48BC-A1E0-E8279B49B99D}" type="presOf" srcId="{FB86A0BD-1A81-498A-A952-F3561698209F}" destId="{CE228C39-FE5A-4CCB-85FD-61BE68327BCF}" srcOrd="0" destOrd="0" presId="urn:microsoft.com/office/officeart/2005/8/layout/orgChart1"/>
    <dgm:cxn modelId="{74F1ED42-B94A-4E47-B4AD-0164F5187A1D}" type="presOf" srcId="{413B5DFD-87E1-4327-A7C0-4E2A7F6487E6}" destId="{2D15B40A-4E23-4813-9BE0-3684512CFA32}" srcOrd="0" destOrd="0" presId="urn:microsoft.com/office/officeart/2005/8/layout/orgChart1"/>
    <dgm:cxn modelId="{1E6CC3E8-8904-4EA0-B58C-59B937940FB1}" srcId="{F97A3767-09D8-4257-A87B-212AD30859AD}" destId="{FFB65646-E585-4005-8ABC-ABBB47924E56}" srcOrd="2" destOrd="0" parTransId="{413B5DFD-87E1-4327-A7C0-4E2A7F6487E6}" sibTransId="{55D6DB9B-F25C-491D-A854-07BB84FE1FCB}"/>
    <dgm:cxn modelId="{CCCAC810-A4C9-4784-B6A4-8453FEF91631}" type="presOf" srcId="{4C6FCE9C-F4B6-4319-9E48-34E273DC36B8}" destId="{BF56E96E-0F9C-4954-9438-576A6DC2BB5D}" srcOrd="0" destOrd="0" presId="urn:microsoft.com/office/officeart/2005/8/layout/orgChart1"/>
    <dgm:cxn modelId="{F427BA8B-D89D-439B-960B-1EF7CC4B12EB}" type="presOf" srcId="{0F629718-5671-4E7A-9FB2-9EA414685B84}" destId="{F7F03039-68B9-4AAD-93FC-CD49D9D0F718}" srcOrd="0" destOrd="0" presId="urn:microsoft.com/office/officeart/2005/8/layout/orgChart1"/>
    <dgm:cxn modelId="{E18E1D12-6015-448D-AF90-99ADD476A1B5}" type="presOf" srcId="{FFB65646-E585-4005-8ABC-ABBB47924E56}" destId="{999B9D57-B822-4DE1-804C-60B3B2ACE03E}" srcOrd="0" destOrd="0" presId="urn:microsoft.com/office/officeart/2005/8/layout/orgChart1"/>
    <dgm:cxn modelId="{CB9DC612-2D20-4DCD-A0A1-C0AA480B2AAB}" type="presOf" srcId="{30ACB95A-F92E-481D-BE17-8239401D02D8}" destId="{7D4318C1-9673-433E-BFC9-D055633CA9AF}" srcOrd="0" destOrd="0" presId="urn:microsoft.com/office/officeart/2005/8/layout/orgChart1"/>
    <dgm:cxn modelId="{6D53571E-DA16-4D74-BF93-1A3628DFAD07}" srcId="{D6C519C5-86F9-48B0-B7AC-6CCFDC8F3E1B}" destId="{624D30A7-03A0-41B8-9175-496F35E20594}" srcOrd="1" destOrd="0" parTransId="{B40F80F7-4F0E-4D4E-8F84-94B7A398A546}" sibTransId="{82BC6C92-A964-495D-9B86-DE99FEC4067B}"/>
    <dgm:cxn modelId="{1AD95B5E-1CE0-4B28-AE50-46B30CE7A919}" type="presOf" srcId="{D6C519C5-86F9-48B0-B7AC-6CCFDC8F3E1B}" destId="{24F1511D-DB68-43FF-B907-43BC34220464}" srcOrd="1" destOrd="0" presId="urn:microsoft.com/office/officeart/2005/8/layout/orgChart1"/>
    <dgm:cxn modelId="{FF8DF7D8-02E3-4B5B-B77F-24DA6A6D06EB}" type="presOf" srcId="{F97A3767-09D8-4257-A87B-212AD30859AD}" destId="{AC39F92E-EB58-4139-A2F3-4D72E9E93AB3}" srcOrd="0" destOrd="0" presId="urn:microsoft.com/office/officeart/2005/8/layout/orgChart1"/>
    <dgm:cxn modelId="{57B422BC-60BF-4C88-9ADB-C0B1F04D5297}" type="presOf" srcId="{0F629718-5671-4E7A-9FB2-9EA414685B84}" destId="{8A56CEF3-A64F-46B3-B2BD-D1CA925EA437}" srcOrd="1" destOrd="0" presId="urn:microsoft.com/office/officeart/2005/8/layout/orgChart1"/>
    <dgm:cxn modelId="{1CA5AC43-A9F4-401A-8AE2-8CC315C86CB7}" type="presOf" srcId="{B40F80F7-4F0E-4D4E-8F84-94B7A398A546}" destId="{5DB2E8D4-CAF7-4377-B0A7-57C1C5E74406}" srcOrd="0" destOrd="0" presId="urn:microsoft.com/office/officeart/2005/8/layout/orgChart1"/>
    <dgm:cxn modelId="{4735D6DE-F61E-4EAB-87A4-97D0B6B7A1AF}" type="presOf" srcId="{30ACB95A-F92E-481D-BE17-8239401D02D8}" destId="{E82ADA0B-CF98-48E2-8690-0D5EEE9A85AF}" srcOrd="1" destOrd="0" presId="urn:microsoft.com/office/officeart/2005/8/layout/orgChart1"/>
    <dgm:cxn modelId="{4D3CEB9D-A77E-478D-BC18-9B7AEAD793E0}" srcId="{D6C519C5-86F9-48B0-B7AC-6CCFDC8F3E1B}" destId="{F97A3767-09D8-4257-A87B-212AD30859AD}" srcOrd="0" destOrd="0" parTransId="{8EA06B79-45B9-44BA-AC73-F626650F19FC}" sibTransId="{B04048B8-8B55-40F4-8111-72A6D241E129}"/>
    <dgm:cxn modelId="{DEEE9C04-CB3E-4C69-BFC0-9ACDBC28DDBB}" type="presParOf" srcId="{F301333E-A4FD-4B14-923D-113C51002FD7}" destId="{5C124A89-D42D-47E7-A930-24D76E6F0F68}" srcOrd="0" destOrd="0" presId="urn:microsoft.com/office/officeart/2005/8/layout/orgChart1"/>
    <dgm:cxn modelId="{A17D9A46-C448-488D-A9B3-ADE28D5D2B7E}" type="presParOf" srcId="{5C124A89-D42D-47E7-A930-24D76E6F0F68}" destId="{BC0B43CF-65F7-4B1A-8F41-BD2AA5FB71D0}" srcOrd="0" destOrd="0" presId="urn:microsoft.com/office/officeart/2005/8/layout/orgChart1"/>
    <dgm:cxn modelId="{50414AFB-4270-4D59-BBDA-CEA4902AFED0}" type="presParOf" srcId="{BC0B43CF-65F7-4B1A-8F41-BD2AA5FB71D0}" destId="{E261738A-F815-4832-9305-88051B383600}" srcOrd="0" destOrd="0" presId="urn:microsoft.com/office/officeart/2005/8/layout/orgChart1"/>
    <dgm:cxn modelId="{59DFA4B1-82DC-4AAE-8C33-E32BB1E9B836}" type="presParOf" srcId="{BC0B43CF-65F7-4B1A-8F41-BD2AA5FB71D0}" destId="{24F1511D-DB68-43FF-B907-43BC34220464}" srcOrd="1" destOrd="0" presId="urn:microsoft.com/office/officeart/2005/8/layout/orgChart1"/>
    <dgm:cxn modelId="{82DBE04F-FE2F-46FD-BFBD-ABAF822320BE}" type="presParOf" srcId="{5C124A89-D42D-47E7-A930-24D76E6F0F68}" destId="{505F3111-1F48-4E21-8E26-C9989C622DEE}" srcOrd="1" destOrd="0" presId="urn:microsoft.com/office/officeart/2005/8/layout/orgChart1"/>
    <dgm:cxn modelId="{F0A7DE43-C05A-416A-8250-CAC43F20D8CF}" type="presParOf" srcId="{505F3111-1F48-4E21-8E26-C9989C622DEE}" destId="{5C71DD4F-126F-4385-93D6-14B0217361B3}" srcOrd="0" destOrd="0" presId="urn:microsoft.com/office/officeart/2005/8/layout/orgChart1"/>
    <dgm:cxn modelId="{A7D5DB76-DC85-4BAD-8DC1-5696C65D4E20}" type="presParOf" srcId="{505F3111-1F48-4E21-8E26-C9989C622DEE}" destId="{8736A519-7B2F-40EB-8BE3-4ACA05402D10}" srcOrd="1" destOrd="0" presId="urn:microsoft.com/office/officeart/2005/8/layout/orgChart1"/>
    <dgm:cxn modelId="{CF644863-ABBD-4CE7-B224-E4A8E7C2ADA0}" type="presParOf" srcId="{8736A519-7B2F-40EB-8BE3-4ACA05402D10}" destId="{46B99D71-392D-4568-9BCD-11307D11A988}" srcOrd="0" destOrd="0" presId="urn:microsoft.com/office/officeart/2005/8/layout/orgChart1"/>
    <dgm:cxn modelId="{D0B2C191-6689-4AD6-81D2-015790289E22}" type="presParOf" srcId="{46B99D71-392D-4568-9BCD-11307D11A988}" destId="{AC39F92E-EB58-4139-A2F3-4D72E9E93AB3}" srcOrd="0" destOrd="0" presId="urn:microsoft.com/office/officeart/2005/8/layout/orgChart1"/>
    <dgm:cxn modelId="{84269EB6-4A06-4A64-8971-345B851824D5}" type="presParOf" srcId="{46B99D71-392D-4568-9BCD-11307D11A988}" destId="{7B4C179D-0D95-465D-BF0F-5254B9EDFFEB}" srcOrd="1" destOrd="0" presId="urn:microsoft.com/office/officeart/2005/8/layout/orgChart1"/>
    <dgm:cxn modelId="{2F4A442A-F2C8-435B-9260-FF8ADCBC0A32}" type="presParOf" srcId="{8736A519-7B2F-40EB-8BE3-4ACA05402D10}" destId="{D0292E79-DB35-42EA-8D93-57B337EA2F35}" srcOrd="1" destOrd="0" presId="urn:microsoft.com/office/officeart/2005/8/layout/orgChart1"/>
    <dgm:cxn modelId="{36B0D08F-1C10-4224-A10C-DEC920CE6C24}" type="presParOf" srcId="{D0292E79-DB35-42EA-8D93-57B337EA2F35}" destId="{CE228C39-FE5A-4CCB-85FD-61BE68327BCF}" srcOrd="0" destOrd="0" presId="urn:microsoft.com/office/officeart/2005/8/layout/orgChart1"/>
    <dgm:cxn modelId="{FC4AD24B-52CD-4C16-84A8-01075CF8AD33}" type="presParOf" srcId="{D0292E79-DB35-42EA-8D93-57B337EA2F35}" destId="{742D17EA-CFF3-4430-ACB2-94EDFB1751DF}" srcOrd="1" destOrd="0" presId="urn:microsoft.com/office/officeart/2005/8/layout/orgChart1"/>
    <dgm:cxn modelId="{36817453-478B-471D-B354-DC138E28F98E}" type="presParOf" srcId="{742D17EA-CFF3-4430-ACB2-94EDFB1751DF}" destId="{2C172EF1-192A-4659-A417-CB2D5A847C9B}" srcOrd="0" destOrd="0" presId="urn:microsoft.com/office/officeart/2005/8/layout/orgChart1"/>
    <dgm:cxn modelId="{3CF5B599-4E0A-46A0-947B-4B9693296CC8}" type="presParOf" srcId="{2C172EF1-192A-4659-A417-CB2D5A847C9B}" destId="{7D4318C1-9673-433E-BFC9-D055633CA9AF}" srcOrd="0" destOrd="0" presId="urn:microsoft.com/office/officeart/2005/8/layout/orgChart1"/>
    <dgm:cxn modelId="{603C5D19-01DD-44A8-BF9D-663D84890FCE}" type="presParOf" srcId="{2C172EF1-192A-4659-A417-CB2D5A847C9B}" destId="{E82ADA0B-CF98-48E2-8690-0D5EEE9A85AF}" srcOrd="1" destOrd="0" presId="urn:microsoft.com/office/officeart/2005/8/layout/orgChart1"/>
    <dgm:cxn modelId="{508949B2-BB67-4C0F-A62D-E55EE56398FB}" type="presParOf" srcId="{742D17EA-CFF3-4430-ACB2-94EDFB1751DF}" destId="{C992BB76-AF0C-4778-BD35-A4F446D08C23}" srcOrd="1" destOrd="0" presId="urn:microsoft.com/office/officeart/2005/8/layout/orgChart1"/>
    <dgm:cxn modelId="{40709F23-AEAF-4F8F-9DD6-4CF6749887BD}" type="presParOf" srcId="{742D17EA-CFF3-4430-ACB2-94EDFB1751DF}" destId="{A1DB1DE5-2175-41A7-B826-D2DAB1A0460D}" srcOrd="2" destOrd="0" presId="urn:microsoft.com/office/officeart/2005/8/layout/orgChart1"/>
    <dgm:cxn modelId="{C0E22545-7129-42FA-87B0-B7B4DD6BF437}" type="presParOf" srcId="{D0292E79-DB35-42EA-8D93-57B337EA2F35}" destId="{BF56E96E-0F9C-4954-9438-576A6DC2BB5D}" srcOrd="2" destOrd="0" presId="urn:microsoft.com/office/officeart/2005/8/layout/orgChart1"/>
    <dgm:cxn modelId="{9DBBD796-6886-4DB4-BA24-0D2E0D2B63D4}" type="presParOf" srcId="{D0292E79-DB35-42EA-8D93-57B337EA2F35}" destId="{9533ED27-24B0-489C-9F17-B12435726586}" srcOrd="3" destOrd="0" presId="urn:microsoft.com/office/officeart/2005/8/layout/orgChart1"/>
    <dgm:cxn modelId="{0485174A-26F0-44F8-B095-C4ACED6D8DC9}" type="presParOf" srcId="{9533ED27-24B0-489C-9F17-B12435726586}" destId="{BF7A5F81-9468-4437-86FB-80EC8DDE6919}" srcOrd="0" destOrd="0" presId="urn:microsoft.com/office/officeart/2005/8/layout/orgChart1"/>
    <dgm:cxn modelId="{458B10BB-7F94-4E0B-933B-B669EA94EC29}" type="presParOf" srcId="{BF7A5F81-9468-4437-86FB-80EC8DDE6919}" destId="{F7F03039-68B9-4AAD-93FC-CD49D9D0F718}" srcOrd="0" destOrd="0" presId="urn:microsoft.com/office/officeart/2005/8/layout/orgChart1"/>
    <dgm:cxn modelId="{0D60B3A6-4B01-4E59-A280-41F7529DFE10}" type="presParOf" srcId="{BF7A5F81-9468-4437-86FB-80EC8DDE6919}" destId="{8A56CEF3-A64F-46B3-B2BD-D1CA925EA437}" srcOrd="1" destOrd="0" presId="urn:microsoft.com/office/officeart/2005/8/layout/orgChart1"/>
    <dgm:cxn modelId="{3A0A5606-26D6-4EF8-BEB1-0FE7BC41465C}" type="presParOf" srcId="{9533ED27-24B0-489C-9F17-B12435726586}" destId="{5B89D029-CF44-4AC7-85EA-CE8137B61E66}" srcOrd="1" destOrd="0" presId="urn:microsoft.com/office/officeart/2005/8/layout/orgChart1"/>
    <dgm:cxn modelId="{274270F0-B2F4-42C8-8FF1-0B44C5499E8A}" type="presParOf" srcId="{9533ED27-24B0-489C-9F17-B12435726586}" destId="{2D909092-19B1-48CC-BF9B-FF92F57DA217}" srcOrd="2" destOrd="0" presId="urn:microsoft.com/office/officeart/2005/8/layout/orgChart1"/>
    <dgm:cxn modelId="{C44166A4-2749-4726-9BDB-56D0541A581F}" type="presParOf" srcId="{D0292E79-DB35-42EA-8D93-57B337EA2F35}" destId="{2D15B40A-4E23-4813-9BE0-3684512CFA32}" srcOrd="4" destOrd="0" presId="urn:microsoft.com/office/officeart/2005/8/layout/orgChart1"/>
    <dgm:cxn modelId="{DD7B58F3-6B9F-4362-896C-AED36D7C79C0}" type="presParOf" srcId="{D0292E79-DB35-42EA-8D93-57B337EA2F35}" destId="{80E14B54-7F19-4EC5-B728-D0FCCDE719F5}" srcOrd="5" destOrd="0" presId="urn:microsoft.com/office/officeart/2005/8/layout/orgChart1"/>
    <dgm:cxn modelId="{021D3157-D002-4A30-8F73-C02E5909B19C}" type="presParOf" srcId="{80E14B54-7F19-4EC5-B728-D0FCCDE719F5}" destId="{04539AD6-F681-4431-88FD-E36C40C0F3FB}" srcOrd="0" destOrd="0" presId="urn:microsoft.com/office/officeart/2005/8/layout/orgChart1"/>
    <dgm:cxn modelId="{A65FD702-EDB3-4756-8F1D-5789369D0818}" type="presParOf" srcId="{04539AD6-F681-4431-88FD-E36C40C0F3FB}" destId="{999B9D57-B822-4DE1-804C-60B3B2ACE03E}" srcOrd="0" destOrd="0" presId="urn:microsoft.com/office/officeart/2005/8/layout/orgChart1"/>
    <dgm:cxn modelId="{F18AB132-2FAA-4758-8ADF-00E7992C91F8}" type="presParOf" srcId="{04539AD6-F681-4431-88FD-E36C40C0F3FB}" destId="{72C9728D-EFFC-4B3F-854C-273BD234AA50}" srcOrd="1" destOrd="0" presId="urn:microsoft.com/office/officeart/2005/8/layout/orgChart1"/>
    <dgm:cxn modelId="{F7E51512-212F-4AE8-9725-8AEA4C754BC0}" type="presParOf" srcId="{80E14B54-7F19-4EC5-B728-D0FCCDE719F5}" destId="{1D38C22D-1A78-4CEB-9CEA-D4733F8C4D3C}" srcOrd="1" destOrd="0" presId="urn:microsoft.com/office/officeart/2005/8/layout/orgChart1"/>
    <dgm:cxn modelId="{4395F4A3-7B0D-4068-B800-7D7DD1EFF211}" type="presParOf" srcId="{80E14B54-7F19-4EC5-B728-D0FCCDE719F5}" destId="{7F51AD6E-4A78-4C8C-B26D-36BF2B9A9B02}" srcOrd="2" destOrd="0" presId="urn:microsoft.com/office/officeart/2005/8/layout/orgChart1"/>
    <dgm:cxn modelId="{19B42C39-A21D-48A3-8330-F618585BA6FC}" type="presParOf" srcId="{8736A519-7B2F-40EB-8BE3-4ACA05402D10}" destId="{0F342F11-A1C6-44FA-8470-B7B3A75CF677}" srcOrd="2" destOrd="0" presId="urn:microsoft.com/office/officeart/2005/8/layout/orgChart1"/>
    <dgm:cxn modelId="{832397CE-7E15-4920-8949-89FB577619A4}" type="presParOf" srcId="{505F3111-1F48-4E21-8E26-C9989C622DEE}" destId="{5DB2E8D4-CAF7-4377-B0A7-57C1C5E74406}" srcOrd="2" destOrd="0" presId="urn:microsoft.com/office/officeart/2005/8/layout/orgChart1"/>
    <dgm:cxn modelId="{4E530596-09E9-4517-8DB2-652145FFDE8F}" type="presParOf" srcId="{505F3111-1F48-4E21-8E26-C9989C622DEE}" destId="{C52A56D9-5EA2-4748-94F3-411B16A169D6}" srcOrd="3" destOrd="0" presId="urn:microsoft.com/office/officeart/2005/8/layout/orgChart1"/>
    <dgm:cxn modelId="{0BE93D22-64F6-450E-8CAA-D9FB841604F5}" type="presParOf" srcId="{C52A56D9-5EA2-4748-94F3-411B16A169D6}" destId="{C79C1602-4E3B-4241-886A-7213D3C1BE39}" srcOrd="0" destOrd="0" presId="urn:microsoft.com/office/officeart/2005/8/layout/orgChart1"/>
    <dgm:cxn modelId="{5FA73011-6D3D-4288-A1B1-1C25221CCD80}" type="presParOf" srcId="{C79C1602-4E3B-4241-886A-7213D3C1BE39}" destId="{A4A4714B-C13A-40DA-A4B3-5734A5B9E965}" srcOrd="0" destOrd="0" presId="urn:microsoft.com/office/officeart/2005/8/layout/orgChart1"/>
    <dgm:cxn modelId="{5103D14E-4B42-47F0-9479-E293B16C0623}" type="presParOf" srcId="{C79C1602-4E3B-4241-886A-7213D3C1BE39}" destId="{A4D57FFA-54B8-4F0D-B590-A33E17654D3E}" srcOrd="1" destOrd="0" presId="urn:microsoft.com/office/officeart/2005/8/layout/orgChart1"/>
    <dgm:cxn modelId="{C2BC1EA6-8F09-4B24-BFC1-F8C9A29F50C6}" type="presParOf" srcId="{C52A56D9-5EA2-4748-94F3-411B16A169D6}" destId="{630177E5-2FFC-4EB0-AA15-0A233EB59F4D}" srcOrd="1" destOrd="0" presId="urn:microsoft.com/office/officeart/2005/8/layout/orgChart1"/>
    <dgm:cxn modelId="{BCB7BD67-1551-4D37-A9F8-10D11725204C}" type="presParOf" srcId="{C52A56D9-5EA2-4748-94F3-411B16A169D6}" destId="{8BD9506F-16C7-4C18-8D7B-0C468E2E5965}" srcOrd="2" destOrd="0" presId="urn:microsoft.com/office/officeart/2005/8/layout/orgChart1"/>
    <dgm:cxn modelId="{5BC12AC1-A31B-4AFB-87D9-FDACE6AD0694}" type="presParOf" srcId="{5C124A89-D42D-47E7-A930-24D76E6F0F68}" destId="{C12D2B7E-BBCD-4717-832D-14CD0F1E6E6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7175CD-13DA-41FE-9E2E-A86FD2FB6D64}" type="doc">
      <dgm:prSet loTypeId="urn:microsoft.com/office/officeart/2005/8/layout/process1" loCatId="process" qsTypeId="urn:microsoft.com/office/officeart/2005/8/quickstyle/simple2" qsCatId="simple" csTypeId="urn:microsoft.com/office/officeart/2005/8/colors/accent4_2" csCatId="accent4" phldr="1"/>
      <dgm:spPr/>
    </dgm:pt>
    <dgm:pt modelId="{D5DC14CC-3AD8-42D4-B3D6-BCF47B86D13E}">
      <dgm:prSet phldrT="[Text]" custT="1"/>
      <dgm:spPr/>
      <dgm:t>
        <a:bodyPr/>
        <a:lstStyle/>
        <a:p>
          <a:r>
            <a:rPr lang="en-US" sz="2400" dirty="0">
              <a:latin typeface="+mj-lt"/>
            </a:rPr>
            <a:t>HÓA ĐƠN, CHỨNG TỪ </a:t>
          </a:r>
        </a:p>
        <a:p>
          <a:r>
            <a:rPr lang="en-US" sz="2400" dirty="0">
              <a:latin typeface="+mj-lt"/>
            </a:rPr>
            <a:t>ĐIỆN TỬ</a:t>
          </a:r>
        </a:p>
      </dgm:t>
    </dgm:pt>
    <dgm:pt modelId="{C9EA459C-0E73-462E-ABA7-9190464C33A8}" type="parTrans" cxnId="{B4F5E173-FD10-446C-9C11-CA6D0DBE1051}">
      <dgm:prSet/>
      <dgm:spPr/>
      <dgm:t>
        <a:bodyPr/>
        <a:lstStyle/>
        <a:p>
          <a:endParaRPr lang="en-US"/>
        </a:p>
      </dgm:t>
    </dgm:pt>
    <dgm:pt modelId="{26C104ED-8521-4EF7-BFFE-7AA24D56116B}" type="sibTrans" cxnId="{B4F5E173-FD10-446C-9C11-CA6D0DBE1051}">
      <dgm:prSet/>
      <dgm:spPr/>
      <dgm:t>
        <a:bodyPr/>
        <a:lstStyle/>
        <a:p>
          <a:endParaRPr lang="en-US"/>
        </a:p>
      </dgm:t>
    </dgm:pt>
    <dgm:pt modelId="{0D490903-EF47-44D7-B5BC-13D4CC7D4556}">
      <dgm:prSet phldrT="[Text]" custT="1"/>
      <dgm:spPr/>
      <dgm:t>
        <a:bodyPr/>
        <a:lstStyle/>
        <a:p>
          <a:r>
            <a:rPr lang="en-US" sz="2400" dirty="0">
              <a:latin typeface="+mj-lt"/>
            </a:rPr>
            <a:t>HÓA ĐƠN, CHỨNG TỪ GIẤY</a:t>
          </a:r>
        </a:p>
      </dgm:t>
    </dgm:pt>
    <dgm:pt modelId="{DDE968EB-B5CD-4F4B-9126-1363BD8EEA56}" type="parTrans" cxnId="{15B1E8B5-0923-4349-885F-298B716D8662}">
      <dgm:prSet/>
      <dgm:spPr/>
      <dgm:t>
        <a:bodyPr/>
        <a:lstStyle/>
        <a:p>
          <a:endParaRPr lang="en-US"/>
        </a:p>
      </dgm:t>
    </dgm:pt>
    <dgm:pt modelId="{9A593327-FC9C-4348-8EA6-898C69D3E6CE}" type="sibTrans" cxnId="{15B1E8B5-0923-4349-885F-298B716D8662}">
      <dgm:prSet/>
      <dgm:spPr/>
      <dgm:t>
        <a:bodyPr/>
        <a:lstStyle/>
        <a:p>
          <a:endParaRPr lang="en-US"/>
        </a:p>
      </dgm:t>
    </dgm:pt>
    <dgm:pt modelId="{8ABCE57B-127B-45F5-8421-3B0940AA8A96}" type="pres">
      <dgm:prSet presAssocID="{B37175CD-13DA-41FE-9E2E-A86FD2FB6D64}" presName="Name0" presStyleCnt="0">
        <dgm:presLayoutVars>
          <dgm:dir/>
          <dgm:resizeHandles val="exact"/>
        </dgm:presLayoutVars>
      </dgm:prSet>
      <dgm:spPr/>
    </dgm:pt>
    <dgm:pt modelId="{16BBF38E-A7F0-4B31-BCD1-B315F52C616D}" type="pres">
      <dgm:prSet presAssocID="{D5DC14CC-3AD8-42D4-B3D6-BCF47B86D13E}" presName="node" presStyleLbl="node1" presStyleIdx="0" presStyleCnt="2" custScaleX="43841" custScaleY="27625" custLinFactNeighborX="4361" custLinFactNeighborY="-44465">
        <dgm:presLayoutVars>
          <dgm:bulletEnabled val="1"/>
        </dgm:presLayoutVars>
      </dgm:prSet>
      <dgm:spPr/>
      <dgm:t>
        <a:bodyPr/>
        <a:lstStyle/>
        <a:p>
          <a:endParaRPr lang="en-US"/>
        </a:p>
      </dgm:t>
    </dgm:pt>
    <dgm:pt modelId="{AF98736E-2432-4DEE-832E-E7FEFA322883}" type="pres">
      <dgm:prSet presAssocID="{26C104ED-8521-4EF7-BFFE-7AA24D56116B}" presName="sibTrans" presStyleLbl="sibTrans2D1" presStyleIdx="0" presStyleCnt="1"/>
      <dgm:spPr/>
      <dgm:t>
        <a:bodyPr/>
        <a:lstStyle/>
        <a:p>
          <a:endParaRPr lang="en-US"/>
        </a:p>
      </dgm:t>
    </dgm:pt>
    <dgm:pt modelId="{453DE2A9-C64D-4EE1-8B56-F86A1B18A1A1}" type="pres">
      <dgm:prSet presAssocID="{26C104ED-8521-4EF7-BFFE-7AA24D56116B}" presName="connectorText" presStyleLbl="sibTrans2D1" presStyleIdx="0" presStyleCnt="1"/>
      <dgm:spPr/>
      <dgm:t>
        <a:bodyPr/>
        <a:lstStyle/>
        <a:p>
          <a:endParaRPr lang="en-US"/>
        </a:p>
      </dgm:t>
    </dgm:pt>
    <dgm:pt modelId="{B6C37CBA-F5E3-436D-8C49-A7E51AFD6C49}" type="pres">
      <dgm:prSet presAssocID="{0D490903-EF47-44D7-B5BC-13D4CC7D4556}" presName="node" presStyleLbl="node1" presStyleIdx="1" presStyleCnt="2" custScaleX="41332" custScaleY="30469" custLinFactNeighborX="-13170" custLinFactNeighborY="-42186">
        <dgm:presLayoutVars>
          <dgm:bulletEnabled val="1"/>
        </dgm:presLayoutVars>
      </dgm:prSet>
      <dgm:spPr/>
      <dgm:t>
        <a:bodyPr/>
        <a:lstStyle/>
        <a:p>
          <a:endParaRPr lang="en-US"/>
        </a:p>
      </dgm:t>
    </dgm:pt>
  </dgm:ptLst>
  <dgm:cxnLst>
    <dgm:cxn modelId="{15B1E8B5-0923-4349-885F-298B716D8662}" srcId="{B37175CD-13DA-41FE-9E2E-A86FD2FB6D64}" destId="{0D490903-EF47-44D7-B5BC-13D4CC7D4556}" srcOrd="1" destOrd="0" parTransId="{DDE968EB-B5CD-4F4B-9126-1363BD8EEA56}" sibTransId="{9A593327-FC9C-4348-8EA6-898C69D3E6CE}"/>
    <dgm:cxn modelId="{552786E1-6BC3-4DF6-A1FD-A5B6A2F84A81}" type="presOf" srcId="{B37175CD-13DA-41FE-9E2E-A86FD2FB6D64}" destId="{8ABCE57B-127B-45F5-8421-3B0940AA8A96}" srcOrd="0" destOrd="0" presId="urn:microsoft.com/office/officeart/2005/8/layout/process1"/>
    <dgm:cxn modelId="{A877ED75-811B-4720-A9E9-CD27CC14B60F}" type="presOf" srcId="{26C104ED-8521-4EF7-BFFE-7AA24D56116B}" destId="{453DE2A9-C64D-4EE1-8B56-F86A1B18A1A1}" srcOrd="1" destOrd="0" presId="urn:microsoft.com/office/officeart/2005/8/layout/process1"/>
    <dgm:cxn modelId="{9499DBFE-705D-4089-AE63-968E30B4D188}" type="presOf" srcId="{26C104ED-8521-4EF7-BFFE-7AA24D56116B}" destId="{AF98736E-2432-4DEE-832E-E7FEFA322883}" srcOrd="0" destOrd="0" presId="urn:microsoft.com/office/officeart/2005/8/layout/process1"/>
    <dgm:cxn modelId="{FE0B9C45-2678-465B-9646-698FDDEF10A4}" type="presOf" srcId="{D5DC14CC-3AD8-42D4-B3D6-BCF47B86D13E}" destId="{16BBF38E-A7F0-4B31-BCD1-B315F52C616D}" srcOrd="0" destOrd="0" presId="urn:microsoft.com/office/officeart/2005/8/layout/process1"/>
    <dgm:cxn modelId="{1E633199-5B46-4CF6-BDCC-65B00EFFA0B4}" type="presOf" srcId="{0D490903-EF47-44D7-B5BC-13D4CC7D4556}" destId="{B6C37CBA-F5E3-436D-8C49-A7E51AFD6C49}" srcOrd="0" destOrd="0" presId="urn:microsoft.com/office/officeart/2005/8/layout/process1"/>
    <dgm:cxn modelId="{B4F5E173-FD10-446C-9C11-CA6D0DBE1051}" srcId="{B37175CD-13DA-41FE-9E2E-A86FD2FB6D64}" destId="{D5DC14CC-3AD8-42D4-B3D6-BCF47B86D13E}" srcOrd="0" destOrd="0" parTransId="{C9EA459C-0E73-462E-ABA7-9190464C33A8}" sibTransId="{26C104ED-8521-4EF7-BFFE-7AA24D56116B}"/>
    <dgm:cxn modelId="{7D0926E8-4A15-41AC-B43C-FDA57370A877}" type="presParOf" srcId="{8ABCE57B-127B-45F5-8421-3B0940AA8A96}" destId="{16BBF38E-A7F0-4B31-BCD1-B315F52C616D}" srcOrd="0" destOrd="0" presId="urn:microsoft.com/office/officeart/2005/8/layout/process1"/>
    <dgm:cxn modelId="{31EFEBDB-A881-401A-BDBA-39E70DC4F544}" type="presParOf" srcId="{8ABCE57B-127B-45F5-8421-3B0940AA8A96}" destId="{AF98736E-2432-4DEE-832E-E7FEFA322883}" srcOrd="1" destOrd="0" presId="urn:microsoft.com/office/officeart/2005/8/layout/process1"/>
    <dgm:cxn modelId="{182AE1D0-2C19-4503-9973-39691DA11CF0}" type="presParOf" srcId="{AF98736E-2432-4DEE-832E-E7FEFA322883}" destId="{453DE2A9-C64D-4EE1-8B56-F86A1B18A1A1}" srcOrd="0" destOrd="0" presId="urn:microsoft.com/office/officeart/2005/8/layout/process1"/>
    <dgm:cxn modelId="{01115390-F81F-4D3F-A60F-3A7071862160}" type="presParOf" srcId="{8ABCE57B-127B-45F5-8421-3B0940AA8A96}" destId="{B6C37CBA-F5E3-436D-8C49-A7E51AFD6C49}"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24AB6AF-B043-4016-91BB-3EEADE44EFB3}" type="doc">
      <dgm:prSet loTypeId="urn:microsoft.com/office/officeart/2005/8/layout/orgChart1" loCatId="hierarchy" qsTypeId="urn:microsoft.com/office/officeart/2005/8/quickstyle/3d2" qsCatId="3D" csTypeId="urn:microsoft.com/office/officeart/2005/8/colors/colorful2" csCatId="colorful" phldr="1"/>
      <dgm:spPr/>
      <dgm:t>
        <a:bodyPr/>
        <a:lstStyle/>
        <a:p>
          <a:endParaRPr lang="en-US"/>
        </a:p>
      </dgm:t>
    </dgm:pt>
    <dgm:pt modelId="{D6C519C5-86F9-48B0-B7AC-6CCFDC8F3E1B}">
      <dgm:prSet phldrT="[Text]" custT="1"/>
      <dgm:spPr/>
      <dgm:t>
        <a:bodyPr/>
        <a:lstStyle/>
        <a:p>
          <a:r>
            <a:rPr lang="en-US" sz="2400" b="1" dirty="0">
              <a:solidFill>
                <a:schemeClr val="tx1"/>
              </a:solidFill>
              <a:latin typeface="+mj-lt"/>
              <a:cs typeface="Arial" panose="020B0604020202020204" pitchFamily="34" charset="0"/>
            </a:rPr>
            <a:t>CHỨNG TỪ</a:t>
          </a:r>
        </a:p>
      </dgm:t>
    </dgm:pt>
    <dgm:pt modelId="{D15D012A-39AB-49B5-BDF1-1D37C5FD5343}" type="parTrans" cxnId="{91DFF118-C649-4D0F-808D-DD21EA5D6178}">
      <dgm:prSet/>
      <dgm:spPr/>
      <dgm:t>
        <a:bodyPr/>
        <a:lstStyle/>
        <a:p>
          <a:endParaRPr lang="en-US"/>
        </a:p>
      </dgm:t>
    </dgm:pt>
    <dgm:pt modelId="{271F7EE0-AC2C-4135-A4CE-4ABE626BBACF}" type="sibTrans" cxnId="{91DFF118-C649-4D0F-808D-DD21EA5D6178}">
      <dgm:prSet/>
      <dgm:spPr/>
      <dgm:t>
        <a:bodyPr/>
        <a:lstStyle/>
        <a:p>
          <a:endParaRPr lang="en-US"/>
        </a:p>
      </dgm:t>
    </dgm:pt>
    <dgm:pt modelId="{F97A3767-09D8-4257-A87B-212AD30859AD}">
      <dgm:prSet phldrT="[Text]" custT="1"/>
      <dgm:spPr/>
      <dgm:t>
        <a:bodyPr/>
        <a:lstStyle/>
        <a:p>
          <a:r>
            <a:rPr lang="en-US" sz="2000" b="1" baseline="0" dirty="0">
              <a:solidFill>
                <a:schemeClr val="tx1"/>
              </a:solidFill>
              <a:latin typeface="+mj-lt"/>
              <a:cs typeface="Arial" panose="020B0604020202020204" pitchFamily="34" charset="0"/>
            </a:rPr>
            <a:t>CHỨNG TỪ ĐIỆN TỬ</a:t>
          </a:r>
        </a:p>
      </dgm:t>
    </dgm:pt>
    <dgm:pt modelId="{8EA06B79-45B9-44BA-AC73-F626650F19FC}" type="parTrans" cxnId="{4D3CEB9D-A77E-478D-BC18-9B7AEAD793E0}">
      <dgm:prSet/>
      <dgm:spPr/>
      <dgm:t>
        <a:bodyPr/>
        <a:lstStyle/>
        <a:p>
          <a:endParaRPr lang="en-US"/>
        </a:p>
      </dgm:t>
    </dgm:pt>
    <dgm:pt modelId="{B04048B8-8B55-40F4-8111-72A6D241E129}" type="sibTrans" cxnId="{4D3CEB9D-A77E-478D-BC18-9B7AEAD793E0}">
      <dgm:prSet/>
      <dgm:spPr/>
      <dgm:t>
        <a:bodyPr/>
        <a:lstStyle/>
        <a:p>
          <a:endParaRPr lang="en-US"/>
        </a:p>
      </dgm:t>
    </dgm:pt>
    <dgm:pt modelId="{624D30A7-03A0-41B8-9175-496F35E20594}">
      <dgm:prSet phldrT="[Text]" custT="1"/>
      <dgm:spPr/>
      <dgm:t>
        <a:bodyPr/>
        <a:lstStyle/>
        <a:p>
          <a:r>
            <a:rPr lang="en-US" sz="2000" b="1" dirty="0">
              <a:solidFill>
                <a:schemeClr val="tx1"/>
              </a:solidFill>
              <a:latin typeface="+mj-lt"/>
              <a:cs typeface="Arial" panose="020B0604020202020204" pitchFamily="34" charset="0"/>
            </a:rPr>
            <a:t>CHỨNG TỪ ĐẶT IN, TỰ IN</a:t>
          </a:r>
        </a:p>
      </dgm:t>
    </dgm:pt>
    <dgm:pt modelId="{B40F80F7-4F0E-4D4E-8F84-94B7A398A546}" type="parTrans" cxnId="{6D53571E-DA16-4D74-BF93-1A3628DFAD07}">
      <dgm:prSet/>
      <dgm:spPr/>
      <dgm:t>
        <a:bodyPr/>
        <a:lstStyle/>
        <a:p>
          <a:endParaRPr lang="en-US"/>
        </a:p>
      </dgm:t>
    </dgm:pt>
    <dgm:pt modelId="{82BC6C92-A964-495D-9B86-DE99FEC4067B}" type="sibTrans" cxnId="{6D53571E-DA16-4D74-BF93-1A3628DFAD07}">
      <dgm:prSet/>
      <dgm:spPr/>
      <dgm:t>
        <a:bodyPr/>
        <a:lstStyle/>
        <a:p>
          <a:endParaRPr lang="en-US"/>
        </a:p>
      </dgm:t>
    </dgm:pt>
    <dgm:pt modelId="{F301333E-A4FD-4B14-923D-113C51002FD7}" type="pres">
      <dgm:prSet presAssocID="{F24AB6AF-B043-4016-91BB-3EEADE44EFB3}" presName="hierChild1" presStyleCnt="0">
        <dgm:presLayoutVars>
          <dgm:orgChart val="1"/>
          <dgm:chPref val="1"/>
          <dgm:dir/>
          <dgm:animOne val="branch"/>
          <dgm:animLvl val="lvl"/>
          <dgm:resizeHandles/>
        </dgm:presLayoutVars>
      </dgm:prSet>
      <dgm:spPr/>
      <dgm:t>
        <a:bodyPr/>
        <a:lstStyle/>
        <a:p>
          <a:endParaRPr lang="en-US"/>
        </a:p>
      </dgm:t>
    </dgm:pt>
    <dgm:pt modelId="{5C124A89-D42D-47E7-A930-24D76E6F0F68}" type="pres">
      <dgm:prSet presAssocID="{D6C519C5-86F9-48B0-B7AC-6CCFDC8F3E1B}" presName="hierRoot1" presStyleCnt="0">
        <dgm:presLayoutVars>
          <dgm:hierBranch val="init"/>
        </dgm:presLayoutVars>
      </dgm:prSet>
      <dgm:spPr/>
    </dgm:pt>
    <dgm:pt modelId="{BC0B43CF-65F7-4B1A-8F41-BD2AA5FB71D0}" type="pres">
      <dgm:prSet presAssocID="{D6C519C5-86F9-48B0-B7AC-6CCFDC8F3E1B}" presName="rootComposite1" presStyleCnt="0"/>
      <dgm:spPr/>
    </dgm:pt>
    <dgm:pt modelId="{E261738A-F815-4832-9305-88051B383600}" type="pres">
      <dgm:prSet presAssocID="{D6C519C5-86F9-48B0-B7AC-6CCFDC8F3E1B}" presName="rootText1" presStyleLbl="node0" presStyleIdx="0" presStyleCnt="1" custScaleX="163058" custLinFactNeighborX="-20" custLinFactNeighborY="-244">
        <dgm:presLayoutVars>
          <dgm:chPref val="3"/>
        </dgm:presLayoutVars>
      </dgm:prSet>
      <dgm:spPr/>
      <dgm:t>
        <a:bodyPr/>
        <a:lstStyle/>
        <a:p>
          <a:endParaRPr lang="en-US"/>
        </a:p>
      </dgm:t>
    </dgm:pt>
    <dgm:pt modelId="{24F1511D-DB68-43FF-B907-43BC34220464}" type="pres">
      <dgm:prSet presAssocID="{D6C519C5-86F9-48B0-B7AC-6CCFDC8F3E1B}" presName="rootConnector1" presStyleLbl="node1" presStyleIdx="0" presStyleCnt="0"/>
      <dgm:spPr/>
      <dgm:t>
        <a:bodyPr/>
        <a:lstStyle/>
        <a:p>
          <a:endParaRPr lang="en-US"/>
        </a:p>
      </dgm:t>
    </dgm:pt>
    <dgm:pt modelId="{505F3111-1F48-4E21-8E26-C9989C622DEE}" type="pres">
      <dgm:prSet presAssocID="{D6C519C5-86F9-48B0-B7AC-6CCFDC8F3E1B}" presName="hierChild2" presStyleCnt="0"/>
      <dgm:spPr/>
    </dgm:pt>
    <dgm:pt modelId="{5C71DD4F-126F-4385-93D6-14B0217361B3}" type="pres">
      <dgm:prSet presAssocID="{8EA06B79-45B9-44BA-AC73-F626650F19FC}" presName="Name37" presStyleLbl="parChTrans1D2" presStyleIdx="0" presStyleCnt="2"/>
      <dgm:spPr/>
      <dgm:t>
        <a:bodyPr/>
        <a:lstStyle/>
        <a:p>
          <a:endParaRPr lang="en-US"/>
        </a:p>
      </dgm:t>
    </dgm:pt>
    <dgm:pt modelId="{8736A519-7B2F-40EB-8BE3-4ACA05402D10}" type="pres">
      <dgm:prSet presAssocID="{F97A3767-09D8-4257-A87B-212AD30859AD}" presName="hierRoot2" presStyleCnt="0">
        <dgm:presLayoutVars>
          <dgm:hierBranch val="init"/>
        </dgm:presLayoutVars>
      </dgm:prSet>
      <dgm:spPr/>
    </dgm:pt>
    <dgm:pt modelId="{46B99D71-392D-4568-9BCD-11307D11A988}" type="pres">
      <dgm:prSet presAssocID="{F97A3767-09D8-4257-A87B-212AD30859AD}" presName="rootComposite" presStyleCnt="0"/>
      <dgm:spPr/>
    </dgm:pt>
    <dgm:pt modelId="{AC39F92E-EB58-4139-A2F3-4D72E9E93AB3}" type="pres">
      <dgm:prSet presAssocID="{F97A3767-09D8-4257-A87B-212AD30859AD}" presName="rootText" presStyleLbl="node2" presStyleIdx="0" presStyleCnt="2" custScaleX="205834">
        <dgm:presLayoutVars>
          <dgm:chPref val="3"/>
        </dgm:presLayoutVars>
      </dgm:prSet>
      <dgm:spPr/>
      <dgm:t>
        <a:bodyPr/>
        <a:lstStyle/>
        <a:p>
          <a:endParaRPr lang="en-US"/>
        </a:p>
      </dgm:t>
    </dgm:pt>
    <dgm:pt modelId="{7B4C179D-0D95-465D-BF0F-5254B9EDFFEB}" type="pres">
      <dgm:prSet presAssocID="{F97A3767-09D8-4257-A87B-212AD30859AD}" presName="rootConnector" presStyleLbl="node2" presStyleIdx="0" presStyleCnt="2"/>
      <dgm:spPr/>
      <dgm:t>
        <a:bodyPr/>
        <a:lstStyle/>
        <a:p>
          <a:endParaRPr lang="en-US"/>
        </a:p>
      </dgm:t>
    </dgm:pt>
    <dgm:pt modelId="{D0292E79-DB35-42EA-8D93-57B337EA2F35}" type="pres">
      <dgm:prSet presAssocID="{F97A3767-09D8-4257-A87B-212AD30859AD}" presName="hierChild4" presStyleCnt="0"/>
      <dgm:spPr/>
    </dgm:pt>
    <dgm:pt modelId="{0F342F11-A1C6-44FA-8470-B7B3A75CF677}" type="pres">
      <dgm:prSet presAssocID="{F97A3767-09D8-4257-A87B-212AD30859AD}" presName="hierChild5" presStyleCnt="0"/>
      <dgm:spPr/>
    </dgm:pt>
    <dgm:pt modelId="{5DB2E8D4-CAF7-4377-B0A7-57C1C5E74406}" type="pres">
      <dgm:prSet presAssocID="{B40F80F7-4F0E-4D4E-8F84-94B7A398A546}" presName="Name37" presStyleLbl="parChTrans1D2" presStyleIdx="1" presStyleCnt="2"/>
      <dgm:spPr/>
      <dgm:t>
        <a:bodyPr/>
        <a:lstStyle/>
        <a:p>
          <a:endParaRPr lang="en-US"/>
        </a:p>
      </dgm:t>
    </dgm:pt>
    <dgm:pt modelId="{C52A56D9-5EA2-4748-94F3-411B16A169D6}" type="pres">
      <dgm:prSet presAssocID="{624D30A7-03A0-41B8-9175-496F35E20594}" presName="hierRoot2" presStyleCnt="0">
        <dgm:presLayoutVars>
          <dgm:hierBranch val="init"/>
        </dgm:presLayoutVars>
      </dgm:prSet>
      <dgm:spPr/>
    </dgm:pt>
    <dgm:pt modelId="{C79C1602-4E3B-4241-886A-7213D3C1BE39}" type="pres">
      <dgm:prSet presAssocID="{624D30A7-03A0-41B8-9175-496F35E20594}" presName="rootComposite" presStyleCnt="0"/>
      <dgm:spPr/>
    </dgm:pt>
    <dgm:pt modelId="{A4A4714B-C13A-40DA-A4B3-5734A5B9E965}" type="pres">
      <dgm:prSet presAssocID="{624D30A7-03A0-41B8-9175-496F35E20594}" presName="rootText" presStyleLbl="node2" presStyleIdx="1" presStyleCnt="2" custScaleX="239145">
        <dgm:presLayoutVars>
          <dgm:chPref val="3"/>
        </dgm:presLayoutVars>
      </dgm:prSet>
      <dgm:spPr/>
      <dgm:t>
        <a:bodyPr/>
        <a:lstStyle/>
        <a:p>
          <a:endParaRPr lang="en-US"/>
        </a:p>
      </dgm:t>
    </dgm:pt>
    <dgm:pt modelId="{A4D57FFA-54B8-4F0D-B590-A33E17654D3E}" type="pres">
      <dgm:prSet presAssocID="{624D30A7-03A0-41B8-9175-496F35E20594}" presName="rootConnector" presStyleLbl="node2" presStyleIdx="1" presStyleCnt="2"/>
      <dgm:spPr/>
      <dgm:t>
        <a:bodyPr/>
        <a:lstStyle/>
        <a:p>
          <a:endParaRPr lang="en-US"/>
        </a:p>
      </dgm:t>
    </dgm:pt>
    <dgm:pt modelId="{630177E5-2FFC-4EB0-AA15-0A233EB59F4D}" type="pres">
      <dgm:prSet presAssocID="{624D30A7-03A0-41B8-9175-496F35E20594}" presName="hierChild4" presStyleCnt="0"/>
      <dgm:spPr/>
    </dgm:pt>
    <dgm:pt modelId="{8BD9506F-16C7-4C18-8D7B-0C468E2E5965}" type="pres">
      <dgm:prSet presAssocID="{624D30A7-03A0-41B8-9175-496F35E20594}" presName="hierChild5" presStyleCnt="0"/>
      <dgm:spPr/>
    </dgm:pt>
    <dgm:pt modelId="{C12D2B7E-BBCD-4717-832D-14CD0F1E6E63}" type="pres">
      <dgm:prSet presAssocID="{D6C519C5-86F9-48B0-B7AC-6CCFDC8F3E1B}" presName="hierChild3" presStyleCnt="0"/>
      <dgm:spPr/>
    </dgm:pt>
  </dgm:ptLst>
  <dgm:cxnLst>
    <dgm:cxn modelId="{6D53571E-DA16-4D74-BF93-1A3628DFAD07}" srcId="{D6C519C5-86F9-48B0-B7AC-6CCFDC8F3E1B}" destId="{624D30A7-03A0-41B8-9175-496F35E20594}" srcOrd="1" destOrd="0" parTransId="{B40F80F7-4F0E-4D4E-8F84-94B7A398A546}" sibTransId="{82BC6C92-A964-495D-9B86-DE99FEC4067B}"/>
    <dgm:cxn modelId="{91DFF118-C649-4D0F-808D-DD21EA5D6178}" srcId="{F24AB6AF-B043-4016-91BB-3EEADE44EFB3}" destId="{D6C519C5-86F9-48B0-B7AC-6CCFDC8F3E1B}" srcOrd="0" destOrd="0" parTransId="{D15D012A-39AB-49B5-BDF1-1D37C5FD5343}" sibTransId="{271F7EE0-AC2C-4135-A4CE-4ABE626BBACF}"/>
    <dgm:cxn modelId="{FF8DF7D8-02E3-4B5B-B77F-24DA6A6D06EB}" type="presOf" srcId="{F97A3767-09D8-4257-A87B-212AD30859AD}" destId="{AC39F92E-EB58-4139-A2F3-4D72E9E93AB3}" srcOrd="0" destOrd="0" presId="urn:microsoft.com/office/officeart/2005/8/layout/orgChart1"/>
    <dgm:cxn modelId="{1AD95B5E-1CE0-4B28-AE50-46B30CE7A919}" type="presOf" srcId="{D6C519C5-86F9-48B0-B7AC-6CCFDC8F3E1B}" destId="{24F1511D-DB68-43FF-B907-43BC34220464}" srcOrd="1" destOrd="0" presId="urn:microsoft.com/office/officeart/2005/8/layout/orgChart1"/>
    <dgm:cxn modelId="{8DB1063B-74A0-449F-B006-DA1F1E4E5114}" type="presOf" srcId="{8EA06B79-45B9-44BA-AC73-F626650F19FC}" destId="{5C71DD4F-126F-4385-93D6-14B0217361B3}" srcOrd="0" destOrd="0" presId="urn:microsoft.com/office/officeart/2005/8/layout/orgChart1"/>
    <dgm:cxn modelId="{E4A379B8-9D00-42A3-874E-F3C303016D49}" type="presOf" srcId="{D6C519C5-86F9-48B0-B7AC-6CCFDC8F3E1B}" destId="{E261738A-F815-4832-9305-88051B383600}" srcOrd="0" destOrd="0" presId="urn:microsoft.com/office/officeart/2005/8/layout/orgChart1"/>
    <dgm:cxn modelId="{9B5D839E-971D-4B91-B77C-EB2F74BF4F93}" type="presOf" srcId="{624D30A7-03A0-41B8-9175-496F35E20594}" destId="{A4D57FFA-54B8-4F0D-B590-A33E17654D3E}" srcOrd="1" destOrd="0" presId="urn:microsoft.com/office/officeart/2005/8/layout/orgChart1"/>
    <dgm:cxn modelId="{00CEFEB6-E5FA-497A-976B-E9BC386F88FC}" type="presOf" srcId="{F24AB6AF-B043-4016-91BB-3EEADE44EFB3}" destId="{F301333E-A4FD-4B14-923D-113C51002FD7}" srcOrd="0" destOrd="0" presId="urn:microsoft.com/office/officeart/2005/8/layout/orgChart1"/>
    <dgm:cxn modelId="{90CDC33E-E462-4DFD-AB27-85F7D3A064C8}" type="presOf" srcId="{F97A3767-09D8-4257-A87B-212AD30859AD}" destId="{7B4C179D-0D95-465D-BF0F-5254B9EDFFEB}" srcOrd="1" destOrd="0" presId="urn:microsoft.com/office/officeart/2005/8/layout/orgChart1"/>
    <dgm:cxn modelId="{1CA5AC43-A9F4-401A-8AE2-8CC315C86CB7}" type="presOf" srcId="{B40F80F7-4F0E-4D4E-8F84-94B7A398A546}" destId="{5DB2E8D4-CAF7-4377-B0A7-57C1C5E74406}" srcOrd="0" destOrd="0" presId="urn:microsoft.com/office/officeart/2005/8/layout/orgChart1"/>
    <dgm:cxn modelId="{9B117D00-FA5C-42DA-946A-3943C38EA6A5}" type="presOf" srcId="{624D30A7-03A0-41B8-9175-496F35E20594}" destId="{A4A4714B-C13A-40DA-A4B3-5734A5B9E965}" srcOrd="0" destOrd="0" presId="urn:microsoft.com/office/officeart/2005/8/layout/orgChart1"/>
    <dgm:cxn modelId="{4D3CEB9D-A77E-478D-BC18-9B7AEAD793E0}" srcId="{D6C519C5-86F9-48B0-B7AC-6CCFDC8F3E1B}" destId="{F97A3767-09D8-4257-A87B-212AD30859AD}" srcOrd="0" destOrd="0" parTransId="{8EA06B79-45B9-44BA-AC73-F626650F19FC}" sibTransId="{B04048B8-8B55-40F4-8111-72A6D241E129}"/>
    <dgm:cxn modelId="{DEEE9C04-CB3E-4C69-BFC0-9ACDBC28DDBB}" type="presParOf" srcId="{F301333E-A4FD-4B14-923D-113C51002FD7}" destId="{5C124A89-D42D-47E7-A930-24D76E6F0F68}" srcOrd="0" destOrd="0" presId="urn:microsoft.com/office/officeart/2005/8/layout/orgChart1"/>
    <dgm:cxn modelId="{A17D9A46-C448-488D-A9B3-ADE28D5D2B7E}" type="presParOf" srcId="{5C124A89-D42D-47E7-A930-24D76E6F0F68}" destId="{BC0B43CF-65F7-4B1A-8F41-BD2AA5FB71D0}" srcOrd="0" destOrd="0" presId="urn:microsoft.com/office/officeart/2005/8/layout/orgChart1"/>
    <dgm:cxn modelId="{50414AFB-4270-4D59-BBDA-CEA4902AFED0}" type="presParOf" srcId="{BC0B43CF-65F7-4B1A-8F41-BD2AA5FB71D0}" destId="{E261738A-F815-4832-9305-88051B383600}" srcOrd="0" destOrd="0" presId="urn:microsoft.com/office/officeart/2005/8/layout/orgChart1"/>
    <dgm:cxn modelId="{59DFA4B1-82DC-4AAE-8C33-E32BB1E9B836}" type="presParOf" srcId="{BC0B43CF-65F7-4B1A-8F41-BD2AA5FB71D0}" destId="{24F1511D-DB68-43FF-B907-43BC34220464}" srcOrd="1" destOrd="0" presId="urn:microsoft.com/office/officeart/2005/8/layout/orgChart1"/>
    <dgm:cxn modelId="{82DBE04F-FE2F-46FD-BFBD-ABAF822320BE}" type="presParOf" srcId="{5C124A89-D42D-47E7-A930-24D76E6F0F68}" destId="{505F3111-1F48-4E21-8E26-C9989C622DEE}" srcOrd="1" destOrd="0" presId="urn:microsoft.com/office/officeart/2005/8/layout/orgChart1"/>
    <dgm:cxn modelId="{F0A7DE43-C05A-416A-8250-CAC43F20D8CF}" type="presParOf" srcId="{505F3111-1F48-4E21-8E26-C9989C622DEE}" destId="{5C71DD4F-126F-4385-93D6-14B0217361B3}" srcOrd="0" destOrd="0" presId="urn:microsoft.com/office/officeart/2005/8/layout/orgChart1"/>
    <dgm:cxn modelId="{A7D5DB76-DC85-4BAD-8DC1-5696C65D4E20}" type="presParOf" srcId="{505F3111-1F48-4E21-8E26-C9989C622DEE}" destId="{8736A519-7B2F-40EB-8BE3-4ACA05402D10}" srcOrd="1" destOrd="0" presId="urn:microsoft.com/office/officeart/2005/8/layout/orgChart1"/>
    <dgm:cxn modelId="{CF644863-ABBD-4CE7-B224-E4A8E7C2ADA0}" type="presParOf" srcId="{8736A519-7B2F-40EB-8BE3-4ACA05402D10}" destId="{46B99D71-392D-4568-9BCD-11307D11A988}" srcOrd="0" destOrd="0" presId="urn:microsoft.com/office/officeart/2005/8/layout/orgChart1"/>
    <dgm:cxn modelId="{D0B2C191-6689-4AD6-81D2-015790289E22}" type="presParOf" srcId="{46B99D71-392D-4568-9BCD-11307D11A988}" destId="{AC39F92E-EB58-4139-A2F3-4D72E9E93AB3}" srcOrd="0" destOrd="0" presId="urn:microsoft.com/office/officeart/2005/8/layout/orgChart1"/>
    <dgm:cxn modelId="{84269EB6-4A06-4A64-8971-345B851824D5}" type="presParOf" srcId="{46B99D71-392D-4568-9BCD-11307D11A988}" destId="{7B4C179D-0D95-465D-BF0F-5254B9EDFFEB}" srcOrd="1" destOrd="0" presId="urn:microsoft.com/office/officeart/2005/8/layout/orgChart1"/>
    <dgm:cxn modelId="{2F4A442A-F2C8-435B-9260-FF8ADCBC0A32}" type="presParOf" srcId="{8736A519-7B2F-40EB-8BE3-4ACA05402D10}" destId="{D0292E79-DB35-42EA-8D93-57B337EA2F35}" srcOrd="1" destOrd="0" presId="urn:microsoft.com/office/officeart/2005/8/layout/orgChart1"/>
    <dgm:cxn modelId="{19B42C39-A21D-48A3-8330-F618585BA6FC}" type="presParOf" srcId="{8736A519-7B2F-40EB-8BE3-4ACA05402D10}" destId="{0F342F11-A1C6-44FA-8470-B7B3A75CF677}" srcOrd="2" destOrd="0" presId="urn:microsoft.com/office/officeart/2005/8/layout/orgChart1"/>
    <dgm:cxn modelId="{832397CE-7E15-4920-8949-89FB577619A4}" type="presParOf" srcId="{505F3111-1F48-4E21-8E26-C9989C622DEE}" destId="{5DB2E8D4-CAF7-4377-B0A7-57C1C5E74406}" srcOrd="2" destOrd="0" presId="urn:microsoft.com/office/officeart/2005/8/layout/orgChart1"/>
    <dgm:cxn modelId="{4E530596-09E9-4517-8DB2-652145FFDE8F}" type="presParOf" srcId="{505F3111-1F48-4E21-8E26-C9989C622DEE}" destId="{C52A56D9-5EA2-4748-94F3-411B16A169D6}" srcOrd="3" destOrd="0" presId="urn:microsoft.com/office/officeart/2005/8/layout/orgChart1"/>
    <dgm:cxn modelId="{0BE93D22-64F6-450E-8CAA-D9FB841604F5}" type="presParOf" srcId="{C52A56D9-5EA2-4748-94F3-411B16A169D6}" destId="{C79C1602-4E3B-4241-886A-7213D3C1BE39}" srcOrd="0" destOrd="0" presId="urn:microsoft.com/office/officeart/2005/8/layout/orgChart1"/>
    <dgm:cxn modelId="{5FA73011-6D3D-4288-A1B1-1C25221CCD80}" type="presParOf" srcId="{C79C1602-4E3B-4241-886A-7213D3C1BE39}" destId="{A4A4714B-C13A-40DA-A4B3-5734A5B9E965}" srcOrd="0" destOrd="0" presId="urn:microsoft.com/office/officeart/2005/8/layout/orgChart1"/>
    <dgm:cxn modelId="{5103D14E-4B42-47F0-9479-E293B16C0623}" type="presParOf" srcId="{C79C1602-4E3B-4241-886A-7213D3C1BE39}" destId="{A4D57FFA-54B8-4F0D-B590-A33E17654D3E}" srcOrd="1" destOrd="0" presId="urn:microsoft.com/office/officeart/2005/8/layout/orgChart1"/>
    <dgm:cxn modelId="{C2BC1EA6-8F09-4B24-BFC1-F8C9A29F50C6}" type="presParOf" srcId="{C52A56D9-5EA2-4748-94F3-411B16A169D6}" destId="{630177E5-2FFC-4EB0-AA15-0A233EB59F4D}" srcOrd="1" destOrd="0" presId="urn:microsoft.com/office/officeart/2005/8/layout/orgChart1"/>
    <dgm:cxn modelId="{BCB7BD67-1551-4D37-A9F8-10D11725204C}" type="presParOf" srcId="{C52A56D9-5EA2-4748-94F3-411B16A169D6}" destId="{8BD9506F-16C7-4C18-8D7B-0C468E2E5965}" srcOrd="2" destOrd="0" presId="urn:microsoft.com/office/officeart/2005/8/layout/orgChart1"/>
    <dgm:cxn modelId="{5BC12AC1-A31B-4AFB-87D9-FDACE6AD0694}" type="presParOf" srcId="{5C124A89-D42D-47E7-A930-24D76E6F0F68}" destId="{C12D2B7E-BBCD-4717-832D-14CD0F1E6E6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49BF2A1-3583-4FE2-A47A-9C7FE3AF096F}" type="doc">
      <dgm:prSet loTypeId="urn:microsoft.com/office/officeart/2005/8/layout/default" loCatId="list" qsTypeId="urn:microsoft.com/office/officeart/2005/8/quickstyle/simple1" qsCatId="simple" csTypeId="urn:microsoft.com/office/officeart/2005/8/colors/accent4_2" csCatId="accent4" phldr="1"/>
      <dgm:spPr/>
      <dgm:t>
        <a:bodyPr/>
        <a:lstStyle/>
        <a:p>
          <a:endParaRPr lang="en-US"/>
        </a:p>
      </dgm:t>
    </dgm:pt>
    <dgm:pt modelId="{EC8F43C4-CAF5-4C25-B6A2-390E6761C105}" type="pres">
      <dgm:prSet presAssocID="{A49BF2A1-3583-4FE2-A47A-9C7FE3AF096F}" presName="diagram" presStyleCnt="0">
        <dgm:presLayoutVars>
          <dgm:dir/>
          <dgm:resizeHandles val="exact"/>
        </dgm:presLayoutVars>
      </dgm:prSet>
      <dgm:spPr/>
      <dgm:t>
        <a:bodyPr/>
        <a:lstStyle/>
        <a:p>
          <a:endParaRPr lang="en-US"/>
        </a:p>
      </dgm:t>
    </dgm:pt>
  </dgm:ptLst>
  <dgm:cxnLst>
    <dgm:cxn modelId="{4969A882-0221-4208-81E1-1D9519C75E51}" type="presOf" srcId="{A49BF2A1-3583-4FE2-A47A-9C7FE3AF096F}" destId="{EC8F43C4-CAF5-4C25-B6A2-390E6761C105}"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24AB6AF-B043-4016-91BB-3EEADE44EFB3}" type="doc">
      <dgm:prSet loTypeId="urn:microsoft.com/office/officeart/2005/8/layout/orgChart1" loCatId="hierarchy" qsTypeId="urn:microsoft.com/office/officeart/2005/8/quickstyle/3d2" qsCatId="3D" csTypeId="urn:microsoft.com/office/officeart/2005/8/colors/colorful2" csCatId="colorful" phldr="1"/>
      <dgm:spPr/>
      <dgm:t>
        <a:bodyPr/>
        <a:lstStyle/>
        <a:p>
          <a:endParaRPr lang="en-US"/>
        </a:p>
      </dgm:t>
    </dgm:pt>
    <dgm:pt modelId="{D6C519C5-86F9-48B0-B7AC-6CCFDC8F3E1B}">
      <dgm:prSet phldrT="[Text]" custT="1"/>
      <dgm:spPr/>
      <dgm:t>
        <a:bodyPr/>
        <a:lstStyle/>
        <a:p>
          <a:r>
            <a:rPr lang="en-US" sz="2400" b="1" dirty="0">
              <a:solidFill>
                <a:schemeClr val="tx1"/>
              </a:solidFill>
              <a:latin typeface="+mj-lt"/>
              <a:cs typeface="Arial" panose="020B0604020202020204" pitchFamily="34" charset="0"/>
            </a:rPr>
            <a:t>CHỨNG TỪ</a:t>
          </a:r>
        </a:p>
      </dgm:t>
    </dgm:pt>
    <dgm:pt modelId="{D15D012A-39AB-49B5-BDF1-1D37C5FD5343}" type="parTrans" cxnId="{91DFF118-C649-4D0F-808D-DD21EA5D6178}">
      <dgm:prSet/>
      <dgm:spPr/>
      <dgm:t>
        <a:bodyPr/>
        <a:lstStyle/>
        <a:p>
          <a:endParaRPr lang="en-US"/>
        </a:p>
      </dgm:t>
    </dgm:pt>
    <dgm:pt modelId="{271F7EE0-AC2C-4135-A4CE-4ABE626BBACF}" type="sibTrans" cxnId="{91DFF118-C649-4D0F-808D-DD21EA5D6178}">
      <dgm:prSet/>
      <dgm:spPr/>
      <dgm:t>
        <a:bodyPr/>
        <a:lstStyle/>
        <a:p>
          <a:endParaRPr lang="en-US"/>
        </a:p>
      </dgm:t>
    </dgm:pt>
    <dgm:pt modelId="{F97A3767-09D8-4257-A87B-212AD30859AD}">
      <dgm:prSet phldrT="[Text]" custT="1"/>
      <dgm:spPr/>
      <dgm:t>
        <a:bodyPr/>
        <a:lstStyle/>
        <a:p>
          <a:r>
            <a:rPr lang="en-US" sz="2000" b="1" baseline="0" dirty="0" err="1">
              <a:solidFill>
                <a:schemeClr val="tx1"/>
              </a:solidFill>
              <a:latin typeface="+mj-lt"/>
              <a:cs typeface="Arial" panose="020B0604020202020204" pitchFamily="34" charset="0"/>
            </a:rPr>
            <a:t>Biên</a:t>
          </a:r>
          <a:r>
            <a:rPr lang="en-US" sz="2000" b="1" baseline="0" dirty="0">
              <a:solidFill>
                <a:schemeClr val="tx1"/>
              </a:solidFill>
              <a:latin typeface="+mj-lt"/>
              <a:cs typeface="Arial" panose="020B0604020202020204" pitchFamily="34" charset="0"/>
            </a:rPr>
            <a:t> </a:t>
          </a:r>
          <a:r>
            <a:rPr lang="en-US" sz="2000" b="1" baseline="0" dirty="0" err="1">
              <a:solidFill>
                <a:schemeClr val="tx1"/>
              </a:solidFill>
              <a:latin typeface="+mj-lt"/>
              <a:cs typeface="Arial" panose="020B0604020202020204" pitchFamily="34" charset="0"/>
            </a:rPr>
            <a:t>lai</a:t>
          </a:r>
          <a:endParaRPr lang="en-US" sz="2000" b="1" baseline="0" dirty="0">
            <a:solidFill>
              <a:schemeClr val="tx1"/>
            </a:solidFill>
            <a:latin typeface="+mj-lt"/>
            <a:cs typeface="Arial" panose="020B0604020202020204" pitchFamily="34" charset="0"/>
          </a:endParaRPr>
        </a:p>
      </dgm:t>
    </dgm:pt>
    <dgm:pt modelId="{8EA06B79-45B9-44BA-AC73-F626650F19FC}" type="parTrans" cxnId="{4D3CEB9D-A77E-478D-BC18-9B7AEAD793E0}">
      <dgm:prSet/>
      <dgm:spPr/>
      <dgm:t>
        <a:bodyPr/>
        <a:lstStyle/>
        <a:p>
          <a:endParaRPr lang="en-US"/>
        </a:p>
      </dgm:t>
    </dgm:pt>
    <dgm:pt modelId="{B04048B8-8B55-40F4-8111-72A6D241E129}" type="sibTrans" cxnId="{4D3CEB9D-A77E-478D-BC18-9B7AEAD793E0}">
      <dgm:prSet/>
      <dgm:spPr/>
      <dgm:t>
        <a:bodyPr/>
        <a:lstStyle/>
        <a:p>
          <a:endParaRPr lang="en-US"/>
        </a:p>
      </dgm:t>
    </dgm:pt>
    <dgm:pt modelId="{30ACB95A-F92E-481D-BE17-8239401D02D8}">
      <dgm:prSet phldrT="[Text]" custT="1"/>
      <dgm:spPr/>
      <dgm:t>
        <a:bodyPr/>
        <a:lstStyle/>
        <a:p>
          <a:r>
            <a:rPr lang="en-US" sz="1800" b="1" i="1" dirty="0" err="1">
              <a:solidFill>
                <a:schemeClr val="tx1"/>
              </a:solidFill>
              <a:latin typeface="+mj-lt"/>
              <a:cs typeface="Arial" panose="020B0604020202020204" pitchFamily="34" charset="0"/>
            </a:rPr>
            <a:t>Biên</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lai</a:t>
          </a:r>
          <a:r>
            <a:rPr lang="en-US" sz="1800" b="1" i="1" dirty="0">
              <a:solidFill>
                <a:schemeClr val="tx1"/>
              </a:solidFill>
              <a:latin typeface="+mj-lt"/>
              <a:cs typeface="Arial" panose="020B0604020202020204" pitchFamily="34" charset="0"/>
            </a:rPr>
            <a:t> thu </a:t>
          </a:r>
          <a:r>
            <a:rPr lang="en-US" sz="1800" b="1" i="1" dirty="0" err="1">
              <a:solidFill>
                <a:schemeClr val="tx1"/>
              </a:solidFill>
              <a:latin typeface="+mj-lt"/>
              <a:cs typeface="Arial" panose="020B0604020202020204" pitchFamily="34" charset="0"/>
            </a:rPr>
            <a:t>thuế</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phí</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lệ</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phí</a:t>
          </a:r>
          <a:r>
            <a:rPr lang="en-US" sz="1800" b="1" i="1" dirty="0">
              <a:solidFill>
                <a:schemeClr val="tx1"/>
              </a:solidFill>
              <a:latin typeface="+mj-lt"/>
              <a:cs typeface="Arial" panose="020B0604020202020204" pitchFamily="34" charset="0"/>
            </a:rPr>
            <a:t> </a:t>
          </a:r>
        </a:p>
        <a:p>
          <a:r>
            <a:rPr lang="en-US" sz="1800" b="1" i="1" dirty="0" err="1">
              <a:solidFill>
                <a:schemeClr val="tx1"/>
              </a:solidFill>
              <a:latin typeface="+mj-lt"/>
              <a:cs typeface="Arial" panose="020B0604020202020204" pitchFamily="34" charset="0"/>
            </a:rPr>
            <a:t>không</a:t>
          </a:r>
          <a:r>
            <a:rPr lang="en-US" sz="1800" b="1" i="1" dirty="0">
              <a:solidFill>
                <a:schemeClr val="tx1"/>
              </a:solidFill>
              <a:latin typeface="+mj-lt"/>
              <a:cs typeface="Arial" panose="020B0604020202020204" pitchFamily="34" charset="0"/>
            </a:rPr>
            <a:t> in </a:t>
          </a:r>
          <a:r>
            <a:rPr lang="en-US" sz="1800" b="1" i="1" dirty="0" err="1">
              <a:solidFill>
                <a:schemeClr val="tx1"/>
              </a:solidFill>
              <a:latin typeface="+mj-lt"/>
              <a:cs typeface="Arial" panose="020B0604020202020204" pitchFamily="34" charset="0"/>
            </a:rPr>
            <a:t>sẵn</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mệnh</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giá</a:t>
          </a:r>
          <a:endParaRPr lang="en-US" sz="1800" dirty="0">
            <a:solidFill>
              <a:schemeClr val="tx1"/>
            </a:solidFill>
            <a:latin typeface="+mj-lt"/>
            <a:cs typeface="Arial" panose="020B0604020202020204" pitchFamily="34" charset="0"/>
          </a:endParaRPr>
        </a:p>
      </dgm:t>
    </dgm:pt>
    <dgm:pt modelId="{FB86A0BD-1A81-498A-A952-F3561698209F}" type="parTrans" cxnId="{0630A29F-7077-4E90-BEAB-0010965FF0C0}">
      <dgm:prSet/>
      <dgm:spPr/>
      <dgm:t>
        <a:bodyPr/>
        <a:lstStyle/>
        <a:p>
          <a:endParaRPr lang="en-US"/>
        </a:p>
      </dgm:t>
    </dgm:pt>
    <dgm:pt modelId="{BA27A2CA-723E-40DD-881D-1F0544550839}" type="sibTrans" cxnId="{0630A29F-7077-4E90-BEAB-0010965FF0C0}">
      <dgm:prSet/>
      <dgm:spPr/>
      <dgm:t>
        <a:bodyPr/>
        <a:lstStyle/>
        <a:p>
          <a:endParaRPr lang="en-US"/>
        </a:p>
      </dgm:t>
    </dgm:pt>
    <dgm:pt modelId="{0F629718-5671-4E7A-9FB2-9EA414685B84}">
      <dgm:prSet phldrT="[Text]" custT="1"/>
      <dgm:spPr/>
      <dgm:t>
        <a:bodyPr/>
        <a:lstStyle/>
        <a:p>
          <a:r>
            <a:rPr lang="en-US" sz="1800" b="1" i="1" dirty="0" err="1">
              <a:solidFill>
                <a:schemeClr val="tx1"/>
              </a:solidFill>
              <a:latin typeface="+mj-lt"/>
              <a:cs typeface="Arial" panose="020B0604020202020204" pitchFamily="34" charset="0"/>
            </a:rPr>
            <a:t>Biên</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lai</a:t>
          </a:r>
          <a:r>
            <a:rPr lang="en-US" sz="1800" b="1" i="1" dirty="0">
              <a:solidFill>
                <a:schemeClr val="tx1"/>
              </a:solidFill>
              <a:latin typeface="+mj-lt"/>
              <a:cs typeface="Arial" panose="020B0604020202020204" pitchFamily="34" charset="0"/>
            </a:rPr>
            <a:t> thu </a:t>
          </a:r>
          <a:r>
            <a:rPr lang="en-US" sz="1800" b="1" i="1" dirty="0" err="1">
              <a:solidFill>
                <a:schemeClr val="tx1"/>
              </a:solidFill>
              <a:latin typeface="+mj-lt"/>
              <a:cs typeface="Arial" panose="020B0604020202020204" pitchFamily="34" charset="0"/>
            </a:rPr>
            <a:t>thuế</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phí</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lệ</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phí</a:t>
          </a:r>
          <a:r>
            <a:rPr lang="en-US" sz="1800" b="1" i="1" dirty="0">
              <a:solidFill>
                <a:schemeClr val="tx1"/>
              </a:solidFill>
              <a:latin typeface="+mj-lt"/>
              <a:cs typeface="Arial" panose="020B0604020202020204" pitchFamily="34" charset="0"/>
            </a:rPr>
            <a:t> </a:t>
          </a:r>
        </a:p>
        <a:p>
          <a:r>
            <a:rPr lang="en-US" sz="1800" b="1" i="1" dirty="0">
              <a:solidFill>
                <a:schemeClr val="tx1"/>
              </a:solidFill>
              <a:latin typeface="+mj-lt"/>
              <a:cs typeface="Arial" panose="020B0604020202020204" pitchFamily="34" charset="0"/>
            </a:rPr>
            <a:t>in </a:t>
          </a:r>
          <a:r>
            <a:rPr lang="en-US" sz="1800" b="1" i="1" dirty="0" err="1">
              <a:solidFill>
                <a:schemeClr val="tx1"/>
              </a:solidFill>
              <a:latin typeface="+mj-lt"/>
              <a:cs typeface="Arial" panose="020B0604020202020204" pitchFamily="34" charset="0"/>
            </a:rPr>
            <a:t>sẵn</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mệnh</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giá</a:t>
          </a:r>
          <a:endParaRPr lang="en-US" sz="1800" b="1" i="1" dirty="0">
            <a:solidFill>
              <a:schemeClr val="tx1"/>
            </a:solidFill>
            <a:latin typeface="+mj-lt"/>
            <a:cs typeface="Arial" panose="020B0604020202020204" pitchFamily="34" charset="0"/>
          </a:endParaRPr>
        </a:p>
      </dgm:t>
    </dgm:pt>
    <dgm:pt modelId="{4C6FCE9C-F4B6-4319-9E48-34E273DC36B8}" type="parTrans" cxnId="{D28FFA9D-8C9C-4A99-A693-9DF7EFF413FA}">
      <dgm:prSet/>
      <dgm:spPr/>
      <dgm:t>
        <a:bodyPr/>
        <a:lstStyle/>
        <a:p>
          <a:endParaRPr lang="en-US"/>
        </a:p>
      </dgm:t>
    </dgm:pt>
    <dgm:pt modelId="{E310E9AF-D404-4E13-B880-6F892A9CDCD2}" type="sibTrans" cxnId="{D28FFA9D-8C9C-4A99-A693-9DF7EFF413FA}">
      <dgm:prSet/>
      <dgm:spPr/>
      <dgm:t>
        <a:bodyPr/>
        <a:lstStyle/>
        <a:p>
          <a:endParaRPr lang="en-US"/>
        </a:p>
      </dgm:t>
    </dgm:pt>
    <dgm:pt modelId="{624D30A7-03A0-41B8-9175-496F35E20594}">
      <dgm:prSet phldrT="[Text]" custT="1"/>
      <dgm:spPr/>
      <dgm:t>
        <a:bodyPr/>
        <a:lstStyle/>
        <a:p>
          <a:r>
            <a:rPr lang="en-US" sz="2000" b="1" dirty="0" err="1">
              <a:solidFill>
                <a:schemeClr val="tx1"/>
              </a:solidFill>
              <a:latin typeface="+mj-lt"/>
              <a:cs typeface="Arial" panose="020B0604020202020204" pitchFamily="34" charset="0"/>
            </a:rPr>
            <a:t>Chứng</a:t>
          </a:r>
          <a:r>
            <a:rPr lang="en-US" sz="2000" b="1" dirty="0">
              <a:solidFill>
                <a:schemeClr val="tx1"/>
              </a:solidFill>
              <a:latin typeface="+mj-lt"/>
              <a:cs typeface="Arial" panose="020B0604020202020204" pitchFamily="34" charset="0"/>
            </a:rPr>
            <a:t> </a:t>
          </a:r>
          <a:r>
            <a:rPr lang="en-US" sz="2000" b="1" dirty="0" err="1">
              <a:solidFill>
                <a:schemeClr val="tx1"/>
              </a:solidFill>
              <a:latin typeface="+mj-lt"/>
              <a:cs typeface="Arial" panose="020B0604020202020204" pitchFamily="34" charset="0"/>
            </a:rPr>
            <a:t>từ</a:t>
          </a:r>
          <a:r>
            <a:rPr lang="en-US" sz="2000" b="1" dirty="0">
              <a:solidFill>
                <a:schemeClr val="tx1"/>
              </a:solidFill>
              <a:latin typeface="+mj-lt"/>
              <a:cs typeface="Arial" panose="020B0604020202020204" pitchFamily="34" charset="0"/>
            </a:rPr>
            <a:t> </a:t>
          </a:r>
          <a:r>
            <a:rPr lang="en-US" sz="2000" b="1" dirty="0" err="1">
              <a:solidFill>
                <a:schemeClr val="tx1"/>
              </a:solidFill>
              <a:latin typeface="+mj-lt"/>
              <a:cs typeface="Arial" panose="020B0604020202020204" pitchFamily="34" charset="0"/>
            </a:rPr>
            <a:t>khấu</a:t>
          </a:r>
          <a:r>
            <a:rPr lang="en-US" sz="2000" b="1" dirty="0">
              <a:solidFill>
                <a:schemeClr val="tx1"/>
              </a:solidFill>
              <a:latin typeface="+mj-lt"/>
              <a:cs typeface="Arial" panose="020B0604020202020204" pitchFamily="34" charset="0"/>
            </a:rPr>
            <a:t> </a:t>
          </a:r>
          <a:r>
            <a:rPr lang="en-US" sz="2000" b="1" dirty="0" err="1">
              <a:solidFill>
                <a:schemeClr val="tx1"/>
              </a:solidFill>
              <a:latin typeface="+mj-lt"/>
              <a:cs typeface="Arial" panose="020B0604020202020204" pitchFamily="34" charset="0"/>
            </a:rPr>
            <a:t>trừ</a:t>
          </a:r>
          <a:r>
            <a:rPr lang="en-US" sz="2000" b="1" dirty="0">
              <a:solidFill>
                <a:schemeClr val="tx1"/>
              </a:solidFill>
              <a:latin typeface="+mj-lt"/>
              <a:cs typeface="Arial" panose="020B0604020202020204" pitchFamily="34" charset="0"/>
            </a:rPr>
            <a:t> </a:t>
          </a:r>
          <a:r>
            <a:rPr lang="en-US" sz="2000" b="1" dirty="0" err="1">
              <a:solidFill>
                <a:schemeClr val="tx1"/>
              </a:solidFill>
              <a:latin typeface="+mj-lt"/>
              <a:cs typeface="Arial" panose="020B0604020202020204" pitchFamily="34" charset="0"/>
            </a:rPr>
            <a:t>thuế</a:t>
          </a:r>
          <a:r>
            <a:rPr lang="en-US" sz="2000" b="1" dirty="0">
              <a:solidFill>
                <a:schemeClr val="tx1"/>
              </a:solidFill>
              <a:latin typeface="+mj-lt"/>
              <a:cs typeface="Arial" panose="020B0604020202020204" pitchFamily="34" charset="0"/>
            </a:rPr>
            <a:t> thu </a:t>
          </a:r>
          <a:r>
            <a:rPr lang="en-US" sz="2000" b="1" dirty="0" err="1">
              <a:solidFill>
                <a:schemeClr val="tx1"/>
              </a:solidFill>
              <a:latin typeface="+mj-lt"/>
              <a:cs typeface="Arial" panose="020B0604020202020204" pitchFamily="34" charset="0"/>
            </a:rPr>
            <a:t>nhập</a:t>
          </a:r>
          <a:r>
            <a:rPr lang="en-US" sz="2000" b="1" dirty="0">
              <a:solidFill>
                <a:schemeClr val="tx1"/>
              </a:solidFill>
              <a:latin typeface="+mj-lt"/>
              <a:cs typeface="Arial" panose="020B0604020202020204" pitchFamily="34" charset="0"/>
            </a:rPr>
            <a:t> </a:t>
          </a:r>
          <a:r>
            <a:rPr lang="en-US" sz="2000" b="1" dirty="0" err="1">
              <a:solidFill>
                <a:schemeClr val="tx1"/>
              </a:solidFill>
              <a:latin typeface="+mj-lt"/>
              <a:cs typeface="Arial" panose="020B0604020202020204" pitchFamily="34" charset="0"/>
            </a:rPr>
            <a:t>cá</a:t>
          </a:r>
          <a:r>
            <a:rPr lang="en-US" sz="2000" b="1" dirty="0">
              <a:solidFill>
                <a:schemeClr val="tx1"/>
              </a:solidFill>
              <a:latin typeface="+mj-lt"/>
              <a:cs typeface="Arial" panose="020B0604020202020204" pitchFamily="34" charset="0"/>
            </a:rPr>
            <a:t> </a:t>
          </a:r>
          <a:r>
            <a:rPr lang="en-US" sz="2000" b="1" dirty="0" err="1">
              <a:solidFill>
                <a:schemeClr val="tx1"/>
              </a:solidFill>
              <a:latin typeface="+mj-lt"/>
              <a:cs typeface="Arial" panose="020B0604020202020204" pitchFamily="34" charset="0"/>
            </a:rPr>
            <a:t>nhân</a:t>
          </a:r>
          <a:endParaRPr lang="en-US" sz="2000" b="1" dirty="0">
            <a:solidFill>
              <a:schemeClr val="tx1"/>
            </a:solidFill>
            <a:latin typeface="+mj-lt"/>
            <a:cs typeface="Arial" panose="020B0604020202020204" pitchFamily="34" charset="0"/>
          </a:endParaRPr>
        </a:p>
      </dgm:t>
    </dgm:pt>
    <dgm:pt modelId="{B40F80F7-4F0E-4D4E-8F84-94B7A398A546}" type="parTrans" cxnId="{6D53571E-DA16-4D74-BF93-1A3628DFAD07}">
      <dgm:prSet/>
      <dgm:spPr/>
      <dgm:t>
        <a:bodyPr/>
        <a:lstStyle/>
        <a:p>
          <a:endParaRPr lang="en-US"/>
        </a:p>
      </dgm:t>
    </dgm:pt>
    <dgm:pt modelId="{82BC6C92-A964-495D-9B86-DE99FEC4067B}" type="sibTrans" cxnId="{6D53571E-DA16-4D74-BF93-1A3628DFAD07}">
      <dgm:prSet/>
      <dgm:spPr/>
      <dgm:t>
        <a:bodyPr/>
        <a:lstStyle/>
        <a:p>
          <a:endParaRPr lang="en-US"/>
        </a:p>
      </dgm:t>
    </dgm:pt>
    <dgm:pt modelId="{FFB65646-E585-4005-8ABC-ABBB47924E56}">
      <dgm:prSet custT="1"/>
      <dgm:spPr/>
      <dgm:t>
        <a:bodyPr/>
        <a:lstStyle/>
        <a:p>
          <a:r>
            <a:rPr lang="en-US" sz="1800" b="1" i="1" dirty="0" err="1">
              <a:solidFill>
                <a:schemeClr val="tx1"/>
              </a:solidFill>
              <a:latin typeface="+mj-lt"/>
              <a:cs typeface="Arial" panose="020B0604020202020204" pitchFamily="34" charset="0"/>
            </a:rPr>
            <a:t>Biên</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lai</a:t>
          </a:r>
          <a:r>
            <a:rPr lang="en-US" sz="1800" b="1" i="1" dirty="0">
              <a:solidFill>
                <a:schemeClr val="tx1"/>
              </a:solidFill>
              <a:latin typeface="+mj-lt"/>
              <a:cs typeface="Arial" panose="020B0604020202020204" pitchFamily="34" charset="0"/>
            </a:rPr>
            <a:t> thu </a:t>
          </a:r>
          <a:r>
            <a:rPr lang="en-US" sz="1800" b="1" i="1" dirty="0" err="1">
              <a:solidFill>
                <a:schemeClr val="tx1"/>
              </a:solidFill>
              <a:latin typeface="+mj-lt"/>
              <a:cs typeface="Arial" panose="020B0604020202020204" pitchFamily="34" charset="0"/>
            </a:rPr>
            <a:t>thuế</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phí</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lệ</a:t>
          </a:r>
          <a:r>
            <a:rPr lang="en-US" sz="1800" b="1" i="1" dirty="0">
              <a:solidFill>
                <a:schemeClr val="tx1"/>
              </a:solidFill>
              <a:latin typeface="+mj-lt"/>
              <a:cs typeface="Arial" panose="020B0604020202020204" pitchFamily="34" charset="0"/>
            </a:rPr>
            <a:t> </a:t>
          </a:r>
          <a:r>
            <a:rPr lang="en-US" sz="1800" b="1" i="1" dirty="0" err="1">
              <a:solidFill>
                <a:schemeClr val="tx1"/>
              </a:solidFill>
              <a:latin typeface="+mj-lt"/>
              <a:cs typeface="Arial" panose="020B0604020202020204" pitchFamily="34" charset="0"/>
            </a:rPr>
            <a:t>phí</a:t>
          </a:r>
          <a:endParaRPr lang="en-US" sz="1800" b="1" i="1" dirty="0">
            <a:solidFill>
              <a:schemeClr val="tx1"/>
            </a:solidFill>
            <a:latin typeface="+mj-lt"/>
            <a:cs typeface="Arial" panose="020B0604020202020204" pitchFamily="34" charset="0"/>
          </a:endParaRPr>
        </a:p>
      </dgm:t>
    </dgm:pt>
    <dgm:pt modelId="{413B5DFD-87E1-4327-A7C0-4E2A7F6487E6}" type="parTrans" cxnId="{1E6CC3E8-8904-4EA0-B58C-59B937940FB1}">
      <dgm:prSet/>
      <dgm:spPr/>
      <dgm:t>
        <a:bodyPr/>
        <a:lstStyle/>
        <a:p>
          <a:endParaRPr lang="en-US"/>
        </a:p>
      </dgm:t>
    </dgm:pt>
    <dgm:pt modelId="{55D6DB9B-F25C-491D-A854-07BB84FE1FCB}" type="sibTrans" cxnId="{1E6CC3E8-8904-4EA0-B58C-59B937940FB1}">
      <dgm:prSet/>
      <dgm:spPr/>
      <dgm:t>
        <a:bodyPr/>
        <a:lstStyle/>
        <a:p>
          <a:endParaRPr lang="en-US"/>
        </a:p>
      </dgm:t>
    </dgm:pt>
    <dgm:pt modelId="{F301333E-A4FD-4B14-923D-113C51002FD7}" type="pres">
      <dgm:prSet presAssocID="{F24AB6AF-B043-4016-91BB-3EEADE44EFB3}" presName="hierChild1" presStyleCnt="0">
        <dgm:presLayoutVars>
          <dgm:orgChart val="1"/>
          <dgm:chPref val="1"/>
          <dgm:dir/>
          <dgm:animOne val="branch"/>
          <dgm:animLvl val="lvl"/>
          <dgm:resizeHandles/>
        </dgm:presLayoutVars>
      </dgm:prSet>
      <dgm:spPr/>
      <dgm:t>
        <a:bodyPr/>
        <a:lstStyle/>
        <a:p>
          <a:endParaRPr lang="en-US"/>
        </a:p>
      </dgm:t>
    </dgm:pt>
    <dgm:pt modelId="{5C124A89-D42D-47E7-A930-24D76E6F0F68}" type="pres">
      <dgm:prSet presAssocID="{D6C519C5-86F9-48B0-B7AC-6CCFDC8F3E1B}" presName="hierRoot1" presStyleCnt="0">
        <dgm:presLayoutVars>
          <dgm:hierBranch val="init"/>
        </dgm:presLayoutVars>
      </dgm:prSet>
      <dgm:spPr/>
    </dgm:pt>
    <dgm:pt modelId="{BC0B43CF-65F7-4B1A-8F41-BD2AA5FB71D0}" type="pres">
      <dgm:prSet presAssocID="{D6C519C5-86F9-48B0-B7AC-6CCFDC8F3E1B}" presName="rootComposite1" presStyleCnt="0"/>
      <dgm:spPr/>
    </dgm:pt>
    <dgm:pt modelId="{E261738A-F815-4832-9305-88051B383600}" type="pres">
      <dgm:prSet presAssocID="{D6C519C5-86F9-48B0-B7AC-6CCFDC8F3E1B}" presName="rootText1" presStyleLbl="node0" presStyleIdx="0" presStyleCnt="1" custScaleX="163058" custLinFactNeighborX="-20" custLinFactNeighborY="-244">
        <dgm:presLayoutVars>
          <dgm:chPref val="3"/>
        </dgm:presLayoutVars>
      </dgm:prSet>
      <dgm:spPr/>
      <dgm:t>
        <a:bodyPr/>
        <a:lstStyle/>
        <a:p>
          <a:endParaRPr lang="en-US"/>
        </a:p>
      </dgm:t>
    </dgm:pt>
    <dgm:pt modelId="{24F1511D-DB68-43FF-B907-43BC34220464}" type="pres">
      <dgm:prSet presAssocID="{D6C519C5-86F9-48B0-B7AC-6CCFDC8F3E1B}" presName="rootConnector1" presStyleLbl="node1" presStyleIdx="0" presStyleCnt="0"/>
      <dgm:spPr/>
      <dgm:t>
        <a:bodyPr/>
        <a:lstStyle/>
        <a:p>
          <a:endParaRPr lang="en-US"/>
        </a:p>
      </dgm:t>
    </dgm:pt>
    <dgm:pt modelId="{505F3111-1F48-4E21-8E26-C9989C622DEE}" type="pres">
      <dgm:prSet presAssocID="{D6C519C5-86F9-48B0-B7AC-6CCFDC8F3E1B}" presName="hierChild2" presStyleCnt="0"/>
      <dgm:spPr/>
    </dgm:pt>
    <dgm:pt modelId="{5C71DD4F-126F-4385-93D6-14B0217361B3}" type="pres">
      <dgm:prSet presAssocID="{8EA06B79-45B9-44BA-AC73-F626650F19FC}" presName="Name37" presStyleLbl="parChTrans1D2" presStyleIdx="0" presStyleCnt="2"/>
      <dgm:spPr/>
      <dgm:t>
        <a:bodyPr/>
        <a:lstStyle/>
        <a:p>
          <a:endParaRPr lang="en-US"/>
        </a:p>
      </dgm:t>
    </dgm:pt>
    <dgm:pt modelId="{8736A519-7B2F-40EB-8BE3-4ACA05402D10}" type="pres">
      <dgm:prSet presAssocID="{F97A3767-09D8-4257-A87B-212AD30859AD}" presName="hierRoot2" presStyleCnt="0">
        <dgm:presLayoutVars>
          <dgm:hierBranch val="init"/>
        </dgm:presLayoutVars>
      </dgm:prSet>
      <dgm:spPr/>
    </dgm:pt>
    <dgm:pt modelId="{46B99D71-392D-4568-9BCD-11307D11A988}" type="pres">
      <dgm:prSet presAssocID="{F97A3767-09D8-4257-A87B-212AD30859AD}" presName="rootComposite" presStyleCnt="0"/>
      <dgm:spPr/>
    </dgm:pt>
    <dgm:pt modelId="{AC39F92E-EB58-4139-A2F3-4D72E9E93AB3}" type="pres">
      <dgm:prSet presAssocID="{F97A3767-09D8-4257-A87B-212AD30859AD}" presName="rootText" presStyleLbl="node2" presStyleIdx="0" presStyleCnt="2" custScaleX="147284">
        <dgm:presLayoutVars>
          <dgm:chPref val="3"/>
        </dgm:presLayoutVars>
      </dgm:prSet>
      <dgm:spPr/>
      <dgm:t>
        <a:bodyPr/>
        <a:lstStyle/>
        <a:p>
          <a:endParaRPr lang="en-US"/>
        </a:p>
      </dgm:t>
    </dgm:pt>
    <dgm:pt modelId="{7B4C179D-0D95-465D-BF0F-5254B9EDFFEB}" type="pres">
      <dgm:prSet presAssocID="{F97A3767-09D8-4257-A87B-212AD30859AD}" presName="rootConnector" presStyleLbl="node2" presStyleIdx="0" presStyleCnt="2"/>
      <dgm:spPr/>
      <dgm:t>
        <a:bodyPr/>
        <a:lstStyle/>
        <a:p>
          <a:endParaRPr lang="en-US"/>
        </a:p>
      </dgm:t>
    </dgm:pt>
    <dgm:pt modelId="{D0292E79-DB35-42EA-8D93-57B337EA2F35}" type="pres">
      <dgm:prSet presAssocID="{F97A3767-09D8-4257-A87B-212AD30859AD}" presName="hierChild4" presStyleCnt="0"/>
      <dgm:spPr/>
    </dgm:pt>
    <dgm:pt modelId="{CE228C39-FE5A-4CCB-85FD-61BE68327BCF}" type="pres">
      <dgm:prSet presAssocID="{FB86A0BD-1A81-498A-A952-F3561698209F}" presName="Name37" presStyleLbl="parChTrans1D3" presStyleIdx="0" presStyleCnt="3"/>
      <dgm:spPr/>
      <dgm:t>
        <a:bodyPr/>
        <a:lstStyle/>
        <a:p>
          <a:endParaRPr lang="en-US"/>
        </a:p>
      </dgm:t>
    </dgm:pt>
    <dgm:pt modelId="{742D17EA-CFF3-4430-ACB2-94EDFB1751DF}" type="pres">
      <dgm:prSet presAssocID="{30ACB95A-F92E-481D-BE17-8239401D02D8}" presName="hierRoot2" presStyleCnt="0">
        <dgm:presLayoutVars>
          <dgm:hierBranch val="init"/>
        </dgm:presLayoutVars>
      </dgm:prSet>
      <dgm:spPr/>
    </dgm:pt>
    <dgm:pt modelId="{2C172EF1-192A-4659-A417-CB2D5A847C9B}" type="pres">
      <dgm:prSet presAssocID="{30ACB95A-F92E-481D-BE17-8239401D02D8}" presName="rootComposite" presStyleCnt="0"/>
      <dgm:spPr/>
    </dgm:pt>
    <dgm:pt modelId="{7D4318C1-9673-433E-BFC9-D055633CA9AF}" type="pres">
      <dgm:prSet presAssocID="{30ACB95A-F92E-481D-BE17-8239401D02D8}" presName="rootText" presStyleLbl="node3" presStyleIdx="0" presStyleCnt="3" custScaleX="218252">
        <dgm:presLayoutVars>
          <dgm:chPref val="3"/>
        </dgm:presLayoutVars>
      </dgm:prSet>
      <dgm:spPr/>
      <dgm:t>
        <a:bodyPr/>
        <a:lstStyle/>
        <a:p>
          <a:endParaRPr lang="en-US"/>
        </a:p>
      </dgm:t>
    </dgm:pt>
    <dgm:pt modelId="{E82ADA0B-CF98-48E2-8690-0D5EEE9A85AF}" type="pres">
      <dgm:prSet presAssocID="{30ACB95A-F92E-481D-BE17-8239401D02D8}" presName="rootConnector" presStyleLbl="node3" presStyleIdx="0" presStyleCnt="3"/>
      <dgm:spPr/>
      <dgm:t>
        <a:bodyPr/>
        <a:lstStyle/>
        <a:p>
          <a:endParaRPr lang="en-US"/>
        </a:p>
      </dgm:t>
    </dgm:pt>
    <dgm:pt modelId="{C992BB76-AF0C-4778-BD35-A4F446D08C23}" type="pres">
      <dgm:prSet presAssocID="{30ACB95A-F92E-481D-BE17-8239401D02D8}" presName="hierChild4" presStyleCnt="0"/>
      <dgm:spPr/>
    </dgm:pt>
    <dgm:pt modelId="{A1DB1DE5-2175-41A7-B826-D2DAB1A0460D}" type="pres">
      <dgm:prSet presAssocID="{30ACB95A-F92E-481D-BE17-8239401D02D8}" presName="hierChild5" presStyleCnt="0"/>
      <dgm:spPr/>
    </dgm:pt>
    <dgm:pt modelId="{BF56E96E-0F9C-4954-9438-576A6DC2BB5D}" type="pres">
      <dgm:prSet presAssocID="{4C6FCE9C-F4B6-4319-9E48-34E273DC36B8}" presName="Name37" presStyleLbl="parChTrans1D3" presStyleIdx="1" presStyleCnt="3"/>
      <dgm:spPr/>
      <dgm:t>
        <a:bodyPr/>
        <a:lstStyle/>
        <a:p>
          <a:endParaRPr lang="en-US"/>
        </a:p>
      </dgm:t>
    </dgm:pt>
    <dgm:pt modelId="{9533ED27-24B0-489C-9F17-B12435726586}" type="pres">
      <dgm:prSet presAssocID="{0F629718-5671-4E7A-9FB2-9EA414685B84}" presName="hierRoot2" presStyleCnt="0">
        <dgm:presLayoutVars>
          <dgm:hierBranch val="init"/>
        </dgm:presLayoutVars>
      </dgm:prSet>
      <dgm:spPr/>
    </dgm:pt>
    <dgm:pt modelId="{BF7A5F81-9468-4437-86FB-80EC8DDE6919}" type="pres">
      <dgm:prSet presAssocID="{0F629718-5671-4E7A-9FB2-9EA414685B84}" presName="rootComposite" presStyleCnt="0"/>
      <dgm:spPr/>
    </dgm:pt>
    <dgm:pt modelId="{F7F03039-68B9-4AAD-93FC-CD49D9D0F718}" type="pres">
      <dgm:prSet presAssocID="{0F629718-5671-4E7A-9FB2-9EA414685B84}" presName="rootText" presStyleLbl="node3" presStyleIdx="1" presStyleCnt="3" custScaleX="218252">
        <dgm:presLayoutVars>
          <dgm:chPref val="3"/>
        </dgm:presLayoutVars>
      </dgm:prSet>
      <dgm:spPr/>
      <dgm:t>
        <a:bodyPr/>
        <a:lstStyle/>
        <a:p>
          <a:endParaRPr lang="en-US"/>
        </a:p>
      </dgm:t>
    </dgm:pt>
    <dgm:pt modelId="{8A56CEF3-A64F-46B3-B2BD-D1CA925EA437}" type="pres">
      <dgm:prSet presAssocID="{0F629718-5671-4E7A-9FB2-9EA414685B84}" presName="rootConnector" presStyleLbl="node3" presStyleIdx="1" presStyleCnt="3"/>
      <dgm:spPr/>
      <dgm:t>
        <a:bodyPr/>
        <a:lstStyle/>
        <a:p>
          <a:endParaRPr lang="en-US"/>
        </a:p>
      </dgm:t>
    </dgm:pt>
    <dgm:pt modelId="{5B89D029-CF44-4AC7-85EA-CE8137B61E66}" type="pres">
      <dgm:prSet presAssocID="{0F629718-5671-4E7A-9FB2-9EA414685B84}" presName="hierChild4" presStyleCnt="0"/>
      <dgm:spPr/>
    </dgm:pt>
    <dgm:pt modelId="{2D909092-19B1-48CC-BF9B-FF92F57DA217}" type="pres">
      <dgm:prSet presAssocID="{0F629718-5671-4E7A-9FB2-9EA414685B84}" presName="hierChild5" presStyleCnt="0"/>
      <dgm:spPr/>
    </dgm:pt>
    <dgm:pt modelId="{2D15B40A-4E23-4813-9BE0-3684512CFA32}" type="pres">
      <dgm:prSet presAssocID="{413B5DFD-87E1-4327-A7C0-4E2A7F6487E6}" presName="Name37" presStyleLbl="parChTrans1D3" presStyleIdx="2" presStyleCnt="3"/>
      <dgm:spPr/>
      <dgm:t>
        <a:bodyPr/>
        <a:lstStyle/>
        <a:p>
          <a:endParaRPr lang="en-US"/>
        </a:p>
      </dgm:t>
    </dgm:pt>
    <dgm:pt modelId="{80E14B54-7F19-4EC5-B728-D0FCCDE719F5}" type="pres">
      <dgm:prSet presAssocID="{FFB65646-E585-4005-8ABC-ABBB47924E56}" presName="hierRoot2" presStyleCnt="0">
        <dgm:presLayoutVars>
          <dgm:hierBranch val="init"/>
        </dgm:presLayoutVars>
      </dgm:prSet>
      <dgm:spPr/>
    </dgm:pt>
    <dgm:pt modelId="{04539AD6-F681-4431-88FD-E36C40C0F3FB}" type="pres">
      <dgm:prSet presAssocID="{FFB65646-E585-4005-8ABC-ABBB47924E56}" presName="rootComposite" presStyleCnt="0"/>
      <dgm:spPr/>
    </dgm:pt>
    <dgm:pt modelId="{999B9D57-B822-4DE1-804C-60B3B2ACE03E}" type="pres">
      <dgm:prSet presAssocID="{FFB65646-E585-4005-8ABC-ABBB47924E56}" presName="rootText" presStyleLbl="node3" presStyleIdx="2" presStyleCnt="3" custScaleX="219485" custScaleY="53610">
        <dgm:presLayoutVars>
          <dgm:chPref val="3"/>
        </dgm:presLayoutVars>
      </dgm:prSet>
      <dgm:spPr/>
      <dgm:t>
        <a:bodyPr/>
        <a:lstStyle/>
        <a:p>
          <a:endParaRPr lang="en-US"/>
        </a:p>
      </dgm:t>
    </dgm:pt>
    <dgm:pt modelId="{72C9728D-EFFC-4B3F-854C-273BD234AA50}" type="pres">
      <dgm:prSet presAssocID="{FFB65646-E585-4005-8ABC-ABBB47924E56}" presName="rootConnector" presStyleLbl="node3" presStyleIdx="2" presStyleCnt="3"/>
      <dgm:spPr/>
      <dgm:t>
        <a:bodyPr/>
        <a:lstStyle/>
        <a:p>
          <a:endParaRPr lang="en-US"/>
        </a:p>
      </dgm:t>
    </dgm:pt>
    <dgm:pt modelId="{1D38C22D-1A78-4CEB-9CEA-D4733F8C4D3C}" type="pres">
      <dgm:prSet presAssocID="{FFB65646-E585-4005-8ABC-ABBB47924E56}" presName="hierChild4" presStyleCnt="0"/>
      <dgm:spPr/>
    </dgm:pt>
    <dgm:pt modelId="{7F51AD6E-4A78-4C8C-B26D-36BF2B9A9B02}" type="pres">
      <dgm:prSet presAssocID="{FFB65646-E585-4005-8ABC-ABBB47924E56}" presName="hierChild5" presStyleCnt="0"/>
      <dgm:spPr/>
    </dgm:pt>
    <dgm:pt modelId="{0F342F11-A1C6-44FA-8470-B7B3A75CF677}" type="pres">
      <dgm:prSet presAssocID="{F97A3767-09D8-4257-A87B-212AD30859AD}" presName="hierChild5" presStyleCnt="0"/>
      <dgm:spPr/>
    </dgm:pt>
    <dgm:pt modelId="{5DB2E8D4-CAF7-4377-B0A7-57C1C5E74406}" type="pres">
      <dgm:prSet presAssocID="{B40F80F7-4F0E-4D4E-8F84-94B7A398A546}" presName="Name37" presStyleLbl="parChTrans1D2" presStyleIdx="1" presStyleCnt="2"/>
      <dgm:spPr/>
      <dgm:t>
        <a:bodyPr/>
        <a:lstStyle/>
        <a:p>
          <a:endParaRPr lang="en-US"/>
        </a:p>
      </dgm:t>
    </dgm:pt>
    <dgm:pt modelId="{C52A56D9-5EA2-4748-94F3-411B16A169D6}" type="pres">
      <dgm:prSet presAssocID="{624D30A7-03A0-41B8-9175-496F35E20594}" presName="hierRoot2" presStyleCnt="0">
        <dgm:presLayoutVars>
          <dgm:hierBranch val="init"/>
        </dgm:presLayoutVars>
      </dgm:prSet>
      <dgm:spPr/>
    </dgm:pt>
    <dgm:pt modelId="{C79C1602-4E3B-4241-886A-7213D3C1BE39}" type="pres">
      <dgm:prSet presAssocID="{624D30A7-03A0-41B8-9175-496F35E20594}" presName="rootComposite" presStyleCnt="0"/>
      <dgm:spPr/>
    </dgm:pt>
    <dgm:pt modelId="{A4A4714B-C13A-40DA-A4B3-5734A5B9E965}" type="pres">
      <dgm:prSet presAssocID="{624D30A7-03A0-41B8-9175-496F35E20594}" presName="rootText" presStyleLbl="node2" presStyleIdx="1" presStyleCnt="2" custScaleX="239145">
        <dgm:presLayoutVars>
          <dgm:chPref val="3"/>
        </dgm:presLayoutVars>
      </dgm:prSet>
      <dgm:spPr/>
      <dgm:t>
        <a:bodyPr/>
        <a:lstStyle/>
        <a:p>
          <a:endParaRPr lang="en-US"/>
        </a:p>
      </dgm:t>
    </dgm:pt>
    <dgm:pt modelId="{A4D57FFA-54B8-4F0D-B590-A33E17654D3E}" type="pres">
      <dgm:prSet presAssocID="{624D30A7-03A0-41B8-9175-496F35E20594}" presName="rootConnector" presStyleLbl="node2" presStyleIdx="1" presStyleCnt="2"/>
      <dgm:spPr/>
      <dgm:t>
        <a:bodyPr/>
        <a:lstStyle/>
        <a:p>
          <a:endParaRPr lang="en-US"/>
        </a:p>
      </dgm:t>
    </dgm:pt>
    <dgm:pt modelId="{630177E5-2FFC-4EB0-AA15-0A233EB59F4D}" type="pres">
      <dgm:prSet presAssocID="{624D30A7-03A0-41B8-9175-496F35E20594}" presName="hierChild4" presStyleCnt="0"/>
      <dgm:spPr/>
    </dgm:pt>
    <dgm:pt modelId="{8BD9506F-16C7-4C18-8D7B-0C468E2E5965}" type="pres">
      <dgm:prSet presAssocID="{624D30A7-03A0-41B8-9175-496F35E20594}" presName="hierChild5" presStyleCnt="0"/>
      <dgm:spPr/>
    </dgm:pt>
    <dgm:pt modelId="{C12D2B7E-BBCD-4717-832D-14CD0F1E6E63}" type="pres">
      <dgm:prSet presAssocID="{D6C519C5-86F9-48B0-B7AC-6CCFDC8F3E1B}" presName="hierChild3" presStyleCnt="0"/>
      <dgm:spPr/>
    </dgm:pt>
  </dgm:ptLst>
  <dgm:cxnLst>
    <dgm:cxn modelId="{E4A379B8-9D00-42A3-874E-F3C303016D49}" type="presOf" srcId="{D6C519C5-86F9-48B0-B7AC-6CCFDC8F3E1B}" destId="{E261738A-F815-4832-9305-88051B383600}" srcOrd="0" destOrd="0" presId="urn:microsoft.com/office/officeart/2005/8/layout/orgChart1"/>
    <dgm:cxn modelId="{83DCC900-810C-4FA7-8350-430F9D7C27C3}" type="presOf" srcId="{FFB65646-E585-4005-8ABC-ABBB47924E56}" destId="{72C9728D-EFFC-4B3F-854C-273BD234AA50}" srcOrd="1" destOrd="0" presId="urn:microsoft.com/office/officeart/2005/8/layout/orgChart1"/>
    <dgm:cxn modelId="{9B117D00-FA5C-42DA-946A-3943C38EA6A5}" type="presOf" srcId="{624D30A7-03A0-41B8-9175-496F35E20594}" destId="{A4A4714B-C13A-40DA-A4B3-5734A5B9E965}" srcOrd="0" destOrd="0" presId="urn:microsoft.com/office/officeart/2005/8/layout/orgChart1"/>
    <dgm:cxn modelId="{00CEFEB6-E5FA-497A-976B-E9BC386F88FC}" type="presOf" srcId="{F24AB6AF-B043-4016-91BB-3EEADE44EFB3}" destId="{F301333E-A4FD-4B14-923D-113C51002FD7}" srcOrd="0" destOrd="0" presId="urn:microsoft.com/office/officeart/2005/8/layout/orgChart1"/>
    <dgm:cxn modelId="{9B5D839E-971D-4B91-B77C-EB2F74BF4F93}" type="presOf" srcId="{624D30A7-03A0-41B8-9175-496F35E20594}" destId="{A4D57FFA-54B8-4F0D-B590-A33E17654D3E}" srcOrd="1" destOrd="0" presId="urn:microsoft.com/office/officeart/2005/8/layout/orgChart1"/>
    <dgm:cxn modelId="{8DB1063B-74A0-449F-B006-DA1F1E4E5114}" type="presOf" srcId="{8EA06B79-45B9-44BA-AC73-F626650F19FC}" destId="{5C71DD4F-126F-4385-93D6-14B0217361B3}" srcOrd="0" destOrd="0" presId="urn:microsoft.com/office/officeart/2005/8/layout/orgChart1"/>
    <dgm:cxn modelId="{91DFF118-C649-4D0F-808D-DD21EA5D6178}" srcId="{F24AB6AF-B043-4016-91BB-3EEADE44EFB3}" destId="{D6C519C5-86F9-48B0-B7AC-6CCFDC8F3E1B}" srcOrd="0" destOrd="0" parTransId="{D15D012A-39AB-49B5-BDF1-1D37C5FD5343}" sibTransId="{271F7EE0-AC2C-4135-A4CE-4ABE626BBACF}"/>
    <dgm:cxn modelId="{D28FFA9D-8C9C-4A99-A693-9DF7EFF413FA}" srcId="{F97A3767-09D8-4257-A87B-212AD30859AD}" destId="{0F629718-5671-4E7A-9FB2-9EA414685B84}" srcOrd="1" destOrd="0" parTransId="{4C6FCE9C-F4B6-4319-9E48-34E273DC36B8}" sibTransId="{E310E9AF-D404-4E13-B880-6F892A9CDCD2}"/>
    <dgm:cxn modelId="{90CDC33E-E462-4DFD-AB27-85F7D3A064C8}" type="presOf" srcId="{F97A3767-09D8-4257-A87B-212AD30859AD}" destId="{7B4C179D-0D95-465D-BF0F-5254B9EDFFEB}" srcOrd="1" destOrd="0" presId="urn:microsoft.com/office/officeart/2005/8/layout/orgChart1"/>
    <dgm:cxn modelId="{0630A29F-7077-4E90-BEAB-0010965FF0C0}" srcId="{F97A3767-09D8-4257-A87B-212AD30859AD}" destId="{30ACB95A-F92E-481D-BE17-8239401D02D8}" srcOrd="0" destOrd="0" parTransId="{FB86A0BD-1A81-498A-A952-F3561698209F}" sibTransId="{BA27A2CA-723E-40DD-881D-1F0544550839}"/>
    <dgm:cxn modelId="{BCD9AB01-9447-48BC-A1E0-E8279B49B99D}" type="presOf" srcId="{FB86A0BD-1A81-498A-A952-F3561698209F}" destId="{CE228C39-FE5A-4CCB-85FD-61BE68327BCF}" srcOrd="0" destOrd="0" presId="urn:microsoft.com/office/officeart/2005/8/layout/orgChart1"/>
    <dgm:cxn modelId="{74F1ED42-B94A-4E47-B4AD-0164F5187A1D}" type="presOf" srcId="{413B5DFD-87E1-4327-A7C0-4E2A7F6487E6}" destId="{2D15B40A-4E23-4813-9BE0-3684512CFA32}" srcOrd="0" destOrd="0" presId="urn:microsoft.com/office/officeart/2005/8/layout/orgChart1"/>
    <dgm:cxn modelId="{1E6CC3E8-8904-4EA0-B58C-59B937940FB1}" srcId="{F97A3767-09D8-4257-A87B-212AD30859AD}" destId="{FFB65646-E585-4005-8ABC-ABBB47924E56}" srcOrd="2" destOrd="0" parTransId="{413B5DFD-87E1-4327-A7C0-4E2A7F6487E6}" sibTransId="{55D6DB9B-F25C-491D-A854-07BB84FE1FCB}"/>
    <dgm:cxn modelId="{CCCAC810-A4C9-4784-B6A4-8453FEF91631}" type="presOf" srcId="{4C6FCE9C-F4B6-4319-9E48-34E273DC36B8}" destId="{BF56E96E-0F9C-4954-9438-576A6DC2BB5D}" srcOrd="0" destOrd="0" presId="urn:microsoft.com/office/officeart/2005/8/layout/orgChart1"/>
    <dgm:cxn modelId="{F427BA8B-D89D-439B-960B-1EF7CC4B12EB}" type="presOf" srcId="{0F629718-5671-4E7A-9FB2-9EA414685B84}" destId="{F7F03039-68B9-4AAD-93FC-CD49D9D0F718}" srcOrd="0" destOrd="0" presId="urn:microsoft.com/office/officeart/2005/8/layout/orgChart1"/>
    <dgm:cxn modelId="{E18E1D12-6015-448D-AF90-99ADD476A1B5}" type="presOf" srcId="{FFB65646-E585-4005-8ABC-ABBB47924E56}" destId="{999B9D57-B822-4DE1-804C-60B3B2ACE03E}" srcOrd="0" destOrd="0" presId="urn:microsoft.com/office/officeart/2005/8/layout/orgChart1"/>
    <dgm:cxn modelId="{CB9DC612-2D20-4DCD-A0A1-C0AA480B2AAB}" type="presOf" srcId="{30ACB95A-F92E-481D-BE17-8239401D02D8}" destId="{7D4318C1-9673-433E-BFC9-D055633CA9AF}" srcOrd="0" destOrd="0" presId="urn:microsoft.com/office/officeart/2005/8/layout/orgChart1"/>
    <dgm:cxn modelId="{6D53571E-DA16-4D74-BF93-1A3628DFAD07}" srcId="{D6C519C5-86F9-48B0-B7AC-6CCFDC8F3E1B}" destId="{624D30A7-03A0-41B8-9175-496F35E20594}" srcOrd="1" destOrd="0" parTransId="{B40F80F7-4F0E-4D4E-8F84-94B7A398A546}" sibTransId="{82BC6C92-A964-495D-9B86-DE99FEC4067B}"/>
    <dgm:cxn modelId="{1AD95B5E-1CE0-4B28-AE50-46B30CE7A919}" type="presOf" srcId="{D6C519C5-86F9-48B0-B7AC-6CCFDC8F3E1B}" destId="{24F1511D-DB68-43FF-B907-43BC34220464}" srcOrd="1" destOrd="0" presId="urn:microsoft.com/office/officeart/2005/8/layout/orgChart1"/>
    <dgm:cxn modelId="{FF8DF7D8-02E3-4B5B-B77F-24DA6A6D06EB}" type="presOf" srcId="{F97A3767-09D8-4257-A87B-212AD30859AD}" destId="{AC39F92E-EB58-4139-A2F3-4D72E9E93AB3}" srcOrd="0" destOrd="0" presId="urn:microsoft.com/office/officeart/2005/8/layout/orgChart1"/>
    <dgm:cxn modelId="{57B422BC-60BF-4C88-9ADB-C0B1F04D5297}" type="presOf" srcId="{0F629718-5671-4E7A-9FB2-9EA414685B84}" destId="{8A56CEF3-A64F-46B3-B2BD-D1CA925EA437}" srcOrd="1" destOrd="0" presId="urn:microsoft.com/office/officeart/2005/8/layout/orgChart1"/>
    <dgm:cxn modelId="{1CA5AC43-A9F4-401A-8AE2-8CC315C86CB7}" type="presOf" srcId="{B40F80F7-4F0E-4D4E-8F84-94B7A398A546}" destId="{5DB2E8D4-CAF7-4377-B0A7-57C1C5E74406}" srcOrd="0" destOrd="0" presId="urn:microsoft.com/office/officeart/2005/8/layout/orgChart1"/>
    <dgm:cxn modelId="{4735D6DE-F61E-4EAB-87A4-97D0B6B7A1AF}" type="presOf" srcId="{30ACB95A-F92E-481D-BE17-8239401D02D8}" destId="{E82ADA0B-CF98-48E2-8690-0D5EEE9A85AF}" srcOrd="1" destOrd="0" presId="urn:microsoft.com/office/officeart/2005/8/layout/orgChart1"/>
    <dgm:cxn modelId="{4D3CEB9D-A77E-478D-BC18-9B7AEAD793E0}" srcId="{D6C519C5-86F9-48B0-B7AC-6CCFDC8F3E1B}" destId="{F97A3767-09D8-4257-A87B-212AD30859AD}" srcOrd="0" destOrd="0" parTransId="{8EA06B79-45B9-44BA-AC73-F626650F19FC}" sibTransId="{B04048B8-8B55-40F4-8111-72A6D241E129}"/>
    <dgm:cxn modelId="{DEEE9C04-CB3E-4C69-BFC0-9ACDBC28DDBB}" type="presParOf" srcId="{F301333E-A4FD-4B14-923D-113C51002FD7}" destId="{5C124A89-D42D-47E7-A930-24D76E6F0F68}" srcOrd="0" destOrd="0" presId="urn:microsoft.com/office/officeart/2005/8/layout/orgChart1"/>
    <dgm:cxn modelId="{A17D9A46-C448-488D-A9B3-ADE28D5D2B7E}" type="presParOf" srcId="{5C124A89-D42D-47E7-A930-24D76E6F0F68}" destId="{BC0B43CF-65F7-4B1A-8F41-BD2AA5FB71D0}" srcOrd="0" destOrd="0" presId="urn:microsoft.com/office/officeart/2005/8/layout/orgChart1"/>
    <dgm:cxn modelId="{50414AFB-4270-4D59-BBDA-CEA4902AFED0}" type="presParOf" srcId="{BC0B43CF-65F7-4B1A-8F41-BD2AA5FB71D0}" destId="{E261738A-F815-4832-9305-88051B383600}" srcOrd="0" destOrd="0" presId="urn:microsoft.com/office/officeart/2005/8/layout/orgChart1"/>
    <dgm:cxn modelId="{59DFA4B1-82DC-4AAE-8C33-E32BB1E9B836}" type="presParOf" srcId="{BC0B43CF-65F7-4B1A-8F41-BD2AA5FB71D0}" destId="{24F1511D-DB68-43FF-B907-43BC34220464}" srcOrd="1" destOrd="0" presId="urn:microsoft.com/office/officeart/2005/8/layout/orgChart1"/>
    <dgm:cxn modelId="{82DBE04F-FE2F-46FD-BFBD-ABAF822320BE}" type="presParOf" srcId="{5C124A89-D42D-47E7-A930-24D76E6F0F68}" destId="{505F3111-1F48-4E21-8E26-C9989C622DEE}" srcOrd="1" destOrd="0" presId="urn:microsoft.com/office/officeart/2005/8/layout/orgChart1"/>
    <dgm:cxn modelId="{F0A7DE43-C05A-416A-8250-CAC43F20D8CF}" type="presParOf" srcId="{505F3111-1F48-4E21-8E26-C9989C622DEE}" destId="{5C71DD4F-126F-4385-93D6-14B0217361B3}" srcOrd="0" destOrd="0" presId="urn:microsoft.com/office/officeart/2005/8/layout/orgChart1"/>
    <dgm:cxn modelId="{A7D5DB76-DC85-4BAD-8DC1-5696C65D4E20}" type="presParOf" srcId="{505F3111-1F48-4E21-8E26-C9989C622DEE}" destId="{8736A519-7B2F-40EB-8BE3-4ACA05402D10}" srcOrd="1" destOrd="0" presId="urn:microsoft.com/office/officeart/2005/8/layout/orgChart1"/>
    <dgm:cxn modelId="{CF644863-ABBD-4CE7-B224-E4A8E7C2ADA0}" type="presParOf" srcId="{8736A519-7B2F-40EB-8BE3-4ACA05402D10}" destId="{46B99D71-392D-4568-9BCD-11307D11A988}" srcOrd="0" destOrd="0" presId="urn:microsoft.com/office/officeart/2005/8/layout/orgChart1"/>
    <dgm:cxn modelId="{D0B2C191-6689-4AD6-81D2-015790289E22}" type="presParOf" srcId="{46B99D71-392D-4568-9BCD-11307D11A988}" destId="{AC39F92E-EB58-4139-A2F3-4D72E9E93AB3}" srcOrd="0" destOrd="0" presId="urn:microsoft.com/office/officeart/2005/8/layout/orgChart1"/>
    <dgm:cxn modelId="{84269EB6-4A06-4A64-8971-345B851824D5}" type="presParOf" srcId="{46B99D71-392D-4568-9BCD-11307D11A988}" destId="{7B4C179D-0D95-465D-BF0F-5254B9EDFFEB}" srcOrd="1" destOrd="0" presId="urn:microsoft.com/office/officeart/2005/8/layout/orgChart1"/>
    <dgm:cxn modelId="{2F4A442A-F2C8-435B-9260-FF8ADCBC0A32}" type="presParOf" srcId="{8736A519-7B2F-40EB-8BE3-4ACA05402D10}" destId="{D0292E79-DB35-42EA-8D93-57B337EA2F35}" srcOrd="1" destOrd="0" presId="urn:microsoft.com/office/officeart/2005/8/layout/orgChart1"/>
    <dgm:cxn modelId="{36B0D08F-1C10-4224-A10C-DEC920CE6C24}" type="presParOf" srcId="{D0292E79-DB35-42EA-8D93-57B337EA2F35}" destId="{CE228C39-FE5A-4CCB-85FD-61BE68327BCF}" srcOrd="0" destOrd="0" presId="urn:microsoft.com/office/officeart/2005/8/layout/orgChart1"/>
    <dgm:cxn modelId="{FC4AD24B-52CD-4C16-84A8-01075CF8AD33}" type="presParOf" srcId="{D0292E79-DB35-42EA-8D93-57B337EA2F35}" destId="{742D17EA-CFF3-4430-ACB2-94EDFB1751DF}" srcOrd="1" destOrd="0" presId="urn:microsoft.com/office/officeart/2005/8/layout/orgChart1"/>
    <dgm:cxn modelId="{36817453-478B-471D-B354-DC138E28F98E}" type="presParOf" srcId="{742D17EA-CFF3-4430-ACB2-94EDFB1751DF}" destId="{2C172EF1-192A-4659-A417-CB2D5A847C9B}" srcOrd="0" destOrd="0" presId="urn:microsoft.com/office/officeart/2005/8/layout/orgChart1"/>
    <dgm:cxn modelId="{3CF5B599-4E0A-46A0-947B-4B9693296CC8}" type="presParOf" srcId="{2C172EF1-192A-4659-A417-CB2D5A847C9B}" destId="{7D4318C1-9673-433E-BFC9-D055633CA9AF}" srcOrd="0" destOrd="0" presId="urn:microsoft.com/office/officeart/2005/8/layout/orgChart1"/>
    <dgm:cxn modelId="{603C5D19-01DD-44A8-BF9D-663D84890FCE}" type="presParOf" srcId="{2C172EF1-192A-4659-A417-CB2D5A847C9B}" destId="{E82ADA0B-CF98-48E2-8690-0D5EEE9A85AF}" srcOrd="1" destOrd="0" presId="urn:microsoft.com/office/officeart/2005/8/layout/orgChart1"/>
    <dgm:cxn modelId="{508949B2-BB67-4C0F-A62D-E55EE56398FB}" type="presParOf" srcId="{742D17EA-CFF3-4430-ACB2-94EDFB1751DF}" destId="{C992BB76-AF0C-4778-BD35-A4F446D08C23}" srcOrd="1" destOrd="0" presId="urn:microsoft.com/office/officeart/2005/8/layout/orgChart1"/>
    <dgm:cxn modelId="{40709F23-AEAF-4F8F-9DD6-4CF6749887BD}" type="presParOf" srcId="{742D17EA-CFF3-4430-ACB2-94EDFB1751DF}" destId="{A1DB1DE5-2175-41A7-B826-D2DAB1A0460D}" srcOrd="2" destOrd="0" presId="urn:microsoft.com/office/officeart/2005/8/layout/orgChart1"/>
    <dgm:cxn modelId="{C0E22545-7129-42FA-87B0-B7B4DD6BF437}" type="presParOf" srcId="{D0292E79-DB35-42EA-8D93-57B337EA2F35}" destId="{BF56E96E-0F9C-4954-9438-576A6DC2BB5D}" srcOrd="2" destOrd="0" presId="urn:microsoft.com/office/officeart/2005/8/layout/orgChart1"/>
    <dgm:cxn modelId="{9DBBD796-6886-4DB4-BA24-0D2E0D2B63D4}" type="presParOf" srcId="{D0292E79-DB35-42EA-8D93-57B337EA2F35}" destId="{9533ED27-24B0-489C-9F17-B12435726586}" srcOrd="3" destOrd="0" presId="urn:microsoft.com/office/officeart/2005/8/layout/orgChart1"/>
    <dgm:cxn modelId="{0485174A-26F0-44F8-B095-C4ACED6D8DC9}" type="presParOf" srcId="{9533ED27-24B0-489C-9F17-B12435726586}" destId="{BF7A5F81-9468-4437-86FB-80EC8DDE6919}" srcOrd="0" destOrd="0" presId="urn:microsoft.com/office/officeart/2005/8/layout/orgChart1"/>
    <dgm:cxn modelId="{458B10BB-7F94-4E0B-933B-B669EA94EC29}" type="presParOf" srcId="{BF7A5F81-9468-4437-86FB-80EC8DDE6919}" destId="{F7F03039-68B9-4AAD-93FC-CD49D9D0F718}" srcOrd="0" destOrd="0" presId="urn:microsoft.com/office/officeart/2005/8/layout/orgChart1"/>
    <dgm:cxn modelId="{0D60B3A6-4B01-4E59-A280-41F7529DFE10}" type="presParOf" srcId="{BF7A5F81-9468-4437-86FB-80EC8DDE6919}" destId="{8A56CEF3-A64F-46B3-B2BD-D1CA925EA437}" srcOrd="1" destOrd="0" presId="urn:microsoft.com/office/officeart/2005/8/layout/orgChart1"/>
    <dgm:cxn modelId="{3A0A5606-26D6-4EF8-BEB1-0FE7BC41465C}" type="presParOf" srcId="{9533ED27-24B0-489C-9F17-B12435726586}" destId="{5B89D029-CF44-4AC7-85EA-CE8137B61E66}" srcOrd="1" destOrd="0" presId="urn:microsoft.com/office/officeart/2005/8/layout/orgChart1"/>
    <dgm:cxn modelId="{274270F0-B2F4-42C8-8FF1-0B44C5499E8A}" type="presParOf" srcId="{9533ED27-24B0-489C-9F17-B12435726586}" destId="{2D909092-19B1-48CC-BF9B-FF92F57DA217}" srcOrd="2" destOrd="0" presId="urn:microsoft.com/office/officeart/2005/8/layout/orgChart1"/>
    <dgm:cxn modelId="{C44166A4-2749-4726-9BDB-56D0541A581F}" type="presParOf" srcId="{D0292E79-DB35-42EA-8D93-57B337EA2F35}" destId="{2D15B40A-4E23-4813-9BE0-3684512CFA32}" srcOrd="4" destOrd="0" presId="urn:microsoft.com/office/officeart/2005/8/layout/orgChart1"/>
    <dgm:cxn modelId="{DD7B58F3-6B9F-4362-896C-AED36D7C79C0}" type="presParOf" srcId="{D0292E79-DB35-42EA-8D93-57B337EA2F35}" destId="{80E14B54-7F19-4EC5-B728-D0FCCDE719F5}" srcOrd="5" destOrd="0" presId="urn:microsoft.com/office/officeart/2005/8/layout/orgChart1"/>
    <dgm:cxn modelId="{021D3157-D002-4A30-8F73-C02E5909B19C}" type="presParOf" srcId="{80E14B54-7F19-4EC5-B728-D0FCCDE719F5}" destId="{04539AD6-F681-4431-88FD-E36C40C0F3FB}" srcOrd="0" destOrd="0" presId="urn:microsoft.com/office/officeart/2005/8/layout/orgChart1"/>
    <dgm:cxn modelId="{A65FD702-EDB3-4756-8F1D-5789369D0818}" type="presParOf" srcId="{04539AD6-F681-4431-88FD-E36C40C0F3FB}" destId="{999B9D57-B822-4DE1-804C-60B3B2ACE03E}" srcOrd="0" destOrd="0" presId="urn:microsoft.com/office/officeart/2005/8/layout/orgChart1"/>
    <dgm:cxn modelId="{F18AB132-2FAA-4758-8ADF-00E7992C91F8}" type="presParOf" srcId="{04539AD6-F681-4431-88FD-E36C40C0F3FB}" destId="{72C9728D-EFFC-4B3F-854C-273BD234AA50}" srcOrd="1" destOrd="0" presId="urn:microsoft.com/office/officeart/2005/8/layout/orgChart1"/>
    <dgm:cxn modelId="{F7E51512-212F-4AE8-9725-8AEA4C754BC0}" type="presParOf" srcId="{80E14B54-7F19-4EC5-B728-D0FCCDE719F5}" destId="{1D38C22D-1A78-4CEB-9CEA-D4733F8C4D3C}" srcOrd="1" destOrd="0" presId="urn:microsoft.com/office/officeart/2005/8/layout/orgChart1"/>
    <dgm:cxn modelId="{4395F4A3-7B0D-4068-B800-7D7DD1EFF211}" type="presParOf" srcId="{80E14B54-7F19-4EC5-B728-D0FCCDE719F5}" destId="{7F51AD6E-4A78-4C8C-B26D-36BF2B9A9B02}" srcOrd="2" destOrd="0" presId="urn:microsoft.com/office/officeart/2005/8/layout/orgChart1"/>
    <dgm:cxn modelId="{19B42C39-A21D-48A3-8330-F618585BA6FC}" type="presParOf" srcId="{8736A519-7B2F-40EB-8BE3-4ACA05402D10}" destId="{0F342F11-A1C6-44FA-8470-B7B3A75CF677}" srcOrd="2" destOrd="0" presId="urn:microsoft.com/office/officeart/2005/8/layout/orgChart1"/>
    <dgm:cxn modelId="{832397CE-7E15-4920-8949-89FB577619A4}" type="presParOf" srcId="{505F3111-1F48-4E21-8E26-C9989C622DEE}" destId="{5DB2E8D4-CAF7-4377-B0A7-57C1C5E74406}" srcOrd="2" destOrd="0" presId="urn:microsoft.com/office/officeart/2005/8/layout/orgChart1"/>
    <dgm:cxn modelId="{4E530596-09E9-4517-8DB2-652145FFDE8F}" type="presParOf" srcId="{505F3111-1F48-4E21-8E26-C9989C622DEE}" destId="{C52A56D9-5EA2-4748-94F3-411B16A169D6}" srcOrd="3" destOrd="0" presId="urn:microsoft.com/office/officeart/2005/8/layout/orgChart1"/>
    <dgm:cxn modelId="{0BE93D22-64F6-450E-8CAA-D9FB841604F5}" type="presParOf" srcId="{C52A56D9-5EA2-4748-94F3-411B16A169D6}" destId="{C79C1602-4E3B-4241-886A-7213D3C1BE39}" srcOrd="0" destOrd="0" presId="urn:microsoft.com/office/officeart/2005/8/layout/orgChart1"/>
    <dgm:cxn modelId="{5FA73011-6D3D-4288-A1B1-1C25221CCD80}" type="presParOf" srcId="{C79C1602-4E3B-4241-886A-7213D3C1BE39}" destId="{A4A4714B-C13A-40DA-A4B3-5734A5B9E965}" srcOrd="0" destOrd="0" presId="urn:microsoft.com/office/officeart/2005/8/layout/orgChart1"/>
    <dgm:cxn modelId="{5103D14E-4B42-47F0-9479-E293B16C0623}" type="presParOf" srcId="{C79C1602-4E3B-4241-886A-7213D3C1BE39}" destId="{A4D57FFA-54B8-4F0D-B590-A33E17654D3E}" srcOrd="1" destOrd="0" presId="urn:microsoft.com/office/officeart/2005/8/layout/orgChart1"/>
    <dgm:cxn modelId="{C2BC1EA6-8F09-4B24-BFC1-F8C9A29F50C6}" type="presParOf" srcId="{C52A56D9-5EA2-4748-94F3-411B16A169D6}" destId="{630177E5-2FFC-4EB0-AA15-0A233EB59F4D}" srcOrd="1" destOrd="0" presId="urn:microsoft.com/office/officeart/2005/8/layout/orgChart1"/>
    <dgm:cxn modelId="{BCB7BD67-1551-4D37-A9F8-10D11725204C}" type="presParOf" srcId="{C52A56D9-5EA2-4748-94F3-411B16A169D6}" destId="{8BD9506F-16C7-4C18-8D7B-0C468E2E5965}" srcOrd="2" destOrd="0" presId="urn:microsoft.com/office/officeart/2005/8/layout/orgChart1"/>
    <dgm:cxn modelId="{5BC12AC1-A31B-4AFB-87D9-FDACE6AD0694}" type="presParOf" srcId="{5C124A89-D42D-47E7-A930-24D76E6F0F68}" destId="{C12D2B7E-BBCD-4717-832D-14CD0F1E6E6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B2E8D4-CAF7-4377-B0A7-57C1C5E74406}">
      <dsp:nvSpPr>
        <dsp:cNvPr id="0" name=""/>
        <dsp:cNvSpPr/>
      </dsp:nvSpPr>
      <dsp:spPr>
        <a:xfrm>
          <a:off x="4590225" y="906034"/>
          <a:ext cx="1680104" cy="312737"/>
        </a:xfrm>
        <a:custGeom>
          <a:avLst/>
          <a:gdLst/>
          <a:ahLst/>
          <a:cxnLst/>
          <a:rect l="0" t="0" r="0" b="0"/>
          <a:pathLst>
            <a:path>
              <a:moveTo>
                <a:pt x="0" y="0"/>
              </a:moveTo>
              <a:lnTo>
                <a:pt x="0" y="157222"/>
              </a:lnTo>
              <a:lnTo>
                <a:pt x="1680104" y="157222"/>
              </a:lnTo>
              <a:lnTo>
                <a:pt x="1680104" y="312737"/>
              </a:lnTo>
            </a:path>
          </a:pathLst>
        </a:custGeom>
        <a:noFill/>
        <a:ln w="19050" cap="rnd" cmpd="sng" algn="ctr">
          <a:solidFill>
            <a:schemeClr val="accent3">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2D15B40A-4E23-4813-9BE0-3684512CFA32}">
      <dsp:nvSpPr>
        <dsp:cNvPr id="0" name=""/>
        <dsp:cNvSpPr/>
      </dsp:nvSpPr>
      <dsp:spPr>
        <a:xfrm>
          <a:off x="304858" y="1959316"/>
          <a:ext cx="845698" cy="2786157"/>
        </a:xfrm>
        <a:custGeom>
          <a:avLst/>
          <a:gdLst/>
          <a:ahLst/>
          <a:cxnLst/>
          <a:rect l="0" t="0" r="0" b="0"/>
          <a:pathLst>
            <a:path>
              <a:moveTo>
                <a:pt x="0" y="0"/>
              </a:moveTo>
              <a:lnTo>
                <a:pt x="0" y="2786157"/>
              </a:lnTo>
              <a:lnTo>
                <a:pt x="845698" y="2786157"/>
              </a:lnTo>
            </a:path>
          </a:pathLst>
        </a:custGeom>
        <a:noFill/>
        <a:ln w="19050" cap="rnd" cmpd="sng" algn="ctr">
          <a:solidFill>
            <a:schemeClr val="accent4">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BF56E96E-0F9C-4954-9438-576A6DC2BB5D}">
      <dsp:nvSpPr>
        <dsp:cNvPr id="0" name=""/>
        <dsp:cNvSpPr/>
      </dsp:nvSpPr>
      <dsp:spPr>
        <a:xfrm>
          <a:off x="304858" y="1959316"/>
          <a:ext cx="1318062" cy="1732875"/>
        </a:xfrm>
        <a:custGeom>
          <a:avLst/>
          <a:gdLst/>
          <a:ahLst/>
          <a:cxnLst/>
          <a:rect l="0" t="0" r="0" b="0"/>
          <a:pathLst>
            <a:path>
              <a:moveTo>
                <a:pt x="0" y="0"/>
              </a:moveTo>
              <a:lnTo>
                <a:pt x="0" y="1732875"/>
              </a:lnTo>
              <a:lnTo>
                <a:pt x="1318062" y="1732875"/>
              </a:lnTo>
            </a:path>
          </a:pathLst>
        </a:custGeom>
        <a:noFill/>
        <a:ln w="19050" cap="rnd" cmpd="sng" algn="ctr">
          <a:solidFill>
            <a:schemeClr val="accent4">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CE228C39-FE5A-4CCB-85FD-61BE68327BCF}">
      <dsp:nvSpPr>
        <dsp:cNvPr id="0" name=""/>
        <dsp:cNvSpPr/>
      </dsp:nvSpPr>
      <dsp:spPr>
        <a:xfrm>
          <a:off x="304858" y="1959316"/>
          <a:ext cx="1318062" cy="681301"/>
        </a:xfrm>
        <a:custGeom>
          <a:avLst/>
          <a:gdLst/>
          <a:ahLst/>
          <a:cxnLst/>
          <a:rect l="0" t="0" r="0" b="0"/>
          <a:pathLst>
            <a:path>
              <a:moveTo>
                <a:pt x="0" y="0"/>
              </a:moveTo>
              <a:lnTo>
                <a:pt x="0" y="681301"/>
              </a:lnTo>
              <a:lnTo>
                <a:pt x="1318062" y="681301"/>
              </a:lnTo>
            </a:path>
          </a:pathLst>
        </a:custGeom>
        <a:noFill/>
        <a:ln w="19050" cap="rnd" cmpd="sng" algn="ctr">
          <a:solidFill>
            <a:schemeClr val="accent4">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5C71DD4F-126F-4385-93D6-14B0217361B3}">
      <dsp:nvSpPr>
        <dsp:cNvPr id="0" name=""/>
        <dsp:cNvSpPr/>
      </dsp:nvSpPr>
      <dsp:spPr>
        <a:xfrm>
          <a:off x="1524293" y="906034"/>
          <a:ext cx="3065932" cy="312737"/>
        </a:xfrm>
        <a:custGeom>
          <a:avLst/>
          <a:gdLst/>
          <a:ahLst/>
          <a:cxnLst/>
          <a:rect l="0" t="0" r="0" b="0"/>
          <a:pathLst>
            <a:path>
              <a:moveTo>
                <a:pt x="3065932" y="0"/>
              </a:moveTo>
              <a:lnTo>
                <a:pt x="3065932" y="157222"/>
              </a:lnTo>
              <a:lnTo>
                <a:pt x="0" y="157222"/>
              </a:lnTo>
              <a:lnTo>
                <a:pt x="0" y="312737"/>
              </a:lnTo>
            </a:path>
          </a:pathLst>
        </a:custGeom>
        <a:noFill/>
        <a:ln w="19050" cap="rnd" cmpd="sng" algn="ctr">
          <a:solidFill>
            <a:schemeClr val="accent3">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E261738A-F815-4832-9305-88051B383600}">
      <dsp:nvSpPr>
        <dsp:cNvPr id="0" name=""/>
        <dsp:cNvSpPr/>
      </dsp:nvSpPr>
      <dsp:spPr>
        <a:xfrm>
          <a:off x="3382708" y="0"/>
          <a:ext cx="2415035" cy="906034"/>
        </a:xfrm>
        <a:prstGeom prst="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solidFill>
              <a:latin typeface="+mj-lt"/>
              <a:cs typeface="Arial" panose="020B0604020202020204" pitchFamily="34" charset="0"/>
            </a:rPr>
            <a:t>1. HÓA ĐƠN</a:t>
          </a:r>
        </a:p>
      </dsp:txBody>
      <dsp:txXfrm>
        <a:off x="3382708" y="0"/>
        <a:ext cx="2415035" cy="906034"/>
      </dsp:txXfrm>
    </dsp:sp>
    <dsp:sp modelId="{AC39F92E-EB58-4139-A2F3-4D72E9E93AB3}">
      <dsp:nvSpPr>
        <dsp:cNvPr id="0" name=""/>
        <dsp:cNvSpPr/>
      </dsp:nvSpPr>
      <dsp:spPr>
        <a:xfrm>
          <a:off x="0" y="1218771"/>
          <a:ext cx="3048587" cy="740545"/>
        </a:xfrm>
        <a:prstGeom prst="rect">
          <a:avLst/>
        </a:prstGeom>
        <a:gradFill rotWithShape="0">
          <a:gsLst>
            <a:gs pos="0">
              <a:schemeClr val="accent3">
                <a:hueOff val="0"/>
                <a:satOff val="0"/>
                <a:lumOff val="0"/>
                <a:alphaOff val="0"/>
                <a:tint val="96000"/>
                <a:lumMod val="100000"/>
              </a:schemeClr>
            </a:gs>
            <a:gs pos="78000">
              <a:schemeClr val="accent3">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baseline="0" dirty="0" err="1">
              <a:solidFill>
                <a:schemeClr val="tx1"/>
              </a:solidFill>
              <a:latin typeface="+mj-lt"/>
              <a:cs typeface="Arial" panose="020B0604020202020204" pitchFamily="34" charset="0"/>
            </a:rPr>
            <a:t>Hóa</a:t>
          </a:r>
          <a:r>
            <a:rPr lang="en-US" sz="2000" b="1" kern="1200" baseline="0" dirty="0">
              <a:solidFill>
                <a:schemeClr val="tx1"/>
              </a:solidFill>
              <a:latin typeface="+mj-lt"/>
              <a:cs typeface="Arial" panose="020B0604020202020204" pitchFamily="34" charset="0"/>
            </a:rPr>
            <a:t> </a:t>
          </a:r>
          <a:r>
            <a:rPr lang="en-US" sz="2000" b="1" kern="1200" baseline="0" dirty="0" err="1">
              <a:solidFill>
                <a:schemeClr val="tx1"/>
              </a:solidFill>
              <a:latin typeface="+mj-lt"/>
              <a:cs typeface="Arial" panose="020B0604020202020204" pitchFamily="34" charset="0"/>
            </a:rPr>
            <a:t>đơn</a:t>
          </a:r>
          <a:r>
            <a:rPr lang="en-US" sz="2000" b="1" kern="1200" baseline="0" dirty="0">
              <a:solidFill>
                <a:schemeClr val="tx1"/>
              </a:solidFill>
              <a:latin typeface="+mj-lt"/>
              <a:cs typeface="Arial" panose="020B0604020202020204" pitchFamily="34" charset="0"/>
            </a:rPr>
            <a:t> </a:t>
          </a:r>
          <a:r>
            <a:rPr lang="en-US" sz="2000" b="1" kern="1200" baseline="0" dirty="0" err="1">
              <a:solidFill>
                <a:schemeClr val="tx1"/>
              </a:solidFill>
              <a:latin typeface="+mj-lt"/>
              <a:cs typeface="Arial" panose="020B0604020202020204" pitchFamily="34" charset="0"/>
            </a:rPr>
            <a:t>điện</a:t>
          </a:r>
          <a:r>
            <a:rPr lang="en-US" sz="2000" b="1" kern="1200" baseline="0" dirty="0">
              <a:solidFill>
                <a:schemeClr val="tx1"/>
              </a:solidFill>
              <a:latin typeface="+mj-lt"/>
              <a:cs typeface="Arial" panose="020B0604020202020204" pitchFamily="34" charset="0"/>
            </a:rPr>
            <a:t> </a:t>
          </a:r>
          <a:r>
            <a:rPr lang="en-US" sz="2000" b="1" kern="1200" baseline="0" dirty="0" err="1">
              <a:solidFill>
                <a:schemeClr val="tx1"/>
              </a:solidFill>
              <a:latin typeface="+mj-lt"/>
              <a:cs typeface="Arial" panose="020B0604020202020204" pitchFamily="34" charset="0"/>
            </a:rPr>
            <a:t>tử</a:t>
          </a:r>
          <a:endParaRPr lang="en-US" sz="2000" b="1" kern="1200" baseline="0" dirty="0">
            <a:solidFill>
              <a:schemeClr val="tx1"/>
            </a:solidFill>
            <a:latin typeface="+mj-lt"/>
            <a:cs typeface="Arial" panose="020B0604020202020204" pitchFamily="34" charset="0"/>
          </a:endParaRPr>
        </a:p>
      </dsp:txBody>
      <dsp:txXfrm>
        <a:off x="0" y="1218771"/>
        <a:ext cx="3048587" cy="740545"/>
      </dsp:txXfrm>
    </dsp:sp>
    <dsp:sp modelId="{7D4318C1-9673-433E-BFC9-D055633CA9AF}">
      <dsp:nvSpPr>
        <dsp:cNvPr id="0" name=""/>
        <dsp:cNvSpPr/>
      </dsp:nvSpPr>
      <dsp:spPr>
        <a:xfrm>
          <a:off x="1622921" y="2270345"/>
          <a:ext cx="6158846" cy="740545"/>
        </a:xfrm>
        <a:prstGeom prst="rect">
          <a:avLst/>
        </a:prstGeom>
        <a:gradFill rotWithShape="0">
          <a:gsLst>
            <a:gs pos="0">
              <a:schemeClr val="accent4">
                <a:hueOff val="0"/>
                <a:satOff val="0"/>
                <a:lumOff val="0"/>
                <a:alphaOff val="0"/>
                <a:tint val="96000"/>
                <a:lumMod val="100000"/>
              </a:schemeClr>
            </a:gs>
            <a:gs pos="78000">
              <a:schemeClr val="accent4">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i="1" kern="1200" dirty="0" err="1">
              <a:solidFill>
                <a:schemeClr val="tx1"/>
              </a:solidFill>
              <a:latin typeface="+mj-lt"/>
              <a:cs typeface="Arial" panose="020B0604020202020204" pitchFamily="34" charset="0"/>
            </a:rPr>
            <a:t>Hóa</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đơn</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điện</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tử</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có</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mã</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của</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cơ</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quan</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thuế</a:t>
          </a:r>
          <a:r>
            <a:rPr lang="en-US" sz="1800" b="1" i="1" kern="1200" dirty="0">
              <a:solidFill>
                <a:schemeClr val="tx1"/>
              </a:solidFill>
              <a:latin typeface="+mj-lt"/>
              <a:cs typeface="Arial" panose="020B0604020202020204" pitchFamily="34" charset="0"/>
            </a:rPr>
            <a:t> </a:t>
          </a:r>
          <a:endParaRPr lang="en-US" sz="1800" kern="1200" dirty="0">
            <a:solidFill>
              <a:schemeClr val="tx1"/>
            </a:solidFill>
            <a:latin typeface="+mj-lt"/>
            <a:cs typeface="Arial" panose="020B0604020202020204" pitchFamily="34" charset="0"/>
          </a:endParaRPr>
        </a:p>
      </dsp:txBody>
      <dsp:txXfrm>
        <a:off x="1622921" y="2270345"/>
        <a:ext cx="6158846" cy="740545"/>
      </dsp:txXfrm>
    </dsp:sp>
    <dsp:sp modelId="{F7F03039-68B9-4AAD-93FC-CD49D9D0F718}">
      <dsp:nvSpPr>
        <dsp:cNvPr id="0" name=""/>
        <dsp:cNvSpPr/>
      </dsp:nvSpPr>
      <dsp:spPr>
        <a:xfrm>
          <a:off x="1622921" y="3321919"/>
          <a:ext cx="6885632" cy="740545"/>
        </a:xfrm>
        <a:prstGeom prst="rect">
          <a:avLst/>
        </a:prstGeom>
        <a:gradFill rotWithShape="0">
          <a:gsLst>
            <a:gs pos="0">
              <a:schemeClr val="accent4">
                <a:hueOff val="0"/>
                <a:satOff val="0"/>
                <a:lumOff val="0"/>
                <a:alphaOff val="0"/>
                <a:tint val="96000"/>
                <a:lumMod val="100000"/>
              </a:schemeClr>
            </a:gs>
            <a:gs pos="78000">
              <a:schemeClr val="accent4">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i="1" kern="1200" dirty="0" err="1">
              <a:solidFill>
                <a:schemeClr val="tx1"/>
              </a:solidFill>
              <a:latin typeface="+mj-lt"/>
              <a:cs typeface="Arial" panose="020B0604020202020204" pitchFamily="34" charset="0"/>
            </a:rPr>
            <a:t>Hóa</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đơn</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điện</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tử</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không</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có</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mã</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của</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cơ</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quan</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thuế</a:t>
          </a:r>
          <a:r>
            <a:rPr lang="en-US" sz="1800" b="1" i="1" kern="1200" dirty="0">
              <a:solidFill>
                <a:schemeClr val="tx1"/>
              </a:solidFill>
              <a:latin typeface="+mj-lt"/>
              <a:cs typeface="Arial" panose="020B0604020202020204" pitchFamily="34" charset="0"/>
            </a:rPr>
            <a:t> </a:t>
          </a:r>
          <a:endParaRPr lang="en-US" sz="1800" kern="1200" dirty="0">
            <a:solidFill>
              <a:schemeClr val="tx1"/>
            </a:solidFill>
            <a:latin typeface="+mj-lt"/>
            <a:cs typeface="Arial" panose="020B0604020202020204" pitchFamily="34" charset="0"/>
          </a:endParaRPr>
        </a:p>
      </dsp:txBody>
      <dsp:txXfrm>
        <a:off x="1622921" y="3321919"/>
        <a:ext cx="6885632" cy="740545"/>
      </dsp:txXfrm>
    </dsp:sp>
    <dsp:sp modelId="{999B9D57-B822-4DE1-804C-60B3B2ACE03E}">
      <dsp:nvSpPr>
        <dsp:cNvPr id="0" name=""/>
        <dsp:cNvSpPr/>
      </dsp:nvSpPr>
      <dsp:spPr>
        <a:xfrm>
          <a:off x="1150557" y="4375201"/>
          <a:ext cx="8253552" cy="740545"/>
        </a:xfrm>
        <a:prstGeom prst="rect">
          <a:avLst/>
        </a:prstGeom>
        <a:gradFill rotWithShape="0">
          <a:gsLst>
            <a:gs pos="0">
              <a:schemeClr val="accent4">
                <a:hueOff val="0"/>
                <a:satOff val="0"/>
                <a:lumOff val="0"/>
                <a:alphaOff val="0"/>
                <a:tint val="96000"/>
                <a:lumMod val="100000"/>
              </a:schemeClr>
            </a:gs>
            <a:gs pos="78000">
              <a:schemeClr val="accent4">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i="1" kern="1200" dirty="0" err="1">
              <a:solidFill>
                <a:schemeClr val="tx1"/>
              </a:solidFill>
              <a:latin typeface="+mj-lt"/>
              <a:cs typeface="Arial" panose="020B0604020202020204" pitchFamily="34" charset="0"/>
            </a:rPr>
            <a:t>Hóa</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đơn</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được</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khởi</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tạo</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từ</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máy</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tính</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tiền</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có</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kết</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nối</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chuyển</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dữ</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liệu</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với</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cơ</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quan</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thuế</a:t>
          </a:r>
          <a:endParaRPr lang="en-US" sz="1800" kern="1200" dirty="0">
            <a:solidFill>
              <a:schemeClr val="tx1"/>
            </a:solidFill>
            <a:latin typeface="+mj-lt"/>
            <a:cs typeface="Arial" panose="020B0604020202020204" pitchFamily="34" charset="0"/>
          </a:endParaRPr>
        </a:p>
      </dsp:txBody>
      <dsp:txXfrm>
        <a:off x="1150557" y="4375201"/>
        <a:ext cx="8253552" cy="740545"/>
      </dsp:txXfrm>
    </dsp:sp>
    <dsp:sp modelId="{A4A4714B-C13A-40DA-A4B3-5734A5B9E965}">
      <dsp:nvSpPr>
        <dsp:cNvPr id="0" name=""/>
        <dsp:cNvSpPr/>
      </dsp:nvSpPr>
      <dsp:spPr>
        <a:xfrm>
          <a:off x="4220390" y="1218771"/>
          <a:ext cx="4099879" cy="740545"/>
        </a:xfrm>
        <a:prstGeom prst="rect">
          <a:avLst/>
        </a:prstGeom>
        <a:gradFill rotWithShape="0">
          <a:gsLst>
            <a:gs pos="0">
              <a:schemeClr val="accent3">
                <a:hueOff val="0"/>
                <a:satOff val="0"/>
                <a:lumOff val="0"/>
                <a:alphaOff val="0"/>
                <a:tint val="96000"/>
                <a:lumMod val="100000"/>
              </a:schemeClr>
            </a:gs>
            <a:gs pos="78000">
              <a:schemeClr val="accent3">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dirty="0" err="1">
              <a:solidFill>
                <a:schemeClr val="tx1"/>
              </a:solidFill>
              <a:latin typeface="+mj-lt"/>
              <a:cs typeface="Arial" panose="020B0604020202020204" pitchFamily="34" charset="0"/>
            </a:rPr>
            <a:t>Hóa</a:t>
          </a:r>
          <a:r>
            <a:rPr lang="en-US" sz="2000" b="1" kern="1200" dirty="0">
              <a:solidFill>
                <a:schemeClr val="tx1"/>
              </a:solidFill>
              <a:latin typeface="+mj-lt"/>
              <a:cs typeface="Arial" panose="020B0604020202020204" pitchFamily="34" charset="0"/>
            </a:rPr>
            <a:t> </a:t>
          </a:r>
          <a:r>
            <a:rPr lang="en-US" sz="2000" b="1" kern="1200" dirty="0" err="1">
              <a:solidFill>
                <a:schemeClr val="tx1"/>
              </a:solidFill>
              <a:latin typeface="+mj-lt"/>
              <a:cs typeface="Arial" panose="020B0604020202020204" pitchFamily="34" charset="0"/>
            </a:rPr>
            <a:t>đơn</a:t>
          </a:r>
          <a:r>
            <a:rPr lang="en-US" sz="2000" b="1" kern="1200" dirty="0">
              <a:solidFill>
                <a:schemeClr val="tx1"/>
              </a:solidFill>
              <a:latin typeface="+mj-lt"/>
              <a:cs typeface="Arial" panose="020B0604020202020204" pitchFamily="34" charset="0"/>
            </a:rPr>
            <a:t> do </a:t>
          </a:r>
          <a:r>
            <a:rPr lang="en-US" sz="2000" b="1" kern="1200" dirty="0" err="1">
              <a:solidFill>
                <a:schemeClr val="tx1"/>
              </a:solidFill>
              <a:latin typeface="+mj-lt"/>
              <a:cs typeface="Arial" panose="020B0604020202020204" pitchFamily="34" charset="0"/>
            </a:rPr>
            <a:t>cơ</a:t>
          </a:r>
          <a:r>
            <a:rPr lang="en-US" sz="2000" b="1" kern="1200" dirty="0">
              <a:solidFill>
                <a:schemeClr val="tx1"/>
              </a:solidFill>
              <a:latin typeface="+mj-lt"/>
              <a:cs typeface="Arial" panose="020B0604020202020204" pitchFamily="34" charset="0"/>
            </a:rPr>
            <a:t> </a:t>
          </a:r>
          <a:r>
            <a:rPr lang="en-US" sz="2000" b="1" kern="1200" dirty="0" err="1">
              <a:solidFill>
                <a:schemeClr val="tx1"/>
              </a:solidFill>
              <a:latin typeface="+mj-lt"/>
              <a:cs typeface="Arial" panose="020B0604020202020204" pitchFamily="34" charset="0"/>
            </a:rPr>
            <a:t>quan</a:t>
          </a:r>
          <a:r>
            <a:rPr lang="en-US" sz="2000" b="1" kern="1200" dirty="0">
              <a:solidFill>
                <a:schemeClr val="tx1"/>
              </a:solidFill>
              <a:latin typeface="+mj-lt"/>
              <a:cs typeface="Arial" panose="020B0604020202020204" pitchFamily="34" charset="0"/>
            </a:rPr>
            <a:t> </a:t>
          </a:r>
          <a:r>
            <a:rPr lang="en-US" sz="2000" b="1" kern="1200" dirty="0" err="1">
              <a:solidFill>
                <a:schemeClr val="tx1"/>
              </a:solidFill>
              <a:latin typeface="+mj-lt"/>
              <a:cs typeface="Arial" panose="020B0604020202020204" pitchFamily="34" charset="0"/>
            </a:rPr>
            <a:t>thuế</a:t>
          </a:r>
          <a:r>
            <a:rPr lang="en-US" sz="2000" b="1" kern="1200" dirty="0">
              <a:solidFill>
                <a:schemeClr val="tx1"/>
              </a:solidFill>
              <a:latin typeface="+mj-lt"/>
              <a:cs typeface="Arial" panose="020B0604020202020204" pitchFamily="34" charset="0"/>
            </a:rPr>
            <a:t> </a:t>
          </a:r>
          <a:r>
            <a:rPr lang="en-US" sz="2000" b="1" kern="1200" dirty="0" err="1">
              <a:solidFill>
                <a:schemeClr val="tx1"/>
              </a:solidFill>
              <a:latin typeface="+mj-lt"/>
              <a:cs typeface="Arial" panose="020B0604020202020204" pitchFamily="34" charset="0"/>
            </a:rPr>
            <a:t>đặt</a:t>
          </a:r>
          <a:r>
            <a:rPr lang="en-US" sz="2000" b="1" kern="1200" dirty="0">
              <a:solidFill>
                <a:schemeClr val="tx1"/>
              </a:solidFill>
              <a:latin typeface="+mj-lt"/>
              <a:cs typeface="Arial" panose="020B0604020202020204" pitchFamily="34" charset="0"/>
            </a:rPr>
            <a:t> in (</a:t>
          </a:r>
          <a:r>
            <a:rPr lang="en-US" sz="2000" b="1" kern="1200" dirty="0" err="1">
              <a:solidFill>
                <a:schemeClr val="tx1"/>
              </a:solidFill>
              <a:latin typeface="+mj-lt"/>
              <a:cs typeface="Arial" panose="020B0604020202020204" pitchFamily="34" charset="0"/>
            </a:rPr>
            <a:t>hóa</a:t>
          </a:r>
          <a:r>
            <a:rPr lang="en-US" sz="2000" b="1" kern="1200" dirty="0">
              <a:solidFill>
                <a:schemeClr val="tx1"/>
              </a:solidFill>
              <a:latin typeface="+mj-lt"/>
              <a:cs typeface="Arial" panose="020B0604020202020204" pitchFamily="34" charset="0"/>
            </a:rPr>
            <a:t> </a:t>
          </a:r>
          <a:r>
            <a:rPr lang="en-US" sz="2000" b="1" kern="1200" dirty="0" err="1">
              <a:solidFill>
                <a:schemeClr val="tx1"/>
              </a:solidFill>
              <a:latin typeface="+mj-lt"/>
              <a:cs typeface="Arial" panose="020B0604020202020204" pitchFamily="34" charset="0"/>
            </a:rPr>
            <a:t>đơn</a:t>
          </a:r>
          <a:r>
            <a:rPr lang="en-US" sz="2000" b="1" kern="1200" dirty="0">
              <a:solidFill>
                <a:schemeClr val="tx1"/>
              </a:solidFill>
              <a:latin typeface="+mj-lt"/>
              <a:cs typeface="Arial" panose="020B0604020202020204" pitchFamily="34" charset="0"/>
            </a:rPr>
            <a:t> </a:t>
          </a:r>
          <a:r>
            <a:rPr lang="en-US" sz="2000" b="1" kern="1200" dirty="0" err="1">
              <a:solidFill>
                <a:schemeClr val="tx1"/>
              </a:solidFill>
              <a:latin typeface="+mj-lt"/>
              <a:cs typeface="Arial" panose="020B0604020202020204" pitchFamily="34" charset="0"/>
            </a:rPr>
            <a:t>giấy</a:t>
          </a:r>
          <a:r>
            <a:rPr lang="en-US" sz="2000" b="1" kern="1200" dirty="0">
              <a:solidFill>
                <a:schemeClr val="tx1"/>
              </a:solidFill>
              <a:latin typeface="+mj-lt"/>
              <a:cs typeface="Arial" panose="020B0604020202020204" pitchFamily="34" charset="0"/>
            </a:rPr>
            <a:t>)</a:t>
          </a:r>
        </a:p>
      </dsp:txBody>
      <dsp:txXfrm>
        <a:off x="4220390" y="1218771"/>
        <a:ext cx="4099879" cy="7405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BBF38E-A7F0-4B31-BCD1-B315F52C616D}">
      <dsp:nvSpPr>
        <dsp:cNvPr id="0" name=""/>
        <dsp:cNvSpPr/>
      </dsp:nvSpPr>
      <dsp:spPr>
        <a:xfrm>
          <a:off x="117456" y="308170"/>
          <a:ext cx="2843761" cy="1138211"/>
        </a:xfrm>
        <a:prstGeom prst="roundRect">
          <a:avLst>
            <a:gd name="adj" fmla="val 10000"/>
          </a:avLst>
        </a:prstGeom>
        <a:solidFill>
          <a:schemeClr val="accent4">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a:latin typeface="+mj-lt"/>
            </a:rPr>
            <a:t>HÓA ĐƠN, CHỨNG TỪ </a:t>
          </a:r>
        </a:p>
        <a:p>
          <a:pPr lvl="0" algn="ctr" defTabSz="1066800">
            <a:lnSpc>
              <a:spcPct val="90000"/>
            </a:lnSpc>
            <a:spcBef>
              <a:spcPct val="0"/>
            </a:spcBef>
            <a:spcAft>
              <a:spcPct val="35000"/>
            </a:spcAft>
          </a:pPr>
          <a:r>
            <a:rPr lang="en-US" sz="2400" kern="1200" dirty="0">
              <a:latin typeface="+mj-lt"/>
            </a:rPr>
            <a:t>ĐIỆN TỬ</a:t>
          </a:r>
        </a:p>
      </dsp:txBody>
      <dsp:txXfrm>
        <a:off x="150793" y="341507"/>
        <a:ext cx="2777087" cy="1071537"/>
      </dsp:txXfrm>
    </dsp:sp>
    <dsp:sp modelId="{AF98736E-2432-4DEE-832E-E7FEFA322883}">
      <dsp:nvSpPr>
        <dsp:cNvPr id="0" name=""/>
        <dsp:cNvSpPr/>
      </dsp:nvSpPr>
      <dsp:spPr>
        <a:xfrm rot="65842">
          <a:off x="3496051" y="121290"/>
          <a:ext cx="1134276" cy="1608660"/>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lvl="0" algn="ctr" defTabSz="2444750">
            <a:lnSpc>
              <a:spcPct val="90000"/>
            </a:lnSpc>
            <a:spcBef>
              <a:spcPct val="0"/>
            </a:spcBef>
            <a:spcAft>
              <a:spcPct val="35000"/>
            </a:spcAft>
          </a:pPr>
          <a:endParaRPr lang="en-US" sz="5500" kern="1200"/>
        </a:p>
      </dsp:txBody>
      <dsp:txXfrm>
        <a:off x="3496082" y="439764"/>
        <a:ext cx="793993" cy="965196"/>
      </dsp:txXfrm>
    </dsp:sp>
    <dsp:sp modelId="{B6C37CBA-F5E3-436D-8C49-A7E51AFD6C49}">
      <dsp:nvSpPr>
        <dsp:cNvPr id="0" name=""/>
        <dsp:cNvSpPr/>
      </dsp:nvSpPr>
      <dsp:spPr>
        <a:xfrm>
          <a:off x="5100969" y="343481"/>
          <a:ext cx="2681014" cy="1255390"/>
        </a:xfrm>
        <a:prstGeom prst="roundRect">
          <a:avLst>
            <a:gd name="adj" fmla="val 10000"/>
          </a:avLst>
        </a:prstGeom>
        <a:solidFill>
          <a:schemeClr val="accent4">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a:latin typeface="+mj-lt"/>
            </a:rPr>
            <a:t>HÓA ĐƠN, CHỨNG TỪ GIẤY</a:t>
          </a:r>
        </a:p>
      </dsp:txBody>
      <dsp:txXfrm>
        <a:off x="5137738" y="380250"/>
        <a:ext cx="2607476" cy="11818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B2E8D4-CAF7-4377-B0A7-57C1C5E74406}">
      <dsp:nvSpPr>
        <dsp:cNvPr id="0" name=""/>
        <dsp:cNvSpPr/>
      </dsp:nvSpPr>
      <dsp:spPr>
        <a:xfrm>
          <a:off x="4297787" y="2245878"/>
          <a:ext cx="2092051" cy="389540"/>
        </a:xfrm>
        <a:custGeom>
          <a:avLst/>
          <a:gdLst/>
          <a:ahLst/>
          <a:cxnLst/>
          <a:rect l="0" t="0" r="0" b="0"/>
          <a:pathLst>
            <a:path>
              <a:moveTo>
                <a:pt x="0" y="0"/>
              </a:moveTo>
              <a:lnTo>
                <a:pt x="0" y="195895"/>
              </a:lnTo>
              <a:lnTo>
                <a:pt x="2092051" y="195895"/>
              </a:lnTo>
              <a:lnTo>
                <a:pt x="2092051" y="389540"/>
              </a:lnTo>
            </a:path>
          </a:pathLst>
        </a:custGeom>
        <a:noFill/>
        <a:ln w="19050" cap="rnd" cmpd="sng" algn="ctr">
          <a:solidFill>
            <a:schemeClr val="accent3">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5C71DD4F-126F-4385-93D6-14B0217361B3}">
      <dsp:nvSpPr>
        <dsp:cNvPr id="0" name=""/>
        <dsp:cNvSpPr/>
      </dsp:nvSpPr>
      <dsp:spPr>
        <a:xfrm>
          <a:off x="1899306" y="2245878"/>
          <a:ext cx="2398480" cy="389540"/>
        </a:xfrm>
        <a:custGeom>
          <a:avLst/>
          <a:gdLst/>
          <a:ahLst/>
          <a:cxnLst/>
          <a:rect l="0" t="0" r="0" b="0"/>
          <a:pathLst>
            <a:path>
              <a:moveTo>
                <a:pt x="2398480" y="0"/>
              </a:moveTo>
              <a:lnTo>
                <a:pt x="2398480" y="195895"/>
              </a:lnTo>
              <a:lnTo>
                <a:pt x="0" y="195895"/>
              </a:lnTo>
              <a:lnTo>
                <a:pt x="0" y="389540"/>
              </a:lnTo>
            </a:path>
          </a:pathLst>
        </a:custGeom>
        <a:noFill/>
        <a:ln w="19050" cap="rnd" cmpd="sng" algn="ctr">
          <a:solidFill>
            <a:schemeClr val="accent3">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E261738A-F815-4832-9305-88051B383600}">
      <dsp:nvSpPr>
        <dsp:cNvPr id="0" name=""/>
        <dsp:cNvSpPr/>
      </dsp:nvSpPr>
      <dsp:spPr>
        <a:xfrm>
          <a:off x="2794196" y="1323758"/>
          <a:ext cx="3007181" cy="922120"/>
        </a:xfrm>
        <a:prstGeom prst="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solidFill>
              <a:latin typeface="+mj-lt"/>
              <a:cs typeface="Arial" panose="020B0604020202020204" pitchFamily="34" charset="0"/>
            </a:rPr>
            <a:t>CHỨNG TỪ</a:t>
          </a:r>
        </a:p>
      </dsp:txBody>
      <dsp:txXfrm>
        <a:off x="2794196" y="1323758"/>
        <a:ext cx="3007181" cy="922120"/>
      </dsp:txXfrm>
    </dsp:sp>
    <dsp:sp modelId="{AC39F92E-EB58-4139-A2F3-4D72E9E93AB3}">
      <dsp:nvSpPr>
        <dsp:cNvPr id="0" name=""/>
        <dsp:cNvSpPr/>
      </dsp:nvSpPr>
      <dsp:spPr>
        <a:xfrm>
          <a:off x="1269" y="2635419"/>
          <a:ext cx="3796074" cy="922120"/>
        </a:xfrm>
        <a:prstGeom prst="rect">
          <a:avLst/>
        </a:prstGeom>
        <a:gradFill rotWithShape="0">
          <a:gsLst>
            <a:gs pos="0">
              <a:schemeClr val="accent3">
                <a:hueOff val="0"/>
                <a:satOff val="0"/>
                <a:lumOff val="0"/>
                <a:alphaOff val="0"/>
                <a:tint val="96000"/>
                <a:lumMod val="100000"/>
              </a:schemeClr>
            </a:gs>
            <a:gs pos="78000">
              <a:schemeClr val="accent3">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baseline="0" dirty="0">
              <a:solidFill>
                <a:schemeClr val="tx1"/>
              </a:solidFill>
              <a:latin typeface="+mj-lt"/>
              <a:cs typeface="Arial" panose="020B0604020202020204" pitchFamily="34" charset="0"/>
            </a:rPr>
            <a:t>CHỨNG TỪ ĐIỆN TỬ</a:t>
          </a:r>
        </a:p>
      </dsp:txBody>
      <dsp:txXfrm>
        <a:off x="1269" y="2635419"/>
        <a:ext cx="3796074" cy="922120"/>
      </dsp:txXfrm>
    </dsp:sp>
    <dsp:sp modelId="{A4A4714B-C13A-40DA-A4B3-5734A5B9E965}">
      <dsp:nvSpPr>
        <dsp:cNvPr id="0" name=""/>
        <dsp:cNvSpPr/>
      </dsp:nvSpPr>
      <dsp:spPr>
        <a:xfrm>
          <a:off x="4184633" y="2635419"/>
          <a:ext cx="4410408" cy="922120"/>
        </a:xfrm>
        <a:prstGeom prst="rect">
          <a:avLst/>
        </a:prstGeom>
        <a:gradFill rotWithShape="0">
          <a:gsLst>
            <a:gs pos="0">
              <a:schemeClr val="accent3">
                <a:hueOff val="0"/>
                <a:satOff val="0"/>
                <a:lumOff val="0"/>
                <a:alphaOff val="0"/>
                <a:tint val="96000"/>
                <a:lumMod val="100000"/>
              </a:schemeClr>
            </a:gs>
            <a:gs pos="78000">
              <a:schemeClr val="accent3">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dirty="0">
              <a:solidFill>
                <a:schemeClr val="tx1"/>
              </a:solidFill>
              <a:latin typeface="+mj-lt"/>
              <a:cs typeface="Arial" panose="020B0604020202020204" pitchFamily="34" charset="0"/>
            </a:rPr>
            <a:t>CHỨNG TỪ ĐẶT IN, TỰ IN</a:t>
          </a:r>
        </a:p>
      </dsp:txBody>
      <dsp:txXfrm>
        <a:off x="4184633" y="2635419"/>
        <a:ext cx="4410408" cy="9221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B2E8D4-CAF7-4377-B0A7-57C1C5E74406}">
      <dsp:nvSpPr>
        <dsp:cNvPr id="0" name=""/>
        <dsp:cNvSpPr/>
      </dsp:nvSpPr>
      <dsp:spPr>
        <a:xfrm>
          <a:off x="4217658" y="823884"/>
          <a:ext cx="1384529" cy="347473"/>
        </a:xfrm>
        <a:custGeom>
          <a:avLst/>
          <a:gdLst/>
          <a:ahLst/>
          <a:cxnLst/>
          <a:rect l="0" t="0" r="0" b="0"/>
          <a:pathLst>
            <a:path>
              <a:moveTo>
                <a:pt x="0" y="0"/>
              </a:moveTo>
              <a:lnTo>
                <a:pt x="0" y="174740"/>
              </a:lnTo>
              <a:lnTo>
                <a:pt x="1384529" y="174740"/>
              </a:lnTo>
              <a:lnTo>
                <a:pt x="1384529" y="347473"/>
              </a:lnTo>
            </a:path>
          </a:pathLst>
        </a:custGeom>
        <a:noFill/>
        <a:ln w="19050" cap="rnd" cmpd="sng" algn="ctr">
          <a:solidFill>
            <a:schemeClr val="accent3">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2D15B40A-4E23-4813-9BE0-3684512CFA32}">
      <dsp:nvSpPr>
        <dsp:cNvPr id="0" name=""/>
        <dsp:cNvSpPr/>
      </dsp:nvSpPr>
      <dsp:spPr>
        <a:xfrm>
          <a:off x="1109020" y="1993896"/>
          <a:ext cx="363440" cy="2901956"/>
        </a:xfrm>
        <a:custGeom>
          <a:avLst/>
          <a:gdLst/>
          <a:ahLst/>
          <a:cxnLst/>
          <a:rect l="0" t="0" r="0" b="0"/>
          <a:pathLst>
            <a:path>
              <a:moveTo>
                <a:pt x="0" y="0"/>
              </a:moveTo>
              <a:lnTo>
                <a:pt x="0" y="2901956"/>
              </a:lnTo>
              <a:lnTo>
                <a:pt x="363440" y="2901956"/>
              </a:lnTo>
            </a:path>
          </a:pathLst>
        </a:custGeom>
        <a:noFill/>
        <a:ln w="19050" cap="rnd" cmpd="sng" algn="ctr">
          <a:solidFill>
            <a:schemeClr val="accent4">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BF56E96E-0F9C-4954-9438-576A6DC2BB5D}">
      <dsp:nvSpPr>
        <dsp:cNvPr id="0" name=""/>
        <dsp:cNvSpPr/>
      </dsp:nvSpPr>
      <dsp:spPr>
        <a:xfrm>
          <a:off x="1109020" y="1993896"/>
          <a:ext cx="363440" cy="1924739"/>
        </a:xfrm>
        <a:custGeom>
          <a:avLst/>
          <a:gdLst/>
          <a:ahLst/>
          <a:cxnLst/>
          <a:rect l="0" t="0" r="0" b="0"/>
          <a:pathLst>
            <a:path>
              <a:moveTo>
                <a:pt x="0" y="0"/>
              </a:moveTo>
              <a:lnTo>
                <a:pt x="0" y="1924739"/>
              </a:lnTo>
              <a:lnTo>
                <a:pt x="363440" y="1924739"/>
              </a:lnTo>
            </a:path>
          </a:pathLst>
        </a:custGeom>
        <a:noFill/>
        <a:ln w="19050" cap="rnd" cmpd="sng" algn="ctr">
          <a:solidFill>
            <a:schemeClr val="accent4">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CE228C39-FE5A-4CCB-85FD-61BE68327BCF}">
      <dsp:nvSpPr>
        <dsp:cNvPr id="0" name=""/>
        <dsp:cNvSpPr/>
      </dsp:nvSpPr>
      <dsp:spPr>
        <a:xfrm>
          <a:off x="1109020" y="1993896"/>
          <a:ext cx="363440" cy="756735"/>
        </a:xfrm>
        <a:custGeom>
          <a:avLst/>
          <a:gdLst/>
          <a:ahLst/>
          <a:cxnLst/>
          <a:rect l="0" t="0" r="0" b="0"/>
          <a:pathLst>
            <a:path>
              <a:moveTo>
                <a:pt x="0" y="0"/>
              </a:moveTo>
              <a:lnTo>
                <a:pt x="0" y="756735"/>
              </a:lnTo>
              <a:lnTo>
                <a:pt x="363440" y="756735"/>
              </a:lnTo>
            </a:path>
          </a:pathLst>
        </a:custGeom>
        <a:noFill/>
        <a:ln w="19050" cap="rnd" cmpd="sng" algn="ctr">
          <a:solidFill>
            <a:schemeClr val="accent4">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5C71DD4F-126F-4385-93D6-14B0217361B3}">
      <dsp:nvSpPr>
        <dsp:cNvPr id="0" name=""/>
        <dsp:cNvSpPr/>
      </dsp:nvSpPr>
      <dsp:spPr>
        <a:xfrm>
          <a:off x="2078194" y="823884"/>
          <a:ext cx="2139463" cy="347473"/>
        </a:xfrm>
        <a:custGeom>
          <a:avLst/>
          <a:gdLst/>
          <a:ahLst/>
          <a:cxnLst/>
          <a:rect l="0" t="0" r="0" b="0"/>
          <a:pathLst>
            <a:path>
              <a:moveTo>
                <a:pt x="2139463" y="0"/>
              </a:moveTo>
              <a:lnTo>
                <a:pt x="2139463" y="174740"/>
              </a:lnTo>
              <a:lnTo>
                <a:pt x="0" y="174740"/>
              </a:lnTo>
              <a:lnTo>
                <a:pt x="0" y="347473"/>
              </a:lnTo>
            </a:path>
          </a:pathLst>
        </a:custGeom>
        <a:noFill/>
        <a:ln w="19050" cap="rnd" cmpd="sng" algn="ctr">
          <a:solidFill>
            <a:schemeClr val="accent3">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E261738A-F815-4832-9305-88051B383600}">
      <dsp:nvSpPr>
        <dsp:cNvPr id="0" name=""/>
        <dsp:cNvSpPr/>
      </dsp:nvSpPr>
      <dsp:spPr>
        <a:xfrm>
          <a:off x="2876443" y="1346"/>
          <a:ext cx="2682429" cy="822538"/>
        </a:xfrm>
        <a:prstGeom prst="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solidFill>
              <a:latin typeface="+mj-lt"/>
              <a:cs typeface="Arial" panose="020B0604020202020204" pitchFamily="34" charset="0"/>
            </a:rPr>
            <a:t>CHỨNG TỪ</a:t>
          </a:r>
        </a:p>
      </dsp:txBody>
      <dsp:txXfrm>
        <a:off x="2876443" y="1346"/>
        <a:ext cx="2682429" cy="822538"/>
      </dsp:txXfrm>
    </dsp:sp>
    <dsp:sp modelId="{AC39F92E-EB58-4139-A2F3-4D72E9E93AB3}">
      <dsp:nvSpPr>
        <dsp:cNvPr id="0" name=""/>
        <dsp:cNvSpPr/>
      </dsp:nvSpPr>
      <dsp:spPr>
        <a:xfrm>
          <a:off x="866727" y="1171357"/>
          <a:ext cx="2422935" cy="822538"/>
        </a:xfrm>
        <a:prstGeom prst="rect">
          <a:avLst/>
        </a:prstGeom>
        <a:gradFill rotWithShape="0">
          <a:gsLst>
            <a:gs pos="0">
              <a:schemeClr val="accent3">
                <a:hueOff val="0"/>
                <a:satOff val="0"/>
                <a:lumOff val="0"/>
                <a:alphaOff val="0"/>
                <a:tint val="96000"/>
                <a:lumMod val="100000"/>
              </a:schemeClr>
            </a:gs>
            <a:gs pos="78000">
              <a:schemeClr val="accent3">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baseline="0" dirty="0" err="1">
              <a:solidFill>
                <a:schemeClr val="tx1"/>
              </a:solidFill>
              <a:latin typeface="+mj-lt"/>
              <a:cs typeface="Arial" panose="020B0604020202020204" pitchFamily="34" charset="0"/>
            </a:rPr>
            <a:t>Biên</a:t>
          </a:r>
          <a:r>
            <a:rPr lang="en-US" sz="2000" b="1" kern="1200" baseline="0" dirty="0">
              <a:solidFill>
                <a:schemeClr val="tx1"/>
              </a:solidFill>
              <a:latin typeface="+mj-lt"/>
              <a:cs typeface="Arial" panose="020B0604020202020204" pitchFamily="34" charset="0"/>
            </a:rPr>
            <a:t> </a:t>
          </a:r>
          <a:r>
            <a:rPr lang="en-US" sz="2000" b="1" kern="1200" baseline="0" dirty="0" err="1">
              <a:solidFill>
                <a:schemeClr val="tx1"/>
              </a:solidFill>
              <a:latin typeface="+mj-lt"/>
              <a:cs typeface="Arial" panose="020B0604020202020204" pitchFamily="34" charset="0"/>
            </a:rPr>
            <a:t>lai</a:t>
          </a:r>
          <a:endParaRPr lang="en-US" sz="2000" b="1" kern="1200" baseline="0" dirty="0">
            <a:solidFill>
              <a:schemeClr val="tx1"/>
            </a:solidFill>
            <a:latin typeface="+mj-lt"/>
            <a:cs typeface="Arial" panose="020B0604020202020204" pitchFamily="34" charset="0"/>
          </a:endParaRPr>
        </a:p>
      </dsp:txBody>
      <dsp:txXfrm>
        <a:off x="866727" y="1171357"/>
        <a:ext cx="2422935" cy="822538"/>
      </dsp:txXfrm>
    </dsp:sp>
    <dsp:sp modelId="{7D4318C1-9673-433E-BFC9-D055633CA9AF}">
      <dsp:nvSpPr>
        <dsp:cNvPr id="0" name=""/>
        <dsp:cNvSpPr/>
      </dsp:nvSpPr>
      <dsp:spPr>
        <a:xfrm>
          <a:off x="1472461" y="2339362"/>
          <a:ext cx="3590413" cy="822538"/>
        </a:xfrm>
        <a:prstGeom prst="rect">
          <a:avLst/>
        </a:prstGeom>
        <a:gradFill rotWithShape="0">
          <a:gsLst>
            <a:gs pos="0">
              <a:schemeClr val="accent4">
                <a:hueOff val="0"/>
                <a:satOff val="0"/>
                <a:lumOff val="0"/>
                <a:alphaOff val="0"/>
                <a:tint val="96000"/>
                <a:lumMod val="100000"/>
              </a:schemeClr>
            </a:gs>
            <a:gs pos="78000">
              <a:schemeClr val="accent4">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i="1" kern="1200" dirty="0" err="1">
              <a:solidFill>
                <a:schemeClr val="tx1"/>
              </a:solidFill>
              <a:latin typeface="+mj-lt"/>
              <a:cs typeface="Arial" panose="020B0604020202020204" pitchFamily="34" charset="0"/>
            </a:rPr>
            <a:t>Biên</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lai</a:t>
          </a:r>
          <a:r>
            <a:rPr lang="en-US" sz="1800" b="1" i="1" kern="1200" dirty="0">
              <a:solidFill>
                <a:schemeClr val="tx1"/>
              </a:solidFill>
              <a:latin typeface="+mj-lt"/>
              <a:cs typeface="Arial" panose="020B0604020202020204" pitchFamily="34" charset="0"/>
            </a:rPr>
            <a:t> thu </a:t>
          </a:r>
          <a:r>
            <a:rPr lang="en-US" sz="1800" b="1" i="1" kern="1200" dirty="0" err="1">
              <a:solidFill>
                <a:schemeClr val="tx1"/>
              </a:solidFill>
              <a:latin typeface="+mj-lt"/>
              <a:cs typeface="Arial" panose="020B0604020202020204" pitchFamily="34" charset="0"/>
            </a:rPr>
            <a:t>thuế</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phí</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lệ</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phí</a:t>
          </a:r>
          <a:r>
            <a:rPr lang="en-US" sz="1800" b="1" i="1" kern="1200" dirty="0">
              <a:solidFill>
                <a:schemeClr val="tx1"/>
              </a:solidFill>
              <a:latin typeface="+mj-lt"/>
              <a:cs typeface="Arial" panose="020B0604020202020204" pitchFamily="34" charset="0"/>
            </a:rPr>
            <a:t> </a:t>
          </a:r>
        </a:p>
        <a:p>
          <a:pPr lvl="0" algn="ctr" defTabSz="800100">
            <a:lnSpc>
              <a:spcPct val="90000"/>
            </a:lnSpc>
            <a:spcBef>
              <a:spcPct val="0"/>
            </a:spcBef>
            <a:spcAft>
              <a:spcPct val="35000"/>
            </a:spcAft>
          </a:pPr>
          <a:r>
            <a:rPr lang="en-US" sz="1800" b="1" i="1" kern="1200" dirty="0" err="1">
              <a:solidFill>
                <a:schemeClr val="tx1"/>
              </a:solidFill>
              <a:latin typeface="+mj-lt"/>
              <a:cs typeface="Arial" panose="020B0604020202020204" pitchFamily="34" charset="0"/>
            </a:rPr>
            <a:t>không</a:t>
          </a:r>
          <a:r>
            <a:rPr lang="en-US" sz="1800" b="1" i="1" kern="1200" dirty="0">
              <a:solidFill>
                <a:schemeClr val="tx1"/>
              </a:solidFill>
              <a:latin typeface="+mj-lt"/>
              <a:cs typeface="Arial" panose="020B0604020202020204" pitchFamily="34" charset="0"/>
            </a:rPr>
            <a:t> in </a:t>
          </a:r>
          <a:r>
            <a:rPr lang="en-US" sz="1800" b="1" i="1" kern="1200" dirty="0" err="1">
              <a:solidFill>
                <a:schemeClr val="tx1"/>
              </a:solidFill>
              <a:latin typeface="+mj-lt"/>
              <a:cs typeface="Arial" panose="020B0604020202020204" pitchFamily="34" charset="0"/>
            </a:rPr>
            <a:t>sẵn</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mệnh</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giá</a:t>
          </a:r>
          <a:endParaRPr lang="en-US" sz="1800" kern="1200" dirty="0">
            <a:solidFill>
              <a:schemeClr val="tx1"/>
            </a:solidFill>
            <a:latin typeface="+mj-lt"/>
            <a:cs typeface="Arial" panose="020B0604020202020204" pitchFamily="34" charset="0"/>
          </a:endParaRPr>
        </a:p>
      </dsp:txBody>
      <dsp:txXfrm>
        <a:off x="1472461" y="2339362"/>
        <a:ext cx="3590413" cy="822538"/>
      </dsp:txXfrm>
    </dsp:sp>
    <dsp:sp modelId="{F7F03039-68B9-4AAD-93FC-CD49D9D0F718}">
      <dsp:nvSpPr>
        <dsp:cNvPr id="0" name=""/>
        <dsp:cNvSpPr/>
      </dsp:nvSpPr>
      <dsp:spPr>
        <a:xfrm>
          <a:off x="1472461" y="3507367"/>
          <a:ext cx="3590413" cy="822538"/>
        </a:xfrm>
        <a:prstGeom prst="rect">
          <a:avLst/>
        </a:prstGeom>
        <a:gradFill rotWithShape="0">
          <a:gsLst>
            <a:gs pos="0">
              <a:schemeClr val="accent4">
                <a:hueOff val="0"/>
                <a:satOff val="0"/>
                <a:lumOff val="0"/>
                <a:alphaOff val="0"/>
                <a:tint val="96000"/>
                <a:lumMod val="100000"/>
              </a:schemeClr>
            </a:gs>
            <a:gs pos="78000">
              <a:schemeClr val="accent4">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i="1" kern="1200" dirty="0" err="1">
              <a:solidFill>
                <a:schemeClr val="tx1"/>
              </a:solidFill>
              <a:latin typeface="+mj-lt"/>
              <a:cs typeface="Arial" panose="020B0604020202020204" pitchFamily="34" charset="0"/>
            </a:rPr>
            <a:t>Biên</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lai</a:t>
          </a:r>
          <a:r>
            <a:rPr lang="en-US" sz="1800" b="1" i="1" kern="1200" dirty="0">
              <a:solidFill>
                <a:schemeClr val="tx1"/>
              </a:solidFill>
              <a:latin typeface="+mj-lt"/>
              <a:cs typeface="Arial" panose="020B0604020202020204" pitchFamily="34" charset="0"/>
            </a:rPr>
            <a:t> thu </a:t>
          </a:r>
          <a:r>
            <a:rPr lang="en-US" sz="1800" b="1" i="1" kern="1200" dirty="0" err="1">
              <a:solidFill>
                <a:schemeClr val="tx1"/>
              </a:solidFill>
              <a:latin typeface="+mj-lt"/>
              <a:cs typeface="Arial" panose="020B0604020202020204" pitchFamily="34" charset="0"/>
            </a:rPr>
            <a:t>thuế</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phí</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lệ</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phí</a:t>
          </a:r>
          <a:r>
            <a:rPr lang="en-US" sz="1800" b="1" i="1" kern="1200" dirty="0">
              <a:solidFill>
                <a:schemeClr val="tx1"/>
              </a:solidFill>
              <a:latin typeface="+mj-lt"/>
              <a:cs typeface="Arial" panose="020B0604020202020204" pitchFamily="34" charset="0"/>
            </a:rPr>
            <a:t> </a:t>
          </a:r>
        </a:p>
        <a:p>
          <a:pPr lvl="0" algn="ctr" defTabSz="800100">
            <a:lnSpc>
              <a:spcPct val="90000"/>
            </a:lnSpc>
            <a:spcBef>
              <a:spcPct val="0"/>
            </a:spcBef>
            <a:spcAft>
              <a:spcPct val="35000"/>
            </a:spcAft>
          </a:pPr>
          <a:r>
            <a:rPr lang="en-US" sz="1800" b="1" i="1" kern="1200" dirty="0">
              <a:solidFill>
                <a:schemeClr val="tx1"/>
              </a:solidFill>
              <a:latin typeface="+mj-lt"/>
              <a:cs typeface="Arial" panose="020B0604020202020204" pitchFamily="34" charset="0"/>
            </a:rPr>
            <a:t>in </a:t>
          </a:r>
          <a:r>
            <a:rPr lang="en-US" sz="1800" b="1" i="1" kern="1200" dirty="0" err="1">
              <a:solidFill>
                <a:schemeClr val="tx1"/>
              </a:solidFill>
              <a:latin typeface="+mj-lt"/>
              <a:cs typeface="Arial" panose="020B0604020202020204" pitchFamily="34" charset="0"/>
            </a:rPr>
            <a:t>sẵn</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mệnh</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giá</a:t>
          </a:r>
          <a:endParaRPr lang="en-US" sz="1800" b="1" i="1" kern="1200" dirty="0">
            <a:solidFill>
              <a:schemeClr val="tx1"/>
            </a:solidFill>
            <a:latin typeface="+mj-lt"/>
            <a:cs typeface="Arial" panose="020B0604020202020204" pitchFamily="34" charset="0"/>
          </a:endParaRPr>
        </a:p>
      </dsp:txBody>
      <dsp:txXfrm>
        <a:off x="1472461" y="3507367"/>
        <a:ext cx="3590413" cy="822538"/>
      </dsp:txXfrm>
    </dsp:sp>
    <dsp:sp modelId="{999B9D57-B822-4DE1-804C-60B3B2ACE03E}">
      <dsp:nvSpPr>
        <dsp:cNvPr id="0" name=""/>
        <dsp:cNvSpPr/>
      </dsp:nvSpPr>
      <dsp:spPr>
        <a:xfrm>
          <a:off x="1472461" y="4675371"/>
          <a:ext cx="3610697" cy="440962"/>
        </a:xfrm>
        <a:prstGeom prst="rect">
          <a:avLst/>
        </a:prstGeom>
        <a:gradFill rotWithShape="0">
          <a:gsLst>
            <a:gs pos="0">
              <a:schemeClr val="accent4">
                <a:hueOff val="0"/>
                <a:satOff val="0"/>
                <a:lumOff val="0"/>
                <a:alphaOff val="0"/>
                <a:tint val="96000"/>
                <a:lumMod val="100000"/>
              </a:schemeClr>
            </a:gs>
            <a:gs pos="78000">
              <a:schemeClr val="accent4">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i="1" kern="1200" dirty="0" err="1">
              <a:solidFill>
                <a:schemeClr val="tx1"/>
              </a:solidFill>
              <a:latin typeface="+mj-lt"/>
              <a:cs typeface="Arial" panose="020B0604020202020204" pitchFamily="34" charset="0"/>
            </a:rPr>
            <a:t>Biên</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lai</a:t>
          </a:r>
          <a:r>
            <a:rPr lang="en-US" sz="1800" b="1" i="1" kern="1200" dirty="0">
              <a:solidFill>
                <a:schemeClr val="tx1"/>
              </a:solidFill>
              <a:latin typeface="+mj-lt"/>
              <a:cs typeface="Arial" panose="020B0604020202020204" pitchFamily="34" charset="0"/>
            </a:rPr>
            <a:t> thu </a:t>
          </a:r>
          <a:r>
            <a:rPr lang="en-US" sz="1800" b="1" i="1" kern="1200" dirty="0" err="1">
              <a:solidFill>
                <a:schemeClr val="tx1"/>
              </a:solidFill>
              <a:latin typeface="+mj-lt"/>
              <a:cs typeface="Arial" panose="020B0604020202020204" pitchFamily="34" charset="0"/>
            </a:rPr>
            <a:t>thuế</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phí</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lệ</a:t>
          </a:r>
          <a:r>
            <a:rPr lang="en-US" sz="1800" b="1" i="1" kern="1200" dirty="0">
              <a:solidFill>
                <a:schemeClr val="tx1"/>
              </a:solidFill>
              <a:latin typeface="+mj-lt"/>
              <a:cs typeface="Arial" panose="020B0604020202020204" pitchFamily="34" charset="0"/>
            </a:rPr>
            <a:t> </a:t>
          </a:r>
          <a:r>
            <a:rPr lang="en-US" sz="1800" b="1" i="1" kern="1200" dirty="0" err="1">
              <a:solidFill>
                <a:schemeClr val="tx1"/>
              </a:solidFill>
              <a:latin typeface="+mj-lt"/>
              <a:cs typeface="Arial" panose="020B0604020202020204" pitchFamily="34" charset="0"/>
            </a:rPr>
            <a:t>phí</a:t>
          </a:r>
          <a:endParaRPr lang="en-US" sz="1800" b="1" i="1" kern="1200" dirty="0">
            <a:solidFill>
              <a:schemeClr val="tx1"/>
            </a:solidFill>
            <a:latin typeface="+mj-lt"/>
            <a:cs typeface="Arial" panose="020B0604020202020204" pitchFamily="34" charset="0"/>
          </a:endParaRPr>
        </a:p>
      </dsp:txBody>
      <dsp:txXfrm>
        <a:off x="1472461" y="4675371"/>
        <a:ext cx="3610697" cy="440962"/>
      </dsp:txXfrm>
    </dsp:sp>
    <dsp:sp modelId="{A4A4714B-C13A-40DA-A4B3-5734A5B9E965}">
      <dsp:nvSpPr>
        <dsp:cNvPr id="0" name=""/>
        <dsp:cNvSpPr/>
      </dsp:nvSpPr>
      <dsp:spPr>
        <a:xfrm>
          <a:off x="3635128" y="1171357"/>
          <a:ext cx="3934119" cy="822538"/>
        </a:xfrm>
        <a:prstGeom prst="rect">
          <a:avLst/>
        </a:prstGeom>
        <a:gradFill rotWithShape="0">
          <a:gsLst>
            <a:gs pos="0">
              <a:schemeClr val="accent3">
                <a:hueOff val="0"/>
                <a:satOff val="0"/>
                <a:lumOff val="0"/>
                <a:alphaOff val="0"/>
                <a:tint val="96000"/>
                <a:lumMod val="100000"/>
              </a:schemeClr>
            </a:gs>
            <a:gs pos="78000">
              <a:schemeClr val="accent3">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dirty="0" err="1">
              <a:solidFill>
                <a:schemeClr val="tx1"/>
              </a:solidFill>
              <a:latin typeface="+mj-lt"/>
              <a:cs typeface="Arial" panose="020B0604020202020204" pitchFamily="34" charset="0"/>
            </a:rPr>
            <a:t>Chứng</a:t>
          </a:r>
          <a:r>
            <a:rPr lang="en-US" sz="2000" b="1" kern="1200" dirty="0">
              <a:solidFill>
                <a:schemeClr val="tx1"/>
              </a:solidFill>
              <a:latin typeface="+mj-lt"/>
              <a:cs typeface="Arial" panose="020B0604020202020204" pitchFamily="34" charset="0"/>
            </a:rPr>
            <a:t> </a:t>
          </a:r>
          <a:r>
            <a:rPr lang="en-US" sz="2000" b="1" kern="1200" dirty="0" err="1">
              <a:solidFill>
                <a:schemeClr val="tx1"/>
              </a:solidFill>
              <a:latin typeface="+mj-lt"/>
              <a:cs typeface="Arial" panose="020B0604020202020204" pitchFamily="34" charset="0"/>
            </a:rPr>
            <a:t>từ</a:t>
          </a:r>
          <a:r>
            <a:rPr lang="en-US" sz="2000" b="1" kern="1200" dirty="0">
              <a:solidFill>
                <a:schemeClr val="tx1"/>
              </a:solidFill>
              <a:latin typeface="+mj-lt"/>
              <a:cs typeface="Arial" panose="020B0604020202020204" pitchFamily="34" charset="0"/>
            </a:rPr>
            <a:t> </a:t>
          </a:r>
          <a:r>
            <a:rPr lang="en-US" sz="2000" b="1" kern="1200" dirty="0" err="1">
              <a:solidFill>
                <a:schemeClr val="tx1"/>
              </a:solidFill>
              <a:latin typeface="+mj-lt"/>
              <a:cs typeface="Arial" panose="020B0604020202020204" pitchFamily="34" charset="0"/>
            </a:rPr>
            <a:t>khấu</a:t>
          </a:r>
          <a:r>
            <a:rPr lang="en-US" sz="2000" b="1" kern="1200" dirty="0">
              <a:solidFill>
                <a:schemeClr val="tx1"/>
              </a:solidFill>
              <a:latin typeface="+mj-lt"/>
              <a:cs typeface="Arial" panose="020B0604020202020204" pitchFamily="34" charset="0"/>
            </a:rPr>
            <a:t> </a:t>
          </a:r>
          <a:r>
            <a:rPr lang="en-US" sz="2000" b="1" kern="1200" dirty="0" err="1">
              <a:solidFill>
                <a:schemeClr val="tx1"/>
              </a:solidFill>
              <a:latin typeface="+mj-lt"/>
              <a:cs typeface="Arial" panose="020B0604020202020204" pitchFamily="34" charset="0"/>
            </a:rPr>
            <a:t>trừ</a:t>
          </a:r>
          <a:r>
            <a:rPr lang="en-US" sz="2000" b="1" kern="1200" dirty="0">
              <a:solidFill>
                <a:schemeClr val="tx1"/>
              </a:solidFill>
              <a:latin typeface="+mj-lt"/>
              <a:cs typeface="Arial" panose="020B0604020202020204" pitchFamily="34" charset="0"/>
            </a:rPr>
            <a:t> </a:t>
          </a:r>
          <a:r>
            <a:rPr lang="en-US" sz="2000" b="1" kern="1200" dirty="0" err="1">
              <a:solidFill>
                <a:schemeClr val="tx1"/>
              </a:solidFill>
              <a:latin typeface="+mj-lt"/>
              <a:cs typeface="Arial" panose="020B0604020202020204" pitchFamily="34" charset="0"/>
            </a:rPr>
            <a:t>thuế</a:t>
          </a:r>
          <a:r>
            <a:rPr lang="en-US" sz="2000" b="1" kern="1200" dirty="0">
              <a:solidFill>
                <a:schemeClr val="tx1"/>
              </a:solidFill>
              <a:latin typeface="+mj-lt"/>
              <a:cs typeface="Arial" panose="020B0604020202020204" pitchFamily="34" charset="0"/>
            </a:rPr>
            <a:t> thu </a:t>
          </a:r>
          <a:r>
            <a:rPr lang="en-US" sz="2000" b="1" kern="1200" dirty="0" err="1">
              <a:solidFill>
                <a:schemeClr val="tx1"/>
              </a:solidFill>
              <a:latin typeface="+mj-lt"/>
              <a:cs typeface="Arial" panose="020B0604020202020204" pitchFamily="34" charset="0"/>
            </a:rPr>
            <a:t>nhập</a:t>
          </a:r>
          <a:r>
            <a:rPr lang="en-US" sz="2000" b="1" kern="1200" dirty="0">
              <a:solidFill>
                <a:schemeClr val="tx1"/>
              </a:solidFill>
              <a:latin typeface="+mj-lt"/>
              <a:cs typeface="Arial" panose="020B0604020202020204" pitchFamily="34" charset="0"/>
            </a:rPr>
            <a:t> </a:t>
          </a:r>
          <a:r>
            <a:rPr lang="en-US" sz="2000" b="1" kern="1200" dirty="0" err="1">
              <a:solidFill>
                <a:schemeClr val="tx1"/>
              </a:solidFill>
              <a:latin typeface="+mj-lt"/>
              <a:cs typeface="Arial" panose="020B0604020202020204" pitchFamily="34" charset="0"/>
            </a:rPr>
            <a:t>cá</a:t>
          </a:r>
          <a:r>
            <a:rPr lang="en-US" sz="2000" b="1" kern="1200" dirty="0">
              <a:solidFill>
                <a:schemeClr val="tx1"/>
              </a:solidFill>
              <a:latin typeface="+mj-lt"/>
              <a:cs typeface="Arial" panose="020B0604020202020204" pitchFamily="34" charset="0"/>
            </a:rPr>
            <a:t> </a:t>
          </a:r>
          <a:r>
            <a:rPr lang="en-US" sz="2000" b="1" kern="1200" dirty="0" err="1">
              <a:solidFill>
                <a:schemeClr val="tx1"/>
              </a:solidFill>
              <a:latin typeface="+mj-lt"/>
              <a:cs typeface="Arial" panose="020B0604020202020204" pitchFamily="34" charset="0"/>
            </a:rPr>
            <a:t>nhân</a:t>
          </a:r>
          <a:endParaRPr lang="en-US" sz="2000" b="1" kern="1200" dirty="0">
            <a:solidFill>
              <a:schemeClr val="tx1"/>
            </a:solidFill>
            <a:latin typeface="+mj-lt"/>
            <a:cs typeface="Arial" panose="020B0604020202020204" pitchFamily="34" charset="0"/>
          </a:endParaRPr>
        </a:p>
      </dsp:txBody>
      <dsp:txXfrm>
        <a:off x="3635128" y="1171357"/>
        <a:ext cx="3934119" cy="82253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5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15373" y="0"/>
            <a:ext cx="2918831" cy="495188"/>
          </a:xfrm>
          <a:prstGeom prst="rect">
            <a:avLst/>
          </a:prstGeom>
        </p:spPr>
        <p:txBody>
          <a:bodyPr vert="horz" lIns="91440" tIns="45720" rIns="91440" bIns="45720" rtlCol="0"/>
          <a:lstStyle>
            <a:lvl1pPr algn="r">
              <a:defRPr sz="1200"/>
            </a:lvl1pPr>
          </a:lstStyle>
          <a:p>
            <a:fld id="{BC79DFAC-629A-4B03-9903-380BB7D21154}" type="datetimeFigureOut">
              <a:rPr lang="en-US" smtClean="0"/>
              <a:t>02/11/2021</a:t>
            </a:fld>
            <a:endParaRPr lang="en-US"/>
          </a:p>
        </p:txBody>
      </p:sp>
      <p:sp>
        <p:nvSpPr>
          <p:cNvPr id="4" name="Footer Placeholder 3"/>
          <p:cNvSpPr>
            <a:spLocks noGrp="1"/>
          </p:cNvSpPr>
          <p:nvPr>
            <p:ph type="ftr" sz="quarter" idx="2"/>
          </p:nvPr>
        </p:nvSpPr>
        <p:spPr>
          <a:xfrm>
            <a:off x="0" y="9374301"/>
            <a:ext cx="2918831" cy="4951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15373" y="9374301"/>
            <a:ext cx="2918831" cy="495187"/>
          </a:xfrm>
          <a:prstGeom prst="rect">
            <a:avLst/>
          </a:prstGeom>
        </p:spPr>
        <p:txBody>
          <a:bodyPr vert="horz" lIns="91440" tIns="45720" rIns="91440" bIns="45720" rtlCol="0" anchor="b"/>
          <a:lstStyle>
            <a:lvl1pPr algn="r">
              <a:defRPr sz="1200"/>
            </a:lvl1pPr>
          </a:lstStyle>
          <a:p>
            <a:fld id="{C1FCC546-DEBF-4C85-BE38-2F7336F6226E}" type="slidenum">
              <a:rPr lang="en-US" smtClean="0"/>
              <a:t>‹#›</a:t>
            </a:fld>
            <a:endParaRPr lang="en-US"/>
          </a:p>
        </p:txBody>
      </p:sp>
    </p:spTree>
    <p:extLst>
      <p:ext uri="{BB962C8B-B14F-4D97-AF65-F5344CB8AC3E}">
        <p14:creationId xmlns:p14="http://schemas.microsoft.com/office/powerpoint/2010/main" val="7145718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14763" y="0"/>
            <a:ext cx="2919412" cy="495300"/>
          </a:xfrm>
          <a:prstGeom prst="rect">
            <a:avLst/>
          </a:prstGeom>
        </p:spPr>
        <p:txBody>
          <a:bodyPr vert="horz" lIns="91440" tIns="45720" rIns="91440" bIns="45720" rtlCol="0"/>
          <a:lstStyle>
            <a:lvl1pPr algn="r">
              <a:defRPr sz="1200"/>
            </a:lvl1pPr>
          </a:lstStyle>
          <a:p>
            <a:fld id="{242A7F4B-EE43-4860-833C-A207BDBB576D}" type="datetimeFigureOut">
              <a:rPr lang="en-US" smtClean="0"/>
              <a:t>02/11/2021</a:t>
            </a:fld>
            <a:endParaRPr lang="en-US"/>
          </a:p>
        </p:txBody>
      </p:sp>
      <p:sp>
        <p:nvSpPr>
          <p:cNvPr id="4" name="Slide Image Placeholder 3"/>
          <p:cNvSpPr>
            <a:spLocks noGrp="1" noRot="1" noChangeAspect="1"/>
          </p:cNvSpPr>
          <p:nvPr>
            <p:ph type="sldImg" idx="2"/>
          </p:nvPr>
        </p:nvSpPr>
        <p:spPr>
          <a:xfrm>
            <a:off x="407988" y="1233488"/>
            <a:ext cx="5919787" cy="3330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3100" y="4749800"/>
            <a:ext cx="5389563" cy="38862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4188"/>
            <a:ext cx="2919413" cy="4953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14763" y="9374188"/>
            <a:ext cx="2919412" cy="495300"/>
          </a:xfrm>
          <a:prstGeom prst="rect">
            <a:avLst/>
          </a:prstGeom>
        </p:spPr>
        <p:txBody>
          <a:bodyPr vert="horz" lIns="91440" tIns="45720" rIns="91440" bIns="45720" rtlCol="0" anchor="b"/>
          <a:lstStyle>
            <a:lvl1pPr algn="r">
              <a:defRPr sz="1200"/>
            </a:lvl1pPr>
          </a:lstStyle>
          <a:p>
            <a:fld id="{92834225-A9D5-4758-8BD8-F909D18A03CC}" type="slidenum">
              <a:rPr lang="en-US" smtClean="0"/>
              <a:t>‹#›</a:t>
            </a:fld>
            <a:endParaRPr lang="en-US"/>
          </a:p>
        </p:txBody>
      </p:sp>
    </p:spTree>
    <p:extLst>
      <p:ext uri="{BB962C8B-B14F-4D97-AF65-F5344CB8AC3E}">
        <p14:creationId xmlns:p14="http://schemas.microsoft.com/office/powerpoint/2010/main" val="1069305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834225-A9D5-4758-8BD8-F909D18A03CC}" type="slidenum">
              <a:rPr lang="en-US" smtClean="0"/>
              <a:t>26</a:t>
            </a:fld>
            <a:endParaRPr lang="en-US"/>
          </a:p>
        </p:txBody>
      </p:sp>
    </p:spTree>
    <p:extLst>
      <p:ext uri="{BB962C8B-B14F-4D97-AF65-F5344CB8AC3E}">
        <p14:creationId xmlns:p14="http://schemas.microsoft.com/office/powerpoint/2010/main" val="768815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i="1" kern="1200" dirty="0">
                <a:solidFill>
                  <a:schemeClr val="tx1"/>
                </a:solidFill>
                <a:latin typeface="+mn-lt"/>
                <a:ea typeface="+mn-ea"/>
                <a:cs typeface="+mn-cs"/>
              </a:rPr>
              <a:t>(Điều 9 Thông tư số 78/2021/TT-BTC)</a:t>
            </a:r>
            <a:endParaRPr lang="vi-VN" sz="12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92834225-A9D5-4758-8BD8-F909D18A03CC}" type="slidenum">
              <a:rPr lang="en-US" smtClean="0"/>
              <a:t>78</a:t>
            </a:fld>
            <a:endParaRPr lang="en-US"/>
          </a:p>
        </p:txBody>
      </p:sp>
    </p:spTree>
    <p:extLst>
      <p:ext uri="{BB962C8B-B14F-4D97-AF65-F5344CB8AC3E}">
        <p14:creationId xmlns:p14="http://schemas.microsoft.com/office/powerpoint/2010/main" val="2224371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7245281-3657-4822-823A-7DE83A12CD2C}" type="datetimeFigureOut">
              <a:rPr lang="vi-VN" smtClean="0"/>
              <a:t>02/11/2021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353CFC7-4157-4743-AF59-2AA4DE8CA1D0}" type="slidenum">
              <a:rPr lang="vi-VN" smtClean="0"/>
              <a:t>‹#›</a:t>
            </a:fld>
            <a:endParaRPr lang="vi-VN"/>
          </a:p>
        </p:txBody>
      </p:sp>
    </p:spTree>
    <p:extLst>
      <p:ext uri="{BB962C8B-B14F-4D97-AF65-F5344CB8AC3E}">
        <p14:creationId xmlns:p14="http://schemas.microsoft.com/office/powerpoint/2010/main" val="2706604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245281-3657-4822-823A-7DE83A12CD2C}" type="datetimeFigureOut">
              <a:rPr lang="vi-VN" smtClean="0"/>
              <a:t>02/11/2021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353CFC7-4157-4743-AF59-2AA4DE8CA1D0}" type="slidenum">
              <a:rPr lang="vi-VN" smtClean="0"/>
              <a:t>‹#›</a:t>
            </a:fld>
            <a:endParaRPr lang="vi-VN"/>
          </a:p>
        </p:txBody>
      </p:sp>
    </p:spTree>
    <p:extLst>
      <p:ext uri="{BB962C8B-B14F-4D97-AF65-F5344CB8AC3E}">
        <p14:creationId xmlns:p14="http://schemas.microsoft.com/office/powerpoint/2010/main" val="1926484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7245281-3657-4822-823A-7DE83A12CD2C}" type="datetimeFigureOut">
              <a:rPr lang="vi-VN" smtClean="0"/>
              <a:t>02/11/2021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353CFC7-4157-4743-AF59-2AA4DE8CA1D0}" type="slidenum">
              <a:rPr lang="vi-VN" smtClean="0"/>
              <a:t>‹#›</a:t>
            </a:fld>
            <a:endParaRPr lang="vi-VN"/>
          </a:p>
        </p:txBody>
      </p:sp>
    </p:spTree>
    <p:extLst>
      <p:ext uri="{BB962C8B-B14F-4D97-AF65-F5344CB8AC3E}">
        <p14:creationId xmlns:p14="http://schemas.microsoft.com/office/powerpoint/2010/main" val="559201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7245281-3657-4822-823A-7DE83A12CD2C}" type="datetimeFigureOut">
              <a:rPr lang="vi-VN" smtClean="0"/>
              <a:t>02/11/2021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7353CFC7-4157-4743-AF59-2AA4DE8CA1D0}" type="slidenum">
              <a:rPr lang="vi-VN" smtClean="0"/>
              <a:t>‹#›</a:t>
            </a:fld>
            <a:endParaRPr lang="vi-VN"/>
          </a:p>
        </p:txBody>
      </p:sp>
    </p:spTree>
    <p:extLst>
      <p:ext uri="{BB962C8B-B14F-4D97-AF65-F5344CB8AC3E}">
        <p14:creationId xmlns:p14="http://schemas.microsoft.com/office/powerpoint/2010/main" val="123037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7245281-3657-4822-823A-7DE83A12CD2C}" type="datetimeFigureOut">
              <a:rPr lang="vi-VN" smtClean="0"/>
              <a:t>02/11/2021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7353CFC7-4157-4743-AF59-2AA4DE8CA1D0}" type="slidenum">
              <a:rPr lang="vi-VN" smtClean="0"/>
              <a:t>‹#›</a:t>
            </a:fld>
            <a:endParaRPr lang="vi-VN"/>
          </a:p>
        </p:txBody>
      </p:sp>
    </p:spTree>
    <p:extLst>
      <p:ext uri="{BB962C8B-B14F-4D97-AF65-F5344CB8AC3E}">
        <p14:creationId xmlns:p14="http://schemas.microsoft.com/office/powerpoint/2010/main" val="1029388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7245281-3657-4822-823A-7DE83A12CD2C}" type="datetimeFigureOut">
              <a:rPr lang="vi-VN" smtClean="0"/>
              <a:t>02/11/2021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7353CFC7-4157-4743-AF59-2AA4DE8CA1D0}" type="slidenum">
              <a:rPr lang="vi-VN" smtClean="0"/>
              <a:t>‹#›</a:t>
            </a:fld>
            <a:endParaRPr lang="vi-VN"/>
          </a:p>
        </p:txBody>
      </p:sp>
    </p:spTree>
    <p:extLst>
      <p:ext uri="{BB962C8B-B14F-4D97-AF65-F5344CB8AC3E}">
        <p14:creationId xmlns:p14="http://schemas.microsoft.com/office/powerpoint/2010/main" val="693082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245281-3657-4822-823A-7DE83A12CD2C}" type="datetimeFigureOut">
              <a:rPr lang="vi-VN" smtClean="0"/>
              <a:t>02/11/2021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7353CFC7-4157-4743-AF59-2AA4DE8CA1D0}" type="slidenum">
              <a:rPr lang="vi-VN" smtClean="0"/>
              <a:t>‹#›</a:t>
            </a:fld>
            <a:endParaRPr lang="vi-VN"/>
          </a:p>
        </p:txBody>
      </p:sp>
    </p:spTree>
    <p:extLst>
      <p:ext uri="{BB962C8B-B14F-4D97-AF65-F5344CB8AC3E}">
        <p14:creationId xmlns:p14="http://schemas.microsoft.com/office/powerpoint/2010/main" val="3013513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245281-3657-4822-823A-7DE83A12CD2C}" type="datetimeFigureOut">
              <a:rPr lang="vi-VN" smtClean="0"/>
              <a:t>02/11/2021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7353CFC7-4157-4743-AF59-2AA4DE8CA1D0}" type="slidenum">
              <a:rPr lang="vi-VN" smtClean="0"/>
              <a:t>‹#›</a:t>
            </a:fld>
            <a:endParaRPr lang="vi-VN"/>
          </a:p>
        </p:txBody>
      </p:sp>
    </p:spTree>
    <p:extLst>
      <p:ext uri="{BB962C8B-B14F-4D97-AF65-F5344CB8AC3E}">
        <p14:creationId xmlns:p14="http://schemas.microsoft.com/office/powerpoint/2010/main" val="437099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7245281-3657-4822-823A-7DE83A12CD2C}" type="datetimeFigureOut">
              <a:rPr lang="vi-VN" smtClean="0"/>
              <a:t>02/11/2021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7353CFC7-4157-4743-AF59-2AA4DE8CA1D0}" type="slidenum">
              <a:rPr lang="vi-VN" smtClean="0"/>
              <a:t>‹#›</a:t>
            </a:fld>
            <a:endParaRPr lang="vi-VN"/>
          </a:p>
        </p:txBody>
      </p:sp>
    </p:spTree>
    <p:extLst>
      <p:ext uri="{BB962C8B-B14F-4D97-AF65-F5344CB8AC3E}">
        <p14:creationId xmlns:p14="http://schemas.microsoft.com/office/powerpoint/2010/main" val="143515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7245281-3657-4822-823A-7DE83A12CD2C}" type="datetimeFigureOut">
              <a:rPr lang="vi-VN" smtClean="0"/>
              <a:t>02/11/2021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353CFC7-4157-4743-AF59-2AA4DE8CA1D0}" type="slidenum">
              <a:rPr lang="vi-VN" smtClean="0"/>
              <a:t>‹#›</a:t>
            </a:fld>
            <a:endParaRPr lang="vi-VN"/>
          </a:p>
        </p:txBody>
      </p:sp>
    </p:spTree>
    <p:extLst>
      <p:ext uri="{BB962C8B-B14F-4D97-AF65-F5344CB8AC3E}">
        <p14:creationId xmlns:p14="http://schemas.microsoft.com/office/powerpoint/2010/main" val="460613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7245281-3657-4822-823A-7DE83A12CD2C}" type="datetimeFigureOut">
              <a:rPr lang="vi-VN" smtClean="0"/>
              <a:t>02/11/2021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353CFC7-4157-4743-AF59-2AA4DE8CA1D0}" type="slidenum">
              <a:rPr lang="vi-VN" smtClean="0"/>
              <a:t>‹#›</a:t>
            </a:fld>
            <a:endParaRPr lang="vi-V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2719967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7245281-3657-4822-823A-7DE83A12CD2C}" type="datetimeFigureOut">
              <a:rPr lang="vi-VN" smtClean="0"/>
              <a:t>02/11/2021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353CFC7-4157-4743-AF59-2AA4DE8CA1D0}" type="slidenum">
              <a:rPr lang="vi-VN" smtClean="0"/>
              <a:t>‹#›</a:t>
            </a:fld>
            <a:endParaRPr lang="vi-VN"/>
          </a:p>
        </p:txBody>
      </p:sp>
    </p:spTree>
    <p:extLst>
      <p:ext uri="{BB962C8B-B14F-4D97-AF65-F5344CB8AC3E}">
        <p14:creationId xmlns:p14="http://schemas.microsoft.com/office/powerpoint/2010/main" val="42883921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7245281-3657-4822-823A-7DE83A12CD2C}" type="datetimeFigureOut">
              <a:rPr lang="vi-VN" smtClean="0"/>
              <a:t>02/11/2021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353CFC7-4157-4743-AF59-2AA4DE8CA1D0}" type="slidenum">
              <a:rPr lang="vi-VN" smtClean="0"/>
              <a:t>‹#›</a:t>
            </a:fld>
            <a:endParaRPr lang="vi-V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057774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7245281-3657-4822-823A-7DE83A12CD2C}" type="datetimeFigureOut">
              <a:rPr lang="vi-VN" smtClean="0"/>
              <a:t>02/11/2021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353CFC7-4157-4743-AF59-2AA4DE8CA1D0}" type="slidenum">
              <a:rPr lang="vi-VN" smtClean="0"/>
              <a:t>‹#›</a:t>
            </a:fld>
            <a:endParaRPr lang="vi-VN"/>
          </a:p>
        </p:txBody>
      </p:sp>
    </p:spTree>
    <p:extLst>
      <p:ext uri="{BB962C8B-B14F-4D97-AF65-F5344CB8AC3E}">
        <p14:creationId xmlns:p14="http://schemas.microsoft.com/office/powerpoint/2010/main" val="535544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245281-3657-4822-823A-7DE83A12CD2C}" type="datetimeFigureOut">
              <a:rPr lang="vi-VN" smtClean="0"/>
              <a:t>02/11/2021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353CFC7-4157-4743-AF59-2AA4DE8CA1D0}" type="slidenum">
              <a:rPr lang="vi-VN" smtClean="0"/>
              <a:t>‹#›</a:t>
            </a:fld>
            <a:endParaRPr lang="vi-VN"/>
          </a:p>
        </p:txBody>
      </p:sp>
    </p:spTree>
    <p:extLst>
      <p:ext uri="{BB962C8B-B14F-4D97-AF65-F5344CB8AC3E}">
        <p14:creationId xmlns:p14="http://schemas.microsoft.com/office/powerpoint/2010/main" val="2356038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245281-3657-4822-823A-7DE83A12CD2C}" type="datetimeFigureOut">
              <a:rPr lang="vi-VN" smtClean="0"/>
              <a:t>02/11/2021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353CFC7-4157-4743-AF59-2AA4DE8CA1D0}" type="slidenum">
              <a:rPr lang="vi-VN" smtClean="0"/>
              <a:t>‹#›</a:t>
            </a:fld>
            <a:endParaRPr lang="vi-VN"/>
          </a:p>
        </p:txBody>
      </p:sp>
    </p:spTree>
    <p:extLst>
      <p:ext uri="{BB962C8B-B14F-4D97-AF65-F5344CB8AC3E}">
        <p14:creationId xmlns:p14="http://schemas.microsoft.com/office/powerpoint/2010/main" val="3074723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7245281-3657-4822-823A-7DE83A12CD2C}" type="datetimeFigureOut">
              <a:rPr lang="vi-VN" smtClean="0"/>
              <a:t>02/11/2021</a:t>
            </a:fld>
            <a:endParaRPr lang="vi-V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353CFC7-4157-4743-AF59-2AA4DE8CA1D0}" type="slidenum">
              <a:rPr lang="vi-VN" smtClean="0"/>
              <a:t>‹#›</a:t>
            </a:fld>
            <a:endParaRPr lang="vi-VN"/>
          </a:p>
        </p:txBody>
      </p:sp>
    </p:spTree>
    <p:extLst>
      <p:ext uri="{BB962C8B-B14F-4D97-AF65-F5344CB8AC3E}">
        <p14:creationId xmlns:p14="http://schemas.microsoft.com/office/powerpoint/2010/main" val="759947917"/>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4.xml"/><Relationship Id="rId7" Type="http://schemas.openxmlformats.org/officeDocument/2006/relationships/image" Target="../media/image4.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2.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itle 4"/>
          <p:cNvSpPr>
            <a:spLocks noGrp="1"/>
          </p:cNvSpPr>
          <p:nvPr>
            <p:ph type="ctrTitle"/>
          </p:nvPr>
        </p:nvSpPr>
        <p:spPr>
          <a:xfrm>
            <a:off x="1240222" y="2620093"/>
            <a:ext cx="8628992" cy="1646302"/>
          </a:xfrm>
        </p:spPr>
        <p:txBody>
          <a:bodyPr/>
          <a:lstStyle/>
          <a:p>
            <a:pPr algn="ctr">
              <a:spcBef>
                <a:spcPts val="1200"/>
              </a:spcBef>
            </a:pPr>
            <a:r>
              <a:rPr lang="en-US" sz="3200" b="1" smtClean="0">
                <a:solidFill>
                  <a:srgbClr val="FF0000"/>
                </a:solidFill>
                <a:cs typeface="Arial" panose="020B0604020202020204" pitchFamily="34" charset="0"/>
              </a:rPr>
              <a:t>CỤC THUẾ TỈNH QUẢNG NINH</a:t>
            </a:r>
            <a:r>
              <a:rPr lang="en-US" sz="4800" b="1" dirty="0">
                <a:solidFill>
                  <a:schemeClr val="tx1"/>
                </a:solidFill>
                <a:latin typeface="Cambria" panose="02040503050406030204" pitchFamily="18" charset="0"/>
                <a:cs typeface="Arial" panose="020B0604020202020204" pitchFamily="34" charset="0"/>
              </a:rPr>
              <a:t/>
            </a:r>
            <a:br>
              <a:rPr lang="en-US" sz="4800" b="1" dirty="0">
                <a:solidFill>
                  <a:schemeClr val="tx1"/>
                </a:solidFill>
                <a:latin typeface="Cambria" panose="02040503050406030204" pitchFamily="18" charset="0"/>
                <a:cs typeface="Arial" panose="020B0604020202020204" pitchFamily="34" charset="0"/>
              </a:rPr>
            </a:br>
            <a:r>
              <a:rPr lang="en-US" sz="4800" b="1">
                <a:solidFill>
                  <a:schemeClr val="tx1"/>
                </a:solidFill>
                <a:latin typeface="Times New Roman" panose="02020603050405020304" pitchFamily="18" charset="0"/>
                <a:cs typeface="Times New Roman" panose="02020603050405020304" pitchFamily="18" charset="0"/>
              </a:rPr>
              <a:t/>
            </a:r>
            <a:br>
              <a:rPr lang="en-US" sz="4800" b="1">
                <a:solidFill>
                  <a:schemeClr val="tx1"/>
                </a:solidFill>
                <a:latin typeface="Times New Roman" panose="02020603050405020304" pitchFamily="18" charset="0"/>
                <a:cs typeface="Times New Roman" panose="02020603050405020304" pitchFamily="18" charset="0"/>
              </a:rPr>
            </a:br>
            <a:r>
              <a:rPr lang="en-US" sz="4800" b="1" smtClean="0">
                <a:solidFill>
                  <a:schemeClr val="tx1"/>
                </a:solidFill>
                <a:latin typeface="Times New Roman" panose="02020603050405020304" pitchFamily="18" charset="0"/>
                <a:cs typeface="Times New Roman" panose="02020603050405020304" pitchFamily="18" charset="0"/>
              </a:rPr>
              <a:t>TẬP </a:t>
            </a:r>
            <a:r>
              <a:rPr lang="en-US" sz="4800" b="1">
                <a:solidFill>
                  <a:schemeClr val="tx1"/>
                </a:solidFill>
                <a:latin typeface="Times New Roman" panose="02020603050405020304" pitchFamily="18" charset="0"/>
                <a:cs typeface="Times New Roman" panose="02020603050405020304" pitchFamily="18" charset="0"/>
              </a:rPr>
              <a:t>HUẤN </a:t>
            </a:r>
            <a:r>
              <a:rPr lang="en-US" sz="4800" b="1" smtClean="0">
                <a:solidFill>
                  <a:schemeClr val="tx1"/>
                </a:solidFill>
                <a:latin typeface="Times New Roman" panose="02020603050405020304" pitchFamily="18" charset="0"/>
                <a:cs typeface="Times New Roman" panose="02020603050405020304" pitchFamily="18" charset="0"/>
              </a:rPr>
              <a:t/>
            </a:r>
            <a:br>
              <a:rPr lang="en-US" sz="4800" b="1" smtClean="0">
                <a:solidFill>
                  <a:schemeClr val="tx1"/>
                </a:solidFill>
                <a:latin typeface="Times New Roman" panose="02020603050405020304" pitchFamily="18" charset="0"/>
                <a:cs typeface="Times New Roman" panose="02020603050405020304" pitchFamily="18" charset="0"/>
              </a:rPr>
            </a:br>
            <a:r>
              <a:rPr lang="en-US" sz="4800" b="1" smtClean="0">
                <a:solidFill>
                  <a:schemeClr val="tx1"/>
                </a:solidFill>
                <a:latin typeface="Times New Roman" panose="02020603050405020304" pitchFamily="18" charset="0"/>
                <a:cs typeface="Times New Roman" panose="02020603050405020304" pitchFamily="18" charset="0"/>
              </a:rPr>
              <a:t>HÓA </a:t>
            </a:r>
            <a:r>
              <a:rPr lang="en-US" sz="4800" b="1" dirty="0">
                <a:solidFill>
                  <a:schemeClr val="tx1"/>
                </a:solidFill>
                <a:latin typeface="Times New Roman" panose="02020603050405020304" pitchFamily="18" charset="0"/>
                <a:cs typeface="Times New Roman" panose="02020603050405020304" pitchFamily="18" charset="0"/>
              </a:rPr>
              <a:t>ĐƠN ĐIỆN TỬ</a:t>
            </a:r>
            <a:endParaRPr lang="vi-VN" sz="4800" b="1" dirty="0">
              <a:solidFill>
                <a:schemeClr val="tx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408593" y="5761101"/>
            <a:ext cx="7766936" cy="1096899"/>
          </a:xfrm>
        </p:spPr>
        <p:txBody>
          <a:bodyPr>
            <a:normAutofit/>
          </a:bodyPr>
          <a:lstStyle/>
          <a:p>
            <a:pPr algn="ctr"/>
            <a:r>
              <a:rPr lang="en-US" sz="3200" i="1" dirty="0" err="1">
                <a:solidFill>
                  <a:schemeClr val="tx1"/>
                </a:solidFill>
                <a:latin typeface="Cambria" panose="02040503050406030204" pitchFamily="18" charset="0"/>
              </a:rPr>
              <a:t>Tháng</a:t>
            </a:r>
            <a:r>
              <a:rPr lang="en-US" sz="3200" i="1" dirty="0">
                <a:solidFill>
                  <a:schemeClr val="tx1"/>
                </a:solidFill>
                <a:latin typeface="Cambria" panose="02040503050406030204" pitchFamily="18" charset="0"/>
              </a:rPr>
              <a:t> 11 </a:t>
            </a:r>
            <a:r>
              <a:rPr lang="en-US" sz="3200" i="1" dirty="0" err="1">
                <a:solidFill>
                  <a:schemeClr val="tx1"/>
                </a:solidFill>
                <a:latin typeface="Cambria" panose="02040503050406030204" pitchFamily="18" charset="0"/>
              </a:rPr>
              <a:t>năm</a:t>
            </a:r>
            <a:r>
              <a:rPr lang="en-US" sz="3200" i="1" dirty="0">
                <a:solidFill>
                  <a:schemeClr val="tx1"/>
                </a:solidFill>
                <a:latin typeface="Cambria" panose="02040503050406030204" pitchFamily="18" charset="0"/>
              </a:rPr>
              <a:t> 2021</a:t>
            </a:r>
            <a:endParaRPr lang="vi-VN" sz="3200" i="1" dirty="0">
              <a:solidFill>
                <a:schemeClr val="tx1"/>
              </a:solidFill>
              <a:latin typeface="Cambria" panose="02040503050406030204" pitchFamily="18" charset="0"/>
            </a:endParaRPr>
          </a:p>
        </p:txBody>
      </p:sp>
      <p:pic>
        <p:nvPicPr>
          <p:cNvPr id="4" name="Picture 3"/>
          <p:cNvPicPr>
            <a:picLocks noChangeAspect="1"/>
          </p:cNvPicPr>
          <p:nvPr/>
        </p:nvPicPr>
        <p:blipFill>
          <a:blip r:embed="rId3"/>
          <a:stretch>
            <a:fillRect/>
          </a:stretch>
        </p:blipFill>
        <p:spPr>
          <a:xfrm>
            <a:off x="4632735" y="0"/>
            <a:ext cx="1843965" cy="1528354"/>
          </a:xfrm>
          <a:prstGeom prst="rect">
            <a:avLst/>
          </a:prstGeom>
        </p:spPr>
      </p:pic>
    </p:spTree>
    <p:extLst>
      <p:ext uri="{BB962C8B-B14F-4D97-AF65-F5344CB8AC3E}">
        <p14:creationId xmlns:p14="http://schemas.microsoft.com/office/powerpoint/2010/main" val="1936151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p:txBody>
          <a:bodyPr anchor="ctr" anchorCtr="0">
            <a:normAutofit/>
          </a:bodyPr>
          <a:lstStyle/>
          <a:p>
            <a:pPr algn="ctr"/>
            <a:r>
              <a:rPr lang="en-US" sz="3000" b="1" dirty="0">
                <a:solidFill>
                  <a:srgbClr val="C00000"/>
                </a:solidFill>
                <a:latin typeface="Times New Roman" panose="02020603050405020304" pitchFamily="18" charset="0"/>
                <a:cs typeface="Times New Roman" panose="02020603050405020304" pitchFamily="18" charset="0"/>
              </a:rPr>
              <a:t>CĂN CỨ PHÁP LÝ</a:t>
            </a:r>
            <a:endParaRPr lang="vi-VN" sz="3000" b="1" dirty="0">
              <a:solidFill>
                <a:srgbClr val="C00000"/>
              </a:solidFill>
              <a:latin typeface="Times New Roman" panose="02020603050405020304" pitchFamily="18" charset="0"/>
              <a:cs typeface="Times New Roman" panose="02020603050405020304" pitchFamily="18" charset="0"/>
            </a:endParaRPr>
          </a:p>
        </p:txBody>
      </p:sp>
      <p:sp>
        <p:nvSpPr>
          <p:cNvPr id="8" name="Content Placeholder 7"/>
          <p:cNvSpPr>
            <a:spLocks noGrp="1"/>
          </p:cNvSpPr>
          <p:nvPr>
            <p:ph idx="1"/>
          </p:nvPr>
        </p:nvSpPr>
        <p:spPr>
          <a:xfrm>
            <a:off x="677334" y="2160589"/>
            <a:ext cx="9571566" cy="3880773"/>
          </a:xfrm>
        </p:spPr>
        <p:txBody>
          <a:bodyPr anchor="ctr" anchorCtr="0">
            <a:normAutofit/>
          </a:bodyPr>
          <a:lstStyle/>
          <a:p>
            <a:pPr algn="just"/>
            <a:r>
              <a:rPr lang="en-US" sz="2400" dirty="0">
                <a:solidFill>
                  <a:schemeClr val="tx1"/>
                </a:solidFill>
                <a:latin typeface="Times New Roman" panose="02020603050405020304" pitchFamily="18" charset="0"/>
                <a:cs typeface="Times New Roman" panose="02020603050405020304" pitchFamily="18" charset="0"/>
              </a:rPr>
              <a:t>1. </a:t>
            </a:r>
            <a:r>
              <a:rPr lang="en-US" sz="2400" dirty="0" err="1">
                <a:solidFill>
                  <a:schemeClr val="tx1"/>
                </a:solidFill>
                <a:latin typeface="Times New Roman" panose="02020603050405020304" pitchFamily="18" charset="0"/>
                <a:cs typeface="Times New Roman" panose="02020603050405020304" pitchFamily="18" charset="0"/>
              </a:rPr>
              <a:t>Luật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Quản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lý</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thuế</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số</a:t>
            </a:r>
            <a:r>
              <a:rPr lang="en-US" sz="2400" dirty="0">
                <a:solidFill>
                  <a:schemeClr val="tx1"/>
                </a:solidFill>
                <a:latin typeface="Times New Roman" panose="02020603050405020304" pitchFamily="18" charset="0"/>
                <a:cs typeface="Times New Roman" panose="02020603050405020304" pitchFamily="18" charset="0"/>
              </a:rPr>
              <a:t> </a:t>
            </a:r>
            <a:r>
              <a:rPr lang="en-US" sz="2400" b="1" dirty="0">
                <a:solidFill>
                  <a:schemeClr val="tx1"/>
                </a:solidFill>
                <a:latin typeface="Times New Roman" panose="02020603050405020304" pitchFamily="18" charset="0"/>
                <a:cs typeface="Times New Roman" panose="02020603050405020304" pitchFamily="18" charset="0"/>
              </a:rPr>
              <a:t>38/2019/QH14</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ngày</a:t>
            </a:r>
            <a:r>
              <a:rPr lang="en-US" sz="2400" dirty="0">
                <a:solidFill>
                  <a:schemeClr val="tx1"/>
                </a:solidFill>
                <a:latin typeface="Times New Roman" panose="02020603050405020304" pitchFamily="18" charset="0"/>
                <a:cs typeface="Times New Roman" panose="02020603050405020304" pitchFamily="18" charset="0"/>
              </a:rPr>
              <a:t> 13 </a:t>
            </a:r>
            <a:r>
              <a:rPr lang="en-US" sz="2400" dirty="0" err="1">
                <a:solidFill>
                  <a:schemeClr val="tx1"/>
                </a:solidFill>
                <a:latin typeface="Times New Roman" panose="02020603050405020304" pitchFamily="18" charset="0"/>
                <a:cs typeface="Times New Roman" panose="02020603050405020304" pitchFamily="18" charset="0"/>
              </a:rPr>
              <a:t>tháng</a:t>
            </a:r>
            <a:r>
              <a:rPr lang="en-US" sz="2400" dirty="0">
                <a:solidFill>
                  <a:schemeClr val="tx1"/>
                </a:solidFill>
                <a:latin typeface="Times New Roman" panose="02020603050405020304" pitchFamily="18" charset="0"/>
                <a:cs typeface="Times New Roman" panose="02020603050405020304" pitchFamily="18" charset="0"/>
              </a:rPr>
              <a:t> 6 </a:t>
            </a:r>
            <a:r>
              <a:rPr lang="en-US" sz="2400" dirty="0" err="1">
                <a:solidFill>
                  <a:schemeClr val="tx1"/>
                </a:solidFill>
                <a:latin typeface="Times New Roman" panose="02020603050405020304" pitchFamily="18" charset="0"/>
                <a:cs typeface="Times New Roman" panose="02020603050405020304" pitchFamily="18" charset="0"/>
              </a:rPr>
              <a:t>năm</a:t>
            </a:r>
            <a:r>
              <a:rPr lang="en-US" sz="2400" dirty="0">
                <a:solidFill>
                  <a:schemeClr val="tx1"/>
                </a:solidFill>
                <a:latin typeface="Times New Roman" panose="02020603050405020304" pitchFamily="18" charset="0"/>
                <a:cs typeface="Times New Roman" panose="02020603050405020304" pitchFamily="18" charset="0"/>
              </a:rPr>
              <a:t> 2019</a:t>
            </a:r>
          </a:p>
          <a:p>
            <a:pPr algn="just"/>
            <a:r>
              <a:rPr lang="en-US" sz="2400" dirty="0">
                <a:solidFill>
                  <a:schemeClr val="tx1"/>
                </a:solidFill>
                <a:latin typeface="Times New Roman" panose="02020603050405020304" pitchFamily="18" charset="0"/>
                <a:cs typeface="Times New Roman" panose="02020603050405020304" pitchFamily="18" charset="0"/>
              </a:rPr>
              <a:t>2. </a:t>
            </a:r>
            <a:r>
              <a:rPr lang="en-US" sz="2400" dirty="0" err="1">
                <a:solidFill>
                  <a:schemeClr val="tx1"/>
                </a:solidFill>
                <a:latin typeface="Times New Roman" panose="02020603050405020304" pitchFamily="18" charset="0"/>
                <a:cs typeface="Times New Roman" panose="02020603050405020304" pitchFamily="18" charset="0"/>
              </a:rPr>
              <a:t>Nghị</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định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số</a:t>
            </a:r>
            <a:r>
              <a:rPr lang="en-US" sz="2400" dirty="0">
                <a:solidFill>
                  <a:schemeClr val="tx1"/>
                </a:solidFill>
                <a:latin typeface="Times New Roman" panose="02020603050405020304" pitchFamily="18" charset="0"/>
                <a:cs typeface="Times New Roman" panose="02020603050405020304" pitchFamily="18" charset="0"/>
              </a:rPr>
              <a:t> </a:t>
            </a:r>
            <a:r>
              <a:rPr lang="en-US" sz="2400" b="1" dirty="0">
                <a:solidFill>
                  <a:schemeClr val="tx1"/>
                </a:solidFill>
                <a:latin typeface="Times New Roman" panose="02020603050405020304" pitchFamily="18" charset="0"/>
                <a:cs typeface="Times New Roman" panose="02020603050405020304" pitchFamily="18" charset="0"/>
              </a:rPr>
              <a:t>123/2020/NĐ-CP</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ngày</a:t>
            </a:r>
            <a:r>
              <a:rPr lang="en-US" sz="2400" dirty="0">
                <a:solidFill>
                  <a:schemeClr val="tx1"/>
                </a:solidFill>
                <a:latin typeface="Times New Roman" panose="02020603050405020304" pitchFamily="18" charset="0"/>
                <a:cs typeface="Times New Roman" panose="02020603050405020304" pitchFamily="18" charset="0"/>
              </a:rPr>
              <a:t> 19 </a:t>
            </a:r>
            <a:r>
              <a:rPr lang="en-US" sz="2400" dirty="0" err="1">
                <a:solidFill>
                  <a:schemeClr val="tx1"/>
                </a:solidFill>
                <a:latin typeface="Times New Roman" panose="02020603050405020304" pitchFamily="18" charset="0"/>
                <a:cs typeface="Times New Roman" panose="02020603050405020304" pitchFamily="18" charset="0"/>
              </a:rPr>
              <a:t>tháng</a:t>
            </a:r>
            <a:r>
              <a:rPr lang="en-US" sz="2400" dirty="0">
                <a:solidFill>
                  <a:schemeClr val="tx1"/>
                </a:solidFill>
                <a:latin typeface="Times New Roman" panose="02020603050405020304" pitchFamily="18" charset="0"/>
                <a:cs typeface="Times New Roman" panose="02020603050405020304" pitchFamily="18" charset="0"/>
              </a:rPr>
              <a:t> 10 </a:t>
            </a:r>
            <a:r>
              <a:rPr lang="en-US" sz="2400" dirty="0" err="1">
                <a:solidFill>
                  <a:schemeClr val="tx1"/>
                </a:solidFill>
                <a:latin typeface="Times New Roman" panose="02020603050405020304" pitchFamily="18" charset="0"/>
                <a:cs typeface="Times New Roman" panose="02020603050405020304" pitchFamily="18" charset="0"/>
              </a:rPr>
              <a:t>năm</a:t>
            </a:r>
            <a:r>
              <a:rPr lang="en-US" sz="2400" dirty="0">
                <a:solidFill>
                  <a:schemeClr val="tx1"/>
                </a:solidFill>
                <a:latin typeface="Times New Roman" panose="02020603050405020304" pitchFamily="18" charset="0"/>
                <a:cs typeface="Times New Roman" panose="02020603050405020304" pitchFamily="18" charset="0"/>
              </a:rPr>
              <a:t> 2020 </a:t>
            </a:r>
            <a:r>
              <a:rPr lang="en-US" sz="2400" dirty="0" err="1">
                <a:solidFill>
                  <a:schemeClr val="tx1"/>
                </a:solidFill>
                <a:latin typeface="Times New Roman" panose="02020603050405020304" pitchFamily="18" charset="0"/>
                <a:cs typeface="Times New Roman" panose="02020603050405020304" pitchFamily="18" charset="0"/>
              </a:rPr>
              <a:t>của</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Chính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phủ</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quy</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định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về</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hóa</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đơn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chứng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từ</a:t>
            </a:r>
            <a:r>
              <a:rPr lang="en-US" sz="2400" dirty="0">
                <a:solidFill>
                  <a:schemeClr val="tx1"/>
                </a:solidFill>
                <a:latin typeface="Times New Roman" panose="02020603050405020304" pitchFamily="18" charset="0"/>
                <a:cs typeface="Times New Roman" panose="02020603050405020304" pitchFamily="18" charset="0"/>
              </a:rPr>
              <a:t>.</a:t>
            </a:r>
          </a:p>
          <a:p>
            <a:pPr algn="just"/>
            <a:r>
              <a:rPr lang="en-US" sz="2400" dirty="0">
                <a:solidFill>
                  <a:schemeClr val="tx1"/>
                </a:solidFill>
                <a:latin typeface="Times New Roman" panose="02020603050405020304" pitchFamily="18" charset="0"/>
                <a:cs typeface="Times New Roman" panose="02020603050405020304" pitchFamily="18" charset="0"/>
              </a:rPr>
              <a:t>3. </a:t>
            </a:r>
            <a:r>
              <a:rPr lang="en-US" sz="2400" dirty="0" err="1">
                <a:solidFill>
                  <a:schemeClr val="tx1"/>
                </a:solidFill>
                <a:latin typeface="Times New Roman" panose="02020603050405020304" pitchFamily="18" charset="0"/>
                <a:cs typeface="Times New Roman" panose="02020603050405020304" pitchFamily="18" charset="0"/>
              </a:rPr>
              <a:t>Thông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tư</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số</a:t>
            </a:r>
            <a:r>
              <a:rPr lang="en-US" sz="2400" dirty="0">
                <a:solidFill>
                  <a:schemeClr val="tx1"/>
                </a:solidFill>
                <a:latin typeface="Times New Roman" panose="02020603050405020304" pitchFamily="18" charset="0"/>
                <a:cs typeface="Times New Roman" panose="02020603050405020304" pitchFamily="18" charset="0"/>
              </a:rPr>
              <a:t> </a:t>
            </a:r>
            <a:r>
              <a:rPr lang="en-US" sz="2400" b="1" dirty="0">
                <a:solidFill>
                  <a:schemeClr val="tx1"/>
                </a:solidFill>
                <a:latin typeface="Times New Roman" panose="02020603050405020304" pitchFamily="18" charset="0"/>
                <a:cs typeface="Times New Roman" panose="02020603050405020304" pitchFamily="18" charset="0"/>
              </a:rPr>
              <a:t>78/2021/TT-BTC</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ngày</a:t>
            </a:r>
            <a:r>
              <a:rPr lang="en-US" sz="2400" dirty="0">
                <a:solidFill>
                  <a:schemeClr val="tx1"/>
                </a:solidFill>
                <a:latin typeface="Times New Roman" panose="02020603050405020304" pitchFamily="18" charset="0"/>
                <a:cs typeface="Times New Roman" panose="02020603050405020304" pitchFamily="18" charset="0"/>
              </a:rPr>
              <a:t> 17 </a:t>
            </a:r>
            <a:r>
              <a:rPr lang="en-US" sz="2400" dirty="0" err="1">
                <a:solidFill>
                  <a:schemeClr val="tx1"/>
                </a:solidFill>
                <a:latin typeface="Times New Roman" panose="02020603050405020304" pitchFamily="18" charset="0"/>
                <a:cs typeface="Times New Roman" panose="02020603050405020304" pitchFamily="18" charset="0"/>
              </a:rPr>
              <a:t>tháng</a:t>
            </a:r>
            <a:r>
              <a:rPr lang="en-US" sz="2400" dirty="0">
                <a:solidFill>
                  <a:schemeClr val="tx1"/>
                </a:solidFill>
                <a:latin typeface="Times New Roman" panose="02020603050405020304" pitchFamily="18" charset="0"/>
                <a:cs typeface="Times New Roman" panose="02020603050405020304" pitchFamily="18" charset="0"/>
              </a:rPr>
              <a:t> 9 </a:t>
            </a:r>
            <a:r>
              <a:rPr lang="en-US" sz="2400" dirty="0" err="1">
                <a:solidFill>
                  <a:schemeClr val="tx1"/>
                </a:solidFill>
                <a:latin typeface="Times New Roman" panose="02020603050405020304" pitchFamily="18" charset="0"/>
                <a:cs typeface="Times New Roman" panose="02020603050405020304" pitchFamily="18" charset="0"/>
              </a:rPr>
              <a:t>năm</a:t>
            </a:r>
            <a:r>
              <a:rPr lang="en-US" sz="2400" dirty="0">
                <a:solidFill>
                  <a:schemeClr val="tx1"/>
                </a:solidFill>
                <a:latin typeface="Times New Roman" panose="02020603050405020304" pitchFamily="18" charset="0"/>
                <a:cs typeface="Times New Roman" panose="02020603050405020304" pitchFamily="18" charset="0"/>
              </a:rPr>
              <a:t> 2021 </a:t>
            </a:r>
            <a:r>
              <a:rPr lang="en-US" sz="2400" dirty="0" err="1">
                <a:solidFill>
                  <a:schemeClr val="tx1"/>
                </a:solidFill>
                <a:latin typeface="Times New Roman" panose="02020603050405020304" pitchFamily="18" charset="0"/>
                <a:cs typeface="Times New Roman" panose="02020603050405020304" pitchFamily="18" charset="0"/>
              </a:rPr>
              <a:t>của</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Bộ</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Tài</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chính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hướng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dẫn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thực</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hiện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một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số</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điều</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của</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Luật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Quản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lý</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thuế</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ngày</a:t>
            </a:r>
            <a:r>
              <a:rPr lang="en-US" sz="2400" dirty="0">
                <a:solidFill>
                  <a:schemeClr val="tx1"/>
                </a:solidFill>
                <a:latin typeface="Times New Roman" panose="02020603050405020304" pitchFamily="18" charset="0"/>
                <a:cs typeface="Times New Roman" panose="02020603050405020304" pitchFamily="18" charset="0"/>
              </a:rPr>
              <a:t> 13 </a:t>
            </a:r>
            <a:r>
              <a:rPr lang="en-US" sz="2400" dirty="0" err="1">
                <a:solidFill>
                  <a:schemeClr val="tx1"/>
                </a:solidFill>
                <a:latin typeface="Times New Roman" panose="02020603050405020304" pitchFamily="18" charset="0"/>
                <a:cs typeface="Times New Roman" panose="02020603050405020304" pitchFamily="18" charset="0"/>
              </a:rPr>
              <a:t>tháng</a:t>
            </a:r>
            <a:r>
              <a:rPr lang="en-US" sz="2400" dirty="0">
                <a:solidFill>
                  <a:schemeClr val="tx1"/>
                </a:solidFill>
                <a:latin typeface="Times New Roman" panose="02020603050405020304" pitchFamily="18" charset="0"/>
                <a:cs typeface="Times New Roman" panose="02020603050405020304" pitchFamily="18" charset="0"/>
              </a:rPr>
              <a:t> 6 </a:t>
            </a:r>
            <a:r>
              <a:rPr lang="en-US" sz="2400" dirty="0" err="1">
                <a:solidFill>
                  <a:schemeClr val="tx1"/>
                </a:solidFill>
                <a:latin typeface="Times New Roman" panose="02020603050405020304" pitchFamily="18" charset="0"/>
                <a:cs typeface="Times New Roman" panose="02020603050405020304" pitchFamily="18" charset="0"/>
              </a:rPr>
              <a:t>năm</a:t>
            </a:r>
            <a:r>
              <a:rPr lang="en-US" sz="2400" dirty="0">
                <a:solidFill>
                  <a:schemeClr val="tx1"/>
                </a:solidFill>
                <a:latin typeface="Times New Roman" panose="02020603050405020304" pitchFamily="18" charset="0"/>
                <a:cs typeface="Times New Roman" panose="02020603050405020304" pitchFamily="18" charset="0"/>
              </a:rPr>
              <a:t> 2019, </a:t>
            </a:r>
            <a:r>
              <a:rPr lang="en-US" sz="2400" dirty="0" err="1">
                <a:solidFill>
                  <a:schemeClr val="tx1"/>
                </a:solidFill>
                <a:latin typeface="Times New Roman" panose="02020603050405020304" pitchFamily="18" charset="0"/>
                <a:cs typeface="Times New Roman" panose="02020603050405020304" pitchFamily="18" charset="0"/>
              </a:rPr>
              <a:t>Nghị</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định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số</a:t>
            </a:r>
            <a:r>
              <a:rPr lang="en-US" sz="2400" dirty="0">
                <a:solidFill>
                  <a:schemeClr val="tx1"/>
                </a:solidFill>
                <a:latin typeface="Times New Roman" panose="02020603050405020304" pitchFamily="18" charset="0"/>
                <a:cs typeface="Times New Roman" panose="02020603050405020304" pitchFamily="18" charset="0"/>
              </a:rPr>
              <a:t> 123/2020/NĐ-CP </a:t>
            </a:r>
            <a:r>
              <a:rPr lang="en-US" sz="2400" dirty="0" err="1">
                <a:solidFill>
                  <a:schemeClr val="tx1"/>
                </a:solidFill>
                <a:latin typeface="Times New Roman" panose="02020603050405020304" pitchFamily="18" charset="0"/>
                <a:cs typeface="Times New Roman" panose="02020603050405020304" pitchFamily="18" charset="0"/>
              </a:rPr>
              <a:t>ngày</a:t>
            </a:r>
            <a:r>
              <a:rPr lang="en-US" sz="2400" dirty="0">
                <a:solidFill>
                  <a:schemeClr val="tx1"/>
                </a:solidFill>
                <a:latin typeface="Times New Roman" panose="02020603050405020304" pitchFamily="18" charset="0"/>
                <a:cs typeface="Times New Roman" panose="02020603050405020304" pitchFamily="18" charset="0"/>
              </a:rPr>
              <a:t> 19 </a:t>
            </a:r>
            <a:r>
              <a:rPr lang="en-US" sz="2400" dirty="0" err="1">
                <a:solidFill>
                  <a:schemeClr val="tx1"/>
                </a:solidFill>
                <a:latin typeface="Times New Roman" panose="02020603050405020304" pitchFamily="18" charset="0"/>
                <a:cs typeface="Times New Roman" panose="02020603050405020304" pitchFamily="18" charset="0"/>
              </a:rPr>
              <a:t>tháng</a:t>
            </a:r>
            <a:r>
              <a:rPr lang="en-US" sz="2400" dirty="0">
                <a:solidFill>
                  <a:schemeClr val="tx1"/>
                </a:solidFill>
                <a:latin typeface="Times New Roman" panose="02020603050405020304" pitchFamily="18" charset="0"/>
                <a:cs typeface="Times New Roman" panose="02020603050405020304" pitchFamily="18" charset="0"/>
              </a:rPr>
              <a:t> 10 </a:t>
            </a:r>
            <a:r>
              <a:rPr lang="en-US" sz="2400" dirty="0" err="1">
                <a:solidFill>
                  <a:schemeClr val="tx1"/>
                </a:solidFill>
                <a:latin typeface="Times New Roman" panose="02020603050405020304" pitchFamily="18" charset="0"/>
                <a:cs typeface="Times New Roman" panose="02020603050405020304" pitchFamily="18" charset="0"/>
              </a:rPr>
              <a:t>năm</a:t>
            </a:r>
            <a:r>
              <a:rPr lang="en-US" sz="2400" dirty="0">
                <a:solidFill>
                  <a:schemeClr val="tx1"/>
                </a:solidFill>
                <a:latin typeface="Times New Roman" panose="02020603050405020304" pitchFamily="18" charset="0"/>
                <a:cs typeface="Times New Roman" panose="02020603050405020304" pitchFamily="18" charset="0"/>
              </a:rPr>
              <a:t> 2020 </a:t>
            </a:r>
            <a:r>
              <a:rPr lang="en-US" sz="2400" dirty="0" err="1">
                <a:solidFill>
                  <a:schemeClr val="tx1"/>
                </a:solidFill>
                <a:latin typeface="Times New Roman" panose="02020603050405020304" pitchFamily="18" charset="0"/>
                <a:cs typeface="Times New Roman" panose="02020603050405020304" pitchFamily="18" charset="0"/>
              </a:rPr>
              <a:t>của</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Chính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phủ</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quy</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định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về</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hóa</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đơn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chứng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từ</a:t>
            </a:r>
            <a:r>
              <a:rPr lang="en-US" sz="2400" dirty="0">
                <a:solidFill>
                  <a:schemeClr val="tx1"/>
                </a:solidFill>
                <a:latin typeface="Times New Roman" panose="02020603050405020304" pitchFamily="18" charset="0"/>
                <a:cs typeface="Times New Roman" panose="02020603050405020304" pitchFamily="18" charset="0"/>
              </a:rPr>
              <a:t>. </a:t>
            </a:r>
            <a:endParaRPr lang="vi-VN" sz="2400"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0" y="0"/>
            <a:ext cx="1449977" cy="1201801"/>
          </a:xfrm>
          <a:prstGeom prst="rect">
            <a:avLst/>
          </a:prstGeom>
        </p:spPr>
      </p:pic>
    </p:spTree>
    <p:extLst>
      <p:ext uri="{BB962C8B-B14F-4D97-AF65-F5344CB8AC3E}">
        <p14:creationId xmlns:p14="http://schemas.microsoft.com/office/powerpoint/2010/main" val="4273037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83102"/>
          </a:xfrm>
        </p:spPr>
        <p:txBody>
          <a:bodyPr>
            <a:noAutofit/>
          </a:bodyPr>
          <a:lstStyle/>
          <a:p>
            <a:pPr algn="ctr"/>
            <a:r>
              <a:rPr lang="en-US" b="1" dirty="0">
                <a:solidFill>
                  <a:srgbClr val="C00000"/>
                </a:solidFill>
                <a:latin typeface="Times New Roman" panose="02020603050405020304" pitchFamily="18" charset="0"/>
                <a:cs typeface="Times New Roman" panose="02020603050405020304" pitchFamily="18" charset="0"/>
              </a:rPr>
              <a:t>NỘI DUNG</a:t>
            </a:r>
            <a:endParaRPr lang="vi-VN"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772529"/>
            <a:ext cx="8596668" cy="4268833"/>
          </a:xfrm>
        </p:spPr>
        <p:txBody>
          <a:bodyPr anchor="ctr" anchorCtr="0">
            <a:normAutofit/>
          </a:bodyPr>
          <a:lstStyle/>
          <a:p>
            <a:pPr algn="just"/>
            <a:r>
              <a:rPr lang="en-US" sz="2400" b="1" dirty="0">
                <a:solidFill>
                  <a:schemeClr val="tx1"/>
                </a:solidFill>
                <a:latin typeface="Times New Roman" panose="02020603050405020304" pitchFamily="18" charset="0"/>
                <a:cs typeface="Times New Roman" panose="02020603050405020304" pitchFamily="18" charset="0"/>
              </a:rPr>
              <a:t>LỜI GIỚI THIỆU</a:t>
            </a:r>
          </a:p>
          <a:p>
            <a:pPr algn="just"/>
            <a:r>
              <a:rPr lang="en-US" sz="2400" b="1" dirty="0">
                <a:solidFill>
                  <a:schemeClr val="tx1"/>
                </a:solidFill>
                <a:latin typeface="Times New Roman" panose="02020603050405020304" pitchFamily="18" charset="0"/>
                <a:cs typeface="Times New Roman" panose="02020603050405020304" pitchFamily="18" charset="0"/>
              </a:rPr>
              <a:t>PHẦN 1 – CÁC LOẠI HÓA Đ</a:t>
            </a:r>
            <a:r>
              <a:rPr lang="vi-VN" sz="2400" b="1" dirty="0">
                <a:solidFill>
                  <a:schemeClr val="tx1"/>
                </a:solidFill>
                <a:latin typeface="Times New Roman" panose="02020603050405020304" pitchFamily="18" charset="0"/>
                <a:cs typeface="Times New Roman" panose="02020603050405020304" pitchFamily="18" charset="0"/>
              </a:rPr>
              <a:t>Ơ</a:t>
            </a:r>
            <a:r>
              <a:rPr lang="en-US" sz="2400" b="1" dirty="0">
                <a:solidFill>
                  <a:schemeClr val="tx1"/>
                </a:solidFill>
                <a:latin typeface="Times New Roman" panose="02020603050405020304" pitchFamily="18" charset="0"/>
                <a:cs typeface="Times New Roman" panose="02020603050405020304" pitchFamily="18" charset="0"/>
              </a:rPr>
              <a:t>N ĐIỆN TỬ; NỘI DUNG, ĐỊNH DẠNG HÓA Đ</a:t>
            </a:r>
            <a:r>
              <a:rPr lang="vi-VN" sz="2400" b="1" dirty="0">
                <a:solidFill>
                  <a:schemeClr val="tx1"/>
                </a:solidFill>
                <a:latin typeface="Times New Roman" panose="02020603050405020304" pitchFamily="18" charset="0"/>
                <a:cs typeface="Times New Roman" panose="02020603050405020304" pitchFamily="18" charset="0"/>
              </a:rPr>
              <a:t>Ơ</a:t>
            </a:r>
            <a:r>
              <a:rPr lang="en-US" sz="2400" b="1" dirty="0">
                <a:solidFill>
                  <a:schemeClr val="tx1"/>
                </a:solidFill>
                <a:latin typeface="Times New Roman" panose="02020603050405020304" pitchFamily="18" charset="0"/>
                <a:cs typeface="Times New Roman" panose="02020603050405020304" pitchFamily="18" charset="0"/>
              </a:rPr>
              <a:t>N ĐIỆN TỬ</a:t>
            </a:r>
          </a:p>
          <a:p>
            <a:pPr algn="just"/>
            <a:r>
              <a:rPr lang="en-US" sz="2400" b="1" dirty="0">
                <a:solidFill>
                  <a:schemeClr val="tx1"/>
                </a:solidFill>
                <a:latin typeface="Times New Roman" panose="02020603050405020304" pitchFamily="18" charset="0"/>
                <a:cs typeface="Times New Roman" panose="02020603050405020304" pitchFamily="18" charset="0"/>
              </a:rPr>
              <a:t>PHẦN 2 – NGUYÊN TẮC LẬP HÓA ĐƠN ĐIỆN TỬ; THỜI ĐIỂM LẬP HÓA ĐƠN ĐIỆN TỬ</a:t>
            </a:r>
          </a:p>
          <a:p>
            <a:pPr algn="just"/>
            <a:r>
              <a:rPr lang="en-US" sz="2400" b="1" dirty="0">
                <a:solidFill>
                  <a:schemeClr val="tx1"/>
                </a:solidFill>
                <a:latin typeface="Times New Roman" panose="02020603050405020304" pitchFamily="18" charset="0"/>
                <a:cs typeface="Times New Roman" panose="02020603050405020304" pitchFamily="18" charset="0"/>
              </a:rPr>
              <a:t>PHẦN 3 – ỦY NHIỆM LẬP HÓA Đ</a:t>
            </a:r>
            <a:r>
              <a:rPr lang="vi-VN" sz="2400" b="1" dirty="0">
                <a:solidFill>
                  <a:schemeClr val="tx1"/>
                </a:solidFill>
                <a:latin typeface="Times New Roman" panose="02020603050405020304" pitchFamily="18" charset="0"/>
                <a:cs typeface="Times New Roman" panose="02020603050405020304" pitchFamily="18" charset="0"/>
              </a:rPr>
              <a:t>Ơ</a:t>
            </a:r>
            <a:r>
              <a:rPr lang="en-US" sz="2400" b="1" dirty="0">
                <a:solidFill>
                  <a:schemeClr val="tx1"/>
                </a:solidFill>
                <a:latin typeface="Times New Roman" panose="02020603050405020304" pitchFamily="18" charset="0"/>
                <a:cs typeface="Times New Roman" panose="02020603050405020304" pitchFamily="18" charset="0"/>
              </a:rPr>
              <a:t>N ĐIỆN TỬ</a:t>
            </a:r>
          </a:p>
          <a:p>
            <a:pPr algn="just"/>
            <a:r>
              <a:rPr lang="en-US" sz="2400" b="1" dirty="0">
                <a:solidFill>
                  <a:schemeClr val="tx1"/>
                </a:solidFill>
                <a:latin typeface="Times New Roman" panose="02020603050405020304" pitchFamily="18" charset="0"/>
                <a:cs typeface="Times New Roman" panose="02020603050405020304" pitchFamily="18" charset="0"/>
              </a:rPr>
              <a:t>PHẦN 4 – ÁP DỤNG HÓA Đ</a:t>
            </a:r>
            <a:r>
              <a:rPr lang="vi-VN" sz="2400" b="1" dirty="0">
                <a:solidFill>
                  <a:schemeClr val="tx1"/>
                </a:solidFill>
                <a:latin typeface="Times New Roman" panose="02020603050405020304" pitchFamily="18" charset="0"/>
                <a:cs typeface="Times New Roman" panose="02020603050405020304" pitchFamily="18" charset="0"/>
              </a:rPr>
              <a:t>Ơ</a:t>
            </a:r>
            <a:r>
              <a:rPr lang="en-US" sz="2400" b="1" dirty="0">
                <a:solidFill>
                  <a:schemeClr val="tx1"/>
                </a:solidFill>
                <a:latin typeface="Times New Roman" panose="02020603050405020304" pitchFamily="18" charset="0"/>
                <a:cs typeface="Times New Roman" panose="02020603050405020304" pitchFamily="18" charset="0"/>
              </a:rPr>
              <a:t>N ĐIỆN TỬ CÓ MÃ VÀ KHÔNG CÓ MÃ CỦA C</a:t>
            </a:r>
            <a:r>
              <a:rPr lang="vi-VN" sz="2400" b="1" dirty="0">
                <a:solidFill>
                  <a:schemeClr val="tx1"/>
                </a:solidFill>
                <a:latin typeface="Times New Roman" panose="02020603050405020304" pitchFamily="18" charset="0"/>
                <a:cs typeface="Times New Roman" panose="02020603050405020304" pitchFamily="18" charset="0"/>
              </a:rPr>
              <a:t>Ơ</a:t>
            </a:r>
            <a:r>
              <a:rPr lang="en-US" sz="2400" b="1" dirty="0">
                <a:solidFill>
                  <a:schemeClr val="tx1"/>
                </a:solidFill>
                <a:latin typeface="Times New Roman" panose="02020603050405020304" pitchFamily="18" charset="0"/>
                <a:cs typeface="Times New Roman" panose="02020603050405020304" pitchFamily="18" charset="0"/>
              </a:rPr>
              <a:t> QUAN THUẾ</a:t>
            </a:r>
          </a:p>
        </p:txBody>
      </p:sp>
      <p:pic>
        <p:nvPicPr>
          <p:cNvPr id="4" name="Picture 3"/>
          <p:cNvPicPr>
            <a:picLocks noChangeAspect="1"/>
          </p:cNvPicPr>
          <p:nvPr/>
        </p:nvPicPr>
        <p:blipFill>
          <a:blip r:embed="rId2"/>
          <a:stretch>
            <a:fillRect/>
          </a:stretch>
        </p:blipFill>
        <p:spPr>
          <a:xfrm>
            <a:off x="0" y="0"/>
            <a:ext cx="1481477" cy="1227909"/>
          </a:xfrm>
          <a:prstGeom prst="rect">
            <a:avLst/>
          </a:prstGeom>
        </p:spPr>
      </p:pic>
    </p:spTree>
    <p:extLst>
      <p:ext uri="{BB962C8B-B14F-4D97-AF65-F5344CB8AC3E}">
        <p14:creationId xmlns:p14="http://schemas.microsoft.com/office/powerpoint/2010/main" val="3602411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677334" y="609599"/>
            <a:ext cx="9772952" cy="5622389"/>
          </a:xfrm>
        </p:spPr>
        <p:txBody>
          <a:bodyPr anchor="ctr" anchorCtr="0">
            <a:normAutofit/>
          </a:bodyPr>
          <a:lstStyle/>
          <a:p>
            <a:pPr algn="ctr"/>
            <a:r>
              <a:rPr lang="en-US" sz="4800" b="1" dirty="0">
                <a:solidFill>
                  <a:schemeClr val="tx1"/>
                </a:solidFill>
              </a:rPr>
              <a:t/>
            </a:r>
            <a:br>
              <a:rPr lang="en-US" sz="4800" b="1" dirty="0">
                <a:solidFill>
                  <a:schemeClr val="tx1"/>
                </a:solidFill>
              </a:rPr>
            </a:br>
            <a:r>
              <a:rPr lang="en-US" sz="4800" b="1" dirty="0">
                <a:solidFill>
                  <a:schemeClr val="tx1"/>
                </a:solidFill>
              </a:rPr>
              <a:t/>
            </a:r>
            <a:br>
              <a:rPr lang="en-US" sz="4800" b="1" dirty="0">
                <a:solidFill>
                  <a:schemeClr val="tx1"/>
                </a:solidFill>
              </a:rPr>
            </a:br>
            <a:r>
              <a:rPr lang="en-US" sz="4800" b="1" dirty="0">
                <a:solidFill>
                  <a:schemeClr val="tx1"/>
                </a:solidFill>
                <a:latin typeface="Times New Roman" panose="02020603050405020304" pitchFamily="18" charset="0"/>
                <a:cs typeface="Times New Roman" panose="02020603050405020304" pitchFamily="18" charset="0"/>
              </a:rPr>
              <a:t>LỜI GIỚI THIỆU</a:t>
            </a:r>
            <a:br>
              <a:rPr lang="en-US" sz="4800" b="1" dirty="0">
                <a:solidFill>
                  <a:schemeClr val="tx1"/>
                </a:solidFill>
                <a:latin typeface="Times New Roman" panose="02020603050405020304" pitchFamily="18" charset="0"/>
                <a:cs typeface="Times New Roman" panose="02020603050405020304" pitchFamily="18" charset="0"/>
              </a:rPr>
            </a:br>
            <a:r>
              <a:rPr lang="en-US" sz="4800" b="1" dirty="0">
                <a:solidFill>
                  <a:schemeClr val="tx1"/>
                </a:solidFill>
                <a:latin typeface="Cambria" panose="02040503050406030204" pitchFamily="18" charset="0"/>
              </a:rPr>
              <a:t/>
            </a:r>
            <a:br>
              <a:rPr lang="en-US" sz="4800" b="1" dirty="0">
                <a:solidFill>
                  <a:schemeClr val="tx1"/>
                </a:solidFill>
                <a:latin typeface="Cambria" panose="02040503050406030204" pitchFamily="18" charset="0"/>
              </a:rPr>
            </a:br>
            <a:r>
              <a:rPr lang="en-US" sz="4000" b="1" dirty="0">
                <a:latin typeface="Cambria" panose="02040503050406030204" pitchFamily="18" charset="0"/>
              </a:rPr>
              <a:t/>
            </a:r>
            <a:br>
              <a:rPr lang="en-US" sz="4000" b="1" dirty="0">
                <a:latin typeface="Cambria" panose="02040503050406030204" pitchFamily="18" charset="0"/>
              </a:rPr>
            </a:br>
            <a:r>
              <a:rPr lang="en-US" sz="4000" b="1" dirty="0">
                <a:latin typeface="Cambria" panose="02040503050406030204" pitchFamily="18" charset="0"/>
              </a:rPr>
              <a:t/>
            </a:r>
            <a:br>
              <a:rPr lang="en-US" sz="4000" b="1" dirty="0">
                <a:latin typeface="Cambria" panose="02040503050406030204" pitchFamily="18" charset="0"/>
              </a:rPr>
            </a:br>
            <a:r>
              <a:rPr lang="en-US" sz="4000" b="1" dirty="0">
                <a:latin typeface="Cambria" panose="02040503050406030204" pitchFamily="18" charset="0"/>
              </a:rPr>
              <a:t/>
            </a:r>
            <a:br>
              <a:rPr lang="en-US" sz="4000" b="1" dirty="0">
                <a:latin typeface="Cambria" panose="02040503050406030204" pitchFamily="18" charset="0"/>
              </a:rPr>
            </a:br>
            <a:endParaRPr lang="vi-VN" sz="4000" dirty="0">
              <a:solidFill>
                <a:schemeClr val="tx1"/>
              </a:solidFill>
              <a:latin typeface="Cambria" panose="02040503050406030204" pitchFamily="18" charset="0"/>
            </a:endParaRPr>
          </a:p>
        </p:txBody>
      </p:sp>
      <p:pic>
        <p:nvPicPr>
          <p:cNvPr id="5" name="Picture 4"/>
          <p:cNvPicPr>
            <a:picLocks noChangeAspect="1"/>
          </p:cNvPicPr>
          <p:nvPr/>
        </p:nvPicPr>
        <p:blipFill>
          <a:blip r:embed="rId2"/>
          <a:stretch>
            <a:fillRect/>
          </a:stretch>
        </p:blipFill>
        <p:spPr>
          <a:xfrm>
            <a:off x="0" y="0"/>
            <a:ext cx="1476103" cy="1223455"/>
          </a:xfrm>
          <a:prstGeom prst="rect">
            <a:avLst/>
          </a:prstGeom>
        </p:spPr>
      </p:pic>
    </p:spTree>
    <p:extLst>
      <p:ext uri="{BB962C8B-B14F-4D97-AF65-F5344CB8AC3E}">
        <p14:creationId xmlns:p14="http://schemas.microsoft.com/office/powerpoint/2010/main" val="369094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itle 1"/>
          <p:cNvSpPr>
            <a:spLocks noGrp="1"/>
          </p:cNvSpPr>
          <p:nvPr>
            <p:ph type="title"/>
          </p:nvPr>
        </p:nvSpPr>
        <p:spPr>
          <a:xfrm>
            <a:off x="1434980" y="277946"/>
            <a:ext cx="8596668" cy="783102"/>
          </a:xfrm>
        </p:spPr>
        <p:txBody>
          <a:bodyPr>
            <a:noAutofit/>
          </a:bodyPr>
          <a:lstStyle/>
          <a:p>
            <a:pPr algn="ctr"/>
            <a:r>
              <a:rPr lang="en-US" sz="2400" b="1" dirty="0">
                <a:solidFill>
                  <a:schemeClr val="tx1"/>
                </a:solidFill>
                <a:latin typeface="Times New Roman" panose="02020603050405020304" pitchFamily="18" charset="0"/>
                <a:cs typeface="Times New Roman" panose="02020603050405020304" pitchFamily="18" charset="0"/>
              </a:rPr>
              <a:t>LỜI GIỚI THIỆU</a:t>
            </a:r>
          </a:p>
        </p:txBody>
      </p:sp>
      <p:sp>
        <p:nvSpPr>
          <p:cNvPr id="5" name="Content Placeholder 4"/>
          <p:cNvSpPr>
            <a:spLocks noGrp="1"/>
          </p:cNvSpPr>
          <p:nvPr>
            <p:ph idx="1"/>
          </p:nvPr>
        </p:nvSpPr>
        <p:spPr>
          <a:xfrm>
            <a:off x="677334" y="1308295"/>
            <a:ext cx="8596668" cy="4733067"/>
          </a:xfrm>
        </p:spPr>
        <p:txBody>
          <a:bodyPr anchor="ctr" anchorCtr="0">
            <a:normAutofit/>
          </a:bodyPr>
          <a:lstStyle/>
          <a:p>
            <a:pPr algn="just"/>
            <a:r>
              <a:rPr lang="en-US" sz="2000" b="1" dirty="0">
                <a:solidFill>
                  <a:schemeClr val="tx1"/>
                </a:solidFill>
                <a:latin typeface="+mj-lt"/>
              </a:rPr>
              <a:t>1. </a:t>
            </a:r>
            <a:r>
              <a:rPr lang="en-US" sz="2000" b="1" dirty="0" err="1">
                <a:solidFill>
                  <a:schemeClr val="tx1"/>
                </a:solidFill>
                <a:latin typeface="+mj-lt"/>
              </a:rPr>
              <a:t>Hóa</a:t>
            </a:r>
            <a:r>
              <a:rPr lang="en-US" sz="2000" b="1" dirty="0">
                <a:solidFill>
                  <a:schemeClr val="tx1"/>
                </a:solidFill>
                <a:latin typeface="+mj-lt"/>
              </a:rPr>
              <a:t> </a:t>
            </a:r>
            <a:r>
              <a:rPr lang="en-US" sz="2000" b="1" dirty="0" err="1">
                <a:solidFill>
                  <a:schemeClr val="tx1"/>
                </a:solidFill>
                <a:latin typeface="+mj-lt"/>
              </a:rPr>
              <a:t>đơn</a:t>
            </a:r>
            <a:r>
              <a:rPr lang="en-US" sz="2000" b="1" dirty="0">
                <a:solidFill>
                  <a:schemeClr val="tx1"/>
                </a:solidFill>
                <a:latin typeface="+mj-lt"/>
              </a:rPr>
              <a:t>: </a:t>
            </a:r>
            <a:r>
              <a:rPr lang="en-US" sz="2000" b="1" dirty="0" err="1">
                <a:solidFill>
                  <a:schemeClr val="tx1"/>
                </a:solidFill>
                <a:latin typeface="+mj-lt"/>
              </a:rPr>
              <a:t>Hóa</a:t>
            </a:r>
            <a:r>
              <a:rPr lang="en-US" sz="2000" b="1" dirty="0">
                <a:solidFill>
                  <a:schemeClr val="tx1"/>
                </a:solidFill>
                <a:latin typeface="+mj-lt"/>
              </a:rPr>
              <a:t> </a:t>
            </a:r>
            <a:r>
              <a:rPr lang="en-US" sz="2000" b="1" dirty="0" err="1">
                <a:solidFill>
                  <a:schemeClr val="tx1"/>
                </a:solidFill>
                <a:latin typeface="+mj-lt"/>
              </a:rPr>
              <a:t>đơn</a:t>
            </a:r>
            <a:r>
              <a:rPr lang="en-US" sz="2000" b="1" dirty="0">
                <a:solidFill>
                  <a:schemeClr val="tx1"/>
                </a:solidFill>
                <a:latin typeface="+mj-lt"/>
              </a:rPr>
              <a:t> </a:t>
            </a:r>
            <a:r>
              <a:rPr lang="en-US" sz="2000" b="1" dirty="0" err="1">
                <a:solidFill>
                  <a:schemeClr val="tx1"/>
                </a:solidFill>
                <a:latin typeface="+mj-lt"/>
              </a:rPr>
              <a:t>điện</a:t>
            </a:r>
            <a:r>
              <a:rPr lang="en-US" sz="2000" b="1" dirty="0">
                <a:solidFill>
                  <a:schemeClr val="tx1"/>
                </a:solidFill>
                <a:latin typeface="+mj-lt"/>
              </a:rPr>
              <a:t> </a:t>
            </a:r>
            <a:r>
              <a:rPr lang="en-US" sz="2000" b="1" dirty="0" err="1">
                <a:solidFill>
                  <a:schemeClr val="tx1"/>
                </a:solidFill>
                <a:latin typeface="+mj-lt"/>
              </a:rPr>
              <a:t>tử</a:t>
            </a:r>
            <a:r>
              <a:rPr lang="en-US" sz="2000" b="1" dirty="0">
                <a:solidFill>
                  <a:schemeClr val="tx1"/>
                </a:solidFill>
                <a:latin typeface="+mj-lt"/>
              </a:rPr>
              <a:t> </a:t>
            </a:r>
          </a:p>
          <a:p>
            <a:pPr algn="just"/>
            <a:r>
              <a:rPr lang="en-US" sz="2000" b="1" dirty="0">
                <a:solidFill>
                  <a:schemeClr val="tx1"/>
                </a:solidFill>
                <a:latin typeface="+mj-lt"/>
              </a:rPr>
              <a:t>2. </a:t>
            </a:r>
            <a:r>
              <a:rPr lang="en-US" sz="2000" b="1" dirty="0" err="1">
                <a:solidFill>
                  <a:schemeClr val="tx1"/>
                </a:solidFill>
                <a:latin typeface="+mj-lt"/>
              </a:rPr>
              <a:t>Chứng</a:t>
            </a:r>
            <a:r>
              <a:rPr lang="en-US" sz="2000" b="1" dirty="0">
                <a:solidFill>
                  <a:schemeClr val="tx1"/>
                </a:solidFill>
                <a:latin typeface="+mj-lt"/>
              </a:rPr>
              <a:t> </a:t>
            </a:r>
            <a:r>
              <a:rPr lang="en-US" sz="2000" b="1" dirty="0" err="1">
                <a:solidFill>
                  <a:schemeClr val="tx1"/>
                </a:solidFill>
                <a:latin typeface="+mj-lt"/>
              </a:rPr>
              <a:t>từ</a:t>
            </a:r>
            <a:r>
              <a:rPr lang="en-US" sz="2000" b="1" dirty="0">
                <a:solidFill>
                  <a:schemeClr val="tx1"/>
                </a:solidFill>
                <a:latin typeface="+mj-lt"/>
              </a:rPr>
              <a:t> : </a:t>
            </a:r>
            <a:r>
              <a:rPr lang="en-US" sz="2000" b="1" dirty="0" err="1">
                <a:solidFill>
                  <a:schemeClr val="tx1"/>
                </a:solidFill>
                <a:latin typeface="+mj-lt"/>
              </a:rPr>
              <a:t>Chứng</a:t>
            </a:r>
            <a:r>
              <a:rPr lang="en-US" sz="2000" b="1" dirty="0">
                <a:solidFill>
                  <a:schemeClr val="tx1"/>
                </a:solidFill>
                <a:latin typeface="+mj-lt"/>
              </a:rPr>
              <a:t> </a:t>
            </a:r>
            <a:r>
              <a:rPr lang="en-US" sz="2000" b="1" dirty="0" err="1">
                <a:solidFill>
                  <a:schemeClr val="tx1"/>
                </a:solidFill>
                <a:latin typeface="+mj-lt"/>
              </a:rPr>
              <a:t>từ</a:t>
            </a:r>
            <a:r>
              <a:rPr lang="en-US" sz="2000" b="1" dirty="0">
                <a:solidFill>
                  <a:schemeClr val="tx1"/>
                </a:solidFill>
                <a:latin typeface="+mj-lt"/>
              </a:rPr>
              <a:t> </a:t>
            </a:r>
            <a:r>
              <a:rPr lang="en-US" sz="2000" b="1" dirty="0" err="1">
                <a:solidFill>
                  <a:schemeClr val="tx1"/>
                </a:solidFill>
                <a:latin typeface="+mj-lt"/>
              </a:rPr>
              <a:t>điện</a:t>
            </a:r>
            <a:r>
              <a:rPr lang="en-US" sz="2000" b="1" dirty="0">
                <a:solidFill>
                  <a:schemeClr val="tx1"/>
                </a:solidFill>
                <a:latin typeface="+mj-lt"/>
              </a:rPr>
              <a:t> </a:t>
            </a:r>
            <a:r>
              <a:rPr lang="en-US" sz="2000" b="1" dirty="0" err="1">
                <a:solidFill>
                  <a:schemeClr val="tx1"/>
                </a:solidFill>
                <a:latin typeface="+mj-lt"/>
              </a:rPr>
              <a:t>tử</a:t>
            </a:r>
            <a:endParaRPr lang="en-US" sz="2000" b="1" dirty="0">
              <a:solidFill>
                <a:schemeClr val="tx1"/>
              </a:solidFill>
              <a:latin typeface="+mj-lt"/>
            </a:endParaRPr>
          </a:p>
          <a:p>
            <a:pPr algn="just"/>
            <a:r>
              <a:rPr lang="en-US" sz="2000" b="1" dirty="0">
                <a:solidFill>
                  <a:schemeClr val="tx1"/>
                </a:solidFill>
                <a:latin typeface="+mj-lt"/>
              </a:rPr>
              <a:t>3. </a:t>
            </a:r>
            <a:r>
              <a:rPr lang="en-US" sz="2000" b="1" dirty="0" err="1">
                <a:solidFill>
                  <a:schemeClr val="tx1"/>
                </a:solidFill>
                <a:latin typeface="+mj-lt"/>
              </a:rPr>
              <a:t>Đăng</a:t>
            </a:r>
            <a:r>
              <a:rPr lang="en-US" sz="2000" b="1" dirty="0">
                <a:solidFill>
                  <a:schemeClr val="tx1"/>
                </a:solidFill>
                <a:latin typeface="+mj-lt"/>
              </a:rPr>
              <a:t> </a:t>
            </a:r>
            <a:r>
              <a:rPr lang="en-US" sz="2000" b="1" dirty="0" err="1">
                <a:solidFill>
                  <a:schemeClr val="tx1"/>
                </a:solidFill>
                <a:latin typeface="+mj-lt"/>
              </a:rPr>
              <a:t>ký</a:t>
            </a:r>
            <a:r>
              <a:rPr lang="en-US" sz="2000" b="1" dirty="0">
                <a:solidFill>
                  <a:schemeClr val="tx1"/>
                </a:solidFill>
                <a:latin typeface="+mj-lt"/>
              </a:rPr>
              <a:t>, </a:t>
            </a:r>
            <a:r>
              <a:rPr lang="en-US" sz="2000" b="1" dirty="0" err="1">
                <a:solidFill>
                  <a:schemeClr val="tx1"/>
                </a:solidFill>
                <a:latin typeface="+mj-lt"/>
              </a:rPr>
              <a:t>thay</a:t>
            </a:r>
            <a:r>
              <a:rPr lang="en-US" sz="2000" b="1" dirty="0">
                <a:solidFill>
                  <a:schemeClr val="tx1"/>
                </a:solidFill>
                <a:latin typeface="+mj-lt"/>
              </a:rPr>
              <a:t> </a:t>
            </a:r>
            <a:r>
              <a:rPr lang="en-US" sz="2000" b="1" dirty="0" err="1">
                <a:solidFill>
                  <a:schemeClr val="tx1"/>
                </a:solidFill>
                <a:latin typeface="+mj-lt"/>
              </a:rPr>
              <a:t>đổi</a:t>
            </a:r>
            <a:r>
              <a:rPr lang="en-US" sz="2000" b="1" dirty="0">
                <a:solidFill>
                  <a:schemeClr val="tx1"/>
                </a:solidFill>
                <a:latin typeface="+mj-lt"/>
              </a:rPr>
              <a:t> </a:t>
            </a:r>
            <a:r>
              <a:rPr lang="en-US" sz="2000" b="1" dirty="0" err="1">
                <a:solidFill>
                  <a:schemeClr val="tx1"/>
                </a:solidFill>
                <a:latin typeface="+mj-lt"/>
              </a:rPr>
              <a:t>nội</a:t>
            </a:r>
            <a:r>
              <a:rPr lang="en-US" sz="2000" b="1" dirty="0">
                <a:solidFill>
                  <a:schemeClr val="tx1"/>
                </a:solidFill>
                <a:latin typeface="+mj-lt"/>
              </a:rPr>
              <a:t> dung </a:t>
            </a:r>
            <a:r>
              <a:rPr lang="en-US" sz="2000" b="1" dirty="0" err="1">
                <a:solidFill>
                  <a:schemeClr val="tx1"/>
                </a:solidFill>
                <a:latin typeface="+mj-lt"/>
              </a:rPr>
              <a:t>đăng</a:t>
            </a:r>
            <a:r>
              <a:rPr lang="en-US" sz="2000" b="1" dirty="0">
                <a:solidFill>
                  <a:schemeClr val="tx1"/>
                </a:solidFill>
                <a:latin typeface="+mj-lt"/>
              </a:rPr>
              <a:t> </a:t>
            </a:r>
            <a:r>
              <a:rPr lang="en-US" sz="2000" b="1" dirty="0" err="1">
                <a:solidFill>
                  <a:schemeClr val="tx1"/>
                </a:solidFill>
                <a:latin typeface="+mj-lt"/>
              </a:rPr>
              <a:t>ký</a:t>
            </a:r>
            <a:r>
              <a:rPr lang="en-US" sz="2000" b="1" dirty="0">
                <a:solidFill>
                  <a:schemeClr val="tx1"/>
                </a:solidFill>
                <a:latin typeface="+mj-lt"/>
              </a:rPr>
              <a:t> </a:t>
            </a:r>
            <a:r>
              <a:rPr lang="en-US" sz="2000" b="1" dirty="0" err="1">
                <a:solidFill>
                  <a:schemeClr val="tx1"/>
                </a:solidFill>
                <a:latin typeface="+mj-lt"/>
              </a:rPr>
              <a:t>sử</a:t>
            </a:r>
            <a:r>
              <a:rPr lang="en-US" sz="2000" b="1" dirty="0">
                <a:solidFill>
                  <a:schemeClr val="tx1"/>
                </a:solidFill>
                <a:latin typeface="+mj-lt"/>
              </a:rPr>
              <a:t> </a:t>
            </a:r>
            <a:r>
              <a:rPr lang="en-US" sz="2000" b="1" dirty="0" err="1">
                <a:solidFill>
                  <a:schemeClr val="tx1"/>
                </a:solidFill>
                <a:latin typeface="+mj-lt"/>
              </a:rPr>
              <a:t>dụng</a:t>
            </a:r>
            <a:r>
              <a:rPr lang="en-US" sz="2000" b="1" dirty="0">
                <a:solidFill>
                  <a:schemeClr val="tx1"/>
                </a:solidFill>
                <a:latin typeface="+mj-lt"/>
              </a:rPr>
              <a:t> </a:t>
            </a:r>
            <a:r>
              <a:rPr lang="en-US" sz="2000" b="1" dirty="0" err="1">
                <a:solidFill>
                  <a:schemeClr val="tx1"/>
                </a:solidFill>
                <a:latin typeface="+mj-lt"/>
              </a:rPr>
              <a:t>hóa</a:t>
            </a:r>
            <a:r>
              <a:rPr lang="en-US" sz="2000" b="1" dirty="0">
                <a:solidFill>
                  <a:schemeClr val="tx1"/>
                </a:solidFill>
                <a:latin typeface="+mj-lt"/>
              </a:rPr>
              <a:t> </a:t>
            </a:r>
            <a:r>
              <a:rPr lang="en-US" sz="2000" b="1" dirty="0" err="1">
                <a:solidFill>
                  <a:schemeClr val="tx1"/>
                </a:solidFill>
                <a:latin typeface="+mj-lt"/>
              </a:rPr>
              <a:t>đơn</a:t>
            </a:r>
            <a:r>
              <a:rPr lang="en-US" sz="2000" b="1" dirty="0">
                <a:solidFill>
                  <a:schemeClr val="tx1"/>
                </a:solidFill>
                <a:latin typeface="+mj-lt"/>
              </a:rPr>
              <a:t>, </a:t>
            </a:r>
            <a:r>
              <a:rPr lang="en-US" sz="2000" b="1" dirty="0" err="1">
                <a:solidFill>
                  <a:schemeClr val="tx1"/>
                </a:solidFill>
                <a:latin typeface="+mj-lt"/>
              </a:rPr>
              <a:t>chứng</a:t>
            </a:r>
            <a:r>
              <a:rPr lang="en-US" sz="2000" b="1" dirty="0">
                <a:solidFill>
                  <a:schemeClr val="tx1"/>
                </a:solidFill>
                <a:latin typeface="+mj-lt"/>
              </a:rPr>
              <a:t> </a:t>
            </a:r>
            <a:r>
              <a:rPr lang="en-US" sz="2000" b="1" dirty="0" err="1">
                <a:solidFill>
                  <a:schemeClr val="tx1"/>
                </a:solidFill>
                <a:latin typeface="+mj-lt"/>
              </a:rPr>
              <a:t>từ</a:t>
            </a:r>
            <a:r>
              <a:rPr lang="en-US" sz="2000" b="1" dirty="0">
                <a:solidFill>
                  <a:schemeClr val="tx1"/>
                </a:solidFill>
                <a:latin typeface="+mj-lt"/>
              </a:rPr>
              <a:t> </a:t>
            </a:r>
            <a:r>
              <a:rPr lang="en-US" sz="2000" b="1" dirty="0" err="1">
                <a:solidFill>
                  <a:schemeClr val="tx1"/>
                </a:solidFill>
                <a:latin typeface="+mj-lt"/>
              </a:rPr>
              <a:t>điện</a:t>
            </a:r>
            <a:r>
              <a:rPr lang="en-US" sz="2000" b="1" dirty="0">
                <a:solidFill>
                  <a:schemeClr val="tx1"/>
                </a:solidFill>
                <a:latin typeface="+mj-lt"/>
              </a:rPr>
              <a:t> </a:t>
            </a:r>
            <a:r>
              <a:rPr lang="en-US" sz="2000" b="1" dirty="0" err="1">
                <a:solidFill>
                  <a:schemeClr val="tx1"/>
                </a:solidFill>
                <a:latin typeface="+mj-lt"/>
              </a:rPr>
              <a:t>tử</a:t>
            </a:r>
            <a:endParaRPr lang="en-US" sz="2000" b="1" dirty="0">
              <a:solidFill>
                <a:schemeClr val="tx1"/>
              </a:solidFill>
              <a:latin typeface="+mj-lt"/>
            </a:endParaRPr>
          </a:p>
        </p:txBody>
      </p:sp>
      <p:pic>
        <p:nvPicPr>
          <p:cNvPr id="4" name="Picture 3"/>
          <p:cNvPicPr>
            <a:picLocks noChangeAspect="1"/>
          </p:cNvPicPr>
          <p:nvPr/>
        </p:nvPicPr>
        <p:blipFill>
          <a:blip r:embed="rId2"/>
          <a:stretch>
            <a:fillRect/>
          </a:stretch>
        </p:blipFill>
        <p:spPr>
          <a:xfrm>
            <a:off x="1" y="0"/>
            <a:ext cx="1280159" cy="1061048"/>
          </a:xfrm>
          <a:prstGeom prst="rect">
            <a:avLst/>
          </a:prstGeom>
        </p:spPr>
      </p:pic>
    </p:spTree>
    <p:extLst>
      <p:ext uri="{BB962C8B-B14F-4D97-AF65-F5344CB8AC3E}">
        <p14:creationId xmlns:p14="http://schemas.microsoft.com/office/powerpoint/2010/main" val="3631303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9549" y="321002"/>
            <a:ext cx="10285057" cy="684628"/>
          </a:xfrm>
        </p:spPr>
        <p:txBody>
          <a:bodyPr>
            <a:noAutofit/>
          </a:bodyPr>
          <a:lstStyle/>
          <a:p>
            <a:pPr algn="ctr"/>
            <a:r>
              <a:rPr lang="en-US" sz="2000" b="1" dirty="0">
                <a:solidFill>
                  <a:schemeClr val="tx1"/>
                </a:solidFill>
                <a:latin typeface="Times New Roman" panose="02020603050405020304" pitchFamily="18" charset="0"/>
                <a:cs typeface="Times New Roman" panose="02020603050405020304" pitchFamily="18" charset="0"/>
              </a:rPr>
              <a:t>PHẦN 1 – TỔNG QUAN CHUNG VỀ HÓA ĐƠN, CHỨNG TỪ - HÓA ĐƠN </a:t>
            </a:r>
            <a:r>
              <a:rPr lang="en-US" sz="2800" b="1" dirty="0">
                <a:solidFill>
                  <a:schemeClr val="tx1"/>
                </a:solidFill>
                <a:latin typeface="Cambria" panose="02040503050406030204" pitchFamily="18" charset="0"/>
              </a:rPr>
              <a:t/>
            </a:r>
            <a:br>
              <a:rPr lang="en-US" sz="2800" b="1" dirty="0">
                <a:solidFill>
                  <a:schemeClr val="tx1"/>
                </a:solidFill>
                <a:latin typeface="Cambria" panose="02040503050406030204" pitchFamily="18" charset="0"/>
              </a:rPr>
            </a:br>
            <a:r>
              <a:rPr lang="en-US" sz="2800" b="1" dirty="0">
                <a:solidFill>
                  <a:schemeClr val="tx1"/>
                </a:solidFill>
                <a:latin typeface="Cambria" panose="02040503050406030204" pitchFamily="18" charset="0"/>
              </a:rPr>
              <a:t/>
            </a:r>
            <a:br>
              <a:rPr lang="en-US" sz="2800" b="1" dirty="0">
                <a:solidFill>
                  <a:schemeClr val="tx1"/>
                </a:solidFill>
                <a:latin typeface="Cambria" panose="02040503050406030204" pitchFamily="18" charset="0"/>
              </a:rPr>
            </a:br>
            <a:r>
              <a:rPr lang="en-US" sz="2700" b="1" dirty="0">
                <a:solidFill>
                  <a:schemeClr val="tx1"/>
                </a:solidFill>
                <a:latin typeface="Cambria" panose="02040503050406030204" pitchFamily="18" charset="0"/>
              </a:rPr>
              <a:t/>
            </a:r>
            <a:br>
              <a:rPr lang="en-US" sz="2700" b="1" dirty="0">
                <a:solidFill>
                  <a:schemeClr val="tx1"/>
                </a:solidFill>
                <a:latin typeface="Cambria" panose="02040503050406030204" pitchFamily="18" charset="0"/>
              </a:rPr>
            </a:br>
            <a:r>
              <a:rPr lang="en-US" b="1" dirty="0">
                <a:latin typeface="Cambria" panose="02040503050406030204" pitchFamily="18" charset="0"/>
              </a:rPr>
              <a:t/>
            </a:r>
            <a:br>
              <a:rPr lang="en-US" b="1" dirty="0">
                <a:latin typeface="Cambria" panose="02040503050406030204" pitchFamily="18" charset="0"/>
              </a:rPr>
            </a:br>
            <a:endParaRPr lang="vi-VN"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533070209"/>
              </p:ext>
            </p:extLst>
          </p:nvPr>
        </p:nvGraphicFramePr>
        <p:xfrm>
          <a:off x="667352" y="1005630"/>
          <a:ext cx="10737248" cy="51157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p:cNvPicPr>
            <a:picLocks noChangeAspect="1"/>
          </p:cNvPicPr>
          <p:nvPr/>
        </p:nvPicPr>
        <p:blipFill>
          <a:blip r:embed="rId7"/>
          <a:stretch>
            <a:fillRect/>
          </a:stretch>
        </p:blipFill>
        <p:spPr>
          <a:xfrm>
            <a:off x="1" y="0"/>
            <a:ext cx="1280159" cy="1061048"/>
          </a:xfrm>
          <a:prstGeom prst="rect">
            <a:avLst/>
          </a:prstGeom>
        </p:spPr>
      </p:pic>
    </p:spTree>
    <p:extLst>
      <p:ext uri="{BB962C8B-B14F-4D97-AF65-F5344CB8AC3E}">
        <p14:creationId xmlns:p14="http://schemas.microsoft.com/office/powerpoint/2010/main" val="396716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7430" y="930812"/>
            <a:ext cx="8596668" cy="642425"/>
          </a:xfrm>
        </p:spPr>
        <p:txBody>
          <a:bodyPr anchor="ctr" anchorCtr="0">
            <a:normAutofit/>
          </a:bodyPr>
          <a:lstStyle/>
          <a:p>
            <a:pPr algn="ctr"/>
            <a:r>
              <a:rPr lang="en-US" sz="2400" b="1" dirty="0">
                <a:solidFill>
                  <a:srgbClr val="C00000"/>
                </a:solidFill>
              </a:rPr>
              <a:t> HÓA ĐƠN ĐIỆN TỬ</a:t>
            </a:r>
            <a:endParaRPr lang="vi-VN" sz="2400" b="1" dirty="0">
              <a:solidFill>
                <a:srgbClr val="C00000"/>
              </a:solidFill>
            </a:endParaRPr>
          </a:p>
        </p:txBody>
      </p:sp>
      <p:sp>
        <p:nvSpPr>
          <p:cNvPr id="3" name="Content Placeholder 2"/>
          <p:cNvSpPr>
            <a:spLocks noGrp="1"/>
          </p:cNvSpPr>
          <p:nvPr>
            <p:ph idx="1"/>
          </p:nvPr>
        </p:nvSpPr>
        <p:spPr>
          <a:xfrm>
            <a:off x="677334" y="1252025"/>
            <a:ext cx="8596668" cy="4789337"/>
          </a:xfrm>
        </p:spPr>
        <p:txBody>
          <a:bodyPr vert="horz" anchor="ctr" anchorCtr="0">
            <a:normAutofit/>
          </a:bodyPr>
          <a:lstStyle/>
          <a:p>
            <a:pPr marL="0" indent="0" algn="just">
              <a:buNone/>
            </a:pPr>
            <a:r>
              <a:rPr lang="en-US" sz="2000" dirty="0">
                <a:solidFill>
                  <a:schemeClr val="tx1"/>
                </a:solidFill>
                <a:latin typeface="+mj-lt"/>
              </a:rPr>
              <a:t>- </a:t>
            </a:r>
            <a:r>
              <a:rPr lang="en-US" sz="2000" b="1" dirty="0" err="1">
                <a:solidFill>
                  <a:schemeClr val="tx1"/>
                </a:solidFill>
                <a:latin typeface="+mj-lt"/>
              </a:rPr>
              <a:t>Hóa</a:t>
            </a:r>
            <a:r>
              <a:rPr lang="en-US" sz="2000" b="1" dirty="0">
                <a:solidFill>
                  <a:schemeClr val="tx1"/>
                </a:solidFill>
                <a:latin typeface="+mj-lt"/>
              </a:rPr>
              <a:t> </a:t>
            </a:r>
            <a:r>
              <a:rPr lang="en-US" sz="2000" b="1" dirty="0" err="1">
                <a:solidFill>
                  <a:schemeClr val="tx1"/>
                </a:solidFill>
                <a:latin typeface="+mj-lt"/>
              </a:rPr>
              <a:t>đơn</a:t>
            </a:r>
            <a:r>
              <a:rPr lang="en-US" sz="2000" b="1" dirty="0">
                <a:solidFill>
                  <a:schemeClr val="tx1"/>
                </a:solidFill>
                <a:latin typeface="+mj-lt"/>
              </a:rPr>
              <a:t> </a:t>
            </a:r>
            <a:r>
              <a:rPr lang="en-US" sz="2000" b="1" dirty="0" err="1">
                <a:solidFill>
                  <a:schemeClr val="tx1"/>
                </a:solidFill>
                <a:latin typeface="+mj-lt"/>
              </a:rPr>
              <a:t>điện</a:t>
            </a:r>
            <a:r>
              <a:rPr lang="en-US" sz="2000" b="1" dirty="0">
                <a:solidFill>
                  <a:schemeClr val="tx1"/>
                </a:solidFill>
                <a:latin typeface="+mj-lt"/>
              </a:rPr>
              <a:t> </a:t>
            </a:r>
            <a:r>
              <a:rPr lang="en-US" sz="2000" b="1" dirty="0" err="1">
                <a:solidFill>
                  <a:schemeClr val="tx1"/>
                </a:solidFill>
                <a:latin typeface="+mj-lt"/>
              </a:rPr>
              <a:t>tử</a:t>
            </a:r>
            <a:r>
              <a:rPr lang="en-US" sz="2000" b="1" dirty="0">
                <a:solidFill>
                  <a:schemeClr val="tx1"/>
                </a:solidFill>
                <a:latin typeface="+mj-lt"/>
              </a:rPr>
              <a:t> </a:t>
            </a:r>
            <a:r>
              <a:rPr lang="en-US" sz="2000" dirty="0" err="1">
                <a:solidFill>
                  <a:schemeClr val="tx1"/>
                </a:solidFill>
                <a:latin typeface="+mj-lt"/>
              </a:rPr>
              <a:t>là</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 </a:t>
            </a:r>
            <a:r>
              <a:rPr lang="en-US" sz="2000" dirty="0" err="1">
                <a:solidFill>
                  <a:schemeClr val="tx1"/>
                </a:solidFill>
                <a:latin typeface="+mj-lt"/>
              </a:rPr>
              <a:t>hoặc</a:t>
            </a:r>
            <a:r>
              <a:rPr lang="en-US" sz="2000" dirty="0">
                <a:solidFill>
                  <a:schemeClr val="tx1"/>
                </a:solidFill>
                <a:latin typeface="+mj-lt"/>
              </a:rPr>
              <a:t> </a:t>
            </a:r>
            <a:r>
              <a:rPr lang="en-US" sz="2000" dirty="0" err="1">
                <a:solidFill>
                  <a:schemeClr val="tx1"/>
                </a:solidFill>
                <a:latin typeface="+mj-lt"/>
              </a:rPr>
              <a:t>không</a:t>
            </a:r>
            <a:r>
              <a:rPr lang="en-US" sz="2000" dirty="0">
                <a:solidFill>
                  <a:schemeClr val="tx1"/>
                </a:solidFill>
                <a:latin typeface="+mj-lt"/>
              </a:rPr>
              <a: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cơ</a:t>
            </a:r>
            <a:r>
              <a:rPr lang="en-US" sz="2000" dirty="0">
                <a:solidFill>
                  <a:schemeClr val="tx1"/>
                </a:solidFill>
                <a:latin typeface="+mj-lt"/>
              </a:rPr>
              <a:t> </a:t>
            </a:r>
            <a:r>
              <a:rPr lang="en-US" sz="2000" dirty="0" err="1">
                <a:solidFill>
                  <a:schemeClr val="tx1"/>
                </a:solidFill>
                <a:latin typeface="+mj-lt"/>
              </a:rPr>
              <a:t>quan</a:t>
            </a:r>
            <a:r>
              <a:rPr lang="en-US" sz="2000" dirty="0">
                <a:solidFill>
                  <a:schemeClr val="tx1"/>
                </a:solidFill>
                <a:latin typeface="+mj-lt"/>
              </a:rPr>
              <a:t> </a:t>
            </a:r>
            <a:r>
              <a:rPr lang="en-US" sz="2000" dirty="0" err="1">
                <a:solidFill>
                  <a:schemeClr val="tx1"/>
                </a:solidFill>
                <a:latin typeface="+mj-lt"/>
              </a:rPr>
              <a:t>thuế</a:t>
            </a:r>
            <a:r>
              <a:rPr lang="en-US" sz="2000" dirty="0">
                <a:solidFill>
                  <a:schemeClr val="tx1"/>
                </a:solidFill>
                <a:latin typeface="+mj-lt"/>
              </a:rPr>
              <a:t> </a:t>
            </a:r>
            <a:r>
              <a:rPr lang="en-US" sz="2000" dirty="0" err="1">
                <a:solidFill>
                  <a:schemeClr val="tx1"/>
                </a:solidFill>
                <a:latin typeface="+mj-lt"/>
              </a:rPr>
              <a:t>được</a:t>
            </a:r>
            <a:r>
              <a:rPr lang="en-US" sz="2000" dirty="0">
                <a:solidFill>
                  <a:schemeClr val="tx1"/>
                </a:solidFill>
                <a:latin typeface="+mj-lt"/>
              </a:rPr>
              <a:t> </a:t>
            </a:r>
            <a:r>
              <a:rPr lang="en-US" sz="2000" dirty="0" err="1">
                <a:solidFill>
                  <a:schemeClr val="tx1"/>
                </a:solidFill>
                <a:latin typeface="+mj-lt"/>
              </a:rPr>
              <a:t>thể</a:t>
            </a:r>
            <a:r>
              <a:rPr lang="en-US" sz="2000" dirty="0">
                <a:solidFill>
                  <a:schemeClr val="tx1"/>
                </a:solidFill>
                <a:latin typeface="+mj-lt"/>
              </a:rPr>
              <a:t> </a:t>
            </a:r>
            <a:r>
              <a:rPr lang="en-US" sz="2000" dirty="0" err="1">
                <a:solidFill>
                  <a:schemeClr val="tx1"/>
                </a:solidFill>
                <a:latin typeface="+mj-lt"/>
              </a:rPr>
              <a:t>hiện</a:t>
            </a:r>
            <a:r>
              <a:rPr lang="en-US" sz="2000" dirty="0">
                <a:solidFill>
                  <a:schemeClr val="tx1"/>
                </a:solidFill>
                <a:latin typeface="+mj-lt"/>
              </a:rPr>
              <a:t> ở </a:t>
            </a:r>
            <a:r>
              <a:rPr lang="en-US" sz="2000" dirty="0" err="1">
                <a:solidFill>
                  <a:schemeClr val="tx1"/>
                </a:solidFill>
                <a:latin typeface="+mj-lt"/>
              </a:rPr>
              <a:t>dạng</a:t>
            </a:r>
            <a:r>
              <a:rPr lang="en-US" sz="2000" dirty="0">
                <a:solidFill>
                  <a:schemeClr val="tx1"/>
                </a:solidFill>
                <a:latin typeface="+mj-lt"/>
              </a:rPr>
              <a:t> </a:t>
            </a:r>
            <a:r>
              <a:rPr lang="en-US" sz="2000" dirty="0" err="1">
                <a:solidFill>
                  <a:schemeClr val="tx1"/>
                </a:solidFill>
                <a:latin typeface="+mj-lt"/>
              </a:rPr>
              <a:t>dữ</a:t>
            </a:r>
            <a:r>
              <a:rPr lang="en-US" sz="2000" dirty="0">
                <a:solidFill>
                  <a:schemeClr val="tx1"/>
                </a:solidFill>
                <a:latin typeface="+mj-lt"/>
              </a:rPr>
              <a:t> </a:t>
            </a:r>
            <a:r>
              <a:rPr lang="en-US" sz="2000" dirty="0" err="1">
                <a:solidFill>
                  <a:schemeClr val="tx1"/>
                </a:solidFill>
                <a:latin typeface="+mj-lt"/>
              </a:rPr>
              <a:t>liệu</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do </a:t>
            </a:r>
            <a:r>
              <a:rPr lang="en-US" sz="2000" dirty="0" err="1">
                <a:solidFill>
                  <a:schemeClr val="tx1"/>
                </a:solidFill>
                <a:latin typeface="+mj-lt"/>
              </a:rPr>
              <a:t>tổ</a:t>
            </a:r>
            <a:r>
              <a:rPr lang="en-US" sz="2000" dirty="0">
                <a:solidFill>
                  <a:schemeClr val="tx1"/>
                </a:solidFill>
                <a:latin typeface="+mj-lt"/>
              </a:rPr>
              <a:t> </a:t>
            </a:r>
            <a:r>
              <a:rPr lang="en-US" sz="2000" dirty="0" err="1">
                <a:solidFill>
                  <a:schemeClr val="tx1"/>
                </a:solidFill>
                <a:latin typeface="+mj-lt"/>
              </a:rPr>
              <a:t>chức</a:t>
            </a:r>
            <a:r>
              <a:rPr lang="en-US" sz="2000" dirty="0">
                <a:solidFill>
                  <a:schemeClr val="tx1"/>
                </a:solidFill>
                <a:latin typeface="+mj-lt"/>
              </a:rPr>
              <a:t>, </a:t>
            </a:r>
            <a:r>
              <a:rPr lang="en-US" sz="2000" dirty="0" err="1">
                <a:solidFill>
                  <a:schemeClr val="tx1"/>
                </a:solidFill>
                <a:latin typeface="+mj-lt"/>
              </a:rPr>
              <a:t>cá</a:t>
            </a:r>
            <a:r>
              <a:rPr lang="en-US" sz="2000" dirty="0">
                <a:solidFill>
                  <a:schemeClr val="tx1"/>
                </a:solidFill>
                <a:latin typeface="+mj-lt"/>
              </a:rPr>
              <a:t> </a:t>
            </a:r>
            <a:r>
              <a:rPr lang="en-US" sz="2000" dirty="0" err="1">
                <a:solidFill>
                  <a:schemeClr val="tx1"/>
                </a:solidFill>
                <a:latin typeface="+mj-lt"/>
              </a:rPr>
              <a:t>nhân</a:t>
            </a:r>
            <a:r>
              <a:rPr lang="en-US" sz="2000" dirty="0">
                <a:solidFill>
                  <a:schemeClr val="tx1"/>
                </a:solidFill>
                <a:latin typeface="+mj-lt"/>
              </a:rPr>
              <a:t> </a:t>
            </a:r>
            <a:r>
              <a:rPr lang="en-US" sz="2000" dirty="0" err="1">
                <a:solidFill>
                  <a:schemeClr val="tx1"/>
                </a:solidFill>
                <a:latin typeface="+mj-lt"/>
              </a:rPr>
              <a:t>bán</a:t>
            </a:r>
            <a:r>
              <a:rPr lang="en-US" sz="2000" dirty="0">
                <a:solidFill>
                  <a:schemeClr val="tx1"/>
                </a:solidFill>
                <a:latin typeface="+mj-lt"/>
              </a:rPr>
              <a:t> </a:t>
            </a:r>
            <a:r>
              <a:rPr lang="en-US" sz="2000" dirty="0" err="1">
                <a:solidFill>
                  <a:schemeClr val="tx1"/>
                </a:solidFill>
                <a:latin typeface="+mj-lt"/>
              </a:rPr>
              <a:t>hàng</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cung</a:t>
            </a:r>
            <a:r>
              <a:rPr lang="en-US" sz="2000" dirty="0">
                <a:solidFill>
                  <a:schemeClr val="tx1"/>
                </a:solidFill>
                <a:latin typeface="+mj-lt"/>
              </a:rPr>
              <a:t> </a:t>
            </a:r>
            <a:r>
              <a:rPr lang="en-US" sz="2000" dirty="0" err="1">
                <a:solidFill>
                  <a:schemeClr val="tx1"/>
                </a:solidFill>
                <a:latin typeface="+mj-lt"/>
              </a:rPr>
              <a:t>cấp</a:t>
            </a:r>
            <a:r>
              <a:rPr lang="en-US" sz="2000" dirty="0">
                <a:solidFill>
                  <a:schemeClr val="tx1"/>
                </a:solidFill>
                <a:latin typeface="+mj-lt"/>
              </a:rPr>
              <a:t> </a:t>
            </a:r>
            <a:r>
              <a:rPr lang="en-US" sz="2000" dirty="0" err="1">
                <a:solidFill>
                  <a:schemeClr val="tx1"/>
                </a:solidFill>
                <a:latin typeface="+mj-lt"/>
              </a:rPr>
              <a:t>dịch</a:t>
            </a:r>
            <a:r>
              <a:rPr lang="en-US" sz="2000" dirty="0">
                <a:solidFill>
                  <a:schemeClr val="tx1"/>
                </a:solidFill>
                <a:latin typeface="+mj-lt"/>
              </a:rPr>
              <a:t> </a:t>
            </a:r>
            <a:r>
              <a:rPr lang="en-US" sz="2000" dirty="0" err="1">
                <a:solidFill>
                  <a:schemeClr val="tx1"/>
                </a:solidFill>
                <a:latin typeface="+mj-lt"/>
              </a:rPr>
              <a:t>vụ</a:t>
            </a:r>
            <a:r>
              <a:rPr lang="en-US" sz="2000" dirty="0">
                <a:solidFill>
                  <a:schemeClr val="tx1"/>
                </a:solidFill>
                <a:latin typeface="+mj-lt"/>
              </a:rPr>
              <a:t> </a:t>
            </a:r>
            <a:r>
              <a:rPr lang="en-US" sz="2000" dirty="0" err="1">
                <a:solidFill>
                  <a:schemeClr val="tx1"/>
                </a:solidFill>
                <a:latin typeface="+mj-lt"/>
              </a:rPr>
              <a:t>lập</a:t>
            </a:r>
            <a:r>
              <a:rPr lang="en-US" sz="2000" dirty="0">
                <a:solidFill>
                  <a:schemeClr val="tx1"/>
                </a:solidFill>
                <a:latin typeface="+mj-lt"/>
              </a:rPr>
              <a:t> </a:t>
            </a:r>
            <a:r>
              <a:rPr lang="en-US" sz="2000" dirty="0" err="1">
                <a:solidFill>
                  <a:schemeClr val="tx1"/>
                </a:solidFill>
                <a:latin typeface="+mj-lt"/>
              </a:rPr>
              <a:t>bằng</a:t>
            </a:r>
            <a:r>
              <a:rPr lang="en-US" sz="2000" dirty="0">
                <a:solidFill>
                  <a:schemeClr val="tx1"/>
                </a:solidFill>
                <a:latin typeface="+mj-lt"/>
              </a:rPr>
              <a:t> </a:t>
            </a:r>
            <a:r>
              <a:rPr lang="en-US" sz="2000" dirty="0" err="1">
                <a:solidFill>
                  <a:schemeClr val="tx1"/>
                </a:solidFill>
                <a:latin typeface="+mj-lt"/>
              </a:rPr>
              <a:t>phương</a:t>
            </a:r>
            <a:r>
              <a:rPr lang="en-US" sz="2000" dirty="0">
                <a:solidFill>
                  <a:schemeClr val="tx1"/>
                </a:solidFill>
                <a:latin typeface="+mj-lt"/>
              </a:rPr>
              <a:t> </a:t>
            </a:r>
            <a:r>
              <a:rPr lang="en-US" sz="2000" dirty="0" err="1">
                <a:solidFill>
                  <a:schemeClr val="tx1"/>
                </a:solidFill>
                <a:latin typeface="+mj-lt"/>
              </a:rPr>
              <a:t>tiện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để</a:t>
            </a:r>
            <a:r>
              <a:rPr lang="en-US" sz="2000" dirty="0">
                <a:solidFill>
                  <a:schemeClr val="tx1"/>
                </a:solidFill>
                <a:latin typeface="+mj-lt"/>
              </a:rPr>
              <a:t> </a:t>
            </a:r>
            <a:r>
              <a:rPr lang="en-US" sz="2000" dirty="0" err="1">
                <a:solidFill>
                  <a:schemeClr val="tx1"/>
                </a:solidFill>
                <a:latin typeface="+mj-lt"/>
              </a:rPr>
              <a:t>ghi</a:t>
            </a:r>
            <a:r>
              <a:rPr lang="en-US" sz="2000" dirty="0">
                <a:solidFill>
                  <a:schemeClr val="tx1"/>
                </a:solidFill>
                <a:latin typeface="+mj-lt"/>
              </a:rPr>
              <a:t> </a:t>
            </a:r>
            <a:r>
              <a:rPr lang="en-US" sz="2000" dirty="0" err="1">
                <a:solidFill>
                  <a:schemeClr val="tx1"/>
                </a:solidFill>
                <a:latin typeface="+mj-lt"/>
              </a:rPr>
              <a:t>nhận</a:t>
            </a:r>
            <a:r>
              <a:rPr lang="en-US" sz="2000" dirty="0">
                <a:solidFill>
                  <a:schemeClr val="tx1"/>
                </a:solidFill>
                <a:latin typeface="+mj-lt"/>
              </a:rPr>
              <a:t> </a:t>
            </a:r>
            <a:r>
              <a:rPr lang="en-US" sz="2000" dirty="0" err="1">
                <a:solidFill>
                  <a:schemeClr val="tx1"/>
                </a:solidFill>
                <a:latin typeface="+mj-lt"/>
              </a:rPr>
              <a:t>thông</a:t>
            </a:r>
            <a:r>
              <a:rPr lang="en-US" sz="2000" dirty="0">
                <a:solidFill>
                  <a:schemeClr val="tx1"/>
                </a:solidFill>
                <a:latin typeface="+mj-lt"/>
              </a:rPr>
              <a:t> tin </a:t>
            </a:r>
            <a:r>
              <a:rPr lang="en-US" sz="2000" dirty="0" err="1">
                <a:solidFill>
                  <a:schemeClr val="tx1"/>
                </a:solidFill>
                <a:latin typeface="+mj-lt"/>
              </a:rPr>
              <a:t>bán</a:t>
            </a:r>
            <a:r>
              <a:rPr lang="en-US" sz="2000" dirty="0">
                <a:solidFill>
                  <a:schemeClr val="tx1"/>
                </a:solidFill>
                <a:latin typeface="+mj-lt"/>
              </a:rPr>
              <a:t> </a:t>
            </a:r>
            <a:r>
              <a:rPr lang="en-US" sz="2000" dirty="0" err="1">
                <a:solidFill>
                  <a:schemeClr val="tx1"/>
                </a:solidFill>
                <a:latin typeface="+mj-lt"/>
              </a:rPr>
              <a:t>hàng</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cung</a:t>
            </a:r>
            <a:r>
              <a:rPr lang="en-US" sz="2000" dirty="0">
                <a:solidFill>
                  <a:schemeClr val="tx1"/>
                </a:solidFill>
                <a:latin typeface="+mj-lt"/>
              </a:rPr>
              <a:t> </a:t>
            </a:r>
            <a:r>
              <a:rPr lang="en-US" sz="2000" dirty="0" err="1">
                <a:solidFill>
                  <a:schemeClr val="tx1"/>
                </a:solidFill>
                <a:latin typeface="+mj-lt"/>
              </a:rPr>
              <a:t>cấp</a:t>
            </a:r>
            <a:r>
              <a:rPr lang="en-US" sz="2000" dirty="0">
                <a:solidFill>
                  <a:schemeClr val="tx1"/>
                </a:solidFill>
                <a:latin typeface="+mj-lt"/>
              </a:rPr>
              <a:t> </a:t>
            </a:r>
            <a:r>
              <a:rPr lang="en-US" sz="2000" dirty="0" err="1">
                <a:solidFill>
                  <a:schemeClr val="tx1"/>
                </a:solidFill>
                <a:latin typeface="+mj-lt"/>
              </a:rPr>
              <a:t>dịch</a:t>
            </a:r>
            <a:r>
              <a:rPr lang="en-US" sz="2000" dirty="0">
                <a:solidFill>
                  <a:schemeClr val="tx1"/>
                </a:solidFill>
                <a:latin typeface="+mj-lt"/>
              </a:rPr>
              <a:t> </a:t>
            </a:r>
            <a:r>
              <a:rPr lang="en-US" sz="2000" dirty="0" err="1">
                <a:solidFill>
                  <a:schemeClr val="tx1"/>
                </a:solidFill>
                <a:latin typeface="+mj-lt"/>
              </a:rPr>
              <a:t>vụ</a:t>
            </a:r>
            <a:r>
              <a:rPr lang="en-US" sz="2000" dirty="0">
                <a:solidFill>
                  <a:schemeClr val="tx1"/>
                </a:solidFill>
                <a:latin typeface="+mj-lt"/>
              </a:rPr>
              <a:t> </a:t>
            </a:r>
            <a:r>
              <a:rPr lang="en-US" sz="2000" dirty="0" err="1">
                <a:solidFill>
                  <a:schemeClr val="tx1"/>
                </a:solidFill>
                <a:latin typeface="+mj-lt"/>
              </a:rPr>
              <a:t>theo</a:t>
            </a:r>
            <a:r>
              <a:rPr lang="en-US" sz="2000" dirty="0">
                <a:solidFill>
                  <a:schemeClr val="tx1"/>
                </a:solidFill>
                <a:latin typeface="+mj-lt"/>
              </a:rPr>
              <a:t> </a:t>
            </a:r>
            <a:r>
              <a:rPr lang="en-US" sz="2000" dirty="0" err="1">
                <a:solidFill>
                  <a:schemeClr val="tx1"/>
                </a:solidFill>
                <a:latin typeface="+mj-lt"/>
              </a:rPr>
              <a:t>quy</a:t>
            </a:r>
            <a:r>
              <a:rPr lang="en-US" sz="2000" dirty="0">
                <a:solidFill>
                  <a:schemeClr val="tx1"/>
                </a:solidFill>
                <a:latin typeface="+mj-lt"/>
              </a:rPr>
              <a:t> </a:t>
            </a:r>
            <a:r>
              <a:rPr lang="en-US" sz="2000" dirty="0" err="1">
                <a:solidFill>
                  <a:schemeClr val="tx1"/>
                </a:solidFill>
                <a:latin typeface="+mj-lt"/>
              </a:rPr>
              <a:t>định</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pháp</a:t>
            </a:r>
            <a:r>
              <a:rPr lang="en-US" sz="2000" dirty="0">
                <a:solidFill>
                  <a:schemeClr val="tx1"/>
                </a:solidFill>
                <a:latin typeface="+mj-lt"/>
              </a:rPr>
              <a:t> </a:t>
            </a:r>
            <a:r>
              <a:rPr lang="en-US" sz="2000" dirty="0" err="1">
                <a:solidFill>
                  <a:schemeClr val="tx1"/>
                </a:solidFill>
                <a:latin typeface="+mj-lt"/>
              </a:rPr>
              <a:t>luật</a:t>
            </a:r>
            <a:r>
              <a:rPr lang="en-US" sz="2000" dirty="0">
                <a:solidFill>
                  <a:schemeClr val="tx1"/>
                </a:solidFill>
                <a:latin typeface="+mj-lt"/>
              </a:rPr>
              <a:t> </a:t>
            </a:r>
            <a:r>
              <a:rPr lang="en-US" sz="2000" dirty="0" err="1">
                <a:solidFill>
                  <a:schemeClr val="tx1"/>
                </a:solidFill>
                <a:latin typeface="+mj-lt"/>
              </a:rPr>
              <a:t>về</a:t>
            </a:r>
            <a:r>
              <a:rPr lang="en-US" sz="2000" dirty="0">
                <a:solidFill>
                  <a:schemeClr val="tx1"/>
                </a:solidFill>
                <a:latin typeface="+mj-lt"/>
              </a:rPr>
              <a:t> </a:t>
            </a:r>
            <a:r>
              <a:rPr lang="en-US" sz="2000" dirty="0" err="1">
                <a:solidFill>
                  <a:schemeClr val="tx1"/>
                </a:solidFill>
                <a:latin typeface="+mj-lt"/>
              </a:rPr>
              <a:t>kế</a:t>
            </a:r>
            <a:r>
              <a:rPr lang="en-US" sz="2000" dirty="0">
                <a:solidFill>
                  <a:schemeClr val="tx1"/>
                </a:solidFill>
                <a:latin typeface="+mj-lt"/>
              </a:rPr>
              <a:t> </a:t>
            </a:r>
            <a:r>
              <a:rPr lang="en-US" sz="2000" dirty="0" err="1">
                <a:solidFill>
                  <a:schemeClr val="tx1"/>
                </a:solidFill>
                <a:latin typeface="+mj-lt"/>
              </a:rPr>
              <a:t>toán</a:t>
            </a:r>
            <a:r>
              <a:rPr lang="en-US" sz="2000" dirty="0">
                <a:solidFill>
                  <a:schemeClr val="tx1"/>
                </a:solidFill>
                <a:latin typeface="+mj-lt"/>
              </a:rPr>
              <a:t>, </a:t>
            </a:r>
            <a:r>
              <a:rPr lang="en-US" sz="2000" dirty="0" err="1">
                <a:solidFill>
                  <a:schemeClr val="tx1"/>
                </a:solidFill>
                <a:latin typeface="+mj-lt"/>
              </a:rPr>
              <a:t>pháp</a:t>
            </a:r>
            <a:r>
              <a:rPr lang="en-US" sz="2000" dirty="0">
                <a:solidFill>
                  <a:schemeClr val="tx1"/>
                </a:solidFill>
                <a:latin typeface="+mj-lt"/>
              </a:rPr>
              <a:t> </a:t>
            </a:r>
            <a:r>
              <a:rPr lang="en-US" sz="2000" dirty="0" err="1">
                <a:solidFill>
                  <a:schemeClr val="tx1"/>
                </a:solidFill>
                <a:latin typeface="+mj-lt"/>
              </a:rPr>
              <a:t>luật</a:t>
            </a:r>
            <a:r>
              <a:rPr lang="en-US" sz="2000" dirty="0">
                <a:solidFill>
                  <a:schemeClr val="tx1"/>
                </a:solidFill>
                <a:latin typeface="+mj-lt"/>
              </a:rPr>
              <a:t> </a:t>
            </a:r>
            <a:r>
              <a:rPr lang="en-US" sz="2000" dirty="0" err="1">
                <a:solidFill>
                  <a:schemeClr val="tx1"/>
                </a:solidFill>
                <a:latin typeface="+mj-lt"/>
              </a:rPr>
              <a:t>về</a:t>
            </a:r>
            <a:r>
              <a:rPr lang="en-US" sz="2000" dirty="0">
                <a:solidFill>
                  <a:schemeClr val="tx1"/>
                </a:solidFill>
                <a:latin typeface="+mj-lt"/>
              </a:rPr>
              <a:t> </a:t>
            </a:r>
            <a:r>
              <a:rPr lang="en-US" sz="2000" dirty="0" err="1">
                <a:solidFill>
                  <a:schemeClr val="tx1"/>
                </a:solidFill>
                <a:latin typeface="+mj-lt"/>
              </a:rPr>
              <a:t>thuế</a:t>
            </a:r>
            <a:r>
              <a:rPr lang="en-US" sz="2000" dirty="0">
                <a:solidFill>
                  <a:schemeClr val="tx1"/>
                </a:solidFill>
                <a:latin typeface="+mj-lt"/>
              </a:rPr>
              <a:t>, </a:t>
            </a:r>
            <a:r>
              <a:rPr lang="en-US" sz="2000" dirty="0" err="1">
                <a:solidFill>
                  <a:schemeClr val="tx1"/>
                </a:solidFill>
                <a:latin typeface="+mj-lt"/>
              </a:rPr>
              <a:t>bao</a:t>
            </a:r>
            <a:r>
              <a:rPr lang="en-US" sz="2000" dirty="0">
                <a:solidFill>
                  <a:schemeClr val="tx1"/>
                </a:solidFill>
                <a:latin typeface="+mj-lt"/>
              </a:rPr>
              <a:t> </a:t>
            </a:r>
            <a:r>
              <a:rPr lang="en-US" sz="2000" dirty="0" err="1">
                <a:solidFill>
                  <a:schemeClr val="tx1"/>
                </a:solidFill>
                <a:latin typeface="+mj-lt"/>
              </a:rPr>
              <a:t>gồm</a:t>
            </a:r>
            <a:r>
              <a:rPr lang="en-US" sz="2000" dirty="0">
                <a:solidFill>
                  <a:schemeClr val="tx1"/>
                </a:solidFill>
                <a:latin typeface="+mj-lt"/>
              </a:rPr>
              <a:t> </a:t>
            </a:r>
            <a:r>
              <a:rPr lang="en-US" sz="2000" dirty="0" err="1">
                <a:solidFill>
                  <a:schemeClr val="tx1"/>
                </a:solidFill>
                <a:latin typeface="+mj-lt"/>
              </a:rPr>
              <a:t>cả</a:t>
            </a:r>
            <a:r>
              <a:rPr lang="en-US" sz="2000" dirty="0">
                <a:solidFill>
                  <a:schemeClr val="tx1"/>
                </a:solidFill>
                <a:latin typeface="+mj-lt"/>
              </a:rPr>
              <a:t> </a:t>
            </a:r>
            <a:r>
              <a:rPr lang="en-US" sz="2000" dirty="0" err="1">
                <a:solidFill>
                  <a:schemeClr val="tx1"/>
                </a:solidFill>
                <a:latin typeface="+mj-lt"/>
              </a:rPr>
              <a:t>trường</a:t>
            </a:r>
            <a:r>
              <a:rPr lang="en-US" sz="2000" dirty="0">
                <a:solidFill>
                  <a:schemeClr val="tx1"/>
                </a:solidFill>
                <a:latin typeface="+mj-lt"/>
              </a:rPr>
              <a:t> </a:t>
            </a:r>
            <a:r>
              <a:rPr lang="en-US" sz="2000" dirty="0" err="1">
                <a:solidFill>
                  <a:schemeClr val="tx1"/>
                </a:solidFill>
                <a:latin typeface="+mj-lt"/>
              </a:rPr>
              <a:t>hợp</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được</a:t>
            </a:r>
            <a:r>
              <a:rPr lang="en-US" sz="2000" dirty="0">
                <a:solidFill>
                  <a:schemeClr val="tx1"/>
                </a:solidFill>
                <a:latin typeface="+mj-lt"/>
              </a:rPr>
              <a:t> </a:t>
            </a:r>
            <a:r>
              <a:rPr lang="en-US" sz="2000" dirty="0" err="1">
                <a:solidFill>
                  <a:schemeClr val="tx1"/>
                </a:solidFill>
                <a:latin typeface="+mj-lt"/>
              </a:rPr>
              <a:t>khởi</a:t>
            </a:r>
            <a:r>
              <a:rPr lang="en-US" sz="2000" dirty="0">
                <a:solidFill>
                  <a:schemeClr val="tx1"/>
                </a:solidFill>
                <a:latin typeface="+mj-lt"/>
              </a:rPr>
              <a:t> </a:t>
            </a:r>
            <a:r>
              <a:rPr lang="en-US" sz="2000" dirty="0" err="1">
                <a:solidFill>
                  <a:schemeClr val="tx1"/>
                </a:solidFill>
                <a:latin typeface="+mj-lt"/>
              </a:rPr>
              <a:t>tạo</a:t>
            </a:r>
            <a:r>
              <a:rPr lang="en-US" sz="2000" dirty="0">
                <a:solidFill>
                  <a:schemeClr val="tx1"/>
                </a:solidFill>
                <a:latin typeface="+mj-lt"/>
              </a:rPr>
              <a:t> </a:t>
            </a:r>
            <a:r>
              <a:rPr lang="en-US" sz="2000" dirty="0" err="1">
                <a:solidFill>
                  <a:schemeClr val="tx1"/>
                </a:solidFill>
                <a:latin typeface="+mj-lt"/>
              </a:rPr>
              <a:t>từ</a:t>
            </a:r>
            <a:r>
              <a:rPr lang="en-US" sz="2000" dirty="0">
                <a:solidFill>
                  <a:schemeClr val="tx1"/>
                </a:solidFill>
                <a:latin typeface="+mj-lt"/>
              </a:rPr>
              <a:t> </a:t>
            </a:r>
            <a:r>
              <a:rPr lang="en-US" sz="2000" dirty="0" err="1">
                <a:solidFill>
                  <a:schemeClr val="tx1"/>
                </a:solidFill>
                <a:latin typeface="+mj-lt"/>
              </a:rPr>
              <a:t>máy</a:t>
            </a:r>
            <a:r>
              <a:rPr lang="en-US" sz="2000" dirty="0">
                <a:solidFill>
                  <a:schemeClr val="tx1"/>
                </a:solidFill>
                <a:latin typeface="+mj-lt"/>
              </a:rPr>
              <a:t> </a:t>
            </a:r>
            <a:r>
              <a:rPr lang="en-US" sz="2000" dirty="0" err="1">
                <a:solidFill>
                  <a:schemeClr val="tx1"/>
                </a:solidFill>
                <a:latin typeface="+mj-lt"/>
              </a:rPr>
              <a:t>tính</a:t>
            </a:r>
            <a:r>
              <a:rPr lang="en-US" sz="2000" dirty="0">
                <a:solidFill>
                  <a:schemeClr val="tx1"/>
                </a:solidFill>
                <a:latin typeface="+mj-lt"/>
              </a:rPr>
              <a:t> </a:t>
            </a:r>
            <a:r>
              <a:rPr lang="en-US" sz="2000" dirty="0" err="1">
                <a:solidFill>
                  <a:schemeClr val="tx1"/>
                </a:solidFill>
                <a:latin typeface="+mj-lt"/>
              </a:rPr>
              <a:t>tiền</a:t>
            </a:r>
            <a:r>
              <a:rPr lang="en-US" sz="2000" dirty="0">
                <a:solidFill>
                  <a:schemeClr val="tx1"/>
                </a:solidFill>
                <a:latin typeface="+mj-lt"/>
              </a:rPr>
              <a: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kết</a:t>
            </a:r>
            <a:r>
              <a:rPr lang="en-US" sz="2000" dirty="0">
                <a:solidFill>
                  <a:schemeClr val="tx1"/>
                </a:solidFill>
                <a:latin typeface="+mj-lt"/>
              </a:rPr>
              <a:t> </a:t>
            </a:r>
            <a:r>
              <a:rPr lang="en-US" sz="2000" dirty="0" err="1">
                <a:solidFill>
                  <a:schemeClr val="tx1"/>
                </a:solidFill>
                <a:latin typeface="+mj-lt"/>
              </a:rPr>
              <a:t>nối</a:t>
            </a:r>
            <a:r>
              <a:rPr lang="en-US" sz="2000" dirty="0">
                <a:solidFill>
                  <a:schemeClr val="tx1"/>
                </a:solidFill>
                <a:latin typeface="+mj-lt"/>
              </a:rPr>
              <a:t> </a:t>
            </a:r>
            <a:r>
              <a:rPr lang="en-US" sz="2000" dirty="0" err="1">
                <a:solidFill>
                  <a:schemeClr val="tx1"/>
                </a:solidFill>
                <a:latin typeface="+mj-lt"/>
              </a:rPr>
              <a:t>chuyển</a:t>
            </a:r>
            <a:r>
              <a:rPr lang="en-US" sz="2000" dirty="0">
                <a:solidFill>
                  <a:schemeClr val="tx1"/>
                </a:solidFill>
                <a:latin typeface="+mj-lt"/>
              </a:rPr>
              <a:t> </a:t>
            </a:r>
            <a:r>
              <a:rPr lang="en-US" sz="2000" dirty="0" err="1">
                <a:solidFill>
                  <a:schemeClr val="tx1"/>
                </a:solidFill>
                <a:latin typeface="+mj-lt"/>
              </a:rPr>
              <a:t>dữ</a:t>
            </a:r>
            <a:r>
              <a:rPr lang="en-US" sz="2000" dirty="0">
                <a:solidFill>
                  <a:schemeClr val="tx1"/>
                </a:solidFill>
                <a:latin typeface="+mj-lt"/>
              </a:rPr>
              <a:t> </a:t>
            </a:r>
            <a:r>
              <a:rPr lang="en-US" sz="2000" dirty="0" err="1">
                <a:solidFill>
                  <a:schemeClr val="tx1"/>
                </a:solidFill>
                <a:latin typeface="+mj-lt"/>
              </a:rPr>
              <a:t>liệu</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với</a:t>
            </a:r>
            <a:r>
              <a:rPr lang="en-US" sz="2000" dirty="0">
                <a:solidFill>
                  <a:schemeClr val="tx1"/>
                </a:solidFill>
                <a:latin typeface="+mj-lt"/>
              </a:rPr>
              <a:t> </a:t>
            </a:r>
            <a:r>
              <a:rPr lang="en-US" sz="2000" dirty="0" err="1">
                <a:solidFill>
                  <a:schemeClr val="tx1"/>
                </a:solidFill>
                <a:latin typeface="+mj-lt"/>
              </a:rPr>
              <a:t>cơ</a:t>
            </a:r>
            <a:r>
              <a:rPr lang="en-US" sz="2000" dirty="0">
                <a:solidFill>
                  <a:schemeClr val="tx1"/>
                </a:solidFill>
                <a:latin typeface="+mj-lt"/>
              </a:rPr>
              <a:t> </a:t>
            </a:r>
            <a:r>
              <a:rPr lang="en-US" sz="2000" dirty="0" err="1">
                <a:solidFill>
                  <a:schemeClr val="tx1"/>
                </a:solidFill>
                <a:latin typeface="+mj-lt"/>
              </a:rPr>
              <a:t>quan</a:t>
            </a:r>
            <a:r>
              <a:rPr lang="en-US" sz="2000" dirty="0">
                <a:solidFill>
                  <a:schemeClr val="tx1"/>
                </a:solidFill>
                <a:latin typeface="+mj-lt"/>
              </a:rPr>
              <a:t> </a:t>
            </a:r>
            <a:r>
              <a:rPr lang="en-US" sz="2000" dirty="0" err="1">
                <a:solidFill>
                  <a:schemeClr val="tx1"/>
                </a:solidFill>
                <a:latin typeface="+mj-lt"/>
              </a:rPr>
              <a:t>thuế</a:t>
            </a:r>
            <a:r>
              <a:rPr lang="en-US" sz="2000" dirty="0">
                <a:solidFill>
                  <a:schemeClr val="tx1"/>
                </a:solidFill>
                <a:latin typeface="+mj-lt"/>
              </a:rPr>
              <a:t>.</a:t>
            </a:r>
            <a:endParaRPr lang="vi-VN" sz="2000" dirty="0">
              <a:solidFill>
                <a:schemeClr val="tx1"/>
              </a:solidFill>
              <a:latin typeface="+mj-lt"/>
            </a:endParaRPr>
          </a:p>
          <a:p>
            <a:pPr algn="just">
              <a:buFontTx/>
              <a:buChar char="-"/>
            </a:pPr>
            <a:endParaRPr lang="en-US" sz="2000" dirty="0">
              <a:solidFill>
                <a:schemeClr val="tx1"/>
              </a:solidFill>
              <a:latin typeface="+mj-lt"/>
            </a:endParaRPr>
          </a:p>
          <a:p>
            <a:pPr marL="0" indent="0" algn="just">
              <a:spcBef>
                <a:spcPts val="0"/>
              </a:spcBef>
              <a:buNone/>
            </a:pPr>
            <a:r>
              <a:rPr lang="en-US" sz="2000" i="1" dirty="0">
                <a:solidFill>
                  <a:schemeClr val="tx1"/>
                </a:solidFill>
                <a:latin typeface="+mj-lt"/>
              </a:rPr>
              <a:t>(</a:t>
            </a:r>
            <a:r>
              <a:rPr lang="en-US" sz="2000" i="1" dirty="0" err="1">
                <a:solidFill>
                  <a:schemeClr val="tx1"/>
                </a:solidFill>
                <a:latin typeface="+mj-lt"/>
              </a:rPr>
              <a:t>Khoản</a:t>
            </a:r>
            <a:r>
              <a:rPr lang="en-US" sz="2000" i="1" dirty="0">
                <a:solidFill>
                  <a:schemeClr val="tx1"/>
                </a:solidFill>
                <a:latin typeface="+mj-lt"/>
              </a:rPr>
              <a:t> 1 </a:t>
            </a:r>
            <a:r>
              <a:rPr lang="en-US" sz="2000" i="1" dirty="0" err="1">
                <a:solidFill>
                  <a:schemeClr val="tx1"/>
                </a:solidFill>
                <a:latin typeface="+mj-lt"/>
              </a:rPr>
              <a:t>Điều</a:t>
            </a:r>
            <a:r>
              <a:rPr lang="en-US" sz="2000" i="1" dirty="0">
                <a:solidFill>
                  <a:schemeClr val="tx1"/>
                </a:solidFill>
                <a:latin typeface="+mj-lt"/>
              </a:rPr>
              <a:t> 89 </a:t>
            </a:r>
            <a:r>
              <a:rPr lang="en-US" sz="2000" i="1" dirty="0" err="1">
                <a:solidFill>
                  <a:schemeClr val="tx1"/>
                </a:solidFill>
                <a:latin typeface="+mj-lt"/>
              </a:rPr>
              <a:t>Luật</a:t>
            </a:r>
            <a:r>
              <a:rPr lang="en-US" sz="2000" i="1" dirty="0">
                <a:solidFill>
                  <a:schemeClr val="tx1"/>
                </a:solidFill>
                <a:latin typeface="+mj-lt"/>
              </a:rPr>
              <a:t> </a:t>
            </a:r>
            <a:r>
              <a:rPr lang="en-US" sz="2000" i="1" dirty="0" err="1">
                <a:solidFill>
                  <a:schemeClr val="tx1"/>
                </a:solidFill>
                <a:latin typeface="+mj-lt"/>
              </a:rPr>
              <a:t>Quản</a:t>
            </a:r>
            <a:r>
              <a:rPr lang="en-US" sz="2000" i="1" dirty="0">
                <a:solidFill>
                  <a:schemeClr val="tx1"/>
                </a:solidFill>
                <a:latin typeface="+mj-lt"/>
              </a:rPr>
              <a:t> </a:t>
            </a:r>
            <a:r>
              <a:rPr lang="en-US" sz="2000" i="1" dirty="0" err="1">
                <a:solidFill>
                  <a:schemeClr val="tx1"/>
                </a:solidFill>
                <a:latin typeface="+mj-lt"/>
              </a:rPr>
              <a:t>lý</a:t>
            </a:r>
            <a:r>
              <a:rPr lang="en-US" sz="2000" i="1" dirty="0">
                <a:solidFill>
                  <a:schemeClr val="tx1"/>
                </a:solidFill>
                <a:latin typeface="+mj-lt"/>
              </a:rPr>
              <a:t> </a:t>
            </a:r>
            <a:r>
              <a:rPr lang="en-US" sz="2000" i="1" dirty="0" err="1">
                <a:solidFill>
                  <a:schemeClr val="tx1"/>
                </a:solidFill>
                <a:latin typeface="+mj-lt"/>
              </a:rPr>
              <a:t>thuế</a:t>
            </a:r>
            <a:r>
              <a:rPr lang="en-US" sz="2000" i="1" dirty="0">
                <a:solidFill>
                  <a:schemeClr val="tx1"/>
                </a:solidFill>
                <a:latin typeface="+mj-lt"/>
              </a:rPr>
              <a:t> 2019) </a:t>
            </a:r>
            <a:r>
              <a:rPr lang="en-US" sz="2000" dirty="0">
                <a:solidFill>
                  <a:schemeClr val="tx1"/>
                </a:solidFill>
                <a:latin typeface="+mj-lt"/>
              </a:rPr>
              <a:t> </a:t>
            </a:r>
            <a:endParaRPr lang="en-US" sz="2000" i="1" dirty="0">
              <a:solidFill>
                <a:schemeClr val="tx1"/>
              </a:solidFill>
              <a:latin typeface="+mj-lt"/>
            </a:endParaRPr>
          </a:p>
          <a:p>
            <a:pPr marL="0" indent="0" algn="just">
              <a:spcBef>
                <a:spcPts val="0"/>
              </a:spcBef>
              <a:buNone/>
            </a:pPr>
            <a:r>
              <a:rPr lang="en-US" sz="2000" i="1" dirty="0">
                <a:solidFill>
                  <a:schemeClr val="tx1"/>
                </a:solidFill>
                <a:latin typeface="+mj-lt"/>
              </a:rPr>
              <a:t>(</a:t>
            </a:r>
            <a:r>
              <a:rPr lang="en-US" sz="2000" i="1" dirty="0" err="1">
                <a:solidFill>
                  <a:schemeClr val="tx1"/>
                </a:solidFill>
                <a:latin typeface="+mj-lt"/>
              </a:rPr>
              <a:t>Khoản</a:t>
            </a:r>
            <a:r>
              <a:rPr lang="en-US" sz="2000" i="1" dirty="0">
                <a:solidFill>
                  <a:schemeClr val="tx1"/>
                </a:solidFill>
                <a:latin typeface="+mj-lt"/>
              </a:rPr>
              <a:t> 2 </a:t>
            </a:r>
            <a:r>
              <a:rPr lang="en-US" sz="2000" i="1" dirty="0" err="1">
                <a:solidFill>
                  <a:schemeClr val="tx1"/>
                </a:solidFill>
                <a:latin typeface="+mj-lt"/>
              </a:rPr>
              <a:t>Điều</a:t>
            </a:r>
            <a:r>
              <a:rPr lang="en-US" sz="2000" i="1" dirty="0">
                <a:solidFill>
                  <a:schemeClr val="tx1"/>
                </a:solidFill>
                <a:latin typeface="+mj-lt"/>
              </a:rPr>
              <a:t> 3 </a:t>
            </a:r>
            <a:r>
              <a:rPr lang="en-US" sz="2000" i="1" dirty="0" err="1">
                <a:solidFill>
                  <a:schemeClr val="tx1"/>
                </a:solidFill>
                <a:latin typeface="+mj-lt"/>
              </a:rPr>
              <a:t>Nghị</a:t>
            </a:r>
            <a:r>
              <a:rPr lang="en-US" sz="2000" i="1" dirty="0">
                <a:solidFill>
                  <a:schemeClr val="tx1"/>
                </a:solidFill>
                <a:latin typeface="+mj-lt"/>
              </a:rPr>
              <a:t> </a:t>
            </a:r>
            <a:r>
              <a:rPr lang="en-US" sz="2000" i="1" dirty="0" err="1">
                <a:solidFill>
                  <a:schemeClr val="tx1"/>
                </a:solidFill>
                <a:latin typeface="+mj-lt"/>
              </a:rPr>
              <a:t>định</a:t>
            </a:r>
            <a:r>
              <a:rPr lang="en-US" sz="2000" i="1" dirty="0">
                <a:solidFill>
                  <a:schemeClr val="tx1"/>
                </a:solidFill>
                <a:latin typeface="+mj-lt"/>
              </a:rPr>
              <a:t> </a:t>
            </a:r>
            <a:r>
              <a:rPr lang="en-US" sz="2000" i="1" dirty="0" err="1">
                <a:solidFill>
                  <a:schemeClr val="tx1"/>
                </a:solidFill>
                <a:latin typeface="+mj-lt"/>
              </a:rPr>
              <a:t>số</a:t>
            </a:r>
            <a:r>
              <a:rPr lang="en-US" sz="2000" i="1" dirty="0">
                <a:solidFill>
                  <a:schemeClr val="tx1"/>
                </a:solidFill>
                <a:latin typeface="+mj-lt"/>
              </a:rPr>
              <a:t> 123/2020/NĐ-CP)</a:t>
            </a:r>
            <a:endParaRPr lang="vi-VN" sz="2000" dirty="0">
              <a:solidFill>
                <a:schemeClr val="tx1"/>
              </a:solidFill>
              <a:latin typeface="+mj-lt"/>
            </a:endParaRPr>
          </a:p>
        </p:txBody>
      </p:sp>
      <p:sp>
        <p:nvSpPr>
          <p:cNvPr id="4" name="Rectangle 3"/>
          <p:cNvSpPr/>
          <p:nvPr/>
        </p:nvSpPr>
        <p:spPr>
          <a:xfrm>
            <a:off x="1397725" y="284481"/>
            <a:ext cx="8059783" cy="64633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PHẦN 1 – TỔNG QUAN CHUNG VỀ HÓA ĐƠN, CHỨNG TỪ - HÓA ĐƠN </a:t>
            </a:r>
            <a:r>
              <a:rPr lang="en-US" b="1" dirty="0">
                <a:latin typeface="Cambria" panose="02040503050406030204" pitchFamily="18" charset="0"/>
              </a:rPr>
              <a:t/>
            </a:r>
            <a:br>
              <a:rPr lang="en-US" b="1" dirty="0">
                <a:latin typeface="Cambria" panose="02040503050406030204" pitchFamily="18" charset="0"/>
              </a:rPr>
            </a:br>
            <a:endParaRPr lang="en-US" dirty="0"/>
          </a:p>
        </p:txBody>
      </p:sp>
      <p:pic>
        <p:nvPicPr>
          <p:cNvPr id="5" name="Picture 4"/>
          <p:cNvPicPr>
            <a:picLocks noChangeAspect="1"/>
          </p:cNvPicPr>
          <p:nvPr/>
        </p:nvPicPr>
        <p:blipFill>
          <a:blip r:embed="rId2"/>
          <a:stretch>
            <a:fillRect/>
          </a:stretch>
        </p:blipFill>
        <p:spPr>
          <a:xfrm>
            <a:off x="1" y="0"/>
            <a:ext cx="1280159" cy="1061048"/>
          </a:xfrm>
          <a:prstGeom prst="rect">
            <a:avLst/>
          </a:prstGeom>
        </p:spPr>
      </p:pic>
    </p:spTree>
    <p:extLst>
      <p:ext uri="{BB962C8B-B14F-4D97-AF65-F5344CB8AC3E}">
        <p14:creationId xmlns:p14="http://schemas.microsoft.com/office/powerpoint/2010/main" val="328188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9679" y="929518"/>
            <a:ext cx="8596668" cy="642425"/>
          </a:xfrm>
        </p:spPr>
        <p:txBody>
          <a:bodyPr anchor="ctr" anchorCtr="0">
            <a:normAutofit/>
          </a:bodyPr>
          <a:lstStyle/>
          <a:p>
            <a:pPr algn="ctr"/>
            <a:r>
              <a:rPr lang="en-US" sz="2400" b="1" dirty="0">
                <a:solidFill>
                  <a:srgbClr val="C00000"/>
                </a:solidFill>
              </a:rPr>
              <a:t> HÓA ĐƠN ĐIỆN TỬ CÓ MÃ CỦA CQT</a:t>
            </a:r>
            <a:endParaRPr lang="vi-VN" sz="2400" b="1" dirty="0">
              <a:solidFill>
                <a:srgbClr val="C00000"/>
              </a:solidFill>
            </a:endParaRPr>
          </a:p>
        </p:txBody>
      </p:sp>
      <p:sp>
        <p:nvSpPr>
          <p:cNvPr id="3" name="Content Placeholder 2"/>
          <p:cNvSpPr>
            <a:spLocks noGrp="1"/>
          </p:cNvSpPr>
          <p:nvPr>
            <p:ph idx="1"/>
          </p:nvPr>
        </p:nvSpPr>
        <p:spPr>
          <a:xfrm>
            <a:off x="677334" y="1671145"/>
            <a:ext cx="8596668" cy="4370217"/>
          </a:xfrm>
        </p:spPr>
        <p:txBody>
          <a:bodyPr vert="horz" anchor="ctr" anchorCtr="0">
            <a:noAutofit/>
          </a:bodyPr>
          <a:lstStyle/>
          <a:p>
            <a:pPr marL="0" indent="0" algn="just">
              <a:buNone/>
            </a:pPr>
            <a:endParaRPr lang="en-US" sz="2000" dirty="0">
              <a:solidFill>
                <a:schemeClr val="tx1"/>
              </a:solidFill>
              <a:latin typeface="+mj-lt"/>
            </a:endParaRPr>
          </a:p>
          <a:p>
            <a:pPr marL="0" indent="0" algn="just">
              <a:buNone/>
            </a:pPr>
            <a:r>
              <a:rPr lang="en-US" sz="2000" dirty="0">
                <a:solidFill>
                  <a:schemeClr val="tx1"/>
                </a:solidFill>
                <a:latin typeface="+mj-lt"/>
              </a:rPr>
              <a:t>- </a:t>
            </a:r>
            <a:r>
              <a:rPr lang="en-US" sz="2000" b="1" dirty="0" err="1">
                <a:solidFill>
                  <a:schemeClr val="tx1"/>
                </a:solidFill>
                <a:latin typeface="+mj-lt"/>
              </a:rPr>
              <a:t>Hóa</a:t>
            </a:r>
            <a:r>
              <a:rPr lang="en-US" sz="2000" b="1" dirty="0">
                <a:solidFill>
                  <a:schemeClr val="tx1"/>
                </a:solidFill>
                <a:latin typeface="+mj-lt"/>
              </a:rPr>
              <a:t> </a:t>
            </a:r>
            <a:r>
              <a:rPr lang="en-US" sz="2000" b="1" dirty="0" err="1">
                <a:solidFill>
                  <a:schemeClr val="tx1"/>
                </a:solidFill>
                <a:latin typeface="+mj-lt"/>
              </a:rPr>
              <a:t>đơn</a:t>
            </a:r>
            <a:r>
              <a:rPr lang="en-US" sz="2000" b="1" dirty="0">
                <a:solidFill>
                  <a:schemeClr val="tx1"/>
                </a:solidFill>
                <a:latin typeface="+mj-lt"/>
              </a:rPr>
              <a:t> </a:t>
            </a:r>
            <a:r>
              <a:rPr lang="en-US" sz="2000" b="1" dirty="0" err="1">
                <a:solidFill>
                  <a:schemeClr val="tx1"/>
                </a:solidFill>
                <a:latin typeface="+mj-lt"/>
              </a:rPr>
              <a:t>điện</a:t>
            </a:r>
            <a:r>
              <a:rPr lang="en-US" sz="2000" b="1" dirty="0">
                <a:solidFill>
                  <a:schemeClr val="tx1"/>
                </a:solidFill>
                <a:latin typeface="+mj-lt"/>
              </a:rPr>
              <a:t> </a:t>
            </a:r>
            <a:r>
              <a:rPr lang="en-US" sz="2000" b="1" dirty="0" err="1">
                <a:solidFill>
                  <a:schemeClr val="tx1"/>
                </a:solidFill>
                <a:latin typeface="+mj-lt"/>
              </a:rPr>
              <a:t>tử</a:t>
            </a:r>
            <a:r>
              <a:rPr lang="en-US" sz="2000" b="1" dirty="0">
                <a:solidFill>
                  <a:schemeClr val="tx1"/>
                </a:solidFill>
                <a:latin typeface="+mj-lt"/>
              </a:rPr>
              <a:t> </a:t>
            </a:r>
            <a:r>
              <a:rPr lang="en-US" sz="2000" b="1" dirty="0" err="1">
                <a:solidFill>
                  <a:schemeClr val="tx1"/>
                </a:solidFill>
                <a:latin typeface="+mj-lt"/>
              </a:rPr>
              <a:t>có</a:t>
            </a:r>
            <a:r>
              <a:rPr lang="en-US" sz="2000" b="1" dirty="0">
                <a:solidFill>
                  <a:schemeClr val="tx1"/>
                </a:solidFill>
                <a:latin typeface="+mj-lt"/>
              </a:rPr>
              <a:t> </a:t>
            </a:r>
            <a:r>
              <a:rPr lang="en-US" sz="2000" b="1" dirty="0" err="1">
                <a:solidFill>
                  <a:schemeClr val="tx1"/>
                </a:solidFill>
                <a:latin typeface="+mj-lt"/>
              </a:rPr>
              <a:t>mã</a:t>
            </a:r>
            <a:r>
              <a:rPr lang="en-US" sz="2000" b="1" dirty="0">
                <a:solidFill>
                  <a:schemeClr val="tx1"/>
                </a:solidFill>
                <a:latin typeface="+mj-lt"/>
              </a:rPr>
              <a:t> </a:t>
            </a:r>
            <a:r>
              <a:rPr lang="en-US" sz="2000" b="1" dirty="0" err="1">
                <a:solidFill>
                  <a:schemeClr val="tx1"/>
                </a:solidFill>
                <a:latin typeface="+mj-lt"/>
              </a:rPr>
              <a:t>của</a:t>
            </a:r>
            <a:r>
              <a:rPr lang="en-US" sz="2000" b="1" dirty="0">
                <a:solidFill>
                  <a:schemeClr val="tx1"/>
                </a:solidFill>
                <a:latin typeface="+mj-lt"/>
              </a:rPr>
              <a:t> </a:t>
            </a:r>
            <a:r>
              <a:rPr lang="en-US" sz="2000" b="1" dirty="0" err="1">
                <a:solidFill>
                  <a:schemeClr val="tx1"/>
                </a:solidFill>
                <a:latin typeface="+mj-lt"/>
              </a:rPr>
              <a:t>cơ</a:t>
            </a:r>
            <a:r>
              <a:rPr lang="en-US" sz="2000" b="1" dirty="0">
                <a:solidFill>
                  <a:schemeClr val="tx1"/>
                </a:solidFill>
                <a:latin typeface="+mj-lt"/>
              </a:rPr>
              <a:t> </a:t>
            </a:r>
            <a:r>
              <a:rPr lang="en-US" sz="2000" b="1" dirty="0" err="1">
                <a:solidFill>
                  <a:schemeClr val="tx1"/>
                </a:solidFill>
                <a:latin typeface="+mj-lt"/>
              </a:rPr>
              <a:t>quan</a:t>
            </a:r>
            <a:r>
              <a:rPr lang="en-US" sz="2000" b="1" dirty="0">
                <a:solidFill>
                  <a:schemeClr val="tx1"/>
                </a:solidFill>
                <a:latin typeface="+mj-lt"/>
              </a:rPr>
              <a:t> </a:t>
            </a:r>
            <a:r>
              <a:rPr lang="en-US" sz="2000" b="1" dirty="0" err="1">
                <a:solidFill>
                  <a:schemeClr val="tx1"/>
                </a:solidFill>
                <a:latin typeface="+mj-lt"/>
              </a:rPr>
              <a:t>thuế</a:t>
            </a:r>
            <a:r>
              <a:rPr lang="en-US" sz="2000" b="1" dirty="0">
                <a:solidFill>
                  <a:schemeClr val="tx1"/>
                </a:solidFill>
                <a:latin typeface="+mj-lt"/>
              </a:rPr>
              <a:t> </a:t>
            </a:r>
            <a:r>
              <a:rPr lang="en-US" sz="2000" dirty="0" err="1">
                <a:solidFill>
                  <a:schemeClr val="tx1"/>
                </a:solidFill>
                <a:latin typeface="+mj-lt"/>
              </a:rPr>
              <a:t>là</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được</a:t>
            </a:r>
            <a:r>
              <a:rPr lang="en-US" sz="2000" dirty="0">
                <a:solidFill>
                  <a:schemeClr val="tx1"/>
                </a:solidFill>
                <a:latin typeface="+mj-lt"/>
              </a:rPr>
              <a:t> </a:t>
            </a:r>
            <a:r>
              <a:rPr lang="en-US" sz="2000" dirty="0" err="1">
                <a:solidFill>
                  <a:schemeClr val="tx1"/>
                </a:solidFill>
                <a:latin typeface="+mj-lt"/>
              </a:rPr>
              <a:t>cơ</a:t>
            </a:r>
            <a:r>
              <a:rPr lang="en-US" sz="2000" dirty="0">
                <a:solidFill>
                  <a:schemeClr val="tx1"/>
                </a:solidFill>
                <a:latin typeface="+mj-lt"/>
              </a:rPr>
              <a:t> </a:t>
            </a:r>
            <a:r>
              <a:rPr lang="en-US" sz="2000" dirty="0" err="1">
                <a:solidFill>
                  <a:schemeClr val="tx1"/>
                </a:solidFill>
                <a:latin typeface="+mj-lt"/>
              </a:rPr>
              <a:t>quan</a:t>
            </a:r>
            <a:r>
              <a:rPr lang="en-US" sz="2000" dirty="0">
                <a:solidFill>
                  <a:schemeClr val="tx1"/>
                </a:solidFill>
                <a:latin typeface="+mj-lt"/>
              </a:rPr>
              <a:t> </a:t>
            </a:r>
            <a:r>
              <a:rPr lang="en-US" sz="2000" dirty="0" err="1">
                <a:solidFill>
                  <a:schemeClr val="tx1"/>
                </a:solidFill>
                <a:latin typeface="+mj-lt"/>
              </a:rPr>
              <a:t>thuế</a:t>
            </a:r>
            <a:r>
              <a:rPr lang="en-US" sz="2000" dirty="0">
                <a:solidFill>
                  <a:schemeClr val="tx1"/>
                </a:solidFill>
                <a:latin typeface="+mj-lt"/>
              </a:rPr>
              <a:t> </a:t>
            </a:r>
            <a:r>
              <a:rPr lang="en-US" sz="2000" dirty="0" err="1">
                <a:solidFill>
                  <a:schemeClr val="tx1"/>
                </a:solidFill>
                <a:latin typeface="+mj-lt"/>
              </a:rPr>
              <a:t>cấp</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 </a:t>
            </a:r>
            <a:r>
              <a:rPr lang="en-US" sz="2000" dirty="0" err="1">
                <a:solidFill>
                  <a:schemeClr val="tx1"/>
                </a:solidFill>
                <a:latin typeface="+mj-lt"/>
              </a:rPr>
              <a:t>trước</a:t>
            </a:r>
            <a:r>
              <a:rPr lang="en-US" sz="2000" dirty="0">
                <a:solidFill>
                  <a:schemeClr val="tx1"/>
                </a:solidFill>
                <a:latin typeface="+mj-lt"/>
              </a:rPr>
              <a:t> </a:t>
            </a:r>
            <a:r>
              <a:rPr lang="en-US" sz="2000" dirty="0" err="1">
                <a:solidFill>
                  <a:schemeClr val="tx1"/>
                </a:solidFill>
                <a:latin typeface="+mj-lt"/>
              </a:rPr>
              <a:t>khi</a:t>
            </a:r>
            <a:r>
              <a:rPr lang="en-US" sz="2000" dirty="0">
                <a:solidFill>
                  <a:schemeClr val="tx1"/>
                </a:solidFill>
                <a:latin typeface="+mj-lt"/>
              </a:rPr>
              <a:t> </a:t>
            </a:r>
            <a:r>
              <a:rPr lang="en-US" sz="2000" dirty="0" err="1">
                <a:solidFill>
                  <a:schemeClr val="tx1"/>
                </a:solidFill>
                <a:latin typeface="+mj-lt"/>
              </a:rPr>
              <a:t>tổ</a:t>
            </a:r>
            <a:r>
              <a:rPr lang="en-US" sz="2000" dirty="0">
                <a:solidFill>
                  <a:schemeClr val="tx1"/>
                </a:solidFill>
                <a:latin typeface="+mj-lt"/>
              </a:rPr>
              <a:t> </a:t>
            </a:r>
            <a:r>
              <a:rPr lang="en-US" sz="2000" dirty="0" err="1">
                <a:solidFill>
                  <a:schemeClr val="tx1"/>
                </a:solidFill>
                <a:latin typeface="+mj-lt"/>
              </a:rPr>
              <a:t>chức</a:t>
            </a:r>
            <a:r>
              <a:rPr lang="en-US" sz="2000" dirty="0">
                <a:solidFill>
                  <a:schemeClr val="tx1"/>
                </a:solidFill>
                <a:latin typeface="+mj-lt"/>
              </a:rPr>
              <a:t>, </a:t>
            </a:r>
            <a:r>
              <a:rPr lang="en-US" sz="2000" dirty="0" err="1">
                <a:solidFill>
                  <a:schemeClr val="tx1"/>
                </a:solidFill>
                <a:latin typeface="+mj-lt"/>
              </a:rPr>
              <a:t>cá</a:t>
            </a:r>
            <a:r>
              <a:rPr lang="en-US" sz="2000" dirty="0">
                <a:solidFill>
                  <a:schemeClr val="tx1"/>
                </a:solidFill>
                <a:latin typeface="+mj-lt"/>
              </a:rPr>
              <a:t> </a:t>
            </a:r>
            <a:r>
              <a:rPr lang="en-US" sz="2000" dirty="0" err="1">
                <a:solidFill>
                  <a:schemeClr val="tx1"/>
                </a:solidFill>
                <a:latin typeface="+mj-lt"/>
              </a:rPr>
              <a:t>nhân</a:t>
            </a:r>
            <a:r>
              <a:rPr lang="en-US" sz="2000" dirty="0">
                <a:solidFill>
                  <a:schemeClr val="tx1"/>
                </a:solidFill>
                <a:latin typeface="+mj-lt"/>
              </a:rPr>
              <a:t> </a:t>
            </a:r>
            <a:r>
              <a:rPr lang="en-US" sz="2000" dirty="0" err="1">
                <a:solidFill>
                  <a:schemeClr val="tx1"/>
                </a:solidFill>
                <a:latin typeface="+mj-lt"/>
              </a:rPr>
              <a:t>bán</a:t>
            </a:r>
            <a:r>
              <a:rPr lang="en-US" sz="2000" dirty="0">
                <a:solidFill>
                  <a:schemeClr val="tx1"/>
                </a:solidFill>
                <a:latin typeface="+mj-lt"/>
              </a:rPr>
              <a:t> </a:t>
            </a:r>
            <a:r>
              <a:rPr lang="en-US" sz="2000" dirty="0" err="1">
                <a:solidFill>
                  <a:schemeClr val="tx1"/>
                </a:solidFill>
                <a:latin typeface="+mj-lt"/>
              </a:rPr>
              <a:t>hàng</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cung</a:t>
            </a:r>
            <a:r>
              <a:rPr lang="en-US" sz="2000" dirty="0">
                <a:solidFill>
                  <a:schemeClr val="tx1"/>
                </a:solidFill>
                <a:latin typeface="+mj-lt"/>
              </a:rPr>
              <a:t> </a:t>
            </a:r>
            <a:r>
              <a:rPr lang="en-US" sz="2000" dirty="0" err="1">
                <a:solidFill>
                  <a:schemeClr val="tx1"/>
                </a:solidFill>
                <a:latin typeface="+mj-lt"/>
              </a:rPr>
              <a:t>cấp</a:t>
            </a:r>
            <a:r>
              <a:rPr lang="en-US" sz="2000" dirty="0">
                <a:solidFill>
                  <a:schemeClr val="tx1"/>
                </a:solidFill>
                <a:latin typeface="+mj-lt"/>
              </a:rPr>
              <a:t> </a:t>
            </a:r>
            <a:r>
              <a:rPr lang="en-US" sz="2000" dirty="0" err="1">
                <a:solidFill>
                  <a:schemeClr val="tx1"/>
                </a:solidFill>
                <a:latin typeface="+mj-lt"/>
              </a:rPr>
              <a:t>dịch</a:t>
            </a:r>
            <a:r>
              <a:rPr lang="en-US" sz="2000" dirty="0">
                <a:solidFill>
                  <a:schemeClr val="tx1"/>
                </a:solidFill>
                <a:latin typeface="+mj-lt"/>
              </a:rPr>
              <a:t> </a:t>
            </a:r>
            <a:r>
              <a:rPr lang="en-US" sz="2000" dirty="0" err="1">
                <a:solidFill>
                  <a:schemeClr val="tx1"/>
                </a:solidFill>
                <a:latin typeface="+mj-lt"/>
              </a:rPr>
              <a:t>vụ</a:t>
            </a:r>
            <a:r>
              <a:rPr lang="en-US" sz="2000" dirty="0">
                <a:solidFill>
                  <a:schemeClr val="tx1"/>
                </a:solidFill>
                <a:latin typeface="+mj-lt"/>
              </a:rPr>
              <a:t> </a:t>
            </a:r>
            <a:r>
              <a:rPr lang="en-US" sz="2000" dirty="0" err="1">
                <a:solidFill>
                  <a:schemeClr val="tx1"/>
                </a:solidFill>
                <a:latin typeface="+mj-lt"/>
              </a:rPr>
              <a:t>gửi</a:t>
            </a:r>
            <a:r>
              <a:rPr lang="en-US" sz="2000" dirty="0">
                <a:solidFill>
                  <a:schemeClr val="tx1"/>
                </a:solidFill>
                <a:latin typeface="+mj-lt"/>
              </a:rPr>
              <a:t> </a:t>
            </a:r>
            <a:r>
              <a:rPr lang="en-US" sz="2000" dirty="0" err="1">
                <a:solidFill>
                  <a:schemeClr val="tx1"/>
                </a:solidFill>
                <a:latin typeface="+mj-lt"/>
              </a:rPr>
              <a:t>cho</a:t>
            </a:r>
            <a:r>
              <a:rPr lang="en-US" sz="2000" dirty="0">
                <a:solidFill>
                  <a:schemeClr val="tx1"/>
                </a:solidFill>
                <a:latin typeface="+mj-lt"/>
              </a:rPr>
              <a:t> </a:t>
            </a:r>
            <a:r>
              <a:rPr lang="en-US" sz="2000" dirty="0" err="1">
                <a:solidFill>
                  <a:schemeClr val="tx1"/>
                </a:solidFill>
                <a:latin typeface="+mj-lt"/>
              </a:rPr>
              <a:t>người</a:t>
            </a:r>
            <a:r>
              <a:rPr lang="en-US" sz="2000" dirty="0">
                <a:solidFill>
                  <a:schemeClr val="tx1"/>
                </a:solidFill>
                <a:latin typeface="+mj-lt"/>
              </a:rPr>
              <a:t> </a:t>
            </a:r>
            <a:r>
              <a:rPr lang="en-US" sz="2000" dirty="0" err="1">
                <a:solidFill>
                  <a:schemeClr val="tx1"/>
                </a:solidFill>
                <a:latin typeface="+mj-lt"/>
              </a:rPr>
              <a:t>mua</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cơ</a:t>
            </a:r>
            <a:r>
              <a:rPr lang="en-US" sz="2000" dirty="0">
                <a:solidFill>
                  <a:schemeClr val="tx1"/>
                </a:solidFill>
                <a:latin typeface="+mj-lt"/>
              </a:rPr>
              <a:t> </a:t>
            </a:r>
            <a:r>
              <a:rPr lang="en-US" sz="2000" dirty="0" err="1">
                <a:solidFill>
                  <a:schemeClr val="tx1"/>
                </a:solidFill>
                <a:latin typeface="+mj-lt"/>
              </a:rPr>
              <a:t>quan</a:t>
            </a:r>
            <a:r>
              <a:rPr lang="en-US" sz="2000" dirty="0">
                <a:solidFill>
                  <a:schemeClr val="tx1"/>
                </a:solidFill>
                <a:latin typeface="+mj-lt"/>
              </a:rPr>
              <a:t> </a:t>
            </a:r>
            <a:r>
              <a:rPr lang="en-US" sz="2000" dirty="0" err="1">
                <a:solidFill>
                  <a:schemeClr val="tx1"/>
                </a:solidFill>
                <a:latin typeface="+mj-lt"/>
              </a:rPr>
              <a:t>thuế</a:t>
            </a:r>
            <a:r>
              <a:rPr lang="en-US" sz="2000" dirty="0">
                <a:solidFill>
                  <a:schemeClr val="tx1"/>
                </a:solidFill>
                <a:latin typeface="+mj-lt"/>
              </a:rPr>
              <a:t> </a:t>
            </a:r>
            <a:r>
              <a:rPr lang="en-US" sz="2000" dirty="0" err="1">
                <a:solidFill>
                  <a:schemeClr val="tx1"/>
                </a:solidFill>
                <a:latin typeface="+mj-lt"/>
              </a:rPr>
              <a:t>trên</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bao</a:t>
            </a:r>
            <a:r>
              <a:rPr lang="en-US" sz="2000" dirty="0">
                <a:solidFill>
                  <a:schemeClr val="tx1"/>
                </a:solidFill>
                <a:latin typeface="+mj-lt"/>
              </a:rPr>
              <a:t> </a:t>
            </a:r>
            <a:r>
              <a:rPr lang="en-US" sz="2000" dirty="0" err="1">
                <a:solidFill>
                  <a:schemeClr val="tx1"/>
                </a:solidFill>
                <a:latin typeface="+mj-lt"/>
              </a:rPr>
              <a:t>gồm</a:t>
            </a:r>
            <a:r>
              <a:rPr lang="en-US" sz="2000" dirty="0">
                <a:solidFill>
                  <a:schemeClr val="tx1"/>
                </a:solidFill>
                <a:latin typeface="+mj-lt"/>
              </a:rPr>
              <a:t> </a:t>
            </a:r>
            <a:r>
              <a:rPr lang="en-US" sz="2000" dirty="0" err="1">
                <a:solidFill>
                  <a:schemeClr val="tx1"/>
                </a:solidFill>
                <a:latin typeface="+mj-lt"/>
              </a:rPr>
              <a:t>số</a:t>
            </a:r>
            <a:r>
              <a:rPr lang="en-US" sz="2000" dirty="0">
                <a:solidFill>
                  <a:schemeClr val="tx1"/>
                </a:solidFill>
                <a:latin typeface="+mj-lt"/>
              </a:rPr>
              <a:t> </a:t>
            </a:r>
            <a:r>
              <a:rPr lang="en-US" sz="2000" dirty="0" err="1">
                <a:solidFill>
                  <a:schemeClr val="tx1"/>
                </a:solidFill>
                <a:latin typeface="+mj-lt"/>
              </a:rPr>
              <a:t>giao</a:t>
            </a:r>
            <a:r>
              <a:rPr lang="en-US" sz="2000" dirty="0">
                <a:solidFill>
                  <a:schemeClr val="tx1"/>
                </a:solidFill>
                <a:latin typeface="+mj-lt"/>
              </a:rPr>
              <a:t> </a:t>
            </a:r>
            <a:r>
              <a:rPr lang="en-US" sz="2000" dirty="0" err="1">
                <a:solidFill>
                  <a:schemeClr val="tx1"/>
                </a:solidFill>
                <a:latin typeface="+mj-lt"/>
              </a:rPr>
              <a:t>dịch</a:t>
            </a:r>
            <a:r>
              <a:rPr lang="en-US" sz="2000" dirty="0">
                <a:solidFill>
                  <a:schemeClr val="tx1"/>
                </a:solidFill>
                <a:latin typeface="+mj-lt"/>
              </a:rPr>
              <a:t> </a:t>
            </a:r>
            <a:r>
              <a:rPr lang="en-US" sz="2000" dirty="0" err="1">
                <a:solidFill>
                  <a:schemeClr val="tx1"/>
                </a:solidFill>
                <a:latin typeface="+mj-lt"/>
              </a:rPr>
              <a:t>là</a:t>
            </a:r>
            <a:r>
              <a:rPr lang="en-US" sz="2000" dirty="0">
                <a:solidFill>
                  <a:schemeClr val="tx1"/>
                </a:solidFill>
                <a:latin typeface="+mj-lt"/>
              </a:rPr>
              <a:t> </a:t>
            </a:r>
            <a:r>
              <a:rPr lang="en-US" sz="2000" dirty="0" err="1">
                <a:solidFill>
                  <a:schemeClr val="tx1"/>
                </a:solidFill>
                <a:latin typeface="+mj-lt"/>
              </a:rPr>
              <a:t>một</a:t>
            </a:r>
            <a:r>
              <a:rPr lang="en-US" sz="2000" dirty="0">
                <a:solidFill>
                  <a:schemeClr val="tx1"/>
                </a:solidFill>
                <a:latin typeface="+mj-lt"/>
              </a:rPr>
              <a:t> </a:t>
            </a:r>
            <a:r>
              <a:rPr lang="en-US" sz="2000" dirty="0" err="1">
                <a:solidFill>
                  <a:schemeClr val="tx1"/>
                </a:solidFill>
                <a:latin typeface="+mj-lt"/>
              </a:rPr>
              <a:t>dãy</a:t>
            </a:r>
            <a:r>
              <a:rPr lang="en-US" sz="2000" dirty="0">
                <a:solidFill>
                  <a:schemeClr val="tx1"/>
                </a:solidFill>
                <a:latin typeface="+mj-lt"/>
              </a:rPr>
              <a:t> </a:t>
            </a:r>
            <a:r>
              <a:rPr lang="en-US" sz="2000" dirty="0" err="1">
                <a:solidFill>
                  <a:schemeClr val="tx1"/>
                </a:solidFill>
                <a:latin typeface="+mj-lt"/>
              </a:rPr>
              <a:t>số</a:t>
            </a:r>
            <a:r>
              <a:rPr lang="en-US" sz="2000" dirty="0">
                <a:solidFill>
                  <a:schemeClr val="tx1"/>
                </a:solidFill>
                <a:latin typeface="+mj-lt"/>
              </a:rPr>
              <a:t> </a:t>
            </a:r>
            <a:r>
              <a:rPr lang="en-US" sz="2000" dirty="0" err="1">
                <a:solidFill>
                  <a:schemeClr val="tx1"/>
                </a:solidFill>
                <a:latin typeface="+mj-lt"/>
              </a:rPr>
              <a:t>duy</a:t>
            </a:r>
            <a:r>
              <a:rPr lang="en-US" sz="2000" dirty="0">
                <a:solidFill>
                  <a:schemeClr val="tx1"/>
                </a:solidFill>
                <a:latin typeface="+mj-lt"/>
              </a:rPr>
              <a:t> </a:t>
            </a:r>
            <a:r>
              <a:rPr lang="en-US" sz="2000" dirty="0" err="1">
                <a:solidFill>
                  <a:schemeClr val="tx1"/>
                </a:solidFill>
                <a:latin typeface="+mj-lt"/>
              </a:rPr>
              <a:t>nhất</a:t>
            </a:r>
            <a:r>
              <a:rPr lang="en-US" sz="2000" dirty="0">
                <a:solidFill>
                  <a:schemeClr val="tx1"/>
                </a:solidFill>
                <a:latin typeface="+mj-lt"/>
              </a:rPr>
              <a:t> do </a:t>
            </a:r>
            <a:r>
              <a:rPr lang="en-US" sz="2000" dirty="0" err="1">
                <a:solidFill>
                  <a:schemeClr val="tx1"/>
                </a:solidFill>
                <a:latin typeface="+mj-lt"/>
              </a:rPr>
              <a:t>hệ</a:t>
            </a:r>
            <a:r>
              <a:rPr lang="en-US" sz="2000" dirty="0">
                <a:solidFill>
                  <a:schemeClr val="tx1"/>
                </a:solidFill>
                <a:latin typeface="+mj-lt"/>
              </a:rPr>
              <a:t> </a:t>
            </a:r>
            <a:r>
              <a:rPr lang="en-US" sz="2000" dirty="0" err="1">
                <a:solidFill>
                  <a:schemeClr val="tx1"/>
                </a:solidFill>
                <a:latin typeface="+mj-lt"/>
              </a:rPr>
              <a:t>thống</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cơ</a:t>
            </a:r>
            <a:r>
              <a:rPr lang="en-US" sz="2000" dirty="0">
                <a:solidFill>
                  <a:schemeClr val="tx1"/>
                </a:solidFill>
                <a:latin typeface="+mj-lt"/>
              </a:rPr>
              <a:t> </a:t>
            </a:r>
            <a:r>
              <a:rPr lang="en-US" sz="2000" dirty="0" err="1">
                <a:solidFill>
                  <a:schemeClr val="tx1"/>
                </a:solidFill>
                <a:latin typeface="+mj-lt"/>
              </a:rPr>
              <a:t>quan</a:t>
            </a:r>
            <a:r>
              <a:rPr lang="en-US" sz="2000" dirty="0">
                <a:solidFill>
                  <a:schemeClr val="tx1"/>
                </a:solidFill>
                <a:latin typeface="+mj-lt"/>
              </a:rPr>
              <a:t> </a:t>
            </a:r>
            <a:r>
              <a:rPr lang="en-US" sz="2000" dirty="0" err="1">
                <a:solidFill>
                  <a:schemeClr val="tx1"/>
                </a:solidFill>
                <a:latin typeface="+mj-lt"/>
              </a:rPr>
              <a:t>thuế</a:t>
            </a:r>
            <a:r>
              <a:rPr lang="en-US" sz="2000" dirty="0">
                <a:solidFill>
                  <a:schemeClr val="tx1"/>
                </a:solidFill>
                <a:latin typeface="+mj-lt"/>
              </a:rPr>
              <a:t> </a:t>
            </a:r>
            <a:r>
              <a:rPr lang="en-US" sz="2000" dirty="0" err="1">
                <a:solidFill>
                  <a:schemeClr val="tx1"/>
                </a:solidFill>
                <a:latin typeface="+mj-lt"/>
              </a:rPr>
              <a:t>tạo</a:t>
            </a:r>
            <a:r>
              <a:rPr lang="en-US" sz="2000" dirty="0">
                <a:solidFill>
                  <a:schemeClr val="tx1"/>
                </a:solidFill>
                <a:latin typeface="+mj-lt"/>
              </a:rPr>
              <a:t> </a:t>
            </a:r>
            <a:r>
              <a:rPr lang="en-US" sz="2000" dirty="0" err="1">
                <a:solidFill>
                  <a:schemeClr val="tx1"/>
                </a:solidFill>
                <a:latin typeface="+mj-lt"/>
              </a:rPr>
              <a:t>ra</a:t>
            </a:r>
            <a:r>
              <a:rPr lang="en-US" sz="2000" dirty="0">
                <a:solidFill>
                  <a:schemeClr val="tx1"/>
                </a:solidFill>
                <a:latin typeface="+mj-lt"/>
              </a:rPr>
              <a:t> </a:t>
            </a:r>
            <a:r>
              <a:rPr lang="en-US" sz="2000" dirty="0" err="1">
                <a:solidFill>
                  <a:schemeClr val="tx1"/>
                </a:solidFill>
                <a:latin typeface="+mj-lt"/>
              </a:rPr>
              <a:t>và</a:t>
            </a:r>
            <a:r>
              <a:rPr lang="en-US" sz="2000" dirty="0">
                <a:solidFill>
                  <a:schemeClr val="tx1"/>
                </a:solidFill>
                <a:latin typeface="+mj-lt"/>
              </a:rPr>
              <a:t> </a:t>
            </a:r>
            <a:r>
              <a:rPr lang="en-US" sz="2000" dirty="0" err="1">
                <a:solidFill>
                  <a:schemeClr val="tx1"/>
                </a:solidFill>
                <a:latin typeface="+mj-lt"/>
              </a:rPr>
              <a:t>một</a:t>
            </a:r>
            <a:r>
              <a:rPr lang="en-US" sz="2000" dirty="0">
                <a:solidFill>
                  <a:schemeClr val="tx1"/>
                </a:solidFill>
                <a:latin typeface="+mj-lt"/>
              </a:rPr>
              <a:t> </a:t>
            </a:r>
            <a:r>
              <a:rPr lang="en-US" sz="2000" dirty="0" err="1">
                <a:solidFill>
                  <a:schemeClr val="tx1"/>
                </a:solidFill>
                <a:latin typeface="+mj-lt"/>
              </a:rPr>
              <a:t>chuỗi</a:t>
            </a:r>
            <a:r>
              <a:rPr lang="en-US" sz="2000" dirty="0">
                <a:solidFill>
                  <a:schemeClr val="tx1"/>
                </a:solidFill>
                <a:latin typeface="+mj-lt"/>
              </a:rPr>
              <a:t> </a:t>
            </a:r>
            <a:r>
              <a:rPr lang="en-US" sz="2000" dirty="0" err="1">
                <a:solidFill>
                  <a:schemeClr val="tx1"/>
                </a:solidFill>
                <a:latin typeface="+mj-lt"/>
              </a:rPr>
              <a:t>ký</a:t>
            </a:r>
            <a:r>
              <a:rPr lang="en-US" sz="2000" dirty="0">
                <a:solidFill>
                  <a:schemeClr val="tx1"/>
                </a:solidFill>
                <a:latin typeface="+mj-lt"/>
              </a:rPr>
              <a:t> </a:t>
            </a:r>
            <a:r>
              <a:rPr lang="en-US" sz="2000" dirty="0" err="1">
                <a:solidFill>
                  <a:schemeClr val="tx1"/>
                </a:solidFill>
                <a:latin typeface="+mj-lt"/>
              </a:rPr>
              <a:t>tự</a:t>
            </a:r>
            <a:r>
              <a:rPr lang="en-US" sz="2000" dirty="0">
                <a:solidFill>
                  <a:schemeClr val="tx1"/>
                </a:solidFill>
                <a:latin typeface="+mj-lt"/>
              </a:rPr>
              <a:t> </a:t>
            </a:r>
            <a:r>
              <a:rPr lang="en-US" sz="2000" dirty="0" err="1">
                <a:solidFill>
                  <a:schemeClr val="tx1"/>
                </a:solidFill>
                <a:latin typeface="+mj-lt"/>
              </a:rPr>
              <a:t>được</a:t>
            </a:r>
            <a:r>
              <a:rPr lang="en-US" sz="2000" dirty="0">
                <a:solidFill>
                  <a:schemeClr val="tx1"/>
                </a:solidFill>
                <a:latin typeface="+mj-lt"/>
              </a:rPr>
              <a:t> </a:t>
            </a:r>
            <a:r>
              <a:rPr lang="en-US" sz="2000" dirty="0" err="1">
                <a:solidFill>
                  <a:schemeClr val="tx1"/>
                </a:solidFill>
                <a:latin typeface="+mj-lt"/>
              </a:rPr>
              <a:t>cơ</a:t>
            </a:r>
            <a:r>
              <a:rPr lang="en-US" sz="2000" dirty="0">
                <a:solidFill>
                  <a:schemeClr val="tx1"/>
                </a:solidFill>
                <a:latin typeface="+mj-lt"/>
              </a:rPr>
              <a:t> </a:t>
            </a:r>
            <a:r>
              <a:rPr lang="en-US" sz="2000" dirty="0" err="1">
                <a:solidFill>
                  <a:schemeClr val="tx1"/>
                </a:solidFill>
                <a:latin typeface="+mj-lt"/>
              </a:rPr>
              <a:t>quan</a:t>
            </a:r>
            <a:r>
              <a:rPr lang="en-US" sz="2000" dirty="0">
                <a:solidFill>
                  <a:schemeClr val="tx1"/>
                </a:solidFill>
                <a:latin typeface="+mj-lt"/>
              </a:rPr>
              <a:t> </a:t>
            </a:r>
            <a:r>
              <a:rPr lang="en-US" sz="2000" dirty="0" err="1">
                <a:solidFill>
                  <a:schemeClr val="tx1"/>
                </a:solidFill>
                <a:latin typeface="+mj-lt"/>
              </a:rPr>
              <a:t>thuế</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dựa</a:t>
            </a:r>
            <a:r>
              <a:rPr lang="en-US" sz="2000" dirty="0">
                <a:solidFill>
                  <a:schemeClr val="tx1"/>
                </a:solidFill>
                <a:latin typeface="+mj-lt"/>
              </a:rPr>
              <a:t> </a:t>
            </a:r>
            <a:r>
              <a:rPr lang="en-US" sz="2000" dirty="0" err="1">
                <a:solidFill>
                  <a:schemeClr val="tx1"/>
                </a:solidFill>
                <a:latin typeface="+mj-lt"/>
              </a:rPr>
              <a:t>trên</a:t>
            </a:r>
            <a:r>
              <a:rPr lang="en-US" sz="2000" dirty="0">
                <a:solidFill>
                  <a:schemeClr val="tx1"/>
                </a:solidFill>
                <a:latin typeface="+mj-lt"/>
              </a:rPr>
              <a:t> </a:t>
            </a:r>
            <a:r>
              <a:rPr lang="en-US" sz="2000" dirty="0" err="1">
                <a:solidFill>
                  <a:schemeClr val="tx1"/>
                </a:solidFill>
                <a:latin typeface="+mj-lt"/>
              </a:rPr>
              <a:t>thông</a:t>
            </a:r>
            <a:r>
              <a:rPr lang="en-US" sz="2000" dirty="0">
                <a:solidFill>
                  <a:schemeClr val="tx1"/>
                </a:solidFill>
                <a:latin typeface="+mj-lt"/>
              </a:rPr>
              <a:t> tin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người</a:t>
            </a:r>
            <a:r>
              <a:rPr lang="en-US" sz="2000" dirty="0">
                <a:solidFill>
                  <a:schemeClr val="tx1"/>
                </a:solidFill>
                <a:latin typeface="+mj-lt"/>
              </a:rPr>
              <a:t> </a:t>
            </a:r>
            <a:r>
              <a:rPr lang="en-US" sz="2000" dirty="0" err="1">
                <a:solidFill>
                  <a:schemeClr val="tx1"/>
                </a:solidFill>
                <a:latin typeface="+mj-lt"/>
              </a:rPr>
              <a:t>bán</a:t>
            </a:r>
            <a:r>
              <a:rPr lang="en-US" sz="2000" dirty="0">
                <a:solidFill>
                  <a:schemeClr val="tx1"/>
                </a:solidFill>
                <a:latin typeface="+mj-lt"/>
              </a:rPr>
              <a:t> </a:t>
            </a:r>
            <a:r>
              <a:rPr lang="en-US" sz="2000" dirty="0" err="1">
                <a:solidFill>
                  <a:schemeClr val="tx1"/>
                </a:solidFill>
                <a:latin typeface="+mj-lt"/>
              </a:rPr>
              <a:t>lập</a:t>
            </a:r>
            <a:r>
              <a:rPr lang="en-US" sz="2000" dirty="0">
                <a:solidFill>
                  <a:schemeClr val="tx1"/>
                </a:solidFill>
                <a:latin typeface="+mj-lt"/>
              </a:rPr>
              <a:t> </a:t>
            </a:r>
            <a:r>
              <a:rPr lang="en-US" sz="2000" dirty="0" err="1">
                <a:solidFill>
                  <a:schemeClr val="tx1"/>
                </a:solidFill>
                <a:latin typeface="+mj-lt"/>
              </a:rPr>
              <a:t>trên</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a:t>
            </a:r>
            <a:endParaRPr lang="vi-VN" sz="2000" dirty="0">
              <a:solidFill>
                <a:schemeClr val="tx1"/>
              </a:solidFill>
              <a:latin typeface="+mj-lt"/>
            </a:endParaRPr>
          </a:p>
          <a:p>
            <a:pPr marL="0" indent="0" algn="just">
              <a:buNone/>
            </a:pPr>
            <a:r>
              <a:rPr lang="en-US" sz="2000" i="1" dirty="0">
                <a:solidFill>
                  <a:schemeClr val="tx1"/>
                </a:solidFill>
                <a:latin typeface="+mj-lt"/>
              </a:rPr>
              <a:t>(</a:t>
            </a:r>
            <a:r>
              <a:rPr lang="en-US" sz="2000" i="1" dirty="0" err="1">
                <a:solidFill>
                  <a:schemeClr val="tx1"/>
                </a:solidFill>
                <a:latin typeface="+mj-lt"/>
              </a:rPr>
              <a:t>Khoản</a:t>
            </a:r>
            <a:r>
              <a:rPr lang="en-US" sz="2000" i="1" dirty="0">
                <a:solidFill>
                  <a:schemeClr val="tx1"/>
                </a:solidFill>
                <a:latin typeface="+mj-lt"/>
              </a:rPr>
              <a:t> 3 </a:t>
            </a:r>
            <a:r>
              <a:rPr lang="en-US" sz="2000" i="1" dirty="0" err="1">
                <a:solidFill>
                  <a:schemeClr val="tx1"/>
                </a:solidFill>
                <a:latin typeface="+mj-lt"/>
              </a:rPr>
              <a:t>Điều</a:t>
            </a:r>
            <a:r>
              <a:rPr lang="en-US" sz="2000" i="1" dirty="0">
                <a:solidFill>
                  <a:schemeClr val="tx1"/>
                </a:solidFill>
                <a:latin typeface="+mj-lt"/>
              </a:rPr>
              <a:t> 89 </a:t>
            </a:r>
            <a:r>
              <a:rPr lang="en-US" sz="2000" i="1" dirty="0" err="1">
                <a:solidFill>
                  <a:schemeClr val="tx1"/>
                </a:solidFill>
                <a:latin typeface="+mj-lt"/>
              </a:rPr>
              <a:t>Luật</a:t>
            </a:r>
            <a:r>
              <a:rPr lang="en-US" sz="2000" i="1" dirty="0">
                <a:solidFill>
                  <a:schemeClr val="tx1"/>
                </a:solidFill>
                <a:latin typeface="+mj-lt"/>
              </a:rPr>
              <a:t> </a:t>
            </a:r>
            <a:r>
              <a:rPr lang="en-US" sz="2000" i="1" dirty="0" err="1">
                <a:solidFill>
                  <a:schemeClr val="tx1"/>
                </a:solidFill>
                <a:latin typeface="+mj-lt"/>
              </a:rPr>
              <a:t>Quản</a:t>
            </a:r>
            <a:r>
              <a:rPr lang="en-US" sz="2000" i="1" dirty="0">
                <a:solidFill>
                  <a:schemeClr val="tx1"/>
                </a:solidFill>
                <a:latin typeface="+mj-lt"/>
              </a:rPr>
              <a:t> </a:t>
            </a:r>
            <a:r>
              <a:rPr lang="en-US" sz="2000" i="1" dirty="0" err="1">
                <a:solidFill>
                  <a:schemeClr val="tx1"/>
                </a:solidFill>
                <a:latin typeface="+mj-lt"/>
              </a:rPr>
              <a:t>lý</a:t>
            </a:r>
            <a:r>
              <a:rPr lang="en-US" sz="2000" i="1" dirty="0">
                <a:solidFill>
                  <a:schemeClr val="tx1"/>
                </a:solidFill>
                <a:latin typeface="+mj-lt"/>
              </a:rPr>
              <a:t> </a:t>
            </a:r>
            <a:r>
              <a:rPr lang="en-US" sz="2000" i="1" dirty="0" err="1">
                <a:solidFill>
                  <a:schemeClr val="tx1"/>
                </a:solidFill>
                <a:latin typeface="+mj-lt"/>
              </a:rPr>
              <a:t>thuế</a:t>
            </a:r>
            <a:r>
              <a:rPr lang="en-US" sz="2000" i="1" dirty="0">
                <a:solidFill>
                  <a:schemeClr val="tx1"/>
                </a:solidFill>
                <a:latin typeface="+mj-lt"/>
              </a:rPr>
              <a:t> 2019)</a:t>
            </a:r>
          </a:p>
          <a:p>
            <a:pPr marL="0" indent="0" algn="just">
              <a:buNone/>
            </a:pPr>
            <a:r>
              <a:rPr lang="en-US" sz="2000" i="1" dirty="0">
                <a:solidFill>
                  <a:schemeClr val="tx1"/>
                </a:solidFill>
                <a:latin typeface="+mj-lt"/>
              </a:rPr>
              <a:t>(</a:t>
            </a:r>
            <a:r>
              <a:rPr lang="en-US" sz="2000" i="1" dirty="0" err="1">
                <a:solidFill>
                  <a:schemeClr val="tx1"/>
                </a:solidFill>
                <a:latin typeface="+mj-lt"/>
              </a:rPr>
              <a:t>Điểm</a:t>
            </a:r>
            <a:r>
              <a:rPr lang="en-US" sz="2000" i="1" dirty="0">
                <a:solidFill>
                  <a:schemeClr val="tx1"/>
                </a:solidFill>
                <a:latin typeface="+mj-lt"/>
              </a:rPr>
              <a:t> a </a:t>
            </a:r>
            <a:r>
              <a:rPr lang="en-US" sz="2000" i="1" dirty="0" err="1">
                <a:solidFill>
                  <a:schemeClr val="tx1"/>
                </a:solidFill>
                <a:latin typeface="+mj-lt"/>
              </a:rPr>
              <a:t>Khoản</a:t>
            </a:r>
            <a:r>
              <a:rPr lang="en-US" sz="2000" i="1" dirty="0">
                <a:solidFill>
                  <a:schemeClr val="tx1"/>
                </a:solidFill>
                <a:latin typeface="+mj-lt"/>
              </a:rPr>
              <a:t> 2 </a:t>
            </a:r>
            <a:r>
              <a:rPr lang="en-US" sz="2000" i="1" dirty="0" err="1">
                <a:solidFill>
                  <a:schemeClr val="tx1"/>
                </a:solidFill>
                <a:latin typeface="+mj-lt"/>
              </a:rPr>
              <a:t>Điều</a:t>
            </a:r>
            <a:r>
              <a:rPr lang="en-US" sz="2000" i="1" dirty="0">
                <a:solidFill>
                  <a:schemeClr val="tx1"/>
                </a:solidFill>
                <a:latin typeface="+mj-lt"/>
              </a:rPr>
              <a:t> 3 </a:t>
            </a:r>
            <a:r>
              <a:rPr lang="en-US" sz="2000" i="1" dirty="0" err="1">
                <a:solidFill>
                  <a:schemeClr val="tx1"/>
                </a:solidFill>
                <a:latin typeface="+mj-lt"/>
              </a:rPr>
              <a:t>Nghị</a:t>
            </a:r>
            <a:r>
              <a:rPr lang="en-US" sz="2000" i="1" dirty="0">
                <a:solidFill>
                  <a:schemeClr val="tx1"/>
                </a:solidFill>
                <a:latin typeface="+mj-lt"/>
              </a:rPr>
              <a:t> </a:t>
            </a:r>
            <a:r>
              <a:rPr lang="en-US" sz="2000" i="1" dirty="0" err="1">
                <a:solidFill>
                  <a:schemeClr val="tx1"/>
                </a:solidFill>
                <a:latin typeface="+mj-lt"/>
              </a:rPr>
              <a:t>định</a:t>
            </a:r>
            <a:r>
              <a:rPr lang="en-US" sz="2000" i="1" dirty="0">
                <a:solidFill>
                  <a:schemeClr val="tx1"/>
                </a:solidFill>
                <a:latin typeface="+mj-lt"/>
              </a:rPr>
              <a:t> </a:t>
            </a:r>
            <a:r>
              <a:rPr lang="en-US" sz="2000" i="1" dirty="0" err="1">
                <a:solidFill>
                  <a:schemeClr val="tx1"/>
                </a:solidFill>
                <a:latin typeface="+mj-lt"/>
              </a:rPr>
              <a:t>số</a:t>
            </a:r>
            <a:r>
              <a:rPr lang="en-US" sz="2000" i="1" dirty="0">
                <a:solidFill>
                  <a:schemeClr val="tx1"/>
                </a:solidFill>
                <a:latin typeface="+mj-lt"/>
              </a:rPr>
              <a:t> 123/2020/NĐ-CP)</a:t>
            </a:r>
          </a:p>
          <a:p>
            <a:pPr algn="just">
              <a:buFontTx/>
              <a:buChar char="-"/>
            </a:pPr>
            <a:r>
              <a:rPr lang="en-US" sz="2000" dirty="0" err="1">
                <a:solidFill>
                  <a:schemeClr val="tx1"/>
                </a:solidFill>
                <a:latin typeface="+mj-lt"/>
              </a:rPr>
              <a:t>Việc</a:t>
            </a:r>
            <a:r>
              <a:rPr lang="en-US" sz="2000" dirty="0">
                <a:solidFill>
                  <a:schemeClr val="tx1"/>
                </a:solidFill>
                <a:latin typeface="+mj-lt"/>
              </a:rPr>
              <a:t> </a:t>
            </a:r>
            <a:r>
              <a:rPr lang="en-US" sz="2000" dirty="0" err="1">
                <a:solidFill>
                  <a:schemeClr val="tx1"/>
                </a:solidFill>
                <a:latin typeface="+mj-lt"/>
              </a:rPr>
              <a:t>cấp</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cơ</a:t>
            </a:r>
            <a:r>
              <a:rPr lang="en-US" sz="2000" dirty="0">
                <a:solidFill>
                  <a:schemeClr val="tx1"/>
                </a:solidFill>
                <a:latin typeface="+mj-lt"/>
              </a:rPr>
              <a:t> </a:t>
            </a:r>
            <a:r>
              <a:rPr lang="en-US" sz="2000" dirty="0" err="1">
                <a:solidFill>
                  <a:schemeClr val="tx1"/>
                </a:solidFill>
                <a:latin typeface="+mj-lt"/>
              </a:rPr>
              <a:t>quan</a:t>
            </a:r>
            <a:r>
              <a:rPr lang="en-US" sz="2000" dirty="0">
                <a:solidFill>
                  <a:schemeClr val="tx1"/>
                </a:solidFill>
                <a:latin typeface="+mj-lt"/>
              </a:rPr>
              <a:t> </a:t>
            </a:r>
            <a:r>
              <a:rPr lang="en-US" sz="2000" dirty="0" err="1">
                <a:solidFill>
                  <a:schemeClr val="tx1"/>
                </a:solidFill>
                <a:latin typeface="+mj-lt"/>
              </a:rPr>
              <a:t>thuế</a:t>
            </a:r>
            <a:r>
              <a:rPr lang="en-US" sz="2000" dirty="0">
                <a:solidFill>
                  <a:schemeClr val="tx1"/>
                </a:solidFill>
                <a:latin typeface="+mj-lt"/>
              </a:rPr>
              <a:t> </a:t>
            </a:r>
            <a:r>
              <a:rPr lang="en-US" sz="2000" dirty="0" err="1">
                <a:solidFill>
                  <a:schemeClr val="tx1"/>
                </a:solidFill>
                <a:latin typeface="+mj-lt"/>
              </a:rPr>
              <a:t>trên</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dựa</a:t>
            </a:r>
            <a:r>
              <a:rPr lang="en-US" sz="2000" dirty="0">
                <a:solidFill>
                  <a:schemeClr val="tx1"/>
                </a:solidFill>
                <a:latin typeface="+mj-lt"/>
              </a:rPr>
              <a:t> </a:t>
            </a:r>
            <a:r>
              <a:rPr lang="en-US" sz="2000" dirty="0" err="1">
                <a:solidFill>
                  <a:schemeClr val="tx1"/>
                </a:solidFill>
                <a:latin typeface="+mj-lt"/>
              </a:rPr>
              <a:t>trên</a:t>
            </a:r>
            <a:r>
              <a:rPr lang="en-US" sz="2000" dirty="0">
                <a:solidFill>
                  <a:schemeClr val="tx1"/>
                </a:solidFill>
                <a:latin typeface="+mj-lt"/>
              </a:rPr>
              <a:t> </a:t>
            </a:r>
            <a:r>
              <a:rPr lang="en-US" sz="2000" dirty="0" err="1">
                <a:solidFill>
                  <a:schemeClr val="tx1"/>
                </a:solidFill>
                <a:latin typeface="+mj-lt"/>
              </a:rPr>
              <a:t>thông</a:t>
            </a:r>
            <a:r>
              <a:rPr lang="en-US" sz="2000" dirty="0">
                <a:solidFill>
                  <a:schemeClr val="tx1"/>
                </a:solidFill>
                <a:latin typeface="+mj-lt"/>
              </a:rPr>
              <a:t> tin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doanh</a:t>
            </a:r>
            <a:r>
              <a:rPr lang="en-US" sz="2000" dirty="0">
                <a:solidFill>
                  <a:schemeClr val="tx1"/>
                </a:solidFill>
                <a:latin typeface="+mj-lt"/>
              </a:rPr>
              <a:t> </a:t>
            </a:r>
            <a:r>
              <a:rPr lang="en-US" sz="2000" dirty="0" err="1">
                <a:solidFill>
                  <a:schemeClr val="tx1"/>
                </a:solidFill>
                <a:latin typeface="+mj-lt"/>
              </a:rPr>
              <a:t>nghiệp</a:t>
            </a:r>
            <a:r>
              <a:rPr lang="en-US" sz="2000" dirty="0">
                <a:solidFill>
                  <a:schemeClr val="tx1"/>
                </a:solidFill>
                <a:latin typeface="+mj-lt"/>
              </a:rPr>
              <a:t>, </a:t>
            </a:r>
            <a:r>
              <a:rPr lang="en-US" sz="2000" dirty="0" err="1">
                <a:solidFill>
                  <a:schemeClr val="tx1"/>
                </a:solidFill>
                <a:latin typeface="+mj-lt"/>
              </a:rPr>
              <a:t>tổ</a:t>
            </a:r>
            <a:r>
              <a:rPr lang="en-US" sz="2000" dirty="0">
                <a:solidFill>
                  <a:schemeClr val="tx1"/>
                </a:solidFill>
                <a:latin typeface="+mj-lt"/>
              </a:rPr>
              <a:t> </a:t>
            </a:r>
            <a:r>
              <a:rPr lang="en-US" sz="2000" dirty="0" err="1">
                <a:solidFill>
                  <a:schemeClr val="tx1"/>
                </a:solidFill>
                <a:latin typeface="+mj-lt"/>
              </a:rPr>
              <a:t>chức</a:t>
            </a:r>
            <a:r>
              <a:rPr lang="en-US" sz="2000" dirty="0">
                <a:solidFill>
                  <a:schemeClr val="tx1"/>
                </a:solidFill>
                <a:latin typeface="+mj-lt"/>
              </a:rPr>
              <a:t> </a:t>
            </a:r>
            <a:r>
              <a:rPr lang="en-US" sz="2000" dirty="0" err="1">
                <a:solidFill>
                  <a:schemeClr val="tx1"/>
                </a:solidFill>
                <a:latin typeface="+mj-lt"/>
              </a:rPr>
              <a:t>kinh</a:t>
            </a:r>
            <a:r>
              <a:rPr lang="en-US" sz="2000" dirty="0">
                <a:solidFill>
                  <a:schemeClr val="tx1"/>
                </a:solidFill>
                <a:latin typeface="+mj-lt"/>
              </a:rPr>
              <a:t> </a:t>
            </a:r>
            <a:r>
              <a:rPr lang="en-US" sz="2000" dirty="0" err="1">
                <a:solidFill>
                  <a:schemeClr val="tx1"/>
                </a:solidFill>
                <a:latin typeface="+mj-lt"/>
              </a:rPr>
              <a:t>tế</a:t>
            </a:r>
            <a:r>
              <a:rPr lang="en-US" sz="2000" dirty="0">
                <a:solidFill>
                  <a:schemeClr val="tx1"/>
                </a:solidFill>
                <a:latin typeface="+mj-lt"/>
              </a:rPr>
              <a:t>, </a:t>
            </a:r>
            <a:r>
              <a:rPr lang="en-US" sz="2000" dirty="0" err="1">
                <a:solidFill>
                  <a:schemeClr val="tx1"/>
                </a:solidFill>
                <a:latin typeface="+mj-lt"/>
              </a:rPr>
              <a:t>tổ</a:t>
            </a:r>
            <a:r>
              <a:rPr lang="en-US" sz="2000" dirty="0">
                <a:solidFill>
                  <a:schemeClr val="tx1"/>
                </a:solidFill>
                <a:latin typeface="+mj-lt"/>
              </a:rPr>
              <a:t> </a:t>
            </a:r>
            <a:r>
              <a:rPr lang="en-US" sz="2000" dirty="0" err="1">
                <a:solidFill>
                  <a:schemeClr val="tx1"/>
                </a:solidFill>
                <a:latin typeface="+mj-lt"/>
              </a:rPr>
              <a:t>chức</a:t>
            </a:r>
            <a:r>
              <a:rPr lang="en-US" sz="2000" dirty="0">
                <a:solidFill>
                  <a:schemeClr val="tx1"/>
                </a:solidFill>
                <a:latin typeface="+mj-lt"/>
              </a:rPr>
              <a:t> </a:t>
            </a:r>
            <a:r>
              <a:rPr lang="en-US" sz="2000" dirty="0" err="1">
                <a:solidFill>
                  <a:schemeClr val="tx1"/>
                </a:solidFill>
                <a:latin typeface="+mj-lt"/>
              </a:rPr>
              <a:t>khác</a:t>
            </a:r>
            <a:r>
              <a:rPr lang="en-US" sz="2000" dirty="0">
                <a:solidFill>
                  <a:schemeClr val="tx1"/>
                </a:solidFill>
                <a:latin typeface="+mj-lt"/>
              </a:rPr>
              <a:t>, </a:t>
            </a:r>
            <a:r>
              <a:rPr lang="en-US" sz="2000" dirty="0" err="1">
                <a:solidFill>
                  <a:schemeClr val="tx1"/>
                </a:solidFill>
                <a:latin typeface="+mj-lt"/>
              </a:rPr>
              <a:t>hộ</a:t>
            </a:r>
            <a:r>
              <a:rPr lang="en-US" sz="2000" dirty="0">
                <a:solidFill>
                  <a:schemeClr val="tx1"/>
                </a:solidFill>
                <a:latin typeface="+mj-lt"/>
              </a:rPr>
              <a:t> </a:t>
            </a:r>
            <a:r>
              <a:rPr lang="en-US" sz="2000" dirty="0" err="1">
                <a:solidFill>
                  <a:schemeClr val="tx1"/>
                </a:solidFill>
                <a:latin typeface="+mj-lt"/>
              </a:rPr>
              <a:t>kinh</a:t>
            </a:r>
            <a:r>
              <a:rPr lang="en-US" sz="2000" dirty="0">
                <a:solidFill>
                  <a:schemeClr val="tx1"/>
                </a:solidFill>
                <a:latin typeface="+mj-lt"/>
              </a:rPr>
              <a:t> </a:t>
            </a:r>
            <a:r>
              <a:rPr lang="en-US" sz="2000" dirty="0" err="1">
                <a:solidFill>
                  <a:schemeClr val="tx1"/>
                </a:solidFill>
                <a:latin typeface="+mj-lt"/>
              </a:rPr>
              <a:t>doanh</a:t>
            </a:r>
            <a:r>
              <a:rPr lang="en-US" sz="2000" dirty="0">
                <a:solidFill>
                  <a:schemeClr val="tx1"/>
                </a:solidFill>
                <a:latin typeface="+mj-lt"/>
              </a:rPr>
              <a:t>, </a:t>
            </a:r>
            <a:r>
              <a:rPr lang="en-US" sz="2000" dirty="0" err="1">
                <a:solidFill>
                  <a:schemeClr val="tx1"/>
                </a:solidFill>
                <a:latin typeface="+mj-lt"/>
              </a:rPr>
              <a:t>cá</a:t>
            </a:r>
            <a:r>
              <a:rPr lang="en-US" sz="2000" dirty="0">
                <a:solidFill>
                  <a:schemeClr val="tx1"/>
                </a:solidFill>
                <a:latin typeface="+mj-lt"/>
              </a:rPr>
              <a:t> </a:t>
            </a:r>
            <a:r>
              <a:rPr lang="en-US" sz="2000" dirty="0" err="1">
                <a:solidFill>
                  <a:schemeClr val="tx1"/>
                </a:solidFill>
                <a:latin typeface="+mj-lt"/>
              </a:rPr>
              <a:t>nhân</a:t>
            </a:r>
            <a:r>
              <a:rPr lang="en-US" sz="2000" dirty="0">
                <a:solidFill>
                  <a:schemeClr val="tx1"/>
                </a:solidFill>
                <a:latin typeface="+mj-lt"/>
              </a:rPr>
              <a:t> </a:t>
            </a:r>
            <a:r>
              <a:rPr lang="en-US" sz="2000" dirty="0" err="1">
                <a:solidFill>
                  <a:schemeClr val="tx1"/>
                </a:solidFill>
                <a:latin typeface="+mj-lt"/>
              </a:rPr>
              <a:t>kinh</a:t>
            </a:r>
            <a:r>
              <a:rPr lang="en-US" sz="2000" dirty="0">
                <a:solidFill>
                  <a:schemeClr val="tx1"/>
                </a:solidFill>
                <a:latin typeface="+mj-lt"/>
              </a:rPr>
              <a:t> </a:t>
            </a:r>
            <a:r>
              <a:rPr lang="en-US" sz="2000" dirty="0" err="1">
                <a:solidFill>
                  <a:schemeClr val="tx1"/>
                </a:solidFill>
                <a:latin typeface="+mj-lt"/>
              </a:rPr>
              <a:t>doanh</a:t>
            </a:r>
            <a:r>
              <a:rPr lang="en-US" sz="2000" dirty="0">
                <a:solidFill>
                  <a:schemeClr val="tx1"/>
                </a:solidFill>
                <a:latin typeface="+mj-lt"/>
              </a:rPr>
              <a:t> </a:t>
            </a:r>
            <a:r>
              <a:rPr lang="en-US" sz="2000" dirty="0" err="1">
                <a:solidFill>
                  <a:schemeClr val="tx1"/>
                </a:solidFill>
                <a:latin typeface="+mj-lt"/>
              </a:rPr>
              <a:t>lập</a:t>
            </a:r>
            <a:r>
              <a:rPr lang="en-US" sz="2000" dirty="0">
                <a:solidFill>
                  <a:schemeClr val="tx1"/>
                </a:solidFill>
                <a:latin typeface="+mj-lt"/>
              </a:rPr>
              <a:t> </a:t>
            </a:r>
            <a:r>
              <a:rPr lang="en-US" sz="2000" dirty="0" err="1">
                <a:solidFill>
                  <a:schemeClr val="tx1"/>
                </a:solidFill>
                <a:latin typeface="+mj-lt"/>
              </a:rPr>
              <a:t>trên</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p>
          <a:p>
            <a:pPr algn="just">
              <a:buFontTx/>
              <a:buChar char="-"/>
            </a:pPr>
            <a:r>
              <a:rPr lang="en-US" sz="2000" i="1" dirty="0">
                <a:solidFill>
                  <a:schemeClr val="tx1"/>
                </a:solidFill>
                <a:latin typeface="+mj-lt"/>
              </a:rPr>
              <a:t>(</a:t>
            </a:r>
            <a:r>
              <a:rPr lang="en-US" sz="2000" i="1" dirty="0" err="1">
                <a:solidFill>
                  <a:schemeClr val="tx1"/>
                </a:solidFill>
                <a:latin typeface="+mj-lt"/>
              </a:rPr>
              <a:t>Khoản</a:t>
            </a:r>
            <a:r>
              <a:rPr lang="en-US" sz="2000" i="1" dirty="0">
                <a:solidFill>
                  <a:schemeClr val="tx1"/>
                </a:solidFill>
                <a:latin typeface="+mj-lt"/>
              </a:rPr>
              <a:t> 4 </a:t>
            </a:r>
            <a:r>
              <a:rPr lang="en-US" sz="2000" i="1" dirty="0" err="1">
                <a:solidFill>
                  <a:schemeClr val="tx1"/>
                </a:solidFill>
                <a:latin typeface="+mj-lt"/>
              </a:rPr>
              <a:t>Điều</a:t>
            </a:r>
            <a:r>
              <a:rPr lang="en-US" sz="2000" i="1" dirty="0">
                <a:solidFill>
                  <a:schemeClr val="tx1"/>
                </a:solidFill>
                <a:latin typeface="+mj-lt"/>
              </a:rPr>
              <a:t> 90 </a:t>
            </a:r>
            <a:r>
              <a:rPr lang="en-US" sz="2000" i="1" dirty="0" err="1">
                <a:solidFill>
                  <a:schemeClr val="tx1"/>
                </a:solidFill>
                <a:latin typeface="+mj-lt"/>
              </a:rPr>
              <a:t>Luật</a:t>
            </a:r>
            <a:r>
              <a:rPr lang="en-US" sz="2000" i="1" dirty="0">
                <a:solidFill>
                  <a:schemeClr val="tx1"/>
                </a:solidFill>
                <a:latin typeface="+mj-lt"/>
              </a:rPr>
              <a:t> </a:t>
            </a:r>
            <a:r>
              <a:rPr lang="en-US" sz="2000" i="1" dirty="0" err="1">
                <a:solidFill>
                  <a:schemeClr val="tx1"/>
                </a:solidFill>
                <a:latin typeface="+mj-lt"/>
              </a:rPr>
              <a:t>Quản</a:t>
            </a:r>
            <a:r>
              <a:rPr lang="en-US" sz="2000" i="1" dirty="0">
                <a:solidFill>
                  <a:schemeClr val="tx1"/>
                </a:solidFill>
                <a:latin typeface="+mj-lt"/>
              </a:rPr>
              <a:t> </a:t>
            </a:r>
            <a:r>
              <a:rPr lang="en-US" sz="2000" i="1" dirty="0" err="1">
                <a:solidFill>
                  <a:schemeClr val="tx1"/>
                </a:solidFill>
                <a:latin typeface="+mj-lt"/>
              </a:rPr>
              <a:t>lý</a:t>
            </a:r>
            <a:r>
              <a:rPr lang="en-US" sz="2000" i="1" dirty="0">
                <a:solidFill>
                  <a:schemeClr val="tx1"/>
                </a:solidFill>
                <a:latin typeface="+mj-lt"/>
              </a:rPr>
              <a:t> </a:t>
            </a:r>
            <a:r>
              <a:rPr lang="en-US" sz="2000" i="1" dirty="0" err="1">
                <a:solidFill>
                  <a:schemeClr val="tx1"/>
                </a:solidFill>
                <a:latin typeface="+mj-lt"/>
              </a:rPr>
              <a:t>thuế</a:t>
            </a:r>
            <a:r>
              <a:rPr lang="en-US" sz="2000" i="1" dirty="0">
                <a:solidFill>
                  <a:schemeClr val="tx1"/>
                </a:solidFill>
                <a:latin typeface="+mj-lt"/>
              </a:rPr>
              <a:t> 2019)</a:t>
            </a:r>
            <a:endParaRPr lang="vi-VN" sz="2000" i="1" dirty="0">
              <a:solidFill>
                <a:schemeClr val="tx1"/>
              </a:solidFill>
              <a:latin typeface="+mj-lt"/>
            </a:endParaRPr>
          </a:p>
        </p:txBody>
      </p:sp>
      <p:sp>
        <p:nvSpPr>
          <p:cNvPr id="4" name="Rectangle 3"/>
          <p:cNvSpPr/>
          <p:nvPr/>
        </p:nvSpPr>
        <p:spPr>
          <a:xfrm>
            <a:off x="1541416" y="283187"/>
            <a:ext cx="8373291" cy="64633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PHẦN 1 – TỔNG QUAN CHUNG VỀ HÓA ĐƠN, CHỨNG TỪ - HÓA ĐƠN</a:t>
            </a:r>
            <a:r>
              <a:rPr lang="en-US" b="1" dirty="0">
                <a:latin typeface="Cambria" panose="02040503050406030204" pitchFamily="18" charset="0"/>
              </a:rPr>
              <a:t/>
            </a:r>
            <a:br>
              <a:rPr lang="en-US" b="1" dirty="0">
                <a:latin typeface="Cambria" panose="02040503050406030204" pitchFamily="18" charset="0"/>
              </a:rPr>
            </a:br>
            <a:endParaRPr lang="en-US" dirty="0"/>
          </a:p>
        </p:txBody>
      </p:sp>
      <p:pic>
        <p:nvPicPr>
          <p:cNvPr id="5" name="Picture 4"/>
          <p:cNvPicPr>
            <a:picLocks noChangeAspect="1"/>
          </p:cNvPicPr>
          <p:nvPr/>
        </p:nvPicPr>
        <p:blipFill>
          <a:blip r:embed="rId2"/>
          <a:stretch>
            <a:fillRect/>
          </a:stretch>
        </p:blipFill>
        <p:spPr>
          <a:xfrm>
            <a:off x="1" y="0"/>
            <a:ext cx="1280159" cy="1061048"/>
          </a:xfrm>
          <a:prstGeom prst="rect">
            <a:avLst/>
          </a:prstGeom>
        </p:spPr>
      </p:pic>
    </p:spTree>
    <p:extLst>
      <p:ext uri="{BB962C8B-B14F-4D97-AF65-F5344CB8AC3E}">
        <p14:creationId xmlns:p14="http://schemas.microsoft.com/office/powerpoint/2010/main" val="2971605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1252025"/>
            <a:ext cx="8596668" cy="642425"/>
          </a:xfrm>
        </p:spPr>
        <p:txBody>
          <a:bodyPr anchor="ctr" anchorCtr="0">
            <a:normAutofit/>
          </a:bodyPr>
          <a:lstStyle/>
          <a:p>
            <a:pPr algn="ctr"/>
            <a:r>
              <a:rPr lang="en-US" sz="2400" b="1" dirty="0">
                <a:solidFill>
                  <a:srgbClr val="C00000"/>
                </a:solidFill>
              </a:rPr>
              <a:t>HÓA ĐƠN ĐIỆN TỬ KHÔNG MÃ CỦA CQT</a:t>
            </a:r>
            <a:endParaRPr lang="vi-VN" sz="2400" b="1" dirty="0">
              <a:solidFill>
                <a:srgbClr val="C00000"/>
              </a:solidFill>
            </a:endParaRPr>
          </a:p>
        </p:txBody>
      </p:sp>
      <p:sp>
        <p:nvSpPr>
          <p:cNvPr id="3" name="Content Placeholder 2"/>
          <p:cNvSpPr>
            <a:spLocks noGrp="1"/>
          </p:cNvSpPr>
          <p:nvPr>
            <p:ph idx="1"/>
          </p:nvPr>
        </p:nvSpPr>
        <p:spPr>
          <a:xfrm>
            <a:off x="677334" y="1252025"/>
            <a:ext cx="8596668" cy="4789337"/>
          </a:xfrm>
        </p:spPr>
        <p:txBody>
          <a:bodyPr vert="horz" anchor="ctr" anchorCtr="0">
            <a:normAutofit/>
          </a:bodyPr>
          <a:lstStyle/>
          <a:p>
            <a:pPr marL="0" indent="0" algn="just">
              <a:buNone/>
            </a:pPr>
            <a:r>
              <a:rPr lang="en-US" sz="1900" dirty="0">
                <a:solidFill>
                  <a:schemeClr val="tx1"/>
                </a:solidFill>
                <a:latin typeface="Cambria" panose="02040503050406030204" pitchFamily="18" charset="0"/>
              </a:rPr>
              <a:t>- </a:t>
            </a:r>
            <a:r>
              <a:rPr lang="en-US" sz="2000" b="1" dirty="0" err="1">
                <a:solidFill>
                  <a:schemeClr val="tx1"/>
                </a:solidFill>
                <a:latin typeface="+mj-lt"/>
              </a:rPr>
              <a:t>Hóa</a:t>
            </a:r>
            <a:r>
              <a:rPr lang="en-US" sz="2000" b="1" dirty="0">
                <a:solidFill>
                  <a:schemeClr val="tx1"/>
                </a:solidFill>
                <a:latin typeface="+mj-lt"/>
              </a:rPr>
              <a:t> </a:t>
            </a:r>
            <a:r>
              <a:rPr lang="en-US" sz="2000" b="1" dirty="0" err="1">
                <a:solidFill>
                  <a:schemeClr val="tx1"/>
                </a:solidFill>
                <a:latin typeface="+mj-lt"/>
              </a:rPr>
              <a:t>đơn</a:t>
            </a:r>
            <a:r>
              <a:rPr lang="en-US" sz="2000" b="1" dirty="0">
                <a:solidFill>
                  <a:schemeClr val="tx1"/>
                </a:solidFill>
                <a:latin typeface="+mj-lt"/>
              </a:rPr>
              <a:t> </a:t>
            </a:r>
            <a:r>
              <a:rPr lang="en-US" sz="2000" b="1" dirty="0" err="1">
                <a:solidFill>
                  <a:schemeClr val="tx1"/>
                </a:solidFill>
                <a:latin typeface="+mj-lt"/>
              </a:rPr>
              <a:t>điện</a:t>
            </a:r>
            <a:r>
              <a:rPr lang="en-US" sz="2000" b="1" dirty="0">
                <a:solidFill>
                  <a:schemeClr val="tx1"/>
                </a:solidFill>
                <a:latin typeface="+mj-lt"/>
              </a:rPr>
              <a:t> </a:t>
            </a:r>
            <a:r>
              <a:rPr lang="en-US" sz="2000" b="1" dirty="0" err="1">
                <a:solidFill>
                  <a:schemeClr val="tx1"/>
                </a:solidFill>
                <a:latin typeface="+mj-lt"/>
              </a:rPr>
              <a:t>tử</a:t>
            </a:r>
            <a:r>
              <a:rPr lang="en-US" sz="2000" b="1" dirty="0">
                <a:solidFill>
                  <a:schemeClr val="tx1"/>
                </a:solidFill>
                <a:latin typeface="+mj-lt"/>
              </a:rPr>
              <a:t> </a:t>
            </a:r>
            <a:r>
              <a:rPr lang="en-US" sz="2000" b="1" dirty="0" err="1">
                <a:solidFill>
                  <a:schemeClr val="tx1"/>
                </a:solidFill>
                <a:latin typeface="+mj-lt"/>
              </a:rPr>
              <a:t>không</a:t>
            </a:r>
            <a:r>
              <a:rPr lang="en-US" sz="2000" b="1" dirty="0">
                <a:solidFill>
                  <a:schemeClr val="tx1"/>
                </a:solidFill>
                <a:latin typeface="+mj-lt"/>
              </a:rPr>
              <a:t> </a:t>
            </a:r>
            <a:r>
              <a:rPr lang="en-US" sz="2000" b="1" dirty="0" err="1">
                <a:solidFill>
                  <a:schemeClr val="tx1"/>
                </a:solidFill>
                <a:latin typeface="+mj-lt"/>
              </a:rPr>
              <a:t>có</a:t>
            </a:r>
            <a:r>
              <a:rPr lang="en-US" sz="2000" b="1" dirty="0">
                <a:solidFill>
                  <a:schemeClr val="tx1"/>
                </a:solidFill>
                <a:latin typeface="+mj-lt"/>
              </a:rPr>
              <a:t> </a:t>
            </a:r>
            <a:r>
              <a:rPr lang="en-US" sz="2000" b="1" dirty="0" err="1">
                <a:solidFill>
                  <a:schemeClr val="tx1"/>
                </a:solidFill>
                <a:latin typeface="+mj-lt"/>
              </a:rPr>
              <a:t>mã</a:t>
            </a:r>
            <a:r>
              <a:rPr lang="en-US" sz="2000" b="1" dirty="0">
                <a:solidFill>
                  <a:schemeClr val="tx1"/>
                </a:solidFill>
                <a:latin typeface="+mj-lt"/>
              </a:rPr>
              <a:t> </a:t>
            </a:r>
            <a:r>
              <a:rPr lang="en-US" sz="2000" b="1" dirty="0" err="1">
                <a:solidFill>
                  <a:schemeClr val="tx1"/>
                </a:solidFill>
                <a:latin typeface="+mj-lt"/>
              </a:rPr>
              <a:t>của</a:t>
            </a:r>
            <a:r>
              <a:rPr lang="en-US" sz="2000" b="1" dirty="0">
                <a:solidFill>
                  <a:schemeClr val="tx1"/>
                </a:solidFill>
                <a:latin typeface="+mj-lt"/>
              </a:rPr>
              <a:t> </a:t>
            </a:r>
            <a:r>
              <a:rPr lang="en-US" sz="2000" b="1" dirty="0" err="1">
                <a:solidFill>
                  <a:schemeClr val="tx1"/>
                </a:solidFill>
                <a:latin typeface="+mj-lt"/>
              </a:rPr>
              <a:t>cơ</a:t>
            </a:r>
            <a:r>
              <a:rPr lang="en-US" sz="2000" b="1" dirty="0">
                <a:solidFill>
                  <a:schemeClr val="tx1"/>
                </a:solidFill>
                <a:latin typeface="+mj-lt"/>
              </a:rPr>
              <a:t> </a:t>
            </a:r>
            <a:r>
              <a:rPr lang="en-US" sz="2000" b="1" dirty="0" err="1">
                <a:solidFill>
                  <a:schemeClr val="tx1"/>
                </a:solidFill>
                <a:latin typeface="+mj-lt"/>
              </a:rPr>
              <a:t>quan</a:t>
            </a:r>
            <a:r>
              <a:rPr lang="en-US" sz="2000" b="1" dirty="0">
                <a:solidFill>
                  <a:schemeClr val="tx1"/>
                </a:solidFill>
                <a:latin typeface="+mj-lt"/>
              </a:rPr>
              <a:t> </a:t>
            </a:r>
            <a:r>
              <a:rPr lang="en-US" sz="2000" b="1" dirty="0" err="1">
                <a:solidFill>
                  <a:schemeClr val="tx1"/>
                </a:solidFill>
                <a:latin typeface="+mj-lt"/>
              </a:rPr>
              <a:t>thuế</a:t>
            </a:r>
            <a:r>
              <a:rPr lang="en-US" sz="2000" b="1" dirty="0">
                <a:solidFill>
                  <a:schemeClr val="tx1"/>
                </a:solidFill>
                <a:latin typeface="+mj-lt"/>
              </a:rPr>
              <a:t> </a:t>
            </a:r>
            <a:r>
              <a:rPr lang="en-US" sz="2000" dirty="0" err="1">
                <a:solidFill>
                  <a:schemeClr val="tx1"/>
                </a:solidFill>
                <a:latin typeface="+mj-lt"/>
              </a:rPr>
              <a:t>là</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do </a:t>
            </a:r>
            <a:r>
              <a:rPr lang="en-US" sz="2000" dirty="0" err="1">
                <a:solidFill>
                  <a:schemeClr val="tx1"/>
                </a:solidFill>
                <a:latin typeface="+mj-lt"/>
              </a:rPr>
              <a:t>tổ</a:t>
            </a:r>
            <a:r>
              <a:rPr lang="en-US" sz="2000" dirty="0">
                <a:solidFill>
                  <a:schemeClr val="tx1"/>
                </a:solidFill>
                <a:latin typeface="+mj-lt"/>
              </a:rPr>
              <a:t> </a:t>
            </a:r>
            <a:r>
              <a:rPr lang="en-US" sz="2000" dirty="0" err="1">
                <a:solidFill>
                  <a:schemeClr val="tx1"/>
                </a:solidFill>
                <a:latin typeface="+mj-lt"/>
              </a:rPr>
              <a:t>chức</a:t>
            </a:r>
            <a:r>
              <a:rPr lang="en-US" sz="2000" dirty="0">
                <a:solidFill>
                  <a:schemeClr val="tx1"/>
                </a:solidFill>
                <a:latin typeface="+mj-lt"/>
              </a:rPr>
              <a:t> </a:t>
            </a:r>
            <a:r>
              <a:rPr lang="en-US" sz="2000" dirty="0" err="1">
                <a:solidFill>
                  <a:schemeClr val="tx1"/>
                </a:solidFill>
                <a:latin typeface="+mj-lt"/>
              </a:rPr>
              <a:t>bán</a:t>
            </a:r>
            <a:r>
              <a:rPr lang="en-US" sz="2000" dirty="0">
                <a:solidFill>
                  <a:schemeClr val="tx1"/>
                </a:solidFill>
                <a:latin typeface="+mj-lt"/>
              </a:rPr>
              <a:t> </a:t>
            </a:r>
            <a:r>
              <a:rPr lang="en-US" sz="2000" dirty="0" err="1">
                <a:solidFill>
                  <a:schemeClr val="tx1"/>
                </a:solidFill>
                <a:latin typeface="+mj-lt"/>
              </a:rPr>
              <a:t>hàng</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cung</a:t>
            </a:r>
            <a:r>
              <a:rPr lang="en-US" sz="2000" dirty="0">
                <a:solidFill>
                  <a:schemeClr val="tx1"/>
                </a:solidFill>
                <a:latin typeface="+mj-lt"/>
              </a:rPr>
              <a:t> </a:t>
            </a:r>
            <a:r>
              <a:rPr lang="en-US" sz="2000" dirty="0" err="1">
                <a:solidFill>
                  <a:schemeClr val="tx1"/>
                </a:solidFill>
                <a:latin typeface="+mj-lt"/>
              </a:rPr>
              <a:t>cấp</a:t>
            </a:r>
            <a:r>
              <a:rPr lang="en-US" sz="2000" dirty="0">
                <a:solidFill>
                  <a:schemeClr val="tx1"/>
                </a:solidFill>
                <a:latin typeface="+mj-lt"/>
              </a:rPr>
              <a:t> </a:t>
            </a:r>
            <a:r>
              <a:rPr lang="en-US" sz="2000" dirty="0" err="1">
                <a:solidFill>
                  <a:schemeClr val="tx1"/>
                </a:solidFill>
                <a:latin typeface="+mj-lt"/>
              </a:rPr>
              <a:t>dịch</a:t>
            </a:r>
            <a:r>
              <a:rPr lang="en-US" sz="2000" dirty="0">
                <a:solidFill>
                  <a:schemeClr val="tx1"/>
                </a:solidFill>
                <a:latin typeface="+mj-lt"/>
              </a:rPr>
              <a:t> </a:t>
            </a:r>
            <a:r>
              <a:rPr lang="en-US" sz="2000" dirty="0" err="1">
                <a:solidFill>
                  <a:schemeClr val="tx1"/>
                </a:solidFill>
                <a:latin typeface="+mj-lt"/>
              </a:rPr>
              <a:t>vụ</a:t>
            </a:r>
            <a:r>
              <a:rPr lang="en-US" sz="2000" dirty="0">
                <a:solidFill>
                  <a:schemeClr val="tx1"/>
                </a:solidFill>
                <a:latin typeface="+mj-lt"/>
              </a:rPr>
              <a:t> </a:t>
            </a:r>
            <a:r>
              <a:rPr lang="en-US" sz="2000" dirty="0" err="1">
                <a:solidFill>
                  <a:schemeClr val="tx1"/>
                </a:solidFill>
                <a:latin typeface="+mj-lt"/>
              </a:rPr>
              <a:t>gửi</a:t>
            </a:r>
            <a:r>
              <a:rPr lang="en-US" sz="2000" dirty="0">
                <a:solidFill>
                  <a:schemeClr val="tx1"/>
                </a:solidFill>
                <a:latin typeface="+mj-lt"/>
              </a:rPr>
              <a:t> </a:t>
            </a:r>
            <a:r>
              <a:rPr lang="en-US" sz="2000" dirty="0" err="1">
                <a:solidFill>
                  <a:schemeClr val="tx1"/>
                </a:solidFill>
                <a:latin typeface="+mj-lt"/>
              </a:rPr>
              <a:t>cho</a:t>
            </a:r>
            <a:r>
              <a:rPr lang="en-US" sz="2000" dirty="0">
                <a:solidFill>
                  <a:schemeClr val="tx1"/>
                </a:solidFill>
                <a:latin typeface="+mj-lt"/>
              </a:rPr>
              <a:t> </a:t>
            </a:r>
            <a:r>
              <a:rPr lang="en-US" sz="2000" dirty="0" err="1">
                <a:solidFill>
                  <a:schemeClr val="tx1"/>
                </a:solidFill>
                <a:latin typeface="+mj-lt"/>
              </a:rPr>
              <a:t>người</a:t>
            </a:r>
            <a:r>
              <a:rPr lang="en-US" sz="2000" dirty="0">
                <a:solidFill>
                  <a:schemeClr val="tx1"/>
                </a:solidFill>
                <a:latin typeface="+mj-lt"/>
              </a:rPr>
              <a:t> </a:t>
            </a:r>
            <a:r>
              <a:rPr lang="en-US" sz="2000" dirty="0" err="1">
                <a:solidFill>
                  <a:schemeClr val="tx1"/>
                </a:solidFill>
                <a:latin typeface="+mj-lt"/>
              </a:rPr>
              <a:t>mua</a:t>
            </a:r>
            <a:r>
              <a:rPr lang="en-US" sz="2000" dirty="0">
                <a:solidFill>
                  <a:schemeClr val="tx1"/>
                </a:solidFill>
                <a:latin typeface="+mj-lt"/>
              </a:rPr>
              <a:t> </a:t>
            </a:r>
            <a:r>
              <a:rPr lang="en-US" sz="2000" dirty="0" err="1">
                <a:solidFill>
                  <a:schemeClr val="tx1"/>
                </a:solidFill>
                <a:latin typeface="+mj-lt"/>
              </a:rPr>
              <a:t>không</a:t>
            </a:r>
            <a:r>
              <a:rPr lang="en-US" sz="2000" dirty="0">
                <a:solidFill>
                  <a:schemeClr val="tx1"/>
                </a:solidFill>
                <a:latin typeface="+mj-lt"/>
              </a:rPr>
              <a: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cơ</a:t>
            </a:r>
            <a:r>
              <a:rPr lang="en-US" sz="2000" dirty="0">
                <a:solidFill>
                  <a:schemeClr val="tx1"/>
                </a:solidFill>
                <a:latin typeface="+mj-lt"/>
              </a:rPr>
              <a:t> </a:t>
            </a:r>
            <a:r>
              <a:rPr lang="en-US" sz="2000" dirty="0" err="1">
                <a:solidFill>
                  <a:schemeClr val="tx1"/>
                </a:solidFill>
                <a:latin typeface="+mj-lt"/>
              </a:rPr>
              <a:t>quan</a:t>
            </a:r>
            <a:r>
              <a:rPr lang="en-US" sz="2000" dirty="0">
                <a:solidFill>
                  <a:schemeClr val="tx1"/>
                </a:solidFill>
                <a:latin typeface="+mj-lt"/>
              </a:rPr>
              <a:t> </a:t>
            </a:r>
            <a:r>
              <a:rPr lang="en-US" sz="2000" dirty="0" err="1">
                <a:solidFill>
                  <a:schemeClr val="tx1"/>
                </a:solidFill>
                <a:latin typeface="+mj-lt"/>
              </a:rPr>
              <a:t>thuế</a:t>
            </a:r>
            <a:r>
              <a:rPr lang="en-US" sz="2000" dirty="0">
                <a:solidFill>
                  <a:schemeClr val="tx1"/>
                </a:solidFill>
                <a:latin typeface="+mj-lt"/>
              </a:rPr>
              <a:t>.</a:t>
            </a:r>
            <a:endParaRPr lang="vi-VN" sz="2000" dirty="0">
              <a:solidFill>
                <a:schemeClr val="tx1"/>
              </a:solidFill>
              <a:latin typeface="+mj-lt"/>
            </a:endParaRPr>
          </a:p>
          <a:p>
            <a:pPr marL="0" indent="0" algn="just">
              <a:buNone/>
            </a:pPr>
            <a:r>
              <a:rPr lang="en-US" sz="2000" i="1" dirty="0">
                <a:solidFill>
                  <a:schemeClr val="tx1"/>
                </a:solidFill>
                <a:latin typeface="+mj-lt"/>
              </a:rPr>
              <a:t>(</a:t>
            </a:r>
            <a:r>
              <a:rPr lang="en-US" sz="2000" i="1" dirty="0" err="1">
                <a:solidFill>
                  <a:schemeClr val="tx1"/>
                </a:solidFill>
                <a:latin typeface="+mj-lt"/>
              </a:rPr>
              <a:t>Khoản</a:t>
            </a:r>
            <a:r>
              <a:rPr lang="en-US" sz="2000" i="1" dirty="0">
                <a:solidFill>
                  <a:schemeClr val="tx1"/>
                </a:solidFill>
                <a:latin typeface="+mj-lt"/>
              </a:rPr>
              <a:t> 4 </a:t>
            </a:r>
            <a:r>
              <a:rPr lang="en-US" sz="2000" i="1" dirty="0" err="1">
                <a:solidFill>
                  <a:schemeClr val="tx1"/>
                </a:solidFill>
                <a:latin typeface="+mj-lt"/>
              </a:rPr>
              <a:t>Điều</a:t>
            </a:r>
            <a:r>
              <a:rPr lang="en-US" sz="2000" i="1" dirty="0">
                <a:solidFill>
                  <a:schemeClr val="tx1"/>
                </a:solidFill>
                <a:latin typeface="+mj-lt"/>
              </a:rPr>
              <a:t> 89 </a:t>
            </a:r>
            <a:r>
              <a:rPr lang="en-US" sz="2000" i="1" dirty="0" err="1">
                <a:solidFill>
                  <a:schemeClr val="tx1"/>
                </a:solidFill>
                <a:latin typeface="+mj-lt"/>
              </a:rPr>
              <a:t>Luật</a:t>
            </a:r>
            <a:r>
              <a:rPr lang="en-US" sz="2000" i="1" dirty="0">
                <a:solidFill>
                  <a:schemeClr val="tx1"/>
                </a:solidFill>
                <a:latin typeface="+mj-lt"/>
              </a:rPr>
              <a:t> </a:t>
            </a:r>
            <a:r>
              <a:rPr lang="en-US" sz="2000" i="1" dirty="0" err="1">
                <a:solidFill>
                  <a:schemeClr val="tx1"/>
                </a:solidFill>
                <a:latin typeface="+mj-lt"/>
              </a:rPr>
              <a:t>Quản</a:t>
            </a:r>
            <a:r>
              <a:rPr lang="en-US" sz="2000" i="1" dirty="0">
                <a:solidFill>
                  <a:schemeClr val="tx1"/>
                </a:solidFill>
                <a:latin typeface="+mj-lt"/>
              </a:rPr>
              <a:t> </a:t>
            </a:r>
            <a:r>
              <a:rPr lang="en-US" sz="2000" i="1" dirty="0" err="1">
                <a:solidFill>
                  <a:schemeClr val="tx1"/>
                </a:solidFill>
                <a:latin typeface="+mj-lt"/>
              </a:rPr>
              <a:t>lý</a:t>
            </a:r>
            <a:r>
              <a:rPr lang="en-US" sz="2000" i="1" dirty="0">
                <a:solidFill>
                  <a:schemeClr val="tx1"/>
                </a:solidFill>
                <a:latin typeface="+mj-lt"/>
              </a:rPr>
              <a:t> </a:t>
            </a:r>
            <a:r>
              <a:rPr lang="en-US" sz="2000" i="1" dirty="0" err="1">
                <a:solidFill>
                  <a:schemeClr val="tx1"/>
                </a:solidFill>
                <a:latin typeface="+mj-lt"/>
              </a:rPr>
              <a:t>thuế</a:t>
            </a:r>
            <a:r>
              <a:rPr lang="en-US" sz="2000" i="1" dirty="0">
                <a:solidFill>
                  <a:schemeClr val="tx1"/>
                </a:solidFill>
                <a:latin typeface="+mj-lt"/>
              </a:rPr>
              <a:t> 2019)</a:t>
            </a:r>
          </a:p>
          <a:p>
            <a:pPr marL="0" indent="0" algn="just">
              <a:buNone/>
            </a:pPr>
            <a:r>
              <a:rPr lang="en-US" sz="2000" i="1" dirty="0">
                <a:solidFill>
                  <a:schemeClr val="tx1"/>
                </a:solidFill>
                <a:latin typeface="+mj-lt"/>
              </a:rPr>
              <a:t>(</a:t>
            </a:r>
            <a:r>
              <a:rPr lang="en-US" sz="2000" i="1" dirty="0" err="1">
                <a:solidFill>
                  <a:schemeClr val="tx1"/>
                </a:solidFill>
                <a:latin typeface="+mj-lt"/>
              </a:rPr>
              <a:t>Điểm</a:t>
            </a:r>
            <a:r>
              <a:rPr lang="en-US" sz="2000" i="1" dirty="0">
                <a:solidFill>
                  <a:schemeClr val="tx1"/>
                </a:solidFill>
                <a:latin typeface="+mj-lt"/>
              </a:rPr>
              <a:t> b </a:t>
            </a:r>
            <a:r>
              <a:rPr lang="en-US" sz="2000" i="1" dirty="0" err="1">
                <a:solidFill>
                  <a:schemeClr val="tx1"/>
                </a:solidFill>
                <a:latin typeface="+mj-lt"/>
              </a:rPr>
              <a:t>Khoản</a:t>
            </a:r>
            <a:r>
              <a:rPr lang="en-US" sz="2000" i="1" dirty="0">
                <a:solidFill>
                  <a:schemeClr val="tx1"/>
                </a:solidFill>
                <a:latin typeface="+mj-lt"/>
              </a:rPr>
              <a:t> 2 </a:t>
            </a:r>
            <a:r>
              <a:rPr lang="en-US" sz="2000" i="1" dirty="0" err="1">
                <a:solidFill>
                  <a:schemeClr val="tx1"/>
                </a:solidFill>
                <a:latin typeface="+mj-lt"/>
              </a:rPr>
              <a:t>Điều</a:t>
            </a:r>
            <a:r>
              <a:rPr lang="en-US" sz="2000" i="1" dirty="0">
                <a:solidFill>
                  <a:schemeClr val="tx1"/>
                </a:solidFill>
                <a:latin typeface="+mj-lt"/>
              </a:rPr>
              <a:t> 3 </a:t>
            </a:r>
            <a:r>
              <a:rPr lang="en-US" sz="2000" i="1" dirty="0" err="1">
                <a:solidFill>
                  <a:schemeClr val="tx1"/>
                </a:solidFill>
                <a:latin typeface="+mj-lt"/>
              </a:rPr>
              <a:t>Nghị</a:t>
            </a:r>
            <a:r>
              <a:rPr lang="en-US" sz="2000" i="1" dirty="0">
                <a:solidFill>
                  <a:schemeClr val="tx1"/>
                </a:solidFill>
                <a:latin typeface="+mj-lt"/>
              </a:rPr>
              <a:t> </a:t>
            </a:r>
            <a:r>
              <a:rPr lang="en-US" sz="2000" i="1" dirty="0" err="1">
                <a:solidFill>
                  <a:schemeClr val="tx1"/>
                </a:solidFill>
                <a:latin typeface="+mj-lt"/>
              </a:rPr>
              <a:t>định</a:t>
            </a:r>
            <a:r>
              <a:rPr lang="en-US" sz="2000" i="1" dirty="0">
                <a:solidFill>
                  <a:schemeClr val="tx1"/>
                </a:solidFill>
                <a:latin typeface="+mj-lt"/>
              </a:rPr>
              <a:t> </a:t>
            </a:r>
            <a:r>
              <a:rPr lang="en-US" sz="2000" i="1" dirty="0" err="1">
                <a:solidFill>
                  <a:schemeClr val="tx1"/>
                </a:solidFill>
                <a:latin typeface="+mj-lt"/>
              </a:rPr>
              <a:t>số</a:t>
            </a:r>
            <a:r>
              <a:rPr lang="en-US" sz="2000" i="1" dirty="0">
                <a:solidFill>
                  <a:schemeClr val="tx1"/>
                </a:solidFill>
                <a:latin typeface="+mj-lt"/>
              </a:rPr>
              <a:t> 123/2020/NĐ-CP)</a:t>
            </a:r>
            <a:endParaRPr lang="vi-VN" sz="2000" i="1" dirty="0">
              <a:solidFill>
                <a:schemeClr val="tx1"/>
              </a:solidFill>
              <a:latin typeface="+mj-lt"/>
            </a:endParaRPr>
          </a:p>
          <a:p>
            <a:pPr marL="0" indent="0">
              <a:buNone/>
            </a:pPr>
            <a:endParaRPr lang="vi-VN" sz="1900" i="1" dirty="0">
              <a:latin typeface="Cambria" panose="02040503050406030204" pitchFamily="18" charset="0"/>
            </a:endParaRPr>
          </a:p>
          <a:p>
            <a:pPr marL="0" indent="0">
              <a:buNone/>
            </a:pPr>
            <a:endParaRPr lang="vi-VN" sz="1900" dirty="0">
              <a:latin typeface="Cambria" panose="02040503050406030204" pitchFamily="18" charset="0"/>
            </a:endParaRPr>
          </a:p>
        </p:txBody>
      </p:sp>
      <p:sp>
        <p:nvSpPr>
          <p:cNvPr id="4" name="Rectangle 3"/>
          <p:cNvSpPr/>
          <p:nvPr/>
        </p:nvSpPr>
        <p:spPr>
          <a:xfrm>
            <a:off x="1463039" y="388591"/>
            <a:ext cx="8098971" cy="64633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PHẦN 1 – TỔNG QUAN CHUNG VỀ HÓA ĐƠN, CHỨNG TỪ - HÓA ĐƠN</a:t>
            </a:r>
            <a:r>
              <a:rPr lang="en-US" b="1" dirty="0">
                <a:latin typeface="Cambria" panose="02040503050406030204" pitchFamily="18" charset="0"/>
              </a:rPr>
              <a:t/>
            </a:r>
            <a:br>
              <a:rPr lang="en-US" b="1" dirty="0">
                <a:latin typeface="Cambria" panose="02040503050406030204" pitchFamily="18" charset="0"/>
              </a:rPr>
            </a:br>
            <a:endParaRPr lang="en-US" dirty="0"/>
          </a:p>
        </p:txBody>
      </p:sp>
      <p:pic>
        <p:nvPicPr>
          <p:cNvPr id="5" name="Picture 4"/>
          <p:cNvPicPr>
            <a:picLocks noChangeAspect="1"/>
          </p:cNvPicPr>
          <p:nvPr/>
        </p:nvPicPr>
        <p:blipFill>
          <a:blip r:embed="rId2"/>
          <a:stretch>
            <a:fillRect/>
          </a:stretch>
        </p:blipFill>
        <p:spPr>
          <a:xfrm>
            <a:off x="1" y="0"/>
            <a:ext cx="1280159" cy="1061048"/>
          </a:xfrm>
          <a:prstGeom prst="rect">
            <a:avLst/>
          </a:prstGeom>
        </p:spPr>
      </p:pic>
    </p:spTree>
    <p:extLst>
      <p:ext uri="{BB962C8B-B14F-4D97-AF65-F5344CB8AC3E}">
        <p14:creationId xmlns:p14="http://schemas.microsoft.com/office/powerpoint/2010/main" val="1877457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2880" y="1019503"/>
            <a:ext cx="11403874" cy="642425"/>
          </a:xfrm>
        </p:spPr>
        <p:txBody>
          <a:bodyPr anchor="ctr" anchorCtr="0">
            <a:noAutofit/>
          </a:bodyPr>
          <a:lstStyle/>
          <a:p>
            <a:pPr algn="ctr"/>
            <a:r>
              <a:rPr lang="en-US" sz="2400" b="1" dirty="0">
                <a:solidFill>
                  <a:srgbClr val="C00000"/>
                </a:solidFill>
              </a:rPr>
              <a:t>HÓA ĐƠN ĐƯỢC KHỞI TẠO TỪ MÁY TÍNH TIỀN</a:t>
            </a:r>
            <a:r>
              <a:rPr lang="en-US" sz="2000" b="1" dirty="0">
                <a:solidFill>
                  <a:srgbClr val="C00000"/>
                </a:solidFill>
              </a:rPr>
              <a:t/>
            </a:r>
            <a:br>
              <a:rPr lang="en-US" sz="2000" b="1" dirty="0">
                <a:solidFill>
                  <a:srgbClr val="C00000"/>
                </a:solidFill>
              </a:rPr>
            </a:br>
            <a:endParaRPr lang="vi-VN" sz="2000" b="1" dirty="0">
              <a:solidFill>
                <a:srgbClr val="C00000"/>
              </a:solidFill>
            </a:endParaRPr>
          </a:p>
        </p:txBody>
      </p:sp>
      <p:sp>
        <p:nvSpPr>
          <p:cNvPr id="3" name="Content Placeholder 2"/>
          <p:cNvSpPr>
            <a:spLocks noGrp="1"/>
          </p:cNvSpPr>
          <p:nvPr>
            <p:ph idx="1"/>
          </p:nvPr>
        </p:nvSpPr>
        <p:spPr>
          <a:xfrm>
            <a:off x="800463" y="2080551"/>
            <a:ext cx="8749937" cy="2311400"/>
          </a:xfrm>
        </p:spPr>
        <p:txBody>
          <a:bodyPr vert="horz" anchor="ctr" anchorCtr="0">
            <a:normAutofit/>
          </a:bodyPr>
          <a:lstStyle/>
          <a:p>
            <a:pPr marL="0" indent="0" algn="just">
              <a:buNone/>
            </a:pPr>
            <a:r>
              <a:rPr lang="en-US" sz="2000" b="1" dirty="0" err="1">
                <a:solidFill>
                  <a:schemeClr val="tx1"/>
                </a:solidFill>
                <a:latin typeface="+mj-lt"/>
              </a:rPr>
              <a:t>Hóa</a:t>
            </a:r>
            <a:r>
              <a:rPr lang="en-US" sz="2000" b="1" dirty="0">
                <a:solidFill>
                  <a:schemeClr val="tx1"/>
                </a:solidFill>
                <a:latin typeface="+mj-lt"/>
              </a:rPr>
              <a:t> </a:t>
            </a:r>
            <a:r>
              <a:rPr lang="en-US" sz="2000" b="1" dirty="0" err="1">
                <a:solidFill>
                  <a:schemeClr val="tx1"/>
                </a:solidFill>
                <a:latin typeface="+mj-lt"/>
              </a:rPr>
              <a:t>đơn</a:t>
            </a:r>
            <a:r>
              <a:rPr lang="en-US" sz="2000" b="1" dirty="0">
                <a:solidFill>
                  <a:schemeClr val="tx1"/>
                </a:solidFill>
                <a:latin typeface="+mj-lt"/>
              </a:rPr>
              <a:t> </a:t>
            </a:r>
            <a:r>
              <a:rPr lang="en-US" sz="2000" b="1" dirty="0" err="1">
                <a:solidFill>
                  <a:schemeClr val="tx1"/>
                </a:solidFill>
                <a:latin typeface="+mj-lt"/>
              </a:rPr>
              <a:t>được</a:t>
            </a:r>
            <a:r>
              <a:rPr lang="en-US" sz="2000" b="1" dirty="0">
                <a:solidFill>
                  <a:schemeClr val="tx1"/>
                </a:solidFill>
                <a:latin typeface="+mj-lt"/>
              </a:rPr>
              <a:t> </a:t>
            </a:r>
            <a:r>
              <a:rPr lang="en-US" sz="2000" b="1" dirty="0" err="1">
                <a:solidFill>
                  <a:schemeClr val="tx1"/>
                </a:solidFill>
                <a:latin typeface="+mj-lt"/>
              </a:rPr>
              <a:t>khởi</a:t>
            </a:r>
            <a:r>
              <a:rPr lang="en-US" sz="2000" b="1" dirty="0">
                <a:solidFill>
                  <a:schemeClr val="tx1"/>
                </a:solidFill>
                <a:latin typeface="+mj-lt"/>
              </a:rPr>
              <a:t> </a:t>
            </a:r>
            <a:r>
              <a:rPr lang="en-US" sz="2000" b="1" dirty="0" err="1">
                <a:solidFill>
                  <a:schemeClr val="tx1"/>
                </a:solidFill>
                <a:latin typeface="+mj-lt"/>
              </a:rPr>
              <a:t>tạo</a:t>
            </a:r>
            <a:r>
              <a:rPr lang="en-US" sz="2000" b="1" dirty="0">
                <a:solidFill>
                  <a:schemeClr val="tx1"/>
                </a:solidFill>
                <a:latin typeface="+mj-lt"/>
              </a:rPr>
              <a:t> </a:t>
            </a:r>
            <a:r>
              <a:rPr lang="en-US" sz="2000" b="1" dirty="0" err="1">
                <a:solidFill>
                  <a:schemeClr val="tx1"/>
                </a:solidFill>
                <a:latin typeface="+mj-lt"/>
              </a:rPr>
              <a:t>từ</a:t>
            </a:r>
            <a:r>
              <a:rPr lang="en-US" sz="2000" b="1" dirty="0">
                <a:solidFill>
                  <a:schemeClr val="tx1"/>
                </a:solidFill>
                <a:latin typeface="+mj-lt"/>
              </a:rPr>
              <a:t> </a:t>
            </a:r>
            <a:r>
              <a:rPr lang="en-US" sz="2000" b="1" dirty="0" err="1">
                <a:solidFill>
                  <a:schemeClr val="tx1"/>
                </a:solidFill>
                <a:latin typeface="+mj-lt"/>
              </a:rPr>
              <a:t>máy</a:t>
            </a:r>
            <a:r>
              <a:rPr lang="en-US" sz="2000" b="1" dirty="0">
                <a:solidFill>
                  <a:schemeClr val="tx1"/>
                </a:solidFill>
                <a:latin typeface="+mj-lt"/>
              </a:rPr>
              <a:t> </a:t>
            </a:r>
            <a:r>
              <a:rPr lang="en-US" sz="2000" b="1" dirty="0" err="1">
                <a:solidFill>
                  <a:schemeClr val="tx1"/>
                </a:solidFill>
                <a:latin typeface="+mj-lt"/>
              </a:rPr>
              <a:t>tính</a:t>
            </a:r>
            <a:r>
              <a:rPr lang="en-US" sz="2000" b="1" dirty="0">
                <a:solidFill>
                  <a:schemeClr val="tx1"/>
                </a:solidFill>
                <a:latin typeface="+mj-lt"/>
              </a:rPr>
              <a:t> </a:t>
            </a:r>
            <a:r>
              <a:rPr lang="en-US" sz="2000" b="1" dirty="0" err="1">
                <a:solidFill>
                  <a:schemeClr val="tx1"/>
                </a:solidFill>
                <a:latin typeface="+mj-lt"/>
              </a:rPr>
              <a:t>tiền</a:t>
            </a:r>
            <a:r>
              <a:rPr lang="en-US" sz="2000" b="1" dirty="0">
                <a:solidFill>
                  <a:schemeClr val="tx1"/>
                </a:solidFill>
                <a:latin typeface="+mj-lt"/>
              </a:rPr>
              <a:t> </a:t>
            </a:r>
            <a:r>
              <a:rPr lang="en-US" sz="2000" b="1" dirty="0" err="1">
                <a:solidFill>
                  <a:schemeClr val="tx1"/>
                </a:solidFill>
                <a:latin typeface="+mj-lt"/>
              </a:rPr>
              <a:t>kết</a:t>
            </a:r>
            <a:r>
              <a:rPr lang="en-US" sz="2000" b="1" dirty="0">
                <a:solidFill>
                  <a:schemeClr val="tx1"/>
                </a:solidFill>
                <a:latin typeface="+mj-lt"/>
              </a:rPr>
              <a:t> </a:t>
            </a:r>
            <a:r>
              <a:rPr lang="en-US" sz="2000" b="1" dirty="0" err="1">
                <a:solidFill>
                  <a:schemeClr val="tx1"/>
                </a:solidFill>
                <a:latin typeface="+mj-lt"/>
              </a:rPr>
              <a:t>nối</a:t>
            </a:r>
            <a:r>
              <a:rPr lang="en-US" sz="2000" b="1" dirty="0">
                <a:solidFill>
                  <a:schemeClr val="tx1"/>
                </a:solidFill>
                <a:latin typeface="+mj-lt"/>
              </a:rPr>
              <a:t> </a:t>
            </a:r>
            <a:r>
              <a:rPr lang="en-US" sz="2000" b="1" dirty="0" err="1">
                <a:solidFill>
                  <a:schemeClr val="tx1"/>
                </a:solidFill>
                <a:latin typeface="+mj-lt"/>
              </a:rPr>
              <a:t>chuyển</a:t>
            </a:r>
            <a:r>
              <a:rPr lang="en-US" sz="2000" b="1" dirty="0">
                <a:solidFill>
                  <a:schemeClr val="tx1"/>
                </a:solidFill>
                <a:latin typeface="+mj-lt"/>
              </a:rPr>
              <a:t> </a:t>
            </a:r>
            <a:r>
              <a:rPr lang="en-US" sz="2000" b="1" dirty="0" err="1">
                <a:solidFill>
                  <a:schemeClr val="tx1"/>
                </a:solidFill>
                <a:latin typeface="+mj-lt"/>
              </a:rPr>
              <a:t>dữ</a:t>
            </a:r>
            <a:r>
              <a:rPr lang="en-US" sz="2000" b="1" dirty="0">
                <a:solidFill>
                  <a:schemeClr val="tx1"/>
                </a:solidFill>
                <a:latin typeface="+mj-lt"/>
              </a:rPr>
              <a:t> </a:t>
            </a:r>
            <a:r>
              <a:rPr lang="en-US" sz="2000" b="1" dirty="0" err="1">
                <a:solidFill>
                  <a:schemeClr val="tx1"/>
                </a:solidFill>
                <a:latin typeface="+mj-lt"/>
              </a:rPr>
              <a:t>liệu</a:t>
            </a:r>
            <a:r>
              <a:rPr lang="en-US" sz="2000" b="1" dirty="0">
                <a:solidFill>
                  <a:schemeClr val="tx1"/>
                </a:solidFill>
                <a:latin typeface="+mj-lt"/>
              </a:rPr>
              <a:t> </a:t>
            </a:r>
            <a:r>
              <a:rPr lang="en-US" sz="2000" b="1" dirty="0" err="1">
                <a:solidFill>
                  <a:schemeClr val="tx1"/>
                </a:solidFill>
                <a:latin typeface="+mj-lt"/>
              </a:rPr>
              <a:t>điện</a:t>
            </a:r>
            <a:r>
              <a:rPr lang="en-US" sz="2000" b="1" dirty="0">
                <a:solidFill>
                  <a:schemeClr val="tx1"/>
                </a:solidFill>
                <a:latin typeface="+mj-lt"/>
              </a:rPr>
              <a:t> </a:t>
            </a:r>
            <a:r>
              <a:rPr lang="en-US" sz="2000" b="1" dirty="0" err="1">
                <a:solidFill>
                  <a:schemeClr val="tx1"/>
                </a:solidFill>
                <a:latin typeface="+mj-lt"/>
              </a:rPr>
              <a:t>tử</a:t>
            </a:r>
            <a:r>
              <a:rPr lang="en-US" sz="2000" b="1" dirty="0">
                <a:solidFill>
                  <a:schemeClr val="tx1"/>
                </a:solidFill>
                <a:latin typeface="+mj-lt"/>
              </a:rPr>
              <a:t> </a:t>
            </a:r>
            <a:r>
              <a:rPr lang="en-US" sz="2000" b="1" dirty="0" err="1">
                <a:solidFill>
                  <a:schemeClr val="tx1"/>
                </a:solidFill>
                <a:latin typeface="+mj-lt"/>
              </a:rPr>
              <a:t>với</a:t>
            </a:r>
            <a:r>
              <a:rPr lang="en-US" sz="2000" b="1" dirty="0">
                <a:solidFill>
                  <a:schemeClr val="tx1"/>
                </a:solidFill>
                <a:latin typeface="+mj-lt"/>
              </a:rPr>
              <a:t> </a:t>
            </a:r>
            <a:r>
              <a:rPr lang="en-US" sz="2000" b="1" dirty="0" err="1">
                <a:solidFill>
                  <a:schemeClr val="tx1"/>
                </a:solidFill>
                <a:latin typeface="+mj-lt"/>
              </a:rPr>
              <a:t>cơ</a:t>
            </a:r>
            <a:r>
              <a:rPr lang="en-US" sz="2000" b="1" dirty="0">
                <a:solidFill>
                  <a:schemeClr val="tx1"/>
                </a:solidFill>
                <a:latin typeface="+mj-lt"/>
              </a:rPr>
              <a:t> </a:t>
            </a:r>
            <a:r>
              <a:rPr lang="en-US" sz="2000" b="1" dirty="0" err="1">
                <a:solidFill>
                  <a:schemeClr val="tx1"/>
                </a:solidFill>
                <a:latin typeface="+mj-lt"/>
              </a:rPr>
              <a:t>quan</a:t>
            </a:r>
            <a:r>
              <a:rPr lang="en-US" sz="2000" b="1" dirty="0">
                <a:solidFill>
                  <a:schemeClr val="tx1"/>
                </a:solidFill>
                <a:latin typeface="+mj-lt"/>
              </a:rPr>
              <a:t> </a:t>
            </a:r>
            <a:r>
              <a:rPr lang="en-US" sz="2000" b="1" dirty="0" err="1">
                <a:solidFill>
                  <a:schemeClr val="tx1"/>
                </a:solidFill>
                <a:latin typeface="+mj-lt"/>
              </a:rPr>
              <a:t>thuế</a:t>
            </a:r>
            <a:r>
              <a:rPr lang="en-US" sz="2000" b="1" dirty="0">
                <a:solidFill>
                  <a:schemeClr val="tx1"/>
                </a:solidFill>
                <a:latin typeface="+mj-lt"/>
              </a:rPr>
              <a:t> </a:t>
            </a:r>
            <a:r>
              <a:rPr lang="en-US" sz="2000" dirty="0" err="1">
                <a:solidFill>
                  <a:schemeClr val="tx1"/>
                </a:solidFill>
                <a:latin typeface="+mj-lt"/>
              </a:rPr>
              <a:t>là</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 </a:t>
            </a:r>
            <a:r>
              <a:rPr lang="en-US" sz="2000" dirty="0" err="1">
                <a:solidFill>
                  <a:schemeClr val="tx1"/>
                </a:solidFill>
                <a:latin typeface="+mj-lt"/>
              </a:rPr>
              <a:t>hoặc</a:t>
            </a:r>
            <a:r>
              <a:rPr lang="en-US" sz="2000" dirty="0">
                <a:solidFill>
                  <a:schemeClr val="tx1"/>
                </a:solidFill>
                <a:latin typeface="+mj-lt"/>
              </a:rPr>
              <a:t> </a:t>
            </a:r>
            <a:r>
              <a:rPr lang="en-US" sz="2000" dirty="0" err="1">
                <a:solidFill>
                  <a:schemeClr val="tx1"/>
                </a:solidFill>
                <a:latin typeface="+mj-lt"/>
              </a:rPr>
              <a:t>không</a:t>
            </a:r>
            <a:r>
              <a:rPr lang="en-US" sz="2000" dirty="0">
                <a:solidFill>
                  <a:schemeClr val="tx1"/>
                </a:solidFill>
                <a:latin typeface="+mj-lt"/>
              </a:rPr>
              <a: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 </a:t>
            </a:r>
            <a:endParaRPr lang="vi-VN" sz="2000" dirty="0">
              <a:solidFill>
                <a:schemeClr val="tx1"/>
              </a:solidFill>
              <a:latin typeface="+mj-lt"/>
            </a:endParaRPr>
          </a:p>
          <a:p>
            <a:pPr marL="0" indent="0" algn="just">
              <a:buNone/>
            </a:pPr>
            <a:r>
              <a:rPr lang="en-US" sz="2000" b="1" dirty="0" err="1">
                <a:solidFill>
                  <a:schemeClr val="tx1"/>
                </a:solidFill>
                <a:latin typeface="+mj-lt"/>
              </a:rPr>
              <a:t>Nguyên</a:t>
            </a:r>
            <a:r>
              <a:rPr lang="en-US" sz="2000" b="1" dirty="0">
                <a:solidFill>
                  <a:schemeClr val="tx1"/>
                </a:solidFill>
                <a:latin typeface="+mj-lt"/>
              </a:rPr>
              <a:t> </a:t>
            </a:r>
            <a:r>
              <a:rPr lang="en-US" sz="2000" b="1" dirty="0" err="1">
                <a:solidFill>
                  <a:schemeClr val="tx1"/>
                </a:solidFill>
                <a:latin typeface="+mj-lt"/>
              </a:rPr>
              <a:t>tắc</a:t>
            </a:r>
            <a:r>
              <a:rPr lang="en-US" sz="2000" b="1" dirty="0">
                <a:solidFill>
                  <a:schemeClr val="tx1"/>
                </a:solidFill>
                <a:latin typeface="+mj-lt"/>
              </a:rPr>
              <a:t> </a:t>
            </a:r>
            <a:r>
              <a:rPr lang="en-US" sz="2000" b="1" dirty="0" err="1">
                <a:solidFill>
                  <a:schemeClr val="tx1"/>
                </a:solidFill>
                <a:latin typeface="+mj-lt"/>
              </a:rPr>
              <a:t>nhận</a:t>
            </a:r>
            <a:r>
              <a:rPr lang="en-US" sz="2000" b="1" dirty="0">
                <a:solidFill>
                  <a:schemeClr val="tx1"/>
                </a:solidFill>
                <a:latin typeface="+mj-lt"/>
              </a:rPr>
              <a:t> </a:t>
            </a:r>
            <a:r>
              <a:rPr lang="en-US" sz="2000" b="1" dirty="0" err="1">
                <a:solidFill>
                  <a:schemeClr val="tx1"/>
                </a:solidFill>
                <a:latin typeface="+mj-lt"/>
              </a:rPr>
              <a:t>biết</a:t>
            </a:r>
            <a:r>
              <a:rPr lang="en-US" sz="2000" b="1" dirty="0">
                <a:solidFill>
                  <a:schemeClr val="tx1"/>
                </a:solidFill>
                <a:latin typeface="+mj-lt"/>
              </a:rPr>
              <a:t>.</a:t>
            </a:r>
          </a:p>
          <a:p>
            <a:pPr marL="0" indent="0" algn="just">
              <a:buNone/>
            </a:pPr>
            <a:r>
              <a:rPr lang="en-US" sz="2000" i="1" dirty="0">
                <a:solidFill>
                  <a:schemeClr val="tx1"/>
                </a:solidFill>
                <a:latin typeface="+mj-lt"/>
              </a:rPr>
              <a:t>(</a:t>
            </a:r>
            <a:r>
              <a:rPr lang="en-US" sz="2000" i="1" dirty="0" err="1">
                <a:solidFill>
                  <a:schemeClr val="tx1"/>
                </a:solidFill>
                <a:latin typeface="+mj-lt"/>
              </a:rPr>
              <a:t>Điều</a:t>
            </a:r>
            <a:r>
              <a:rPr lang="en-US" sz="2000" i="1" dirty="0">
                <a:solidFill>
                  <a:schemeClr val="tx1"/>
                </a:solidFill>
                <a:latin typeface="+mj-lt"/>
              </a:rPr>
              <a:t> 11 </a:t>
            </a:r>
            <a:r>
              <a:rPr lang="en-US" sz="2000" i="1" dirty="0" err="1">
                <a:solidFill>
                  <a:schemeClr val="tx1"/>
                </a:solidFill>
                <a:latin typeface="+mj-lt"/>
              </a:rPr>
              <a:t>Nghị</a:t>
            </a:r>
            <a:r>
              <a:rPr lang="en-US" sz="2000" i="1" dirty="0">
                <a:solidFill>
                  <a:schemeClr val="tx1"/>
                </a:solidFill>
                <a:latin typeface="+mj-lt"/>
              </a:rPr>
              <a:t> </a:t>
            </a:r>
            <a:r>
              <a:rPr lang="en-US" sz="2000" i="1" dirty="0" err="1">
                <a:solidFill>
                  <a:schemeClr val="tx1"/>
                </a:solidFill>
                <a:latin typeface="+mj-lt"/>
              </a:rPr>
              <a:t>định</a:t>
            </a:r>
            <a:r>
              <a:rPr lang="en-US" sz="2000" i="1" dirty="0">
                <a:solidFill>
                  <a:schemeClr val="tx1"/>
                </a:solidFill>
                <a:latin typeface="+mj-lt"/>
              </a:rPr>
              <a:t> </a:t>
            </a:r>
            <a:r>
              <a:rPr lang="en-US" sz="2000" i="1" dirty="0" err="1">
                <a:solidFill>
                  <a:schemeClr val="tx1"/>
                </a:solidFill>
                <a:latin typeface="+mj-lt"/>
              </a:rPr>
              <a:t>số</a:t>
            </a:r>
            <a:r>
              <a:rPr lang="en-US" sz="2000" i="1" dirty="0">
                <a:solidFill>
                  <a:schemeClr val="tx1"/>
                </a:solidFill>
                <a:latin typeface="+mj-lt"/>
              </a:rPr>
              <a:t> 123/2020/NĐ-CP)</a:t>
            </a:r>
            <a:endParaRPr lang="vi-VN" sz="2000" dirty="0">
              <a:solidFill>
                <a:schemeClr val="tx1"/>
              </a:solidFill>
              <a:latin typeface="+mj-lt"/>
            </a:endParaRPr>
          </a:p>
        </p:txBody>
      </p:sp>
      <p:sp>
        <p:nvSpPr>
          <p:cNvPr id="4" name="Rectangle 3"/>
          <p:cNvSpPr/>
          <p:nvPr/>
        </p:nvSpPr>
        <p:spPr>
          <a:xfrm>
            <a:off x="1554480" y="253652"/>
            <a:ext cx="8151223" cy="64633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PHẦN 1 – TỔNG QUAN CHUNG VỀ HÓA ĐƠN, CHỨNG TỪ - HÓA ĐƠN</a:t>
            </a:r>
            <a:r>
              <a:rPr lang="en-US" b="1" dirty="0">
                <a:latin typeface="Cambria" panose="02040503050406030204" pitchFamily="18" charset="0"/>
              </a:rPr>
              <a:t/>
            </a:r>
            <a:br>
              <a:rPr lang="en-US" b="1" dirty="0">
                <a:latin typeface="Cambria" panose="02040503050406030204" pitchFamily="18" charset="0"/>
              </a:rPr>
            </a:br>
            <a:endParaRPr lang="en-US" dirty="0"/>
          </a:p>
        </p:txBody>
      </p:sp>
      <p:pic>
        <p:nvPicPr>
          <p:cNvPr id="5" name="Picture 4"/>
          <p:cNvPicPr>
            <a:picLocks noChangeAspect="1"/>
          </p:cNvPicPr>
          <p:nvPr/>
        </p:nvPicPr>
        <p:blipFill>
          <a:blip r:embed="rId2"/>
          <a:stretch>
            <a:fillRect/>
          </a:stretch>
        </p:blipFill>
        <p:spPr>
          <a:xfrm>
            <a:off x="1" y="0"/>
            <a:ext cx="1280159" cy="1061048"/>
          </a:xfrm>
          <a:prstGeom prst="rect">
            <a:avLst/>
          </a:prstGeom>
        </p:spPr>
      </p:pic>
    </p:spTree>
    <p:extLst>
      <p:ext uri="{BB962C8B-B14F-4D97-AF65-F5344CB8AC3E}">
        <p14:creationId xmlns:p14="http://schemas.microsoft.com/office/powerpoint/2010/main" val="1258820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69222" y="778377"/>
            <a:ext cx="8596668" cy="726831"/>
          </a:xfrm>
        </p:spPr>
        <p:txBody>
          <a:bodyPr>
            <a:normAutofit/>
          </a:bodyPr>
          <a:lstStyle/>
          <a:p>
            <a:pPr algn="ctr"/>
            <a:r>
              <a:rPr lang="en-US" sz="3000" b="1" dirty="0">
                <a:solidFill>
                  <a:srgbClr val="C00000"/>
                </a:solidFill>
              </a:rPr>
              <a:t> CHUYỂN ĐỔI</a:t>
            </a:r>
            <a:endParaRPr lang="vi-VN" sz="3000" b="1" dirty="0">
              <a:solidFill>
                <a:srgbClr val="C00000"/>
              </a:solidFill>
            </a:endParaRPr>
          </a:p>
        </p:txBody>
      </p:sp>
      <p:sp>
        <p:nvSpPr>
          <p:cNvPr id="3" name="Content Placeholder 2"/>
          <p:cNvSpPr>
            <a:spLocks noGrp="1"/>
          </p:cNvSpPr>
          <p:nvPr>
            <p:ph idx="1"/>
          </p:nvPr>
        </p:nvSpPr>
        <p:spPr>
          <a:xfrm>
            <a:off x="795346" y="1536701"/>
            <a:ext cx="8596668" cy="5080070"/>
          </a:xfrm>
        </p:spPr>
        <p:txBody>
          <a:bodyPr anchor="ctr" anchorCtr="0">
            <a:normAutofit/>
          </a:bodyPr>
          <a:lstStyle/>
          <a:p>
            <a:pPr marL="0" indent="0">
              <a:buNone/>
            </a:pPr>
            <a:endParaRPr lang="vi-VN"/>
          </a:p>
          <a:p>
            <a:pPr marL="0" indent="0">
              <a:buNone/>
            </a:pPr>
            <a:endParaRPr lang="vi-VN">
              <a:solidFill>
                <a:schemeClr val="tx1"/>
              </a:solidFill>
              <a:latin typeface="Cambria" panose="02040503050406030204" pitchFamily="18" charset="0"/>
            </a:endParaRPr>
          </a:p>
        </p:txBody>
      </p:sp>
      <p:graphicFrame>
        <p:nvGraphicFramePr>
          <p:cNvPr id="5" name="Diagram 4"/>
          <p:cNvGraphicFramePr/>
          <p:nvPr>
            <p:extLst>
              <p:ext uri="{D42A27DB-BD31-4B8C-83A1-F6EECF244321}">
                <p14:modId xmlns:p14="http://schemas.microsoft.com/office/powerpoint/2010/main" val="2662549624"/>
              </p:ext>
            </p:extLst>
          </p:nvPr>
        </p:nvGraphicFramePr>
        <p:xfrm>
          <a:off x="1137890" y="1536701"/>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p:cNvSpPr/>
          <p:nvPr/>
        </p:nvSpPr>
        <p:spPr>
          <a:xfrm>
            <a:off x="795346" y="3517900"/>
            <a:ext cx="2849554" cy="23114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1600">
                <a:solidFill>
                  <a:schemeClr val="tx1"/>
                </a:solidFill>
                <a:latin typeface="Cambria" panose="02040503050406030204" pitchFamily="18" charset="0"/>
              </a:rPr>
              <a:t>- theo yêu cầu nghiệp vụ kinh tế, tài chính phát sinh;</a:t>
            </a:r>
          </a:p>
          <a:p>
            <a:r>
              <a:rPr lang="vi-VN" sz="1600">
                <a:solidFill>
                  <a:schemeClr val="tx1"/>
                </a:solidFill>
                <a:latin typeface="Cambria" panose="02040503050406030204" pitchFamily="18" charset="0"/>
              </a:rPr>
              <a:t>- theo yêu cầu của cơ quan quản lý thuế, cơ quan kiểm toán, thanh tra, kiểm tra, điều tra; </a:t>
            </a:r>
          </a:p>
          <a:p>
            <a:r>
              <a:rPr lang="vi-VN" sz="1600">
                <a:solidFill>
                  <a:schemeClr val="tx1"/>
                </a:solidFill>
                <a:latin typeface="Cambria" panose="02040503050406030204" pitchFamily="18" charset="0"/>
              </a:rPr>
              <a:t>- theo quy định của pháp luật về thanh tra, kiểm tra và điều tra.</a:t>
            </a:r>
          </a:p>
        </p:txBody>
      </p:sp>
      <p:sp>
        <p:nvSpPr>
          <p:cNvPr id="8" name="Rectangle 7"/>
          <p:cNvSpPr/>
          <p:nvPr/>
        </p:nvSpPr>
        <p:spPr>
          <a:xfrm>
            <a:off x="4113568" y="3517900"/>
            <a:ext cx="2376132" cy="23114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1600">
                <a:solidFill>
                  <a:schemeClr val="tx1"/>
                </a:solidFill>
                <a:latin typeface="Cambria" panose="02040503050406030204" pitchFamily="18" charset="0"/>
              </a:rPr>
              <a:t>-bảo đảm sự khớp đúng giữa nội dung của hóa đơn điện tử, chứng từ điện tử và hóa đơn, chứng từ giấy sau khi chuyển đổi.</a:t>
            </a:r>
          </a:p>
        </p:txBody>
      </p:sp>
      <p:sp>
        <p:nvSpPr>
          <p:cNvPr id="9" name="Rectangle 8"/>
          <p:cNvSpPr/>
          <p:nvPr/>
        </p:nvSpPr>
        <p:spPr>
          <a:xfrm>
            <a:off x="6909164" y="3517900"/>
            <a:ext cx="3161936" cy="27178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Tx/>
              <a:buChar char="-"/>
            </a:pPr>
            <a:r>
              <a:rPr lang="vi-VN" sz="1600">
                <a:solidFill>
                  <a:schemeClr val="tx1"/>
                </a:solidFill>
                <a:latin typeface="Cambria" panose="02040503050406030204" pitchFamily="18" charset="0"/>
              </a:rPr>
              <a:t>chỉ có giá trị lưu giữ để ghi sổ, theo dõi theo quy định của pháp luật về kế toán, pháp luật về giao dịch điện tử;</a:t>
            </a:r>
          </a:p>
          <a:p>
            <a:pPr marL="285750" indent="-285750">
              <a:buFontTx/>
              <a:buChar char="-"/>
            </a:pPr>
            <a:r>
              <a:rPr lang="vi-VN" sz="1600">
                <a:solidFill>
                  <a:schemeClr val="tx1"/>
                </a:solidFill>
                <a:latin typeface="Cambria" panose="02040503050406030204" pitchFamily="18" charset="0"/>
              </a:rPr>
              <a:t>không có hiệu lực để giao dịch, thanh toán, trừ trường hợp hóa đơn được khởi tạo từ máy tính tiền có kết nối chuyển dữ liệu điện tử với cơ quan thuế.</a:t>
            </a:r>
          </a:p>
        </p:txBody>
      </p:sp>
      <p:sp>
        <p:nvSpPr>
          <p:cNvPr id="10" name="Rectangle 9"/>
          <p:cNvSpPr/>
          <p:nvPr/>
        </p:nvSpPr>
        <p:spPr>
          <a:xfrm>
            <a:off x="1671683" y="280608"/>
            <a:ext cx="8399417" cy="64633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PHẦN 1 – TỔNG QUAN CHUNG VỀ HÓA ĐƠN, CHỨNG TỪ - HÓA ĐƠN</a:t>
            </a:r>
            <a:r>
              <a:rPr lang="en-US" b="1" dirty="0">
                <a:latin typeface="Cambria" panose="02040503050406030204" pitchFamily="18" charset="0"/>
              </a:rPr>
              <a:t/>
            </a:r>
            <a:br>
              <a:rPr lang="en-US" b="1" dirty="0">
                <a:latin typeface="Cambria" panose="02040503050406030204" pitchFamily="18" charset="0"/>
              </a:rPr>
            </a:br>
            <a:endParaRPr lang="en-US" dirty="0"/>
          </a:p>
        </p:txBody>
      </p:sp>
      <p:pic>
        <p:nvPicPr>
          <p:cNvPr id="11" name="Picture 10"/>
          <p:cNvPicPr>
            <a:picLocks noChangeAspect="1"/>
          </p:cNvPicPr>
          <p:nvPr/>
        </p:nvPicPr>
        <p:blipFill>
          <a:blip r:embed="rId7"/>
          <a:stretch>
            <a:fillRect/>
          </a:stretch>
        </p:blipFill>
        <p:spPr>
          <a:xfrm>
            <a:off x="1" y="0"/>
            <a:ext cx="1137889" cy="943129"/>
          </a:xfrm>
          <a:prstGeom prst="rect">
            <a:avLst/>
          </a:prstGeom>
        </p:spPr>
      </p:pic>
    </p:spTree>
    <p:extLst>
      <p:ext uri="{BB962C8B-B14F-4D97-AF65-F5344CB8AC3E}">
        <p14:creationId xmlns:p14="http://schemas.microsoft.com/office/powerpoint/2010/main" val="3980351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973015"/>
            <a:ext cx="8596668" cy="726831"/>
          </a:xfrm>
        </p:spPr>
        <p:txBody>
          <a:bodyPr>
            <a:normAutofit/>
          </a:bodyPr>
          <a:lstStyle/>
          <a:p>
            <a:pPr algn="ctr"/>
            <a:r>
              <a:rPr lang="en-US" sz="3200" b="1" dirty="0">
                <a:solidFill>
                  <a:srgbClr val="C00000"/>
                </a:solidFill>
              </a:rPr>
              <a:t>CHỨNG TỪ</a:t>
            </a:r>
            <a:endParaRPr lang="vi-VN" sz="3200" b="1" dirty="0">
              <a:solidFill>
                <a:srgbClr val="C00000"/>
              </a:solidFill>
            </a:endParaRPr>
          </a:p>
        </p:txBody>
      </p:sp>
      <p:sp>
        <p:nvSpPr>
          <p:cNvPr id="3" name="Content Placeholder 2"/>
          <p:cNvSpPr>
            <a:spLocks noGrp="1"/>
          </p:cNvSpPr>
          <p:nvPr>
            <p:ph idx="1"/>
          </p:nvPr>
        </p:nvSpPr>
        <p:spPr>
          <a:xfrm>
            <a:off x="575733" y="2354217"/>
            <a:ext cx="9812141" cy="2954383"/>
          </a:xfrm>
        </p:spPr>
        <p:txBody>
          <a:bodyPr anchor="ctr" anchorCtr="0">
            <a:normAutofit/>
          </a:bodyPr>
          <a:lstStyle/>
          <a:p>
            <a:pPr marL="0" indent="0" algn="just">
              <a:buNone/>
            </a:pPr>
            <a:r>
              <a:rPr lang="en-US" sz="2000" b="1" dirty="0">
                <a:solidFill>
                  <a:schemeClr val="tx1"/>
                </a:solidFill>
                <a:latin typeface="+mj-lt"/>
              </a:rPr>
              <a:t>1. KHÁI NIỆM</a:t>
            </a:r>
          </a:p>
          <a:p>
            <a:pPr marL="0" indent="0" algn="just">
              <a:buNone/>
            </a:pPr>
            <a:r>
              <a:rPr lang="en-US" sz="2000" b="1" dirty="0" err="1">
                <a:solidFill>
                  <a:schemeClr val="tx1"/>
                </a:solidFill>
                <a:latin typeface="+mj-lt"/>
              </a:rPr>
              <a:t>Chứng</a:t>
            </a:r>
            <a:r>
              <a:rPr lang="en-US" sz="2000" b="1" dirty="0">
                <a:solidFill>
                  <a:schemeClr val="tx1"/>
                </a:solidFill>
                <a:latin typeface="+mj-lt"/>
              </a:rPr>
              <a:t> </a:t>
            </a:r>
            <a:r>
              <a:rPr lang="en-US" sz="2000" b="1" dirty="0" err="1">
                <a:solidFill>
                  <a:schemeClr val="tx1"/>
                </a:solidFill>
                <a:latin typeface="+mj-lt"/>
              </a:rPr>
              <a:t>từ</a:t>
            </a:r>
            <a:r>
              <a:rPr lang="en-US" sz="2000" b="1" dirty="0">
                <a:solidFill>
                  <a:schemeClr val="tx1"/>
                </a:solidFill>
                <a:latin typeface="+mj-lt"/>
              </a:rPr>
              <a:t> </a:t>
            </a:r>
            <a:r>
              <a:rPr lang="en-US" sz="2000" dirty="0" err="1">
                <a:solidFill>
                  <a:schemeClr val="tx1"/>
                </a:solidFill>
                <a:latin typeface="+mj-lt"/>
              </a:rPr>
              <a:t>là</a:t>
            </a:r>
            <a:r>
              <a:rPr lang="en-US" sz="2000" dirty="0">
                <a:solidFill>
                  <a:schemeClr val="tx1"/>
                </a:solidFill>
                <a:latin typeface="+mj-lt"/>
              </a:rPr>
              <a:t> </a:t>
            </a:r>
            <a:r>
              <a:rPr lang="en-US" sz="2000" dirty="0" err="1">
                <a:solidFill>
                  <a:schemeClr val="tx1"/>
                </a:solidFill>
                <a:latin typeface="+mj-lt"/>
              </a:rPr>
              <a:t>tài</a:t>
            </a:r>
            <a:r>
              <a:rPr lang="en-US" sz="2000" dirty="0">
                <a:solidFill>
                  <a:schemeClr val="tx1"/>
                </a:solidFill>
                <a:latin typeface="+mj-lt"/>
              </a:rPr>
              <a:t> </a:t>
            </a:r>
            <a:r>
              <a:rPr lang="en-US" sz="2000" dirty="0" err="1">
                <a:solidFill>
                  <a:schemeClr val="tx1"/>
                </a:solidFill>
                <a:latin typeface="+mj-lt"/>
              </a:rPr>
              <a:t>liệu</a:t>
            </a:r>
            <a:r>
              <a:rPr lang="en-US" sz="2000" dirty="0">
                <a:solidFill>
                  <a:schemeClr val="tx1"/>
                </a:solidFill>
                <a:latin typeface="+mj-lt"/>
              </a:rPr>
              <a:t> </a:t>
            </a:r>
            <a:r>
              <a:rPr lang="en-US" sz="2000" dirty="0" err="1">
                <a:solidFill>
                  <a:schemeClr val="tx1"/>
                </a:solidFill>
                <a:latin typeface="+mj-lt"/>
              </a:rPr>
              <a:t>dùng</a:t>
            </a:r>
            <a:r>
              <a:rPr lang="en-US" sz="2000" dirty="0">
                <a:solidFill>
                  <a:schemeClr val="tx1"/>
                </a:solidFill>
                <a:latin typeface="+mj-lt"/>
              </a:rPr>
              <a:t> </a:t>
            </a:r>
            <a:r>
              <a:rPr lang="en-US" sz="2000" dirty="0" err="1">
                <a:solidFill>
                  <a:schemeClr val="tx1"/>
                </a:solidFill>
                <a:latin typeface="+mj-lt"/>
              </a:rPr>
              <a:t>để</a:t>
            </a:r>
            <a:r>
              <a:rPr lang="en-US" sz="2000" dirty="0">
                <a:solidFill>
                  <a:schemeClr val="tx1"/>
                </a:solidFill>
                <a:latin typeface="+mj-lt"/>
              </a:rPr>
              <a:t> </a:t>
            </a:r>
            <a:r>
              <a:rPr lang="en-US" sz="2000" dirty="0" err="1">
                <a:solidFill>
                  <a:schemeClr val="tx1"/>
                </a:solidFill>
                <a:latin typeface="+mj-lt"/>
              </a:rPr>
              <a:t>ghi</a:t>
            </a:r>
            <a:r>
              <a:rPr lang="en-US" sz="2000" dirty="0">
                <a:solidFill>
                  <a:schemeClr val="tx1"/>
                </a:solidFill>
                <a:latin typeface="+mj-lt"/>
              </a:rPr>
              <a:t> </a:t>
            </a:r>
            <a:r>
              <a:rPr lang="en-US" sz="2000" dirty="0" err="1">
                <a:solidFill>
                  <a:schemeClr val="tx1"/>
                </a:solidFill>
                <a:latin typeface="+mj-lt"/>
              </a:rPr>
              <a:t>nhận</a:t>
            </a:r>
            <a:r>
              <a:rPr lang="en-US" sz="2000" dirty="0">
                <a:solidFill>
                  <a:schemeClr val="tx1"/>
                </a:solidFill>
                <a:latin typeface="+mj-lt"/>
              </a:rPr>
              <a:t> </a:t>
            </a:r>
            <a:r>
              <a:rPr lang="en-US" sz="2000" dirty="0" err="1">
                <a:solidFill>
                  <a:schemeClr val="tx1"/>
                </a:solidFill>
                <a:latin typeface="+mj-lt"/>
              </a:rPr>
              <a:t>thông</a:t>
            </a:r>
            <a:r>
              <a:rPr lang="en-US" sz="2000" dirty="0">
                <a:solidFill>
                  <a:schemeClr val="tx1"/>
                </a:solidFill>
                <a:latin typeface="+mj-lt"/>
              </a:rPr>
              <a:t> tin </a:t>
            </a:r>
            <a:r>
              <a:rPr lang="en-US" sz="2000" dirty="0" err="1">
                <a:solidFill>
                  <a:schemeClr val="tx1"/>
                </a:solidFill>
                <a:latin typeface="+mj-lt"/>
              </a:rPr>
              <a:t>về</a:t>
            </a:r>
            <a:r>
              <a:rPr lang="en-US" sz="2000" dirty="0">
                <a:solidFill>
                  <a:schemeClr val="tx1"/>
                </a:solidFill>
                <a:latin typeface="+mj-lt"/>
              </a:rPr>
              <a:t> </a:t>
            </a:r>
            <a:r>
              <a:rPr lang="en-US" sz="2000" dirty="0" err="1">
                <a:solidFill>
                  <a:schemeClr val="tx1"/>
                </a:solidFill>
                <a:latin typeface="+mj-lt"/>
              </a:rPr>
              <a:t>các</a:t>
            </a:r>
            <a:r>
              <a:rPr lang="en-US" sz="2000" dirty="0">
                <a:solidFill>
                  <a:schemeClr val="tx1"/>
                </a:solidFill>
                <a:latin typeface="+mj-lt"/>
              </a:rPr>
              <a:t> </a:t>
            </a:r>
            <a:r>
              <a:rPr lang="en-US" sz="2000" dirty="0" err="1">
                <a:solidFill>
                  <a:schemeClr val="tx1"/>
                </a:solidFill>
                <a:latin typeface="+mj-lt"/>
              </a:rPr>
              <a:t>khoản</a:t>
            </a:r>
            <a:r>
              <a:rPr lang="en-US" sz="2000" dirty="0">
                <a:solidFill>
                  <a:schemeClr val="tx1"/>
                </a:solidFill>
                <a:latin typeface="+mj-lt"/>
              </a:rPr>
              <a:t> </a:t>
            </a:r>
            <a:r>
              <a:rPr lang="en-US" sz="2000" dirty="0" err="1">
                <a:solidFill>
                  <a:schemeClr val="tx1"/>
                </a:solidFill>
                <a:latin typeface="+mj-lt"/>
              </a:rPr>
              <a:t>thuế</a:t>
            </a:r>
            <a:r>
              <a:rPr lang="en-US" sz="2000" dirty="0">
                <a:solidFill>
                  <a:schemeClr val="tx1"/>
                </a:solidFill>
                <a:latin typeface="+mj-lt"/>
              </a:rPr>
              <a:t> </a:t>
            </a:r>
            <a:r>
              <a:rPr lang="en-US" sz="2000" dirty="0" err="1">
                <a:solidFill>
                  <a:schemeClr val="tx1"/>
                </a:solidFill>
                <a:latin typeface="+mj-lt"/>
              </a:rPr>
              <a:t>khấu</a:t>
            </a:r>
            <a:r>
              <a:rPr lang="en-US" sz="2000" dirty="0">
                <a:solidFill>
                  <a:schemeClr val="tx1"/>
                </a:solidFill>
                <a:latin typeface="+mj-lt"/>
              </a:rPr>
              <a:t> </a:t>
            </a:r>
            <a:r>
              <a:rPr lang="en-US" sz="2000" dirty="0" err="1">
                <a:solidFill>
                  <a:schemeClr val="tx1"/>
                </a:solidFill>
                <a:latin typeface="+mj-lt"/>
              </a:rPr>
              <a:t>trừ</a:t>
            </a:r>
            <a:r>
              <a:rPr lang="en-US" sz="2000" dirty="0">
                <a:solidFill>
                  <a:schemeClr val="tx1"/>
                </a:solidFill>
                <a:latin typeface="+mj-lt"/>
              </a:rPr>
              <a:t>, </a:t>
            </a:r>
            <a:r>
              <a:rPr lang="en-US" sz="2000" dirty="0" err="1">
                <a:solidFill>
                  <a:schemeClr val="tx1"/>
                </a:solidFill>
                <a:latin typeface="+mj-lt"/>
              </a:rPr>
              <a:t>các</a:t>
            </a:r>
            <a:r>
              <a:rPr lang="en-US" sz="2000" dirty="0">
                <a:solidFill>
                  <a:schemeClr val="tx1"/>
                </a:solidFill>
                <a:latin typeface="+mj-lt"/>
              </a:rPr>
              <a:t> </a:t>
            </a:r>
            <a:r>
              <a:rPr lang="en-US" sz="2000" dirty="0" err="1">
                <a:solidFill>
                  <a:schemeClr val="tx1"/>
                </a:solidFill>
                <a:latin typeface="+mj-lt"/>
              </a:rPr>
              <a:t>khoản</a:t>
            </a:r>
            <a:r>
              <a:rPr lang="en-US" sz="2000" dirty="0">
                <a:solidFill>
                  <a:schemeClr val="tx1"/>
                </a:solidFill>
                <a:latin typeface="+mj-lt"/>
              </a:rPr>
              <a:t> thu </a:t>
            </a:r>
            <a:r>
              <a:rPr lang="en-US" sz="2000" dirty="0" err="1">
                <a:solidFill>
                  <a:schemeClr val="tx1"/>
                </a:solidFill>
                <a:latin typeface="+mj-lt"/>
              </a:rPr>
              <a:t>thuế</a:t>
            </a:r>
            <a:r>
              <a:rPr lang="en-US" sz="2000" dirty="0">
                <a:solidFill>
                  <a:schemeClr val="tx1"/>
                </a:solidFill>
                <a:latin typeface="+mj-lt"/>
              </a:rPr>
              <a:t>, </a:t>
            </a:r>
            <a:r>
              <a:rPr lang="en-US" sz="2000" dirty="0" err="1">
                <a:solidFill>
                  <a:schemeClr val="tx1"/>
                </a:solidFill>
                <a:latin typeface="+mj-lt"/>
              </a:rPr>
              <a:t>phí</a:t>
            </a:r>
            <a:r>
              <a:rPr lang="en-US" sz="2000" dirty="0">
                <a:solidFill>
                  <a:schemeClr val="tx1"/>
                </a:solidFill>
                <a:latin typeface="+mj-lt"/>
              </a:rPr>
              <a:t> </a:t>
            </a:r>
            <a:r>
              <a:rPr lang="en-US" sz="2000" dirty="0" err="1">
                <a:solidFill>
                  <a:schemeClr val="tx1"/>
                </a:solidFill>
                <a:latin typeface="+mj-lt"/>
              </a:rPr>
              <a:t>và</a:t>
            </a:r>
            <a:r>
              <a:rPr lang="en-US" sz="2000" dirty="0">
                <a:solidFill>
                  <a:schemeClr val="tx1"/>
                </a:solidFill>
                <a:latin typeface="+mj-lt"/>
              </a:rPr>
              <a:t> </a:t>
            </a:r>
            <a:r>
              <a:rPr lang="en-US" sz="2000" dirty="0" err="1">
                <a:solidFill>
                  <a:schemeClr val="tx1"/>
                </a:solidFill>
                <a:latin typeface="+mj-lt"/>
              </a:rPr>
              <a:t>lệ</a:t>
            </a:r>
            <a:r>
              <a:rPr lang="en-US" sz="2000" dirty="0">
                <a:solidFill>
                  <a:schemeClr val="tx1"/>
                </a:solidFill>
                <a:latin typeface="+mj-lt"/>
              </a:rPr>
              <a:t> </a:t>
            </a:r>
            <a:r>
              <a:rPr lang="en-US" sz="2000" dirty="0" err="1">
                <a:solidFill>
                  <a:schemeClr val="tx1"/>
                </a:solidFill>
                <a:latin typeface="+mj-lt"/>
              </a:rPr>
              <a:t>phí</a:t>
            </a:r>
            <a:r>
              <a:rPr lang="en-US" sz="2000" dirty="0">
                <a:solidFill>
                  <a:schemeClr val="tx1"/>
                </a:solidFill>
                <a:latin typeface="+mj-lt"/>
              </a:rPr>
              <a:t> </a:t>
            </a:r>
            <a:r>
              <a:rPr lang="en-US" sz="2000" dirty="0" err="1">
                <a:solidFill>
                  <a:schemeClr val="tx1"/>
                </a:solidFill>
                <a:latin typeface="+mj-lt"/>
              </a:rPr>
              <a:t>thuộc</a:t>
            </a:r>
            <a:r>
              <a:rPr lang="en-US" sz="2000" dirty="0">
                <a:solidFill>
                  <a:schemeClr val="tx1"/>
                </a:solidFill>
                <a:latin typeface="+mj-lt"/>
              </a:rPr>
              <a:t> </a:t>
            </a:r>
            <a:r>
              <a:rPr lang="en-US" sz="2000" dirty="0" err="1">
                <a:solidFill>
                  <a:schemeClr val="tx1"/>
                </a:solidFill>
                <a:latin typeface="+mj-lt"/>
              </a:rPr>
              <a:t>ngân</a:t>
            </a:r>
            <a:r>
              <a:rPr lang="en-US" sz="2000" dirty="0">
                <a:solidFill>
                  <a:schemeClr val="tx1"/>
                </a:solidFill>
                <a:latin typeface="+mj-lt"/>
              </a:rPr>
              <a:t> </a:t>
            </a:r>
            <a:r>
              <a:rPr lang="en-US" sz="2000" dirty="0" err="1">
                <a:solidFill>
                  <a:schemeClr val="tx1"/>
                </a:solidFill>
                <a:latin typeface="+mj-lt"/>
              </a:rPr>
              <a:t>sách</a:t>
            </a:r>
            <a:r>
              <a:rPr lang="en-US" sz="2000" dirty="0">
                <a:solidFill>
                  <a:schemeClr val="tx1"/>
                </a:solidFill>
                <a:latin typeface="+mj-lt"/>
              </a:rPr>
              <a:t> </a:t>
            </a:r>
            <a:r>
              <a:rPr lang="en-US" sz="2000" dirty="0" err="1">
                <a:solidFill>
                  <a:schemeClr val="tx1"/>
                </a:solidFill>
                <a:latin typeface="+mj-lt"/>
              </a:rPr>
              <a:t>nhà</a:t>
            </a:r>
            <a:r>
              <a:rPr lang="en-US" sz="2000" dirty="0">
                <a:solidFill>
                  <a:schemeClr val="tx1"/>
                </a:solidFill>
                <a:latin typeface="+mj-lt"/>
              </a:rPr>
              <a:t> </a:t>
            </a:r>
            <a:r>
              <a:rPr lang="en-US" sz="2000" dirty="0" err="1">
                <a:solidFill>
                  <a:schemeClr val="tx1"/>
                </a:solidFill>
                <a:latin typeface="+mj-lt"/>
              </a:rPr>
              <a:t>nước</a:t>
            </a:r>
            <a:r>
              <a:rPr lang="en-US" sz="2000" dirty="0">
                <a:solidFill>
                  <a:schemeClr val="tx1"/>
                </a:solidFill>
                <a:latin typeface="+mj-lt"/>
              </a:rPr>
              <a:t> </a:t>
            </a:r>
            <a:r>
              <a:rPr lang="en-US" sz="2000" dirty="0" err="1">
                <a:solidFill>
                  <a:schemeClr val="tx1"/>
                </a:solidFill>
                <a:latin typeface="+mj-lt"/>
              </a:rPr>
              <a:t>theo</a:t>
            </a:r>
            <a:r>
              <a:rPr lang="en-US" sz="2000" dirty="0">
                <a:solidFill>
                  <a:schemeClr val="tx1"/>
                </a:solidFill>
                <a:latin typeface="+mj-lt"/>
              </a:rPr>
              <a:t> </a:t>
            </a:r>
            <a:r>
              <a:rPr lang="en-US" sz="2000" dirty="0" err="1">
                <a:solidFill>
                  <a:schemeClr val="tx1"/>
                </a:solidFill>
                <a:latin typeface="+mj-lt"/>
              </a:rPr>
              <a:t>quy</a:t>
            </a:r>
            <a:r>
              <a:rPr lang="en-US" sz="2000" dirty="0">
                <a:solidFill>
                  <a:schemeClr val="tx1"/>
                </a:solidFill>
                <a:latin typeface="+mj-lt"/>
              </a:rPr>
              <a:t> </a:t>
            </a:r>
            <a:r>
              <a:rPr lang="en-US" sz="2000" dirty="0" err="1">
                <a:solidFill>
                  <a:schemeClr val="tx1"/>
                </a:solidFill>
                <a:latin typeface="+mj-lt"/>
              </a:rPr>
              <a:t>định</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pháp</a:t>
            </a:r>
            <a:r>
              <a:rPr lang="en-US" sz="2000" dirty="0">
                <a:solidFill>
                  <a:schemeClr val="tx1"/>
                </a:solidFill>
                <a:latin typeface="+mj-lt"/>
              </a:rPr>
              <a:t> </a:t>
            </a:r>
            <a:r>
              <a:rPr lang="en-US" sz="2000" dirty="0" err="1">
                <a:solidFill>
                  <a:schemeClr val="tx1"/>
                </a:solidFill>
                <a:latin typeface="+mj-lt"/>
              </a:rPr>
              <a:t>luật</a:t>
            </a:r>
            <a:r>
              <a:rPr lang="en-US" sz="2000" dirty="0">
                <a:solidFill>
                  <a:schemeClr val="tx1"/>
                </a:solidFill>
                <a:latin typeface="+mj-lt"/>
              </a:rPr>
              <a:t> </a:t>
            </a:r>
            <a:r>
              <a:rPr lang="en-US" sz="2000" dirty="0" err="1">
                <a:solidFill>
                  <a:schemeClr val="tx1"/>
                </a:solidFill>
                <a:latin typeface="+mj-lt"/>
              </a:rPr>
              <a:t>quản</a:t>
            </a:r>
            <a:r>
              <a:rPr lang="en-US" sz="2000" dirty="0">
                <a:solidFill>
                  <a:schemeClr val="tx1"/>
                </a:solidFill>
                <a:latin typeface="+mj-lt"/>
              </a:rPr>
              <a:t> </a:t>
            </a:r>
            <a:r>
              <a:rPr lang="en-US" sz="2000" dirty="0" err="1">
                <a:solidFill>
                  <a:schemeClr val="tx1"/>
                </a:solidFill>
                <a:latin typeface="+mj-lt"/>
              </a:rPr>
              <a:t>lý</a:t>
            </a:r>
            <a:r>
              <a:rPr lang="en-US" sz="2000" dirty="0">
                <a:solidFill>
                  <a:schemeClr val="tx1"/>
                </a:solidFill>
                <a:latin typeface="+mj-lt"/>
              </a:rPr>
              <a:t> </a:t>
            </a:r>
            <a:r>
              <a:rPr lang="en-US" sz="2000" dirty="0" err="1">
                <a:solidFill>
                  <a:schemeClr val="tx1"/>
                </a:solidFill>
                <a:latin typeface="+mj-lt"/>
              </a:rPr>
              <a:t>thuế</a:t>
            </a:r>
            <a:r>
              <a:rPr lang="en-US" sz="2000" dirty="0">
                <a:solidFill>
                  <a:schemeClr val="tx1"/>
                </a:solidFill>
                <a:latin typeface="+mj-lt"/>
              </a:rPr>
              <a:t>. </a:t>
            </a:r>
            <a:r>
              <a:rPr lang="en-US" sz="2000" dirty="0" err="1">
                <a:solidFill>
                  <a:schemeClr val="tx1"/>
                </a:solidFill>
                <a:latin typeface="+mj-lt"/>
              </a:rPr>
              <a:t>Chứng</a:t>
            </a:r>
            <a:r>
              <a:rPr lang="en-US" sz="2000" dirty="0">
                <a:solidFill>
                  <a:schemeClr val="tx1"/>
                </a:solidFill>
                <a:latin typeface="+mj-lt"/>
              </a:rPr>
              <a:t> </a:t>
            </a:r>
            <a:r>
              <a:rPr lang="en-US" sz="2000" dirty="0" err="1">
                <a:solidFill>
                  <a:schemeClr val="tx1"/>
                </a:solidFill>
                <a:latin typeface="+mj-lt"/>
              </a:rPr>
              <a:t>từ</a:t>
            </a:r>
            <a:r>
              <a:rPr lang="en-US" sz="2000" dirty="0">
                <a:solidFill>
                  <a:schemeClr val="tx1"/>
                </a:solidFill>
                <a:latin typeface="+mj-lt"/>
              </a:rPr>
              <a:t> </a:t>
            </a:r>
            <a:r>
              <a:rPr lang="en-US" sz="2000" dirty="0" err="1">
                <a:solidFill>
                  <a:schemeClr val="tx1"/>
                </a:solidFill>
                <a:latin typeface="+mj-lt"/>
              </a:rPr>
              <a:t>theo</a:t>
            </a:r>
            <a:r>
              <a:rPr lang="en-US" sz="2000" dirty="0">
                <a:solidFill>
                  <a:schemeClr val="tx1"/>
                </a:solidFill>
                <a:latin typeface="+mj-lt"/>
              </a:rPr>
              <a:t> </a:t>
            </a:r>
            <a:r>
              <a:rPr lang="en-US" sz="2000" dirty="0" err="1">
                <a:solidFill>
                  <a:schemeClr val="tx1"/>
                </a:solidFill>
                <a:latin typeface="+mj-lt"/>
              </a:rPr>
              <a:t>quy</a:t>
            </a:r>
            <a:r>
              <a:rPr lang="en-US" sz="2000" dirty="0">
                <a:solidFill>
                  <a:schemeClr val="tx1"/>
                </a:solidFill>
                <a:latin typeface="+mj-lt"/>
              </a:rPr>
              <a:t> </a:t>
            </a:r>
            <a:r>
              <a:rPr lang="en-US" sz="2000" dirty="0" err="1">
                <a:solidFill>
                  <a:schemeClr val="tx1"/>
                </a:solidFill>
                <a:latin typeface="+mj-lt"/>
              </a:rPr>
              <a:t>định</a:t>
            </a:r>
            <a:r>
              <a:rPr lang="en-US" sz="2000" dirty="0">
                <a:solidFill>
                  <a:schemeClr val="tx1"/>
                </a:solidFill>
                <a:latin typeface="+mj-lt"/>
              </a:rPr>
              <a:t> </a:t>
            </a:r>
            <a:r>
              <a:rPr lang="en-US" sz="2000" dirty="0" err="1">
                <a:solidFill>
                  <a:schemeClr val="tx1"/>
                </a:solidFill>
                <a:latin typeface="+mj-lt"/>
              </a:rPr>
              <a:t>bao</a:t>
            </a:r>
            <a:r>
              <a:rPr lang="en-US" sz="2000" dirty="0">
                <a:solidFill>
                  <a:schemeClr val="tx1"/>
                </a:solidFill>
                <a:latin typeface="+mj-lt"/>
              </a:rPr>
              <a:t> </a:t>
            </a:r>
            <a:r>
              <a:rPr lang="en-US" sz="2000" dirty="0" err="1">
                <a:solidFill>
                  <a:schemeClr val="tx1"/>
                </a:solidFill>
                <a:latin typeface="+mj-lt"/>
              </a:rPr>
              <a:t>gồm</a:t>
            </a:r>
            <a:r>
              <a:rPr lang="en-US" sz="2000" dirty="0">
                <a:solidFill>
                  <a:schemeClr val="tx1"/>
                </a:solidFill>
                <a:latin typeface="+mj-lt"/>
              </a:rPr>
              <a:t> </a:t>
            </a:r>
            <a:r>
              <a:rPr lang="en-US" sz="2000" dirty="0" err="1">
                <a:solidFill>
                  <a:schemeClr val="tx1"/>
                </a:solidFill>
                <a:latin typeface="+mj-lt"/>
              </a:rPr>
              <a:t>chứng</a:t>
            </a:r>
            <a:r>
              <a:rPr lang="en-US" sz="2000" dirty="0">
                <a:solidFill>
                  <a:schemeClr val="tx1"/>
                </a:solidFill>
                <a:latin typeface="+mj-lt"/>
              </a:rPr>
              <a:t> </a:t>
            </a:r>
            <a:r>
              <a:rPr lang="en-US" sz="2000" dirty="0" err="1">
                <a:solidFill>
                  <a:schemeClr val="tx1"/>
                </a:solidFill>
                <a:latin typeface="+mj-lt"/>
              </a:rPr>
              <a:t>từ</a:t>
            </a:r>
            <a:r>
              <a:rPr lang="en-US" sz="2000" dirty="0">
                <a:solidFill>
                  <a:schemeClr val="tx1"/>
                </a:solidFill>
                <a:latin typeface="+mj-lt"/>
              </a:rPr>
              <a:t> </a:t>
            </a:r>
            <a:r>
              <a:rPr lang="en-US" sz="2000" dirty="0" err="1">
                <a:solidFill>
                  <a:schemeClr val="tx1"/>
                </a:solidFill>
                <a:latin typeface="+mj-lt"/>
              </a:rPr>
              <a:t>khấu</a:t>
            </a:r>
            <a:r>
              <a:rPr lang="en-US" sz="2000" dirty="0">
                <a:solidFill>
                  <a:schemeClr val="tx1"/>
                </a:solidFill>
                <a:latin typeface="+mj-lt"/>
              </a:rPr>
              <a:t> </a:t>
            </a:r>
            <a:r>
              <a:rPr lang="en-US" sz="2000" dirty="0" err="1">
                <a:solidFill>
                  <a:schemeClr val="tx1"/>
                </a:solidFill>
                <a:latin typeface="+mj-lt"/>
              </a:rPr>
              <a:t>trừ</a:t>
            </a:r>
            <a:r>
              <a:rPr lang="en-US" sz="2000" dirty="0">
                <a:solidFill>
                  <a:schemeClr val="tx1"/>
                </a:solidFill>
                <a:latin typeface="+mj-lt"/>
              </a:rPr>
              <a:t> </a:t>
            </a:r>
            <a:r>
              <a:rPr lang="en-US" sz="2000" dirty="0" err="1">
                <a:solidFill>
                  <a:schemeClr val="tx1"/>
                </a:solidFill>
                <a:latin typeface="+mj-lt"/>
              </a:rPr>
              <a:t>thuế</a:t>
            </a:r>
            <a:r>
              <a:rPr lang="en-US" sz="2000" dirty="0">
                <a:solidFill>
                  <a:schemeClr val="tx1"/>
                </a:solidFill>
                <a:latin typeface="+mj-lt"/>
              </a:rPr>
              <a:t> thu </a:t>
            </a:r>
            <a:r>
              <a:rPr lang="en-US" sz="2000" dirty="0" err="1">
                <a:solidFill>
                  <a:schemeClr val="tx1"/>
                </a:solidFill>
                <a:latin typeface="+mj-lt"/>
              </a:rPr>
              <a:t>nhập</a:t>
            </a:r>
            <a:r>
              <a:rPr lang="en-US" sz="2000" dirty="0">
                <a:solidFill>
                  <a:schemeClr val="tx1"/>
                </a:solidFill>
                <a:latin typeface="+mj-lt"/>
              </a:rPr>
              <a:t> </a:t>
            </a:r>
            <a:r>
              <a:rPr lang="en-US" sz="2000" dirty="0" err="1">
                <a:solidFill>
                  <a:schemeClr val="tx1"/>
                </a:solidFill>
                <a:latin typeface="+mj-lt"/>
              </a:rPr>
              <a:t>cá</a:t>
            </a:r>
            <a:r>
              <a:rPr lang="en-US" sz="2000" dirty="0">
                <a:solidFill>
                  <a:schemeClr val="tx1"/>
                </a:solidFill>
                <a:latin typeface="+mj-lt"/>
              </a:rPr>
              <a:t> </a:t>
            </a:r>
            <a:r>
              <a:rPr lang="en-US" sz="2000" dirty="0" err="1">
                <a:solidFill>
                  <a:schemeClr val="tx1"/>
                </a:solidFill>
                <a:latin typeface="+mj-lt"/>
              </a:rPr>
              <a:t>nhân</a:t>
            </a:r>
            <a:r>
              <a:rPr lang="en-US" sz="2000" dirty="0">
                <a:solidFill>
                  <a:schemeClr val="tx1"/>
                </a:solidFill>
                <a:latin typeface="+mj-lt"/>
              </a:rPr>
              <a:t>, </a:t>
            </a:r>
            <a:r>
              <a:rPr lang="en-US" sz="2000" dirty="0" err="1">
                <a:solidFill>
                  <a:schemeClr val="tx1"/>
                </a:solidFill>
                <a:latin typeface="+mj-lt"/>
              </a:rPr>
              <a:t>biên</a:t>
            </a:r>
            <a:r>
              <a:rPr lang="en-US" sz="2000" dirty="0">
                <a:solidFill>
                  <a:schemeClr val="tx1"/>
                </a:solidFill>
                <a:latin typeface="+mj-lt"/>
              </a:rPr>
              <a:t> </a:t>
            </a:r>
            <a:r>
              <a:rPr lang="en-US" sz="2000" dirty="0" err="1">
                <a:solidFill>
                  <a:schemeClr val="tx1"/>
                </a:solidFill>
                <a:latin typeface="+mj-lt"/>
              </a:rPr>
              <a:t>lai</a:t>
            </a:r>
            <a:r>
              <a:rPr lang="en-US" sz="2000" dirty="0">
                <a:solidFill>
                  <a:schemeClr val="tx1"/>
                </a:solidFill>
                <a:latin typeface="+mj-lt"/>
              </a:rPr>
              <a:t> </a:t>
            </a:r>
            <a:r>
              <a:rPr lang="en-US" sz="2000" dirty="0" err="1">
                <a:solidFill>
                  <a:schemeClr val="tx1"/>
                </a:solidFill>
                <a:latin typeface="+mj-lt"/>
              </a:rPr>
              <a:t>thuế</a:t>
            </a:r>
            <a:r>
              <a:rPr lang="en-US" sz="2000" dirty="0">
                <a:solidFill>
                  <a:schemeClr val="tx1"/>
                </a:solidFill>
                <a:latin typeface="+mj-lt"/>
              </a:rPr>
              <a:t>, </a:t>
            </a:r>
            <a:r>
              <a:rPr lang="en-US" sz="2000" dirty="0" err="1">
                <a:solidFill>
                  <a:schemeClr val="tx1"/>
                </a:solidFill>
                <a:latin typeface="+mj-lt"/>
              </a:rPr>
              <a:t>phí</a:t>
            </a:r>
            <a:r>
              <a:rPr lang="en-US" sz="2000" dirty="0">
                <a:solidFill>
                  <a:schemeClr val="tx1"/>
                </a:solidFill>
                <a:latin typeface="+mj-lt"/>
              </a:rPr>
              <a:t>, </a:t>
            </a:r>
            <a:r>
              <a:rPr lang="en-US" sz="2000" dirty="0" err="1">
                <a:solidFill>
                  <a:schemeClr val="tx1"/>
                </a:solidFill>
                <a:latin typeface="+mj-lt"/>
              </a:rPr>
              <a:t>lệ</a:t>
            </a:r>
            <a:r>
              <a:rPr lang="en-US" sz="2000" dirty="0">
                <a:solidFill>
                  <a:schemeClr val="tx1"/>
                </a:solidFill>
                <a:latin typeface="+mj-lt"/>
              </a:rPr>
              <a:t> </a:t>
            </a:r>
            <a:r>
              <a:rPr lang="en-US" sz="2000" dirty="0" err="1">
                <a:solidFill>
                  <a:schemeClr val="tx1"/>
                </a:solidFill>
                <a:latin typeface="+mj-lt"/>
              </a:rPr>
              <a:t>phí</a:t>
            </a:r>
            <a:r>
              <a:rPr lang="en-US" sz="2000" dirty="0">
                <a:solidFill>
                  <a:schemeClr val="tx1"/>
                </a:solidFill>
                <a:latin typeface="+mj-lt"/>
              </a:rPr>
              <a:t> </a:t>
            </a:r>
            <a:r>
              <a:rPr lang="en-US" sz="2000" dirty="0" err="1">
                <a:solidFill>
                  <a:schemeClr val="tx1"/>
                </a:solidFill>
                <a:latin typeface="+mj-lt"/>
              </a:rPr>
              <a:t>được</a:t>
            </a:r>
            <a:r>
              <a:rPr lang="en-US" sz="2000" dirty="0">
                <a:solidFill>
                  <a:schemeClr val="tx1"/>
                </a:solidFill>
                <a:latin typeface="+mj-lt"/>
              </a:rPr>
              <a:t> </a:t>
            </a:r>
            <a:r>
              <a:rPr lang="en-US" sz="2000" dirty="0" err="1">
                <a:solidFill>
                  <a:schemeClr val="tx1"/>
                </a:solidFill>
                <a:latin typeface="+mj-lt"/>
              </a:rPr>
              <a:t>thể</a:t>
            </a:r>
            <a:r>
              <a:rPr lang="en-US" sz="2000" dirty="0">
                <a:solidFill>
                  <a:schemeClr val="tx1"/>
                </a:solidFill>
                <a:latin typeface="+mj-lt"/>
              </a:rPr>
              <a:t> </a:t>
            </a:r>
            <a:r>
              <a:rPr lang="en-US" sz="2000" dirty="0" err="1">
                <a:solidFill>
                  <a:schemeClr val="tx1"/>
                </a:solidFill>
                <a:latin typeface="+mj-lt"/>
              </a:rPr>
              <a:t>hiện</a:t>
            </a:r>
            <a:r>
              <a:rPr lang="en-US" sz="2000" dirty="0">
                <a:solidFill>
                  <a:schemeClr val="tx1"/>
                </a:solidFill>
                <a:latin typeface="+mj-lt"/>
              </a:rPr>
              <a:t> </a:t>
            </a:r>
            <a:r>
              <a:rPr lang="en-US" sz="2000" dirty="0" err="1">
                <a:solidFill>
                  <a:schemeClr val="tx1"/>
                </a:solidFill>
                <a:latin typeface="+mj-lt"/>
              </a:rPr>
              <a:t>theo</a:t>
            </a:r>
            <a:r>
              <a:rPr lang="en-US" sz="2000" dirty="0">
                <a:solidFill>
                  <a:schemeClr val="tx1"/>
                </a:solidFill>
                <a:latin typeface="+mj-lt"/>
              </a:rPr>
              <a:t> </a:t>
            </a:r>
            <a:r>
              <a:rPr lang="en-US" sz="2000" dirty="0" err="1">
                <a:solidFill>
                  <a:schemeClr val="tx1"/>
                </a:solidFill>
                <a:latin typeface="+mj-lt"/>
              </a:rPr>
              <a:t>hình</a:t>
            </a:r>
            <a:r>
              <a:rPr lang="en-US" sz="2000" dirty="0">
                <a:solidFill>
                  <a:schemeClr val="tx1"/>
                </a:solidFill>
                <a:latin typeface="+mj-lt"/>
              </a:rPr>
              <a:t> </a:t>
            </a:r>
            <a:r>
              <a:rPr lang="en-US" sz="2000" dirty="0" err="1">
                <a:solidFill>
                  <a:schemeClr val="tx1"/>
                </a:solidFill>
                <a:latin typeface="+mj-lt"/>
              </a:rPr>
              <a:t>thức</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hoặc</a:t>
            </a:r>
            <a:r>
              <a:rPr lang="en-US" sz="2000" dirty="0">
                <a:solidFill>
                  <a:schemeClr val="tx1"/>
                </a:solidFill>
                <a:latin typeface="+mj-lt"/>
              </a:rPr>
              <a:t> </a:t>
            </a:r>
            <a:r>
              <a:rPr lang="en-US" sz="2000" dirty="0" err="1">
                <a:solidFill>
                  <a:schemeClr val="tx1"/>
                </a:solidFill>
                <a:latin typeface="+mj-lt"/>
              </a:rPr>
              <a:t>đặt</a:t>
            </a:r>
            <a:r>
              <a:rPr lang="en-US" sz="2000" dirty="0">
                <a:solidFill>
                  <a:schemeClr val="tx1"/>
                </a:solidFill>
                <a:latin typeface="+mj-lt"/>
              </a:rPr>
              <a:t> in, </a:t>
            </a:r>
            <a:r>
              <a:rPr lang="en-US" sz="2000" dirty="0" err="1">
                <a:solidFill>
                  <a:schemeClr val="tx1"/>
                </a:solidFill>
                <a:latin typeface="+mj-lt"/>
              </a:rPr>
              <a:t>tự</a:t>
            </a:r>
            <a:r>
              <a:rPr lang="en-US" sz="2000" dirty="0">
                <a:solidFill>
                  <a:schemeClr val="tx1"/>
                </a:solidFill>
                <a:latin typeface="+mj-lt"/>
              </a:rPr>
              <a:t> in.</a:t>
            </a:r>
            <a:endParaRPr lang="vi-VN" sz="2000" dirty="0">
              <a:solidFill>
                <a:schemeClr val="tx1"/>
              </a:solidFill>
              <a:latin typeface="+mj-lt"/>
            </a:endParaRPr>
          </a:p>
          <a:p>
            <a:pPr marL="0" indent="0" algn="just">
              <a:buNone/>
            </a:pPr>
            <a:r>
              <a:rPr lang="en-US" sz="2000" i="1" dirty="0">
                <a:solidFill>
                  <a:schemeClr val="tx1"/>
                </a:solidFill>
                <a:latin typeface="+mj-lt"/>
              </a:rPr>
              <a:t>(</a:t>
            </a:r>
            <a:r>
              <a:rPr lang="en-US" sz="2000" i="1" dirty="0" err="1">
                <a:solidFill>
                  <a:schemeClr val="tx1"/>
                </a:solidFill>
                <a:latin typeface="+mj-lt"/>
              </a:rPr>
              <a:t>Khoản</a:t>
            </a:r>
            <a:r>
              <a:rPr lang="en-US" sz="2000" i="1" dirty="0">
                <a:solidFill>
                  <a:schemeClr val="tx1"/>
                </a:solidFill>
                <a:latin typeface="+mj-lt"/>
              </a:rPr>
              <a:t> 4 </a:t>
            </a:r>
            <a:r>
              <a:rPr lang="en-US" sz="2000" i="1" dirty="0" err="1">
                <a:solidFill>
                  <a:schemeClr val="tx1"/>
                </a:solidFill>
                <a:latin typeface="+mj-lt"/>
              </a:rPr>
              <a:t>Điều</a:t>
            </a:r>
            <a:r>
              <a:rPr lang="en-US" sz="2000" i="1" dirty="0">
                <a:solidFill>
                  <a:schemeClr val="tx1"/>
                </a:solidFill>
                <a:latin typeface="+mj-lt"/>
              </a:rPr>
              <a:t> 3 </a:t>
            </a:r>
            <a:r>
              <a:rPr lang="en-US" sz="2000" i="1" dirty="0" err="1">
                <a:solidFill>
                  <a:schemeClr val="tx1"/>
                </a:solidFill>
                <a:latin typeface="+mj-lt"/>
              </a:rPr>
              <a:t>Nghị</a:t>
            </a:r>
            <a:r>
              <a:rPr lang="en-US" sz="2000" i="1" dirty="0">
                <a:solidFill>
                  <a:schemeClr val="tx1"/>
                </a:solidFill>
                <a:latin typeface="+mj-lt"/>
              </a:rPr>
              <a:t> </a:t>
            </a:r>
            <a:r>
              <a:rPr lang="en-US" sz="2000" i="1" dirty="0" err="1">
                <a:solidFill>
                  <a:schemeClr val="tx1"/>
                </a:solidFill>
                <a:latin typeface="+mj-lt"/>
              </a:rPr>
              <a:t>định</a:t>
            </a:r>
            <a:r>
              <a:rPr lang="en-US" sz="2000" i="1" dirty="0">
                <a:solidFill>
                  <a:schemeClr val="tx1"/>
                </a:solidFill>
                <a:latin typeface="+mj-lt"/>
              </a:rPr>
              <a:t> </a:t>
            </a:r>
            <a:r>
              <a:rPr lang="en-US" sz="2000" i="1" dirty="0" err="1">
                <a:solidFill>
                  <a:schemeClr val="tx1"/>
                </a:solidFill>
                <a:latin typeface="+mj-lt"/>
              </a:rPr>
              <a:t>số</a:t>
            </a:r>
            <a:r>
              <a:rPr lang="en-US" sz="2000" i="1" dirty="0">
                <a:solidFill>
                  <a:schemeClr val="tx1"/>
                </a:solidFill>
                <a:latin typeface="+mj-lt"/>
              </a:rPr>
              <a:t> 123/2020/NĐ-CP)</a:t>
            </a:r>
            <a:endParaRPr lang="vi-VN" sz="2000" i="1" dirty="0">
              <a:solidFill>
                <a:schemeClr val="tx1"/>
              </a:solidFill>
              <a:latin typeface="+mj-lt"/>
            </a:endParaRPr>
          </a:p>
          <a:p>
            <a:pPr marL="0" indent="0">
              <a:buNone/>
            </a:pPr>
            <a:endParaRPr lang="vi-VN" sz="2400" b="1" dirty="0">
              <a:latin typeface="Cambria" panose="02040503050406030204" pitchFamily="18" charset="0"/>
            </a:endParaRPr>
          </a:p>
        </p:txBody>
      </p:sp>
      <p:sp>
        <p:nvSpPr>
          <p:cNvPr id="4" name="Rectangle 3"/>
          <p:cNvSpPr/>
          <p:nvPr/>
        </p:nvSpPr>
        <p:spPr>
          <a:xfrm>
            <a:off x="1383694" y="324869"/>
            <a:ext cx="8399418" cy="64633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PHẦN 1 – TỔNG QUAN CHUNG VỀ HÓA ĐƠN, CHỨNG TỪ - CHỨNG TỪ </a:t>
            </a:r>
            <a:r>
              <a:rPr lang="en-US" b="1" dirty="0">
                <a:latin typeface="Cambria" panose="02040503050406030204" pitchFamily="18" charset="0"/>
              </a:rPr>
              <a:t/>
            </a:r>
            <a:br>
              <a:rPr lang="en-US" b="1" dirty="0">
                <a:latin typeface="Cambria" panose="02040503050406030204" pitchFamily="18" charset="0"/>
              </a:rPr>
            </a:br>
            <a:endParaRPr lang="en-US" dirty="0"/>
          </a:p>
        </p:txBody>
      </p:sp>
      <p:pic>
        <p:nvPicPr>
          <p:cNvPr id="5" name="Picture 4"/>
          <p:cNvPicPr>
            <a:picLocks noChangeAspect="1"/>
          </p:cNvPicPr>
          <p:nvPr/>
        </p:nvPicPr>
        <p:blipFill>
          <a:blip r:embed="rId2"/>
          <a:stretch>
            <a:fillRect/>
          </a:stretch>
        </p:blipFill>
        <p:spPr>
          <a:xfrm>
            <a:off x="1" y="0"/>
            <a:ext cx="1280159" cy="1061048"/>
          </a:xfrm>
          <a:prstGeom prst="rect">
            <a:avLst/>
          </a:prstGeom>
        </p:spPr>
      </p:pic>
    </p:spTree>
    <p:extLst>
      <p:ext uri="{BB962C8B-B14F-4D97-AF65-F5344CB8AC3E}">
        <p14:creationId xmlns:p14="http://schemas.microsoft.com/office/powerpoint/2010/main" val="2946688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863" y="1113612"/>
            <a:ext cx="8596668" cy="684628"/>
          </a:xfrm>
        </p:spPr>
        <p:txBody>
          <a:bodyPr>
            <a:normAutofit fontScale="90000"/>
          </a:bodyPr>
          <a:lstStyle/>
          <a:p>
            <a:pPr algn="ctr"/>
            <a:r>
              <a:rPr lang="en-US" sz="2700" b="1" dirty="0">
                <a:solidFill>
                  <a:srgbClr val="C00000"/>
                </a:solidFill>
              </a:rPr>
              <a:t>HÌNH THỨC CHỨNG TỪ</a:t>
            </a:r>
            <a:r>
              <a:rPr lang="en-US" b="1" dirty="0">
                <a:solidFill>
                  <a:srgbClr val="C00000"/>
                </a:solidFill>
              </a:rPr>
              <a:t/>
            </a:r>
            <a:br>
              <a:rPr lang="en-US" b="1" dirty="0">
                <a:solidFill>
                  <a:srgbClr val="C00000"/>
                </a:solidFill>
              </a:rPr>
            </a:br>
            <a:endParaRPr lang="vi-VN" dirty="0">
              <a:solidFill>
                <a:srgbClr val="C00000"/>
              </a:solidFill>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599169567"/>
              </p:ext>
            </p:extLst>
          </p:nvPr>
        </p:nvGraphicFramePr>
        <p:xfrm>
          <a:off x="677863" y="1325274"/>
          <a:ext cx="8596312" cy="48835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p:cNvSpPr/>
          <p:nvPr/>
        </p:nvSpPr>
        <p:spPr>
          <a:xfrm>
            <a:off x="1502229" y="231837"/>
            <a:ext cx="6800193" cy="64633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PHẦN 1 – TỔNG QUAN CHUNG VỀ HÓA ĐƠN, CHỨNG TỪ</a:t>
            </a:r>
            <a:r>
              <a:rPr lang="en-US" b="1" dirty="0">
                <a:latin typeface="Cambria" panose="02040503050406030204" pitchFamily="18" charset="0"/>
              </a:rPr>
              <a:t/>
            </a:r>
            <a:br>
              <a:rPr lang="en-US" b="1" dirty="0">
                <a:latin typeface="Cambria" panose="02040503050406030204" pitchFamily="18" charset="0"/>
              </a:rPr>
            </a:br>
            <a:endParaRPr lang="en-US" dirty="0"/>
          </a:p>
        </p:txBody>
      </p:sp>
      <p:pic>
        <p:nvPicPr>
          <p:cNvPr id="6" name="Picture 5"/>
          <p:cNvPicPr>
            <a:picLocks noChangeAspect="1"/>
          </p:cNvPicPr>
          <p:nvPr/>
        </p:nvPicPr>
        <p:blipFill>
          <a:blip r:embed="rId7"/>
          <a:stretch>
            <a:fillRect/>
          </a:stretch>
        </p:blipFill>
        <p:spPr>
          <a:xfrm>
            <a:off x="1" y="0"/>
            <a:ext cx="1280159" cy="1061048"/>
          </a:xfrm>
          <a:prstGeom prst="rect">
            <a:avLst/>
          </a:prstGeom>
        </p:spPr>
      </p:pic>
    </p:spTree>
    <p:extLst>
      <p:ext uri="{BB962C8B-B14F-4D97-AF65-F5344CB8AC3E}">
        <p14:creationId xmlns:p14="http://schemas.microsoft.com/office/powerpoint/2010/main" val="2326378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791308"/>
            <a:ext cx="8596668" cy="642425"/>
          </a:xfrm>
        </p:spPr>
        <p:txBody>
          <a:bodyPr anchor="ctr" anchorCtr="0">
            <a:noAutofit/>
          </a:bodyPr>
          <a:lstStyle/>
          <a:p>
            <a:pPr algn="ctr"/>
            <a:r>
              <a:rPr lang="en-US" sz="2400" b="1" dirty="0">
                <a:solidFill>
                  <a:srgbClr val="C00000"/>
                </a:solidFill>
                <a:latin typeface="Times New Roman" panose="02020603050405020304" pitchFamily="18" charset="0"/>
                <a:cs typeface="Times New Roman" panose="02020603050405020304" pitchFamily="18" charset="0"/>
              </a:rPr>
              <a:t>CHỨNG TỪ ĐIỆN TỬ</a:t>
            </a:r>
            <a:endParaRPr lang="vi-VN" sz="24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609377"/>
            <a:ext cx="9498632" cy="4789337"/>
          </a:xfrm>
        </p:spPr>
        <p:txBody>
          <a:bodyPr vert="horz" anchor="ctr" anchorCtr="0">
            <a:normAutofit/>
          </a:bodyPr>
          <a:lstStyle/>
          <a:p>
            <a:pPr marL="0" indent="0" algn="just">
              <a:buNone/>
            </a:pPr>
            <a:r>
              <a:rPr lang="en-US" sz="1900" dirty="0">
                <a:solidFill>
                  <a:schemeClr val="tx1"/>
                </a:solidFill>
                <a:latin typeface="+mj-lt"/>
              </a:rPr>
              <a:t>- </a:t>
            </a:r>
            <a:r>
              <a:rPr lang="en-US" sz="1900" b="1" dirty="0" err="1">
                <a:solidFill>
                  <a:schemeClr val="tx1"/>
                </a:solidFill>
                <a:latin typeface="+mj-lt"/>
              </a:rPr>
              <a:t>Chứng</a:t>
            </a:r>
            <a:r>
              <a:rPr lang="en-US" sz="1900" b="1" dirty="0">
                <a:solidFill>
                  <a:schemeClr val="tx1"/>
                </a:solidFill>
                <a:latin typeface="+mj-lt"/>
              </a:rPr>
              <a:t> </a:t>
            </a:r>
            <a:r>
              <a:rPr lang="en-US" sz="1900" b="1" dirty="0" err="1">
                <a:solidFill>
                  <a:schemeClr val="tx1"/>
                </a:solidFill>
                <a:latin typeface="+mj-lt"/>
              </a:rPr>
              <a:t>từ</a:t>
            </a:r>
            <a:r>
              <a:rPr lang="en-US" sz="1900" b="1" dirty="0">
                <a:solidFill>
                  <a:schemeClr val="tx1"/>
                </a:solidFill>
                <a:latin typeface="+mj-lt"/>
              </a:rPr>
              <a:t> </a:t>
            </a:r>
            <a:r>
              <a:rPr lang="en-US" sz="1900" b="1" dirty="0" err="1">
                <a:solidFill>
                  <a:schemeClr val="tx1"/>
                </a:solidFill>
                <a:latin typeface="+mj-lt"/>
              </a:rPr>
              <a:t>điện</a:t>
            </a:r>
            <a:r>
              <a:rPr lang="en-US" sz="1900" b="1" dirty="0">
                <a:solidFill>
                  <a:schemeClr val="tx1"/>
                </a:solidFill>
                <a:latin typeface="+mj-lt"/>
              </a:rPr>
              <a:t> </a:t>
            </a:r>
            <a:r>
              <a:rPr lang="en-US" sz="1900" b="1" dirty="0" err="1">
                <a:solidFill>
                  <a:schemeClr val="tx1"/>
                </a:solidFill>
                <a:latin typeface="+mj-lt"/>
              </a:rPr>
              <a:t>tử</a:t>
            </a:r>
            <a:r>
              <a:rPr lang="en-US" sz="1900" b="1" dirty="0">
                <a:solidFill>
                  <a:schemeClr val="tx1"/>
                </a:solidFill>
                <a:latin typeface="+mj-lt"/>
              </a:rPr>
              <a:t> </a:t>
            </a:r>
            <a:r>
              <a:rPr lang="en-US" sz="1900" dirty="0" err="1">
                <a:solidFill>
                  <a:schemeClr val="tx1"/>
                </a:solidFill>
                <a:latin typeface="+mj-lt"/>
              </a:rPr>
              <a:t>bao</a:t>
            </a:r>
            <a:r>
              <a:rPr lang="en-US" sz="1900" dirty="0">
                <a:solidFill>
                  <a:schemeClr val="tx1"/>
                </a:solidFill>
                <a:latin typeface="+mj-lt"/>
              </a:rPr>
              <a:t> </a:t>
            </a:r>
            <a:r>
              <a:rPr lang="en-US" sz="1900" dirty="0" err="1">
                <a:solidFill>
                  <a:schemeClr val="tx1"/>
                </a:solidFill>
                <a:latin typeface="+mj-lt"/>
              </a:rPr>
              <a:t>gồm</a:t>
            </a:r>
            <a:r>
              <a:rPr lang="en-US" sz="1900" dirty="0">
                <a:solidFill>
                  <a:schemeClr val="tx1"/>
                </a:solidFill>
                <a:latin typeface="+mj-lt"/>
              </a:rPr>
              <a:t> </a:t>
            </a:r>
            <a:r>
              <a:rPr lang="en-US" sz="1900" dirty="0" err="1">
                <a:solidFill>
                  <a:schemeClr val="tx1"/>
                </a:solidFill>
                <a:latin typeface="+mj-lt"/>
              </a:rPr>
              <a:t>các</a:t>
            </a:r>
            <a:r>
              <a:rPr lang="en-US" sz="1900" dirty="0">
                <a:solidFill>
                  <a:schemeClr val="tx1"/>
                </a:solidFill>
                <a:latin typeface="+mj-lt"/>
              </a:rPr>
              <a:t> </a:t>
            </a:r>
            <a:r>
              <a:rPr lang="en-US" sz="1900" dirty="0" err="1">
                <a:solidFill>
                  <a:schemeClr val="tx1"/>
                </a:solidFill>
                <a:latin typeface="+mj-lt"/>
              </a:rPr>
              <a:t>loại</a:t>
            </a:r>
            <a:r>
              <a:rPr lang="en-US" sz="1900" dirty="0">
                <a:solidFill>
                  <a:schemeClr val="tx1"/>
                </a:solidFill>
                <a:latin typeface="+mj-lt"/>
              </a:rPr>
              <a:t> </a:t>
            </a:r>
            <a:r>
              <a:rPr lang="en-US" sz="1900" dirty="0" err="1">
                <a:solidFill>
                  <a:schemeClr val="tx1"/>
                </a:solidFill>
                <a:latin typeface="+mj-lt"/>
              </a:rPr>
              <a:t>chứng</a:t>
            </a:r>
            <a:r>
              <a:rPr lang="en-US" sz="1900" dirty="0">
                <a:solidFill>
                  <a:schemeClr val="tx1"/>
                </a:solidFill>
                <a:latin typeface="+mj-lt"/>
              </a:rPr>
              <a:t> </a:t>
            </a:r>
            <a:r>
              <a:rPr lang="en-US" sz="1900" dirty="0" err="1">
                <a:solidFill>
                  <a:schemeClr val="tx1"/>
                </a:solidFill>
                <a:latin typeface="+mj-lt"/>
              </a:rPr>
              <a:t>từ</a:t>
            </a:r>
            <a:r>
              <a:rPr lang="en-US" sz="1900" dirty="0">
                <a:solidFill>
                  <a:schemeClr val="tx1"/>
                </a:solidFill>
                <a:latin typeface="+mj-lt"/>
              </a:rPr>
              <a:t>, </a:t>
            </a:r>
            <a:r>
              <a:rPr lang="en-US" sz="1900" dirty="0" err="1">
                <a:solidFill>
                  <a:schemeClr val="tx1"/>
                </a:solidFill>
                <a:latin typeface="+mj-lt"/>
              </a:rPr>
              <a:t>biên</a:t>
            </a:r>
            <a:r>
              <a:rPr lang="en-US" sz="1900" dirty="0">
                <a:solidFill>
                  <a:schemeClr val="tx1"/>
                </a:solidFill>
                <a:latin typeface="+mj-lt"/>
              </a:rPr>
              <a:t> </a:t>
            </a:r>
            <a:r>
              <a:rPr lang="en-US" sz="1900" dirty="0" err="1">
                <a:solidFill>
                  <a:schemeClr val="tx1"/>
                </a:solidFill>
                <a:latin typeface="+mj-lt"/>
              </a:rPr>
              <a:t>lai</a:t>
            </a:r>
            <a:r>
              <a:rPr lang="en-US" sz="1900" dirty="0">
                <a:solidFill>
                  <a:schemeClr val="tx1"/>
                </a:solidFill>
                <a:latin typeface="+mj-lt"/>
              </a:rPr>
              <a:t> </a:t>
            </a:r>
            <a:r>
              <a:rPr lang="en-US" sz="1900" dirty="0" err="1">
                <a:solidFill>
                  <a:schemeClr val="tx1"/>
                </a:solidFill>
                <a:latin typeface="+mj-lt"/>
              </a:rPr>
              <a:t>được</a:t>
            </a:r>
            <a:r>
              <a:rPr lang="en-US" sz="1900" dirty="0">
                <a:solidFill>
                  <a:schemeClr val="tx1"/>
                </a:solidFill>
                <a:latin typeface="+mj-lt"/>
              </a:rPr>
              <a:t> </a:t>
            </a:r>
            <a:r>
              <a:rPr lang="en-US" sz="1900" dirty="0" err="1">
                <a:solidFill>
                  <a:schemeClr val="tx1"/>
                </a:solidFill>
                <a:latin typeface="+mj-lt"/>
              </a:rPr>
              <a:t>thể</a:t>
            </a:r>
            <a:r>
              <a:rPr lang="en-US" sz="1900" dirty="0">
                <a:solidFill>
                  <a:schemeClr val="tx1"/>
                </a:solidFill>
                <a:latin typeface="+mj-lt"/>
              </a:rPr>
              <a:t> </a:t>
            </a:r>
            <a:r>
              <a:rPr lang="en-US" sz="1900" dirty="0" err="1">
                <a:solidFill>
                  <a:schemeClr val="tx1"/>
                </a:solidFill>
                <a:latin typeface="+mj-lt"/>
              </a:rPr>
              <a:t>hiện</a:t>
            </a:r>
            <a:r>
              <a:rPr lang="en-US" sz="1900" dirty="0">
                <a:solidFill>
                  <a:schemeClr val="tx1"/>
                </a:solidFill>
                <a:latin typeface="+mj-lt"/>
              </a:rPr>
              <a:t> ở </a:t>
            </a:r>
            <a:r>
              <a:rPr lang="en-US" sz="1900" dirty="0" err="1">
                <a:solidFill>
                  <a:schemeClr val="tx1"/>
                </a:solidFill>
                <a:latin typeface="+mj-lt"/>
              </a:rPr>
              <a:t>dạng</a:t>
            </a:r>
            <a:r>
              <a:rPr lang="en-US" sz="1900" dirty="0">
                <a:solidFill>
                  <a:schemeClr val="tx1"/>
                </a:solidFill>
                <a:latin typeface="+mj-lt"/>
              </a:rPr>
              <a:t> </a:t>
            </a:r>
            <a:r>
              <a:rPr lang="en-US" sz="1900" dirty="0" err="1">
                <a:solidFill>
                  <a:schemeClr val="tx1"/>
                </a:solidFill>
                <a:latin typeface="+mj-lt"/>
              </a:rPr>
              <a:t>dữ</a:t>
            </a:r>
            <a:r>
              <a:rPr lang="en-US" sz="1900" dirty="0">
                <a:solidFill>
                  <a:schemeClr val="tx1"/>
                </a:solidFill>
                <a:latin typeface="+mj-lt"/>
              </a:rPr>
              <a:t> </a:t>
            </a:r>
            <a:r>
              <a:rPr lang="en-US" sz="1900" dirty="0" err="1">
                <a:solidFill>
                  <a:schemeClr val="tx1"/>
                </a:solidFill>
                <a:latin typeface="+mj-lt"/>
              </a:rPr>
              <a:t>liệu</a:t>
            </a:r>
            <a:r>
              <a:rPr lang="en-US" sz="1900" dirty="0">
                <a:solidFill>
                  <a:schemeClr val="tx1"/>
                </a:solidFill>
                <a:latin typeface="+mj-lt"/>
              </a:rPr>
              <a:t> </a:t>
            </a:r>
            <a:r>
              <a:rPr lang="en-US" sz="1900" dirty="0" err="1">
                <a:solidFill>
                  <a:schemeClr val="tx1"/>
                </a:solidFill>
                <a:latin typeface="+mj-lt"/>
              </a:rPr>
              <a:t>điện</a:t>
            </a:r>
            <a:r>
              <a:rPr lang="en-US" sz="1900" dirty="0">
                <a:solidFill>
                  <a:schemeClr val="tx1"/>
                </a:solidFill>
                <a:latin typeface="+mj-lt"/>
              </a:rPr>
              <a:t> </a:t>
            </a:r>
            <a:r>
              <a:rPr lang="en-US" sz="1900" dirty="0" err="1">
                <a:solidFill>
                  <a:schemeClr val="tx1"/>
                </a:solidFill>
                <a:latin typeface="+mj-lt"/>
              </a:rPr>
              <a:t>tử</a:t>
            </a:r>
            <a:r>
              <a:rPr lang="en-US" sz="1900" dirty="0">
                <a:solidFill>
                  <a:schemeClr val="tx1"/>
                </a:solidFill>
                <a:latin typeface="+mj-lt"/>
              </a:rPr>
              <a:t> do </a:t>
            </a:r>
            <a:r>
              <a:rPr lang="en-US" sz="1900" dirty="0" err="1">
                <a:solidFill>
                  <a:schemeClr val="tx1"/>
                </a:solidFill>
                <a:latin typeface="+mj-lt"/>
              </a:rPr>
              <a:t>cơ</a:t>
            </a:r>
            <a:r>
              <a:rPr lang="en-US" sz="1900" dirty="0">
                <a:solidFill>
                  <a:schemeClr val="tx1"/>
                </a:solidFill>
                <a:latin typeface="+mj-lt"/>
              </a:rPr>
              <a:t> </a:t>
            </a:r>
            <a:r>
              <a:rPr lang="en-US" sz="1900" dirty="0" err="1">
                <a:solidFill>
                  <a:schemeClr val="tx1"/>
                </a:solidFill>
                <a:latin typeface="+mj-lt"/>
              </a:rPr>
              <a:t>quan</a:t>
            </a:r>
            <a:r>
              <a:rPr lang="en-US" sz="1900" dirty="0">
                <a:solidFill>
                  <a:schemeClr val="tx1"/>
                </a:solidFill>
                <a:latin typeface="+mj-lt"/>
              </a:rPr>
              <a:t> </a:t>
            </a:r>
            <a:r>
              <a:rPr lang="en-US" sz="1900" dirty="0" err="1">
                <a:solidFill>
                  <a:schemeClr val="tx1"/>
                </a:solidFill>
                <a:latin typeface="+mj-lt"/>
              </a:rPr>
              <a:t>quản</a:t>
            </a:r>
            <a:r>
              <a:rPr lang="en-US" sz="1900" dirty="0">
                <a:solidFill>
                  <a:schemeClr val="tx1"/>
                </a:solidFill>
                <a:latin typeface="+mj-lt"/>
              </a:rPr>
              <a:t> </a:t>
            </a:r>
            <a:r>
              <a:rPr lang="en-US" sz="1900" dirty="0" err="1">
                <a:solidFill>
                  <a:schemeClr val="tx1"/>
                </a:solidFill>
                <a:latin typeface="+mj-lt"/>
              </a:rPr>
              <a:t>lý</a:t>
            </a:r>
            <a:r>
              <a:rPr lang="en-US" sz="1900" dirty="0">
                <a:solidFill>
                  <a:schemeClr val="tx1"/>
                </a:solidFill>
                <a:latin typeface="+mj-lt"/>
              </a:rPr>
              <a:t> </a:t>
            </a:r>
            <a:r>
              <a:rPr lang="en-US" sz="1900" dirty="0" err="1">
                <a:solidFill>
                  <a:schemeClr val="tx1"/>
                </a:solidFill>
                <a:latin typeface="+mj-lt"/>
              </a:rPr>
              <a:t>thuế</a:t>
            </a:r>
            <a:r>
              <a:rPr lang="en-US" sz="1900" dirty="0">
                <a:solidFill>
                  <a:schemeClr val="tx1"/>
                </a:solidFill>
                <a:latin typeface="+mj-lt"/>
              </a:rPr>
              <a:t> </a:t>
            </a:r>
            <a:r>
              <a:rPr lang="en-US" sz="1900" dirty="0" err="1">
                <a:solidFill>
                  <a:schemeClr val="tx1"/>
                </a:solidFill>
                <a:latin typeface="+mj-lt"/>
              </a:rPr>
              <a:t>hoặc</a:t>
            </a:r>
            <a:r>
              <a:rPr lang="en-US" sz="1900" dirty="0">
                <a:solidFill>
                  <a:schemeClr val="tx1"/>
                </a:solidFill>
                <a:latin typeface="+mj-lt"/>
              </a:rPr>
              <a:t> </a:t>
            </a:r>
            <a:r>
              <a:rPr lang="en-US" sz="1900" dirty="0" err="1">
                <a:solidFill>
                  <a:schemeClr val="tx1"/>
                </a:solidFill>
                <a:latin typeface="+mj-lt"/>
              </a:rPr>
              <a:t>tổ</a:t>
            </a:r>
            <a:r>
              <a:rPr lang="en-US" sz="1900" dirty="0">
                <a:solidFill>
                  <a:schemeClr val="tx1"/>
                </a:solidFill>
                <a:latin typeface="+mj-lt"/>
              </a:rPr>
              <a:t> </a:t>
            </a:r>
            <a:r>
              <a:rPr lang="en-US" sz="1900" dirty="0" err="1">
                <a:solidFill>
                  <a:schemeClr val="tx1"/>
                </a:solidFill>
                <a:latin typeface="+mj-lt"/>
              </a:rPr>
              <a:t>chức</a:t>
            </a:r>
            <a:r>
              <a:rPr lang="en-US" sz="1900" dirty="0">
                <a:solidFill>
                  <a:schemeClr val="tx1"/>
                </a:solidFill>
                <a:latin typeface="+mj-lt"/>
              </a:rPr>
              <a:t> </a:t>
            </a:r>
            <a:r>
              <a:rPr lang="en-US" sz="1900" dirty="0" err="1">
                <a:solidFill>
                  <a:schemeClr val="tx1"/>
                </a:solidFill>
                <a:latin typeface="+mj-lt"/>
              </a:rPr>
              <a:t>có</a:t>
            </a:r>
            <a:r>
              <a:rPr lang="en-US" sz="1900" dirty="0">
                <a:solidFill>
                  <a:schemeClr val="tx1"/>
                </a:solidFill>
                <a:latin typeface="+mj-lt"/>
              </a:rPr>
              <a:t> </a:t>
            </a:r>
            <a:r>
              <a:rPr lang="en-US" sz="1900" dirty="0" err="1">
                <a:solidFill>
                  <a:schemeClr val="tx1"/>
                </a:solidFill>
                <a:latin typeface="+mj-lt"/>
              </a:rPr>
              <a:t>trách</a:t>
            </a:r>
            <a:r>
              <a:rPr lang="en-US" sz="1900" dirty="0">
                <a:solidFill>
                  <a:schemeClr val="tx1"/>
                </a:solidFill>
                <a:latin typeface="+mj-lt"/>
              </a:rPr>
              <a:t> </a:t>
            </a:r>
            <a:r>
              <a:rPr lang="en-US" sz="1900" dirty="0" err="1">
                <a:solidFill>
                  <a:schemeClr val="tx1"/>
                </a:solidFill>
                <a:latin typeface="+mj-lt"/>
              </a:rPr>
              <a:t>nhiệm</a:t>
            </a:r>
            <a:r>
              <a:rPr lang="en-US" sz="1900" dirty="0">
                <a:solidFill>
                  <a:schemeClr val="tx1"/>
                </a:solidFill>
                <a:latin typeface="+mj-lt"/>
              </a:rPr>
              <a:t> </a:t>
            </a:r>
            <a:r>
              <a:rPr lang="en-US" sz="1900" dirty="0" err="1">
                <a:solidFill>
                  <a:schemeClr val="tx1"/>
                </a:solidFill>
                <a:latin typeface="+mj-lt"/>
              </a:rPr>
              <a:t>khấu</a:t>
            </a:r>
            <a:r>
              <a:rPr lang="en-US" sz="1900" dirty="0">
                <a:solidFill>
                  <a:schemeClr val="tx1"/>
                </a:solidFill>
                <a:latin typeface="+mj-lt"/>
              </a:rPr>
              <a:t> </a:t>
            </a:r>
            <a:r>
              <a:rPr lang="en-US" sz="1900" dirty="0" err="1">
                <a:solidFill>
                  <a:schemeClr val="tx1"/>
                </a:solidFill>
                <a:latin typeface="+mj-lt"/>
              </a:rPr>
              <a:t>trừ</a:t>
            </a:r>
            <a:r>
              <a:rPr lang="en-US" sz="1900" dirty="0">
                <a:solidFill>
                  <a:schemeClr val="tx1"/>
                </a:solidFill>
                <a:latin typeface="+mj-lt"/>
              </a:rPr>
              <a:t> </a:t>
            </a:r>
            <a:r>
              <a:rPr lang="en-US" sz="1900" dirty="0" err="1">
                <a:solidFill>
                  <a:schemeClr val="tx1"/>
                </a:solidFill>
                <a:latin typeface="+mj-lt"/>
              </a:rPr>
              <a:t>thuế</a:t>
            </a:r>
            <a:r>
              <a:rPr lang="en-US" sz="1900" dirty="0">
                <a:solidFill>
                  <a:schemeClr val="tx1"/>
                </a:solidFill>
                <a:latin typeface="+mj-lt"/>
              </a:rPr>
              <a:t> </a:t>
            </a:r>
            <a:r>
              <a:rPr lang="en-US" sz="1900" dirty="0" err="1">
                <a:solidFill>
                  <a:schemeClr val="tx1"/>
                </a:solidFill>
                <a:latin typeface="+mj-lt"/>
              </a:rPr>
              <a:t>cấp</a:t>
            </a:r>
            <a:r>
              <a:rPr lang="en-US" sz="1900" dirty="0">
                <a:solidFill>
                  <a:schemeClr val="tx1"/>
                </a:solidFill>
                <a:latin typeface="+mj-lt"/>
              </a:rPr>
              <a:t> </a:t>
            </a:r>
            <a:r>
              <a:rPr lang="en-US" sz="1900" dirty="0" err="1">
                <a:solidFill>
                  <a:schemeClr val="tx1"/>
                </a:solidFill>
                <a:latin typeface="+mj-lt"/>
              </a:rPr>
              <a:t>cho</a:t>
            </a:r>
            <a:r>
              <a:rPr lang="en-US" sz="1900" dirty="0">
                <a:solidFill>
                  <a:schemeClr val="tx1"/>
                </a:solidFill>
                <a:latin typeface="+mj-lt"/>
              </a:rPr>
              <a:t> </a:t>
            </a:r>
            <a:r>
              <a:rPr lang="en-US" sz="1900" dirty="0" err="1">
                <a:solidFill>
                  <a:schemeClr val="tx1"/>
                </a:solidFill>
                <a:latin typeface="+mj-lt"/>
              </a:rPr>
              <a:t>người</a:t>
            </a:r>
            <a:r>
              <a:rPr lang="en-US" sz="1900" dirty="0">
                <a:solidFill>
                  <a:schemeClr val="tx1"/>
                </a:solidFill>
                <a:latin typeface="+mj-lt"/>
              </a:rPr>
              <a:t> </a:t>
            </a:r>
            <a:r>
              <a:rPr lang="en-US" sz="1900" dirty="0" err="1">
                <a:solidFill>
                  <a:schemeClr val="tx1"/>
                </a:solidFill>
                <a:latin typeface="+mj-lt"/>
              </a:rPr>
              <a:t>nộp</a:t>
            </a:r>
            <a:r>
              <a:rPr lang="en-US" sz="1900" dirty="0">
                <a:solidFill>
                  <a:schemeClr val="tx1"/>
                </a:solidFill>
                <a:latin typeface="+mj-lt"/>
              </a:rPr>
              <a:t> </a:t>
            </a:r>
            <a:r>
              <a:rPr lang="en-US" sz="1900" dirty="0" err="1">
                <a:solidFill>
                  <a:schemeClr val="tx1"/>
                </a:solidFill>
                <a:latin typeface="+mj-lt"/>
              </a:rPr>
              <a:t>thuế</a:t>
            </a:r>
            <a:r>
              <a:rPr lang="en-US" sz="1900" dirty="0">
                <a:solidFill>
                  <a:schemeClr val="tx1"/>
                </a:solidFill>
                <a:latin typeface="+mj-lt"/>
              </a:rPr>
              <a:t> </a:t>
            </a:r>
            <a:r>
              <a:rPr lang="en-US" sz="1900" dirty="0" err="1">
                <a:solidFill>
                  <a:schemeClr val="tx1"/>
                </a:solidFill>
                <a:latin typeface="+mj-lt"/>
              </a:rPr>
              <a:t>bằng</a:t>
            </a:r>
            <a:r>
              <a:rPr lang="en-US" sz="1900" dirty="0">
                <a:solidFill>
                  <a:schemeClr val="tx1"/>
                </a:solidFill>
                <a:latin typeface="+mj-lt"/>
              </a:rPr>
              <a:t> </a:t>
            </a:r>
            <a:r>
              <a:rPr lang="en-US" sz="1900" dirty="0" err="1">
                <a:solidFill>
                  <a:schemeClr val="tx1"/>
                </a:solidFill>
                <a:latin typeface="+mj-lt"/>
              </a:rPr>
              <a:t>phương</a:t>
            </a:r>
            <a:r>
              <a:rPr lang="en-US" sz="1900" dirty="0">
                <a:solidFill>
                  <a:schemeClr val="tx1"/>
                </a:solidFill>
                <a:latin typeface="+mj-lt"/>
              </a:rPr>
              <a:t> </a:t>
            </a:r>
            <a:r>
              <a:rPr lang="en-US" sz="1900" dirty="0" err="1">
                <a:solidFill>
                  <a:schemeClr val="tx1"/>
                </a:solidFill>
                <a:latin typeface="+mj-lt"/>
              </a:rPr>
              <a:t>tiện</a:t>
            </a:r>
            <a:r>
              <a:rPr lang="en-US" sz="1900" dirty="0">
                <a:solidFill>
                  <a:schemeClr val="tx1"/>
                </a:solidFill>
                <a:latin typeface="+mj-lt"/>
              </a:rPr>
              <a:t> </a:t>
            </a:r>
            <a:r>
              <a:rPr lang="en-US" sz="1900" dirty="0" err="1">
                <a:solidFill>
                  <a:schemeClr val="tx1"/>
                </a:solidFill>
                <a:latin typeface="+mj-lt"/>
              </a:rPr>
              <a:t>điện</a:t>
            </a:r>
            <a:r>
              <a:rPr lang="en-US" sz="1900" dirty="0">
                <a:solidFill>
                  <a:schemeClr val="tx1"/>
                </a:solidFill>
                <a:latin typeface="+mj-lt"/>
              </a:rPr>
              <a:t> </a:t>
            </a:r>
            <a:r>
              <a:rPr lang="en-US" sz="1900" dirty="0" err="1">
                <a:solidFill>
                  <a:schemeClr val="tx1"/>
                </a:solidFill>
                <a:latin typeface="+mj-lt"/>
              </a:rPr>
              <a:t>tử</a:t>
            </a:r>
            <a:r>
              <a:rPr lang="en-US" sz="1900" dirty="0">
                <a:solidFill>
                  <a:schemeClr val="tx1"/>
                </a:solidFill>
                <a:latin typeface="+mj-lt"/>
              </a:rPr>
              <a:t> </a:t>
            </a:r>
            <a:r>
              <a:rPr lang="en-US" sz="1900" dirty="0" err="1">
                <a:solidFill>
                  <a:schemeClr val="tx1"/>
                </a:solidFill>
                <a:latin typeface="+mj-lt"/>
              </a:rPr>
              <a:t>khi</a:t>
            </a:r>
            <a:r>
              <a:rPr lang="en-US" sz="1900" dirty="0">
                <a:solidFill>
                  <a:schemeClr val="tx1"/>
                </a:solidFill>
                <a:latin typeface="+mj-lt"/>
              </a:rPr>
              <a:t> </a:t>
            </a:r>
            <a:r>
              <a:rPr lang="en-US" sz="1900" dirty="0" err="1">
                <a:solidFill>
                  <a:schemeClr val="tx1"/>
                </a:solidFill>
                <a:latin typeface="+mj-lt"/>
              </a:rPr>
              <a:t>thực</a:t>
            </a:r>
            <a:r>
              <a:rPr lang="en-US" sz="1900" dirty="0">
                <a:solidFill>
                  <a:schemeClr val="tx1"/>
                </a:solidFill>
                <a:latin typeface="+mj-lt"/>
              </a:rPr>
              <a:t> </a:t>
            </a:r>
            <a:r>
              <a:rPr lang="en-US" sz="1900" dirty="0" err="1">
                <a:solidFill>
                  <a:schemeClr val="tx1"/>
                </a:solidFill>
                <a:latin typeface="+mj-lt"/>
              </a:rPr>
              <a:t>hiện</a:t>
            </a:r>
            <a:r>
              <a:rPr lang="en-US" sz="1900" dirty="0">
                <a:solidFill>
                  <a:schemeClr val="tx1"/>
                </a:solidFill>
                <a:latin typeface="+mj-lt"/>
              </a:rPr>
              <a:t> </a:t>
            </a:r>
            <a:r>
              <a:rPr lang="en-US" sz="1900" dirty="0" err="1">
                <a:solidFill>
                  <a:schemeClr val="tx1"/>
                </a:solidFill>
                <a:latin typeface="+mj-lt"/>
              </a:rPr>
              <a:t>các</a:t>
            </a:r>
            <a:r>
              <a:rPr lang="en-US" sz="1900" dirty="0">
                <a:solidFill>
                  <a:schemeClr val="tx1"/>
                </a:solidFill>
                <a:latin typeface="+mj-lt"/>
              </a:rPr>
              <a:t> </a:t>
            </a:r>
            <a:r>
              <a:rPr lang="en-US" sz="1900" dirty="0" err="1">
                <a:solidFill>
                  <a:schemeClr val="tx1"/>
                </a:solidFill>
                <a:latin typeface="+mj-lt"/>
              </a:rPr>
              <a:t>thủ</a:t>
            </a:r>
            <a:r>
              <a:rPr lang="en-US" sz="1900" dirty="0">
                <a:solidFill>
                  <a:schemeClr val="tx1"/>
                </a:solidFill>
                <a:latin typeface="+mj-lt"/>
              </a:rPr>
              <a:t> </a:t>
            </a:r>
            <a:r>
              <a:rPr lang="en-US" sz="1900" dirty="0" err="1">
                <a:solidFill>
                  <a:schemeClr val="tx1"/>
                </a:solidFill>
                <a:latin typeface="+mj-lt"/>
              </a:rPr>
              <a:t>tục</a:t>
            </a:r>
            <a:r>
              <a:rPr lang="en-US" sz="1900" dirty="0">
                <a:solidFill>
                  <a:schemeClr val="tx1"/>
                </a:solidFill>
                <a:latin typeface="+mj-lt"/>
              </a:rPr>
              <a:t> </a:t>
            </a:r>
            <a:r>
              <a:rPr lang="en-US" sz="1900" dirty="0" err="1">
                <a:solidFill>
                  <a:schemeClr val="tx1"/>
                </a:solidFill>
                <a:latin typeface="+mj-lt"/>
              </a:rPr>
              <a:t>về</a:t>
            </a:r>
            <a:r>
              <a:rPr lang="en-US" sz="1900" dirty="0">
                <a:solidFill>
                  <a:schemeClr val="tx1"/>
                </a:solidFill>
                <a:latin typeface="+mj-lt"/>
              </a:rPr>
              <a:t> </a:t>
            </a:r>
            <a:r>
              <a:rPr lang="en-US" sz="1900" dirty="0" err="1">
                <a:solidFill>
                  <a:schemeClr val="tx1"/>
                </a:solidFill>
                <a:latin typeface="+mj-lt"/>
              </a:rPr>
              <a:t>thuế</a:t>
            </a:r>
            <a:r>
              <a:rPr lang="en-US" sz="1900" dirty="0">
                <a:solidFill>
                  <a:schemeClr val="tx1"/>
                </a:solidFill>
                <a:latin typeface="+mj-lt"/>
              </a:rPr>
              <a:t> </a:t>
            </a:r>
            <a:r>
              <a:rPr lang="en-US" sz="1900" dirty="0" err="1">
                <a:solidFill>
                  <a:schemeClr val="tx1"/>
                </a:solidFill>
                <a:latin typeface="+mj-lt"/>
              </a:rPr>
              <a:t>hoặc</a:t>
            </a:r>
            <a:r>
              <a:rPr lang="en-US" sz="1900" dirty="0">
                <a:solidFill>
                  <a:schemeClr val="tx1"/>
                </a:solidFill>
                <a:latin typeface="+mj-lt"/>
              </a:rPr>
              <a:t> </a:t>
            </a:r>
            <a:r>
              <a:rPr lang="en-US" sz="1900" dirty="0" err="1">
                <a:solidFill>
                  <a:schemeClr val="tx1"/>
                </a:solidFill>
                <a:latin typeface="+mj-lt"/>
              </a:rPr>
              <a:t>các</a:t>
            </a:r>
            <a:r>
              <a:rPr lang="en-US" sz="1900" dirty="0">
                <a:solidFill>
                  <a:schemeClr val="tx1"/>
                </a:solidFill>
                <a:latin typeface="+mj-lt"/>
              </a:rPr>
              <a:t> </a:t>
            </a:r>
            <a:r>
              <a:rPr lang="en-US" sz="1900" dirty="0" err="1">
                <a:solidFill>
                  <a:schemeClr val="tx1"/>
                </a:solidFill>
                <a:latin typeface="+mj-lt"/>
              </a:rPr>
              <a:t>khoản</a:t>
            </a:r>
            <a:r>
              <a:rPr lang="en-US" sz="1900" dirty="0">
                <a:solidFill>
                  <a:schemeClr val="tx1"/>
                </a:solidFill>
                <a:latin typeface="+mj-lt"/>
              </a:rPr>
              <a:t> thu </a:t>
            </a:r>
            <a:r>
              <a:rPr lang="en-US" sz="1900" dirty="0" err="1">
                <a:solidFill>
                  <a:schemeClr val="tx1"/>
                </a:solidFill>
                <a:latin typeface="+mj-lt"/>
              </a:rPr>
              <a:t>khác</a:t>
            </a:r>
            <a:r>
              <a:rPr lang="en-US" sz="1900" dirty="0">
                <a:solidFill>
                  <a:schemeClr val="tx1"/>
                </a:solidFill>
                <a:latin typeface="+mj-lt"/>
              </a:rPr>
              <a:t> </a:t>
            </a:r>
            <a:r>
              <a:rPr lang="en-US" sz="1900" dirty="0" err="1">
                <a:solidFill>
                  <a:schemeClr val="tx1"/>
                </a:solidFill>
                <a:latin typeface="+mj-lt"/>
              </a:rPr>
              <a:t>thuộc</a:t>
            </a:r>
            <a:r>
              <a:rPr lang="en-US" sz="1900" dirty="0">
                <a:solidFill>
                  <a:schemeClr val="tx1"/>
                </a:solidFill>
                <a:latin typeface="+mj-lt"/>
              </a:rPr>
              <a:t> </a:t>
            </a:r>
            <a:r>
              <a:rPr lang="en-US" sz="1900" dirty="0" err="1">
                <a:solidFill>
                  <a:schemeClr val="tx1"/>
                </a:solidFill>
                <a:latin typeface="+mj-lt"/>
              </a:rPr>
              <a:t>ngân</a:t>
            </a:r>
            <a:r>
              <a:rPr lang="en-US" sz="1900" dirty="0">
                <a:solidFill>
                  <a:schemeClr val="tx1"/>
                </a:solidFill>
                <a:latin typeface="+mj-lt"/>
              </a:rPr>
              <a:t> </a:t>
            </a:r>
            <a:r>
              <a:rPr lang="en-US" sz="1900" dirty="0" err="1">
                <a:solidFill>
                  <a:schemeClr val="tx1"/>
                </a:solidFill>
                <a:latin typeface="+mj-lt"/>
              </a:rPr>
              <a:t>sách</a:t>
            </a:r>
            <a:r>
              <a:rPr lang="en-US" sz="1900" dirty="0">
                <a:solidFill>
                  <a:schemeClr val="tx1"/>
                </a:solidFill>
                <a:latin typeface="+mj-lt"/>
              </a:rPr>
              <a:t> </a:t>
            </a:r>
            <a:r>
              <a:rPr lang="en-US" sz="1900" dirty="0" err="1">
                <a:solidFill>
                  <a:schemeClr val="tx1"/>
                </a:solidFill>
                <a:latin typeface="+mj-lt"/>
              </a:rPr>
              <a:t>nhà</a:t>
            </a:r>
            <a:r>
              <a:rPr lang="en-US" sz="1900" dirty="0">
                <a:solidFill>
                  <a:schemeClr val="tx1"/>
                </a:solidFill>
                <a:latin typeface="+mj-lt"/>
              </a:rPr>
              <a:t> </a:t>
            </a:r>
            <a:r>
              <a:rPr lang="en-US" sz="1900" dirty="0" err="1">
                <a:solidFill>
                  <a:schemeClr val="tx1"/>
                </a:solidFill>
                <a:latin typeface="+mj-lt"/>
              </a:rPr>
              <a:t>nước</a:t>
            </a:r>
            <a:r>
              <a:rPr lang="en-US" sz="1900" dirty="0">
                <a:solidFill>
                  <a:schemeClr val="tx1"/>
                </a:solidFill>
                <a:latin typeface="+mj-lt"/>
              </a:rPr>
              <a:t> </a:t>
            </a:r>
            <a:r>
              <a:rPr lang="en-US" sz="1900" dirty="0" err="1">
                <a:solidFill>
                  <a:schemeClr val="tx1"/>
                </a:solidFill>
                <a:latin typeface="+mj-lt"/>
              </a:rPr>
              <a:t>và</a:t>
            </a:r>
            <a:r>
              <a:rPr lang="en-US" sz="1900" dirty="0">
                <a:solidFill>
                  <a:schemeClr val="tx1"/>
                </a:solidFill>
                <a:latin typeface="+mj-lt"/>
              </a:rPr>
              <a:t> </a:t>
            </a:r>
            <a:r>
              <a:rPr lang="en-US" sz="1900" dirty="0" err="1">
                <a:solidFill>
                  <a:schemeClr val="tx1"/>
                </a:solidFill>
                <a:latin typeface="+mj-lt"/>
              </a:rPr>
              <a:t>các</a:t>
            </a:r>
            <a:r>
              <a:rPr lang="en-US" sz="1900" dirty="0">
                <a:solidFill>
                  <a:schemeClr val="tx1"/>
                </a:solidFill>
                <a:latin typeface="+mj-lt"/>
              </a:rPr>
              <a:t> </a:t>
            </a:r>
            <a:r>
              <a:rPr lang="en-US" sz="1900" dirty="0" err="1">
                <a:solidFill>
                  <a:schemeClr val="tx1"/>
                </a:solidFill>
                <a:latin typeface="+mj-lt"/>
              </a:rPr>
              <a:t>loại</a:t>
            </a:r>
            <a:r>
              <a:rPr lang="en-US" sz="1900" dirty="0">
                <a:solidFill>
                  <a:schemeClr val="tx1"/>
                </a:solidFill>
                <a:latin typeface="+mj-lt"/>
              </a:rPr>
              <a:t> </a:t>
            </a:r>
            <a:r>
              <a:rPr lang="en-US" sz="1900" dirty="0" err="1">
                <a:solidFill>
                  <a:schemeClr val="tx1"/>
                </a:solidFill>
                <a:latin typeface="+mj-lt"/>
              </a:rPr>
              <a:t>chứng</a:t>
            </a:r>
            <a:r>
              <a:rPr lang="en-US" sz="1900" dirty="0">
                <a:solidFill>
                  <a:schemeClr val="tx1"/>
                </a:solidFill>
                <a:latin typeface="+mj-lt"/>
              </a:rPr>
              <a:t> </a:t>
            </a:r>
            <a:r>
              <a:rPr lang="en-US" sz="1900" dirty="0" err="1">
                <a:solidFill>
                  <a:schemeClr val="tx1"/>
                </a:solidFill>
                <a:latin typeface="+mj-lt"/>
              </a:rPr>
              <a:t>từ</a:t>
            </a:r>
            <a:r>
              <a:rPr lang="en-US" sz="1900" dirty="0">
                <a:solidFill>
                  <a:schemeClr val="tx1"/>
                </a:solidFill>
                <a:latin typeface="+mj-lt"/>
              </a:rPr>
              <a:t>, </a:t>
            </a:r>
            <a:r>
              <a:rPr lang="en-US" sz="1900" dirty="0" err="1">
                <a:solidFill>
                  <a:schemeClr val="tx1"/>
                </a:solidFill>
                <a:latin typeface="+mj-lt"/>
              </a:rPr>
              <a:t>biên</a:t>
            </a:r>
            <a:r>
              <a:rPr lang="en-US" sz="1900" dirty="0">
                <a:solidFill>
                  <a:schemeClr val="tx1"/>
                </a:solidFill>
                <a:latin typeface="+mj-lt"/>
              </a:rPr>
              <a:t> </a:t>
            </a:r>
            <a:r>
              <a:rPr lang="en-US" sz="1900" dirty="0" err="1">
                <a:solidFill>
                  <a:schemeClr val="tx1"/>
                </a:solidFill>
                <a:latin typeface="+mj-lt"/>
              </a:rPr>
              <a:t>lai</a:t>
            </a:r>
            <a:r>
              <a:rPr lang="en-US" sz="1900" dirty="0">
                <a:solidFill>
                  <a:schemeClr val="tx1"/>
                </a:solidFill>
                <a:latin typeface="+mj-lt"/>
              </a:rPr>
              <a:t> </a:t>
            </a:r>
            <a:r>
              <a:rPr lang="en-US" sz="1900" dirty="0" err="1">
                <a:solidFill>
                  <a:schemeClr val="tx1"/>
                </a:solidFill>
                <a:latin typeface="+mj-lt"/>
              </a:rPr>
              <a:t>điện</a:t>
            </a:r>
            <a:r>
              <a:rPr lang="en-US" sz="1900" dirty="0">
                <a:solidFill>
                  <a:schemeClr val="tx1"/>
                </a:solidFill>
                <a:latin typeface="+mj-lt"/>
              </a:rPr>
              <a:t> </a:t>
            </a:r>
            <a:r>
              <a:rPr lang="en-US" sz="1900" dirty="0" err="1">
                <a:solidFill>
                  <a:schemeClr val="tx1"/>
                </a:solidFill>
                <a:latin typeface="+mj-lt"/>
              </a:rPr>
              <a:t>tử</a:t>
            </a:r>
            <a:r>
              <a:rPr lang="en-US" sz="1900" dirty="0">
                <a:solidFill>
                  <a:schemeClr val="tx1"/>
                </a:solidFill>
                <a:latin typeface="+mj-lt"/>
              </a:rPr>
              <a:t> </a:t>
            </a:r>
            <a:r>
              <a:rPr lang="en-US" sz="1900" dirty="0" err="1">
                <a:solidFill>
                  <a:schemeClr val="tx1"/>
                </a:solidFill>
                <a:latin typeface="+mj-lt"/>
              </a:rPr>
              <a:t>khác</a:t>
            </a:r>
            <a:r>
              <a:rPr lang="en-US" sz="1900" dirty="0">
                <a:solidFill>
                  <a:schemeClr val="tx1"/>
                </a:solidFill>
                <a:latin typeface="+mj-lt"/>
              </a:rPr>
              <a:t>.</a:t>
            </a:r>
            <a:endParaRPr lang="vi-VN" sz="1900" dirty="0">
              <a:solidFill>
                <a:schemeClr val="tx1"/>
              </a:solidFill>
              <a:latin typeface="+mj-lt"/>
            </a:endParaRPr>
          </a:p>
          <a:p>
            <a:pPr marL="0" indent="0" algn="just">
              <a:buNone/>
            </a:pPr>
            <a:r>
              <a:rPr lang="en-US" sz="1900" i="1" dirty="0">
                <a:solidFill>
                  <a:schemeClr val="tx1"/>
                </a:solidFill>
                <a:latin typeface="+mj-lt"/>
              </a:rPr>
              <a:t>(</a:t>
            </a:r>
            <a:r>
              <a:rPr lang="en-US" sz="1900" i="1" dirty="0" err="1">
                <a:solidFill>
                  <a:schemeClr val="tx1"/>
                </a:solidFill>
                <a:latin typeface="+mj-lt"/>
              </a:rPr>
              <a:t>Khoản</a:t>
            </a:r>
            <a:r>
              <a:rPr lang="en-US" sz="1900" i="1" dirty="0">
                <a:solidFill>
                  <a:schemeClr val="tx1"/>
                </a:solidFill>
                <a:latin typeface="+mj-lt"/>
              </a:rPr>
              <a:t> 1 </a:t>
            </a:r>
            <a:r>
              <a:rPr lang="en-US" sz="1900" i="1" dirty="0" err="1">
                <a:solidFill>
                  <a:schemeClr val="tx1"/>
                </a:solidFill>
                <a:latin typeface="+mj-lt"/>
              </a:rPr>
              <a:t>Điều</a:t>
            </a:r>
            <a:r>
              <a:rPr lang="en-US" sz="1900" i="1" dirty="0">
                <a:solidFill>
                  <a:schemeClr val="tx1"/>
                </a:solidFill>
                <a:latin typeface="+mj-lt"/>
              </a:rPr>
              <a:t> 94 </a:t>
            </a:r>
            <a:r>
              <a:rPr lang="en-US" sz="1900" i="1" dirty="0" err="1">
                <a:solidFill>
                  <a:schemeClr val="tx1"/>
                </a:solidFill>
                <a:latin typeface="+mj-lt"/>
              </a:rPr>
              <a:t>Luật</a:t>
            </a:r>
            <a:r>
              <a:rPr lang="en-US" sz="1900" i="1" dirty="0">
                <a:solidFill>
                  <a:schemeClr val="tx1"/>
                </a:solidFill>
                <a:latin typeface="+mj-lt"/>
              </a:rPr>
              <a:t> </a:t>
            </a:r>
            <a:r>
              <a:rPr lang="en-US" sz="1900" i="1" dirty="0" err="1">
                <a:solidFill>
                  <a:schemeClr val="tx1"/>
                </a:solidFill>
                <a:latin typeface="+mj-lt"/>
              </a:rPr>
              <a:t>Quản</a:t>
            </a:r>
            <a:r>
              <a:rPr lang="en-US" sz="1900" i="1" dirty="0">
                <a:solidFill>
                  <a:schemeClr val="tx1"/>
                </a:solidFill>
                <a:latin typeface="+mj-lt"/>
              </a:rPr>
              <a:t> </a:t>
            </a:r>
            <a:r>
              <a:rPr lang="en-US" sz="1900" i="1" dirty="0" err="1">
                <a:solidFill>
                  <a:schemeClr val="tx1"/>
                </a:solidFill>
                <a:latin typeface="+mj-lt"/>
              </a:rPr>
              <a:t>lý</a:t>
            </a:r>
            <a:r>
              <a:rPr lang="en-US" sz="1900" i="1" dirty="0">
                <a:solidFill>
                  <a:schemeClr val="tx1"/>
                </a:solidFill>
                <a:latin typeface="+mj-lt"/>
              </a:rPr>
              <a:t> </a:t>
            </a:r>
            <a:r>
              <a:rPr lang="en-US" sz="1900" i="1" dirty="0" err="1">
                <a:solidFill>
                  <a:schemeClr val="tx1"/>
                </a:solidFill>
                <a:latin typeface="+mj-lt"/>
              </a:rPr>
              <a:t>thuế</a:t>
            </a:r>
            <a:r>
              <a:rPr lang="en-US" sz="1900" i="1" dirty="0">
                <a:solidFill>
                  <a:schemeClr val="tx1"/>
                </a:solidFill>
                <a:latin typeface="+mj-lt"/>
              </a:rPr>
              <a:t>)</a:t>
            </a:r>
            <a:endParaRPr lang="vi-VN" sz="1900" i="1" dirty="0">
              <a:solidFill>
                <a:schemeClr val="tx1"/>
              </a:solidFill>
              <a:latin typeface="+mj-lt"/>
            </a:endParaRPr>
          </a:p>
          <a:p>
            <a:pPr marL="0" indent="0" algn="just">
              <a:buNone/>
            </a:pPr>
            <a:r>
              <a:rPr lang="en-US" sz="1900" dirty="0">
                <a:solidFill>
                  <a:schemeClr val="tx1"/>
                </a:solidFill>
                <a:latin typeface="+mj-lt"/>
              </a:rPr>
              <a:t> - </a:t>
            </a:r>
            <a:r>
              <a:rPr lang="en-US" sz="1900" b="1" dirty="0" err="1">
                <a:solidFill>
                  <a:schemeClr val="tx1"/>
                </a:solidFill>
                <a:latin typeface="+mj-lt"/>
              </a:rPr>
              <a:t>Chứng</a:t>
            </a:r>
            <a:r>
              <a:rPr lang="en-US" sz="1900" b="1" dirty="0">
                <a:solidFill>
                  <a:schemeClr val="tx1"/>
                </a:solidFill>
                <a:latin typeface="+mj-lt"/>
              </a:rPr>
              <a:t> </a:t>
            </a:r>
            <a:r>
              <a:rPr lang="en-US" sz="1900" b="1" dirty="0" err="1">
                <a:solidFill>
                  <a:schemeClr val="tx1"/>
                </a:solidFill>
                <a:latin typeface="+mj-lt"/>
              </a:rPr>
              <a:t>từ</a:t>
            </a:r>
            <a:r>
              <a:rPr lang="en-US" sz="1900" b="1" dirty="0">
                <a:solidFill>
                  <a:schemeClr val="tx1"/>
                </a:solidFill>
                <a:latin typeface="+mj-lt"/>
              </a:rPr>
              <a:t> </a:t>
            </a:r>
            <a:r>
              <a:rPr lang="en-US" sz="1900" b="1" dirty="0" err="1">
                <a:solidFill>
                  <a:schemeClr val="tx1"/>
                </a:solidFill>
                <a:latin typeface="+mj-lt"/>
              </a:rPr>
              <a:t>điện</a:t>
            </a:r>
            <a:r>
              <a:rPr lang="en-US" sz="1900" b="1" dirty="0">
                <a:solidFill>
                  <a:schemeClr val="tx1"/>
                </a:solidFill>
                <a:latin typeface="+mj-lt"/>
              </a:rPr>
              <a:t> </a:t>
            </a:r>
            <a:r>
              <a:rPr lang="en-US" sz="1900" b="1" dirty="0" err="1">
                <a:solidFill>
                  <a:schemeClr val="tx1"/>
                </a:solidFill>
                <a:latin typeface="+mj-lt"/>
              </a:rPr>
              <a:t>tử</a:t>
            </a:r>
            <a:r>
              <a:rPr lang="en-US" sz="1900" b="1" dirty="0">
                <a:solidFill>
                  <a:schemeClr val="tx1"/>
                </a:solidFill>
                <a:latin typeface="+mj-lt"/>
              </a:rPr>
              <a:t> </a:t>
            </a:r>
            <a:r>
              <a:rPr lang="en-US" sz="1900" dirty="0" err="1">
                <a:solidFill>
                  <a:schemeClr val="tx1"/>
                </a:solidFill>
                <a:latin typeface="+mj-lt"/>
              </a:rPr>
              <a:t>bao</a:t>
            </a:r>
            <a:r>
              <a:rPr lang="en-US" sz="1900" dirty="0">
                <a:solidFill>
                  <a:schemeClr val="tx1"/>
                </a:solidFill>
                <a:latin typeface="+mj-lt"/>
              </a:rPr>
              <a:t> </a:t>
            </a:r>
            <a:r>
              <a:rPr lang="en-US" sz="1900" dirty="0" err="1">
                <a:solidFill>
                  <a:schemeClr val="tx1"/>
                </a:solidFill>
                <a:latin typeface="+mj-lt"/>
              </a:rPr>
              <a:t>gồm</a:t>
            </a:r>
            <a:r>
              <a:rPr lang="en-US" sz="1900" dirty="0">
                <a:solidFill>
                  <a:schemeClr val="tx1"/>
                </a:solidFill>
                <a:latin typeface="+mj-lt"/>
              </a:rPr>
              <a:t> </a:t>
            </a:r>
            <a:r>
              <a:rPr lang="en-US" sz="1900" dirty="0" err="1">
                <a:solidFill>
                  <a:schemeClr val="tx1"/>
                </a:solidFill>
                <a:latin typeface="+mj-lt"/>
              </a:rPr>
              <a:t>các</a:t>
            </a:r>
            <a:r>
              <a:rPr lang="en-US" sz="1900" dirty="0">
                <a:solidFill>
                  <a:schemeClr val="tx1"/>
                </a:solidFill>
                <a:latin typeface="+mj-lt"/>
              </a:rPr>
              <a:t> </a:t>
            </a:r>
            <a:r>
              <a:rPr lang="en-US" sz="1900" dirty="0" err="1">
                <a:solidFill>
                  <a:schemeClr val="tx1"/>
                </a:solidFill>
                <a:latin typeface="+mj-lt"/>
              </a:rPr>
              <a:t>loại</a:t>
            </a:r>
            <a:r>
              <a:rPr lang="en-US" sz="1900" dirty="0">
                <a:solidFill>
                  <a:schemeClr val="tx1"/>
                </a:solidFill>
                <a:latin typeface="+mj-lt"/>
              </a:rPr>
              <a:t> </a:t>
            </a:r>
            <a:r>
              <a:rPr lang="en-US" sz="1900" dirty="0" err="1">
                <a:solidFill>
                  <a:schemeClr val="tx1"/>
                </a:solidFill>
                <a:latin typeface="+mj-lt"/>
              </a:rPr>
              <a:t>chứng</a:t>
            </a:r>
            <a:r>
              <a:rPr lang="en-US" sz="1900" dirty="0">
                <a:solidFill>
                  <a:schemeClr val="tx1"/>
                </a:solidFill>
                <a:latin typeface="+mj-lt"/>
              </a:rPr>
              <a:t> </a:t>
            </a:r>
            <a:r>
              <a:rPr lang="en-US" sz="1900" dirty="0" err="1">
                <a:solidFill>
                  <a:schemeClr val="tx1"/>
                </a:solidFill>
                <a:latin typeface="+mj-lt"/>
              </a:rPr>
              <a:t>từ</a:t>
            </a:r>
            <a:r>
              <a:rPr lang="en-US" sz="1900" dirty="0">
                <a:solidFill>
                  <a:schemeClr val="tx1"/>
                </a:solidFill>
                <a:latin typeface="+mj-lt"/>
              </a:rPr>
              <a:t>, </a:t>
            </a:r>
            <a:r>
              <a:rPr lang="en-US" sz="1900" dirty="0" err="1">
                <a:solidFill>
                  <a:schemeClr val="tx1"/>
                </a:solidFill>
                <a:latin typeface="+mj-lt"/>
              </a:rPr>
              <a:t>biên</a:t>
            </a:r>
            <a:r>
              <a:rPr lang="en-US" sz="1900" dirty="0">
                <a:solidFill>
                  <a:schemeClr val="tx1"/>
                </a:solidFill>
                <a:latin typeface="+mj-lt"/>
              </a:rPr>
              <a:t> </a:t>
            </a:r>
            <a:r>
              <a:rPr lang="en-US" sz="1900" dirty="0" err="1">
                <a:solidFill>
                  <a:schemeClr val="tx1"/>
                </a:solidFill>
                <a:latin typeface="+mj-lt"/>
              </a:rPr>
              <a:t>lai</a:t>
            </a:r>
            <a:r>
              <a:rPr lang="en-US" sz="1900" dirty="0">
                <a:solidFill>
                  <a:schemeClr val="tx1"/>
                </a:solidFill>
                <a:latin typeface="+mj-lt"/>
              </a:rPr>
              <a:t> (</a:t>
            </a:r>
            <a:r>
              <a:rPr lang="en-US" sz="1900" dirty="0" err="1">
                <a:solidFill>
                  <a:schemeClr val="tx1"/>
                </a:solidFill>
                <a:latin typeface="+mj-lt"/>
              </a:rPr>
              <a:t>chứng</a:t>
            </a:r>
            <a:r>
              <a:rPr lang="en-US" sz="1900" dirty="0">
                <a:solidFill>
                  <a:schemeClr val="tx1"/>
                </a:solidFill>
                <a:latin typeface="+mj-lt"/>
              </a:rPr>
              <a:t> </a:t>
            </a:r>
            <a:r>
              <a:rPr lang="en-US" sz="1900" dirty="0" err="1">
                <a:solidFill>
                  <a:schemeClr val="tx1"/>
                </a:solidFill>
                <a:latin typeface="+mj-lt"/>
              </a:rPr>
              <a:t>từ</a:t>
            </a:r>
            <a:r>
              <a:rPr lang="en-US" sz="1900" dirty="0">
                <a:solidFill>
                  <a:schemeClr val="tx1"/>
                </a:solidFill>
                <a:latin typeface="+mj-lt"/>
              </a:rPr>
              <a:t> </a:t>
            </a:r>
            <a:r>
              <a:rPr lang="en-US" sz="1900" dirty="0" err="1">
                <a:solidFill>
                  <a:schemeClr val="tx1"/>
                </a:solidFill>
                <a:latin typeface="+mj-lt"/>
              </a:rPr>
              <a:t>khấu</a:t>
            </a:r>
            <a:r>
              <a:rPr lang="en-US" sz="1900" dirty="0">
                <a:solidFill>
                  <a:schemeClr val="tx1"/>
                </a:solidFill>
                <a:latin typeface="+mj-lt"/>
              </a:rPr>
              <a:t> </a:t>
            </a:r>
            <a:r>
              <a:rPr lang="en-US" sz="1900" dirty="0" err="1">
                <a:solidFill>
                  <a:schemeClr val="tx1"/>
                </a:solidFill>
                <a:latin typeface="+mj-lt"/>
              </a:rPr>
              <a:t>trừ</a:t>
            </a:r>
            <a:r>
              <a:rPr lang="en-US" sz="1900" dirty="0">
                <a:solidFill>
                  <a:schemeClr val="tx1"/>
                </a:solidFill>
                <a:latin typeface="+mj-lt"/>
              </a:rPr>
              <a:t> </a:t>
            </a:r>
            <a:r>
              <a:rPr lang="en-US" sz="1900" dirty="0" err="1">
                <a:solidFill>
                  <a:schemeClr val="tx1"/>
                </a:solidFill>
                <a:latin typeface="+mj-lt"/>
              </a:rPr>
              <a:t>thuế</a:t>
            </a:r>
            <a:r>
              <a:rPr lang="en-US" sz="1900" dirty="0">
                <a:solidFill>
                  <a:schemeClr val="tx1"/>
                </a:solidFill>
                <a:latin typeface="+mj-lt"/>
              </a:rPr>
              <a:t> thu </a:t>
            </a:r>
            <a:r>
              <a:rPr lang="en-US" sz="1900" dirty="0" err="1">
                <a:solidFill>
                  <a:schemeClr val="tx1"/>
                </a:solidFill>
                <a:latin typeface="+mj-lt"/>
              </a:rPr>
              <a:t>nhập</a:t>
            </a:r>
            <a:r>
              <a:rPr lang="en-US" sz="1900" dirty="0">
                <a:solidFill>
                  <a:schemeClr val="tx1"/>
                </a:solidFill>
                <a:latin typeface="+mj-lt"/>
              </a:rPr>
              <a:t> </a:t>
            </a:r>
            <a:r>
              <a:rPr lang="en-US" sz="1900" dirty="0" err="1">
                <a:solidFill>
                  <a:schemeClr val="tx1"/>
                </a:solidFill>
                <a:latin typeface="+mj-lt"/>
              </a:rPr>
              <a:t>cá</a:t>
            </a:r>
            <a:r>
              <a:rPr lang="en-US" sz="1900" dirty="0">
                <a:solidFill>
                  <a:schemeClr val="tx1"/>
                </a:solidFill>
                <a:latin typeface="+mj-lt"/>
              </a:rPr>
              <a:t> </a:t>
            </a:r>
            <a:r>
              <a:rPr lang="en-US" sz="1900" dirty="0" err="1">
                <a:solidFill>
                  <a:schemeClr val="tx1"/>
                </a:solidFill>
                <a:latin typeface="+mj-lt"/>
              </a:rPr>
              <a:t>nhân</a:t>
            </a:r>
            <a:r>
              <a:rPr lang="en-US" sz="1900" dirty="0">
                <a:solidFill>
                  <a:schemeClr val="tx1"/>
                </a:solidFill>
                <a:latin typeface="+mj-lt"/>
              </a:rPr>
              <a:t>, </a:t>
            </a:r>
            <a:r>
              <a:rPr lang="en-US" sz="1900" dirty="0" err="1">
                <a:solidFill>
                  <a:schemeClr val="tx1"/>
                </a:solidFill>
                <a:latin typeface="+mj-lt"/>
              </a:rPr>
              <a:t>biên</a:t>
            </a:r>
            <a:r>
              <a:rPr lang="en-US" sz="1900" dirty="0">
                <a:solidFill>
                  <a:schemeClr val="tx1"/>
                </a:solidFill>
                <a:latin typeface="+mj-lt"/>
              </a:rPr>
              <a:t> </a:t>
            </a:r>
            <a:r>
              <a:rPr lang="en-US" sz="1900" dirty="0" err="1">
                <a:solidFill>
                  <a:schemeClr val="tx1"/>
                </a:solidFill>
                <a:latin typeface="+mj-lt"/>
              </a:rPr>
              <a:t>lai</a:t>
            </a:r>
            <a:r>
              <a:rPr lang="en-US" sz="1900" dirty="0">
                <a:solidFill>
                  <a:schemeClr val="tx1"/>
                </a:solidFill>
                <a:latin typeface="+mj-lt"/>
              </a:rPr>
              <a:t> </a:t>
            </a:r>
            <a:r>
              <a:rPr lang="en-US" sz="1900" dirty="0" err="1">
                <a:solidFill>
                  <a:schemeClr val="tx1"/>
                </a:solidFill>
                <a:latin typeface="+mj-lt"/>
              </a:rPr>
              <a:t>thuế</a:t>
            </a:r>
            <a:r>
              <a:rPr lang="en-US" sz="1900" dirty="0">
                <a:solidFill>
                  <a:schemeClr val="tx1"/>
                </a:solidFill>
                <a:latin typeface="+mj-lt"/>
              </a:rPr>
              <a:t>, </a:t>
            </a:r>
            <a:r>
              <a:rPr lang="en-US" sz="1900" dirty="0" err="1">
                <a:solidFill>
                  <a:schemeClr val="tx1"/>
                </a:solidFill>
                <a:latin typeface="+mj-lt"/>
              </a:rPr>
              <a:t>phí</a:t>
            </a:r>
            <a:r>
              <a:rPr lang="en-US" sz="1900" dirty="0">
                <a:solidFill>
                  <a:schemeClr val="tx1"/>
                </a:solidFill>
                <a:latin typeface="+mj-lt"/>
              </a:rPr>
              <a:t>, </a:t>
            </a:r>
            <a:r>
              <a:rPr lang="en-US" sz="1900" dirty="0" err="1">
                <a:solidFill>
                  <a:schemeClr val="tx1"/>
                </a:solidFill>
                <a:latin typeface="+mj-lt"/>
              </a:rPr>
              <a:t>lệ</a:t>
            </a:r>
            <a:r>
              <a:rPr lang="en-US" sz="1900" dirty="0">
                <a:solidFill>
                  <a:schemeClr val="tx1"/>
                </a:solidFill>
                <a:latin typeface="+mj-lt"/>
              </a:rPr>
              <a:t> </a:t>
            </a:r>
            <a:r>
              <a:rPr lang="en-US" sz="1900" dirty="0" err="1">
                <a:solidFill>
                  <a:schemeClr val="tx1"/>
                </a:solidFill>
                <a:latin typeface="+mj-lt"/>
              </a:rPr>
              <a:t>phí</a:t>
            </a:r>
            <a:r>
              <a:rPr lang="en-US" sz="1900" dirty="0">
                <a:solidFill>
                  <a:schemeClr val="tx1"/>
                </a:solidFill>
                <a:latin typeface="+mj-lt"/>
              </a:rPr>
              <a:t>) </a:t>
            </a:r>
            <a:r>
              <a:rPr lang="en-US" sz="1900" dirty="0" err="1">
                <a:solidFill>
                  <a:schemeClr val="tx1"/>
                </a:solidFill>
                <a:latin typeface="+mj-lt"/>
              </a:rPr>
              <a:t>được</a:t>
            </a:r>
            <a:r>
              <a:rPr lang="en-US" sz="1900" dirty="0">
                <a:solidFill>
                  <a:schemeClr val="tx1"/>
                </a:solidFill>
                <a:latin typeface="+mj-lt"/>
              </a:rPr>
              <a:t> </a:t>
            </a:r>
            <a:r>
              <a:rPr lang="en-US" sz="1900" dirty="0" err="1">
                <a:solidFill>
                  <a:schemeClr val="tx1"/>
                </a:solidFill>
                <a:latin typeface="+mj-lt"/>
              </a:rPr>
              <a:t>thể</a:t>
            </a:r>
            <a:r>
              <a:rPr lang="en-US" sz="1900" dirty="0">
                <a:solidFill>
                  <a:schemeClr val="tx1"/>
                </a:solidFill>
                <a:latin typeface="+mj-lt"/>
              </a:rPr>
              <a:t> </a:t>
            </a:r>
            <a:r>
              <a:rPr lang="en-US" sz="1900" dirty="0" err="1">
                <a:solidFill>
                  <a:schemeClr val="tx1"/>
                </a:solidFill>
                <a:latin typeface="+mj-lt"/>
              </a:rPr>
              <a:t>hiện</a:t>
            </a:r>
            <a:r>
              <a:rPr lang="en-US" sz="1900" dirty="0">
                <a:solidFill>
                  <a:schemeClr val="tx1"/>
                </a:solidFill>
                <a:latin typeface="+mj-lt"/>
              </a:rPr>
              <a:t> ở </a:t>
            </a:r>
            <a:r>
              <a:rPr lang="en-US" sz="1900" dirty="0" err="1">
                <a:solidFill>
                  <a:schemeClr val="tx1"/>
                </a:solidFill>
                <a:latin typeface="+mj-lt"/>
              </a:rPr>
              <a:t>dạng</a:t>
            </a:r>
            <a:r>
              <a:rPr lang="en-US" sz="1900" dirty="0">
                <a:solidFill>
                  <a:schemeClr val="tx1"/>
                </a:solidFill>
                <a:latin typeface="+mj-lt"/>
              </a:rPr>
              <a:t> </a:t>
            </a:r>
            <a:r>
              <a:rPr lang="en-US" sz="1900" dirty="0" err="1">
                <a:solidFill>
                  <a:schemeClr val="tx1"/>
                </a:solidFill>
                <a:latin typeface="+mj-lt"/>
              </a:rPr>
              <a:t>dữ</a:t>
            </a:r>
            <a:r>
              <a:rPr lang="en-US" sz="1900" dirty="0">
                <a:solidFill>
                  <a:schemeClr val="tx1"/>
                </a:solidFill>
                <a:latin typeface="+mj-lt"/>
              </a:rPr>
              <a:t> </a:t>
            </a:r>
            <a:r>
              <a:rPr lang="en-US" sz="1900" dirty="0" err="1">
                <a:solidFill>
                  <a:schemeClr val="tx1"/>
                </a:solidFill>
                <a:latin typeface="+mj-lt"/>
              </a:rPr>
              <a:t>liệu</a:t>
            </a:r>
            <a:r>
              <a:rPr lang="en-US" sz="1900" dirty="0">
                <a:solidFill>
                  <a:schemeClr val="tx1"/>
                </a:solidFill>
                <a:latin typeface="+mj-lt"/>
              </a:rPr>
              <a:t> </a:t>
            </a:r>
            <a:r>
              <a:rPr lang="en-US" sz="1900" dirty="0" err="1">
                <a:solidFill>
                  <a:schemeClr val="tx1"/>
                </a:solidFill>
                <a:latin typeface="+mj-lt"/>
              </a:rPr>
              <a:t>điện</a:t>
            </a:r>
            <a:r>
              <a:rPr lang="en-US" sz="1900" dirty="0">
                <a:solidFill>
                  <a:schemeClr val="tx1"/>
                </a:solidFill>
                <a:latin typeface="+mj-lt"/>
              </a:rPr>
              <a:t> </a:t>
            </a:r>
            <a:r>
              <a:rPr lang="en-US" sz="1900" dirty="0" err="1">
                <a:solidFill>
                  <a:schemeClr val="tx1"/>
                </a:solidFill>
                <a:latin typeface="+mj-lt"/>
              </a:rPr>
              <a:t>tử</a:t>
            </a:r>
            <a:r>
              <a:rPr lang="en-US" sz="1900" dirty="0">
                <a:solidFill>
                  <a:schemeClr val="tx1"/>
                </a:solidFill>
                <a:latin typeface="+mj-lt"/>
              </a:rPr>
              <a:t> do </a:t>
            </a:r>
            <a:r>
              <a:rPr lang="en-US" sz="1900" dirty="0" err="1">
                <a:solidFill>
                  <a:schemeClr val="tx1"/>
                </a:solidFill>
                <a:latin typeface="+mj-lt"/>
              </a:rPr>
              <a:t>tổ</a:t>
            </a:r>
            <a:r>
              <a:rPr lang="en-US" sz="1900" dirty="0">
                <a:solidFill>
                  <a:schemeClr val="tx1"/>
                </a:solidFill>
                <a:latin typeface="+mj-lt"/>
              </a:rPr>
              <a:t> </a:t>
            </a:r>
            <a:r>
              <a:rPr lang="en-US" sz="1900" dirty="0" err="1">
                <a:solidFill>
                  <a:schemeClr val="tx1"/>
                </a:solidFill>
                <a:latin typeface="+mj-lt"/>
              </a:rPr>
              <a:t>chức</a:t>
            </a:r>
            <a:r>
              <a:rPr lang="en-US" sz="1900" dirty="0">
                <a:solidFill>
                  <a:schemeClr val="tx1"/>
                </a:solidFill>
                <a:latin typeface="+mj-lt"/>
              </a:rPr>
              <a:t>, </a:t>
            </a:r>
            <a:r>
              <a:rPr lang="en-US" sz="1900" dirty="0" err="1">
                <a:solidFill>
                  <a:schemeClr val="tx1"/>
                </a:solidFill>
                <a:latin typeface="+mj-lt"/>
              </a:rPr>
              <a:t>cá</a:t>
            </a:r>
            <a:r>
              <a:rPr lang="en-US" sz="1900" dirty="0">
                <a:solidFill>
                  <a:schemeClr val="tx1"/>
                </a:solidFill>
                <a:latin typeface="+mj-lt"/>
              </a:rPr>
              <a:t> </a:t>
            </a:r>
            <a:r>
              <a:rPr lang="en-US" sz="1900" dirty="0" err="1">
                <a:solidFill>
                  <a:schemeClr val="tx1"/>
                </a:solidFill>
                <a:latin typeface="+mj-lt"/>
              </a:rPr>
              <a:t>nhân</a:t>
            </a:r>
            <a:r>
              <a:rPr lang="en-US" sz="1900" dirty="0">
                <a:solidFill>
                  <a:schemeClr val="tx1"/>
                </a:solidFill>
                <a:latin typeface="+mj-lt"/>
              </a:rPr>
              <a:t> </a:t>
            </a:r>
            <a:r>
              <a:rPr lang="en-US" sz="1900" dirty="0" err="1">
                <a:solidFill>
                  <a:schemeClr val="tx1"/>
                </a:solidFill>
                <a:latin typeface="+mj-lt"/>
              </a:rPr>
              <a:t>có</a:t>
            </a:r>
            <a:r>
              <a:rPr lang="en-US" sz="1900" dirty="0">
                <a:solidFill>
                  <a:schemeClr val="tx1"/>
                </a:solidFill>
                <a:latin typeface="+mj-lt"/>
              </a:rPr>
              <a:t> </a:t>
            </a:r>
            <a:r>
              <a:rPr lang="en-US" sz="1900" dirty="0" err="1">
                <a:solidFill>
                  <a:schemeClr val="tx1"/>
                </a:solidFill>
                <a:latin typeface="+mj-lt"/>
              </a:rPr>
              <a:t>trách</a:t>
            </a:r>
            <a:r>
              <a:rPr lang="en-US" sz="1900" dirty="0">
                <a:solidFill>
                  <a:schemeClr val="tx1"/>
                </a:solidFill>
                <a:latin typeface="+mj-lt"/>
              </a:rPr>
              <a:t> </a:t>
            </a:r>
            <a:r>
              <a:rPr lang="en-US" sz="1900" dirty="0" err="1">
                <a:solidFill>
                  <a:schemeClr val="tx1"/>
                </a:solidFill>
                <a:latin typeface="+mj-lt"/>
              </a:rPr>
              <a:t>nhiệm</a:t>
            </a:r>
            <a:r>
              <a:rPr lang="en-US" sz="1900" dirty="0">
                <a:solidFill>
                  <a:schemeClr val="tx1"/>
                </a:solidFill>
                <a:latin typeface="+mj-lt"/>
              </a:rPr>
              <a:t> </a:t>
            </a:r>
            <a:r>
              <a:rPr lang="en-US" sz="1900" dirty="0" err="1">
                <a:solidFill>
                  <a:schemeClr val="tx1"/>
                </a:solidFill>
                <a:latin typeface="+mj-lt"/>
              </a:rPr>
              <a:t>khấu</a:t>
            </a:r>
            <a:r>
              <a:rPr lang="en-US" sz="1900" dirty="0">
                <a:solidFill>
                  <a:schemeClr val="tx1"/>
                </a:solidFill>
                <a:latin typeface="+mj-lt"/>
              </a:rPr>
              <a:t> </a:t>
            </a:r>
            <a:r>
              <a:rPr lang="en-US" sz="1900" dirty="0" err="1">
                <a:solidFill>
                  <a:schemeClr val="tx1"/>
                </a:solidFill>
                <a:latin typeface="+mj-lt"/>
              </a:rPr>
              <a:t>trừ</a:t>
            </a:r>
            <a:r>
              <a:rPr lang="en-US" sz="1900" dirty="0">
                <a:solidFill>
                  <a:schemeClr val="tx1"/>
                </a:solidFill>
                <a:latin typeface="+mj-lt"/>
              </a:rPr>
              <a:t> </a:t>
            </a:r>
            <a:r>
              <a:rPr lang="en-US" sz="1900" dirty="0" err="1">
                <a:solidFill>
                  <a:schemeClr val="tx1"/>
                </a:solidFill>
                <a:latin typeface="+mj-lt"/>
              </a:rPr>
              <a:t>thuế</a:t>
            </a:r>
            <a:r>
              <a:rPr lang="en-US" sz="1900" dirty="0">
                <a:solidFill>
                  <a:schemeClr val="tx1"/>
                </a:solidFill>
                <a:latin typeface="+mj-lt"/>
              </a:rPr>
              <a:t> </a:t>
            </a:r>
            <a:r>
              <a:rPr lang="en-US" sz="1900" dirty="0" err="1">
                <a:solidFill>
                  <a:schemeClr val="tx1"/>
                </a:solidFill>
                <a:latin typeface="+mj-lt"/>
              </a:rPr>
              <a:t>cấp</a:t>
            </a:r>
            <a:r>
              <a:rPr lang="en-US" sz="1900" dirty="0">
                <a:solidFill>
                  <a:schemeClr val="tx1"/>
                </a:solidFill>
                <a:latin typeface="+mj-lt"/>
              </a:rPr>
              <a:t> </a:t>
            </a:r>
            <a:r>
              <a:rPr lang="en-US" sz="1900" dirty="0" err="1">
                <a:solidFill>
                  <a:schemeClr val="tx1"/>
                </a:solidFill>
                <a:latin typeface="+mj-lt"/>
              </a:rPr>
              <a:t>cho</a:t>
            </a:r>
            <a:r>
              <a:rPr lang="en-US" sz="1900" dirty="0">
                <a:solidFill>
                  <a:schemeClr val="tx1"/>
                </a:solidFill>
                <a:latin typeface="+mj-lt"/>
              </a:rPr>
              <a:t> </a:t>
            </a:r>
            <a:r>
              <a:rPr lang="en-US" sz="1900" dirty="0" err="1">
                <a:solidFill>
                  <a:schemeClr val="tx1"/>
                </a:solidFill>
                <a:latin typeface="+mj-lt"/>
              </a:rPr>
              <a:t>người</a:t>
            </a:r>
            <a:r>
              <a:rPr lang="en-US" sz="1900" dirty="0">
                <a:solidFill>
                  <a:schemeClr val="tx1"/>
                </a:solidFill>
                <a:latin typeface="+mj-lt"/>
              </a:rPr>
              <a:t> </a:t>
            </a:r>
            <a:r>
              <a:rPr lang="en-US" sz="1900" dirty="0" err="1">
                <a:solidFill>
                  <a:schemeClr val="tx1"/>
                </a:solidFill>
                <a:latin typeface="+mj-lt"/>
              </a:rPr>
              <a:t>nộp</a:t>
            </a:r>
            <a:r>
              <a:rPr lang="en-US" sz="1900" dirty="0">
                <a:solidFill>
                  <a:schemeClr val="tx1"/>
                </a:solidFill>
                <a:latin typeface="+mj-lt"/>
              </a:rPr>
              <a:t> </a:t>
            </a:r>
            <a:r>
              <a:rPr lang="en-US" sz="1900" dirty="0" err="1">
                <a:solidFill>
                  <a:schemeClr val="tx1"/>
                </a:solidFill>
                <a:latin typeface="+mj-lt"/>
              </a:rPr>
              <a:t>thuế</a:t>
            </a:r>
            <a:r>
              <a:rPr lang="en-US" sz="1900" dirty="0">
                <a:solidFill>
                  <a:schemeClr val="tx1"/>
                </a:solidFill>
                <a:latin typeface="+mj-lt"/>
              </a:rPr>
              <a:t> </a:t>
            </a:r>
            <a:r>
              <a:rPr lang="en-US" sz="1900" dirty="0" err="1">
                <a:solidFill>
                  <a:schemeClr val="tx1"/>
                </a:solidFill>
                <a:latin typeface="+mj-lt"/>
              </a:rPr>
              <a:t>hoặc</a:t>
            </a:r>
            <a:r>
              <a:rPr lang="en-US" sz="1900" dirty="0">
                <a:solidFill>
                  <a:schemeClr val="tx1"/>
                </a:solidFill>
                <a:latin typeface="+mj-lt"/>
              </a:rPr>
              <a:t> do </a:t>
            </a:r>
            <a:r>
              <a:rPr lang="en-US" sz="1900" dirty="0" err="1">
                <a:solidFill>
                  <a:schemeClr val="tx1"/>
                </a:solidFill>
                <a:latin typeface="+mj-lt"/>
              </a:rPr>
              <a:t>tổ</a:t>
            </a:r>
            <a:r>
              <a:rPr lang="en-US" sz="1900" dirty="0">
                <a:solidFill>
                  <a:schemeClr val="tx1"/>
                </a:solidFill>
                <a:latin typeface="+mj-lt"/>
              </a:rPr>
              <a:t> </a:t>
            </a:r>
            <a:r>
              <a:rPr lang="en-US" sz="1900" dirty="0" err="1">
                <a:solidFill>
                  <a:schemeClr val="tx1"/>
                </a:solidFill>
                <a:latin typeface="+mj-lt"/>
              </a:rPr>
              <a:t>chức</a:t>
            </a:r>
            <a:r>
              <a:rPr lang="en-US" sz="1900" dirty="0">
                <a:solidFill>
                  <a:schemeClr val="tx1"/>
                </a:solidFill>
                <a:latin typeface="+mj-lt"/>
              </a:rPr>
              <a:t> thu </a:t>
            </a:r>
            <a:r>
              <a:rPr lang="en-US" sz="1900" dirty="0" err="1">
                <a:solidFill>
                  <a:schemeClr val="tx1"/>
                </a:solidFill>
                <a:latin typeface="+mj-lt"/>
              </a:rPr>
              <a:t>thuế</a:t>
            </a:r>
            <a:r>
              <a:rPr lang="en-US" sz="1900" dirty="0">
                <a:solidFill>
                  <a:schemeClr val="tx1"/>
                </a:solidFill>
                <a:latin typeface="+mj-lt"/>
              </a:rPr>
              <a:t>, </a:t>
            </a:r>
            <a:r>
              <a:rPr lang="en-US" sz="1900" dirty="0" err="1">
                <a:solidFill>
                  <a:schemeClr val="tx1"/>
                </a:solidFill>
                <a:latin typeface="+mj-lt"/>
              </a:rPr>
              <a:t>phí</a:t>
            </a:r>
            <a:r>
              <a:rPr lang="en-US" sz="1900" dirty="0">
                <a:solidFill>
                  <a:schemeClr val="tx1"/>
                </a:solidFill>
                <a:latin typeface="+mj-lt"/>
              </a:rPr>
              <a:t>, </a:t>
            </a:r>
            <a:r>
              <a:rPr lang="en-US" sz="1900" dirty="0" err="1">
                <a:solidFill>
                  <a:schemeClr val="tx1"/>
                </a:solidFill>
                <a:latin typeface="+mj-lt"/>
              </a:rPr>
              <a:t>lệ</a:t>
            </a:r>
            <a:r>
              <a:rPr lang="en-US" sz="1900" dirty="0">
                <a:solidFill>
                  <a:schemeClr val="tx1"/>
                </a:solidFill>
                <a:latin typeface="+mj-lt"/>
              </a:rPr>
              <a:t> </a:t>
            </a:r>
            <a:r>
              <a:rPr lang="en-US" sz="1900" dirty="0" err="1">
                <a:solidFill>
                  <a:schemeClr val="tx1"/>
                </a:solidFill>
                <a:latin typeface="+mj-lt"/>
              </a:rPr>
              <a:t>phí</a:t>
            </a:r>
            <a:r>
              <a:rPr lang="en-US" sz="1900" dirty="0">
                <a:solidFill>
                  <a:schemeClr val="tx1"/>
                </a:solidFill>
                <a:latin typeface="+mj-lt"/>
              </a:rPr>
              <a:t> </a:t>
            </a:r>
            <a:r>
              <a:rPr lang="en-US" sz="1900" dirty="0" err="1">
                <a:solidFill>
                  <a:schemeClr val="tx1"/>
                </a:solidFill>
                <a:latin typeface="+mj-lt"/>
              </a:rPr>
              <a:t>cấp</a:t>
            </a:r>
            <a:r>
              <a:rPr lang="en-US" sz="1900" dirty="0">
                <a:solidFill>
                  <a:schemeClr val="tx1"/>
                </a:solidFill>
                <a:latin typeface="+mj-lt"/>
              </a:rPr>
              <a:t> </a:t>
            </a:r>
            <a:r>
              <a:rPr lang="en-US" sz="1900" dirty="0" err="1">
                <a:solidFill>
                  <a:schemeClr val="tx1"/>
                </a:solidFill>
                <a:latin typeface="+mj-lt"/>
              </a:rPr>
              <a:t>cho</a:t>
            </a:r>
            <a:r>
              <a:rPr lang="en-US" sz="1900" dirty="0">
                <a:solidFill>
                  <a:schemeClr val="tx1"/>
                </a:solidFill>
                <a:latin typeface="+mj-lt"/>
              </a:rPr>
              <a:t> </a:t>
            </a:r>
            <a:r>
              <a:rPr lang="en-US" sz="1900" dirty="0" err="1">
                <a:solidFill>
                  <a:schemeClr val="tx1"/>
                </a:solidFill>
                <a:latin typeface="+mj-lt"/>
              </a:rPr>
              <a:t>người</a:t>
            </a:r>
            <a:r>
              <a:rPr lang="en-US" sz="1900" dirty="0">
                <a:solidFill>
                  <a:schemeClr val="tx1"/>
                </a:solidFill>
                <a:latin typeface="+mj-lt"/>
              </a:rPr>
              <a:t> </a:t>
            </a:r>
            <a:r>
              <a:rPr lang="en-US" sz="1900" dirty="0" err="1">
                <a:solidFill>
                  <a:schemeClr val="tx1"/>
                </a:solidFill>
                <a:latin typeface="+mj-lt"/>
              </a:rPr>
              <a:t>nộp</a:t>
            </a:r>
            <a:r>
              <a:rPr lang="en-US" sz="1900" dirty="0">
                <a:solidFill>
                  <a:schemeClr val="tx1"/>
                </a:solidFill>
                <a:latin typeface="+mj-lt"/>
              </a:rPr>
              <a:t> </a:t>
            </a:r>
            <a:r>
              <a:rPr lang="en-US" sz="1900" dirty="0" err="1">
                <a:solidFill>
                  <a:schemeClr val="tx1"/>
                </a:solidFill>
                <a:latin typeface="+mj-lt"/>
              </a:rPr>
              <a:t>bằng</a:t>
            </a:r>
            <a:r>
              <a:rPr lang="en-US" sz="1900" dirty="0">
                <a:solidFill>
                  <a:schemeClr val="tx1"/>
                </a:solidFill>
                <a:latin typeface="+mj-lt"/>
              </a:rPr>
              <a:t> </a:t>
            </a:r>
            <a:r>
              <a:rPr lang="en-US" sz="1900" dirty="0" err="1">
                <a:solidFill>
                  <a:schemeClr val="tx1"/>
                </a:solidFill>
                <a:latin typeface="+mj-lt"/>
              </a:rPr>
              <a:t>phương</a:t>
            </a:r>
            <a:r>
              <a:rPr lang="en-US" sz="1900" dirty="0">
                <a:solidFill>
                  <a:schemeClr val="tx1"/>
                </a:solidFill>
                <a:latin typeface="+mj-lt"/>
              </a:rPr>
              <a:t> </a:t>
            </a:r>
            <a:r>
              <a:rPr lang="en-US" sz="1900" dirty="0" err="1">
                <a:solidFill>
                  <a:schemeClr val="tx1"/>
                </a:solidFill>
                <a:latin typeface="+mj-lt"/>
              </a:rPr>
              <a:t>tiện</a:t>
            </a:r>
            <a:r>
              <a:rPr lang="en-US" sz="1900" dirty="0">
                <a:solidFill>
                  <a:schemeClr val="tx1"/>
                </a:solidFill>
                <a:latin typeface="+mj-lt"/>
              </a:rPr>
              <a:t> </a:t>
            </a:r>
            <a:r>
              <a:rPr lang="en-US" sz="1900" dirty="0" err="1">
                <a:solidFill>
                  <a:schemeClr val="tx1"/>
                </a:solidFill>
                <a:latin typeface="+mj-lt"/>
              </a:rPr>
              <a:t>điện</a:t>
            </a:r>
            <a:r>
              <a:rPr lang="en-US" sz="1900" dirty="0">
                <a:solidFill>
                  <a:schemeClr val="tx1"/>
                </a:solidFill>
                <a:latin typeface="+mj-lt"/>
              </a:rPr>
              <a:t> </a:t>
            </a:r>
            <a:r>
              <a:rPr lang="en-US" sz="1900" dirty="0" err="1">
                <a:solidFill>
                  <a:schemeClr val="tx1"/>
                </a:solidFill>
                <a:latin typeface="+mj-lt"/>
              </a:rPr>
              <a:t>tử</a:t>
            </a:r>
            <a:r>
              <a:rPr lang="en-US" sz="1900" dirty="0">
                <a:solidFill>
                  <a:schemeClr val="tx1"/>
                </a:solidFill>
                <a:latin typeface="+mj-lt"/>
              </a:rPr>
              <a:t> </a:t>
            </a:r>
            <a:r>
              <a:rPr lang="en-US" sz="1900" dirty="0" err="1">
                <a:solidFill>
                  <a:schemeClr val="tx1"/>
                </a:solidFill>
                <a:latin typeface="+mj-lt"/>
              </a:rPr>
              <a:t>theo</a:t>
            </a:r>
            <a:r>
              <a:rPr lang="en-US" sz="1900" dirty="0">
                <a:solidFill>
                  <a:schemeClr val="tx1"/>
                </a:solidFill>
                <a:latin typeface="+mj-lt"/>
              </a:rPr>
              <a:t> </a:t>
            </a:r>
            <a:r>
              <a:rPr lang="en-US" sz="1900" dirty="0" err="1">
                <a:solidFill>
                  <a:schemeClr val="tx1"/>
                </a:solidFill>
                <a:latin typeface="+mj-lt"/>
              </a:rPr>
              <a:t>quy</a:t>
            </a:r>
            <a:r>
              <a:rPr lang="en-US" sz="1900" dirty="0">
                <a:solidFill>
                  <a:schemeClr val="tx1"/>
                </a:solidFill>
                <a:latin typeface="+mj-lt"/>
              </a:rPr>
              <a:t> </a:t>
            </a:r>
            <a:r>
              <a:rPr lang="en-US" sz="1900" dirty="0" err="1">
                <a:solidFill>
                  <a:schemeClr val="tx1"/>
                </a:solidFill>
                <a:latin typeface="+mj-lt"/>
              </a:rPr>
              <a:t>định</a:t>
            </a:r>
            <a:r>
              <a:rPr lang="en-US" sz="1900" dirty="0">
                <a:solidFill>
                  <a:schemeClr val="tx1"/>
                </a:solidFill>
                <a:latin typeface="+mj-lt"/>
              </a:rPr>
              <a:t> </a:t>
            </a:r>
            <a:r>
              <a:rPr lang="en-US" sz="1900" dirty="0" err="1">
                <a:solidFill>
                  <a:schemeClr val="tx1"/>
                </a:solidFill>
                <a:latin typeface="+mj-lt"/>
              </a:rPr>
              <a:t>của</a:t>
            </a:r>
            <a:r>
              <a:rPr lang="en-US" sz="1900" dirty="0">
                <a:solidFill>
                  <a:schemeClr val="tx1"/>
                </a:solidFill>
                <a:latin typeface="+mj-lt"/>
              </a:rPr>
              <a:t> </a:t>
            </a:r>
            <a:r>
              <a:rPr lang="en-US" sz="1900" dirty="0" err="1">
                <a:solidFill>
                  <a:schemeClr val="tx1"/>
                </a:solidFill>
                <a:latin typeface="+mj-lt"/>
              </a:rPr>
              <a:t>pháp</a:t>
            </a:r>
            <a:r>
              <a:rPr lang="en-US" sz="1900" dirty="0">
                <a:solidFill>
                  <a:schemeClr val="tx1"/>
                </a:solidFill>
                <a:latin typeface="+mj-lt"/>
              </a:rPr>
              <a:t> </a:t>
            </a:r>
            <a:r>
              <a:rPr lang="en-US" sz="1900" dirty="0" err="1">
                <a:solidFill>
                  <a:schemeClr val="tx1"/>
                </a:solidFill>
                <a:latin typeface="+mj-lt"/>
              </a:rPr>
              <a:t>luật</a:t>
            </a:r>
            <a:r>
              <a:rPr lang="en-US" sz="1900" dirty="0">
                <a:solidFill>
                  <a:schemeClr val="tx1"/>
                </a:solidFill>
                <a:latin typeface="+mj-lt"/>
              </a:rPr>
              <a:t> </a:t>
            </a:r>
            <a:r>
              <a:rPr lang="en-US" sz="1900" dirty="0" err="1">
                <a:solidFill>
                  <a:schemeClr val="tx1"/>
                </a:solidFill>
                <a:latin typeface="+mj-lt"/>
              </a:rPr>
              <a:t>phí</a:t>
            </a:r>
            <a:r>
              <a:rPr lang="en-US" sz="1900" dirty="0">
                <a:solidFill>
                  <a:schemeClr val="tx1"/>
                </a:solidFill>
                <a:latin typeface="+mj-lt"/>
              </a:rPr>
              <a:t>, </a:t>
            </a:r>
            <a:r>
              <a:rPr lang="en-US" sz="1900" dirty="0" err="1">
                <a:solidFill>
                  <a:schemeClr val="tx1"/>
                </a:solidFill>
                <a:latin typeface="+mj-lt"/>
              </a:rPr>
              <a:t>lệ</a:t>
            </a:r>
            <a:r>
              <a:rPr lang="en-US" sz="1900" dirty="0">
                <a:solidFill>
                  <a:schemeClr val="tx1"/>
                </a:solidFill>
                <a:latin typeface="+mj-lt"/>
              </a:rPr>
              <a:t> </a:t>
            </a:r>
            <a:r>
              <a:rPr lang="en-US" sz="1900" dirty="0" err="1">
                <a:solidFill>
                  <a:schemeClr val="tx1"/>
                </a:solidFill>
                <a:latin typeface="+mj-lt"/>
              </a:rPr>
              <a:t>phí</a:t>
            </a:r>
            <a:r>
              <a:rPr lang="en-US" sz="1900" dirty="0">
                <a:solidFill>
                  <a:schemeClr val="tx1"/>
                </a:solidFill>
                <a:latin typeface="+mj-lt"/>
              </a:rPr>
              <a:t>, </a:t>
            </a:r>
            <a:r>
              <a:rPr lang="en-US" sz="1900" dirty="0" err="1">
                <a:solidFill>
                  <a:schemeClr val="tx1"/>
                </a:solidFill>
                <a:latin typeface="+mj-lt"/>
              </a:rPr>
              <a:t>pháp</a:t>
            </a:r>
            <a:r>
              <a:rPr lang="en-US" sz="1900" dirty="0">
                <a:solidFill>
                  <a:schemeClr val="tx1"/>
                </a:solidFill>
                <a:latin typeface="+mj-lt"/>
              </a:rPr>
              <a:t> </a:t>
            </a:r>
            <a:r>
              <a:rPr lang="en-US" sz="1900" dirty="0" err="1">
                <a:solidFill>
                  <a:schemeClr val="tx1"/>
                </a:solidFill>
                <a:latin typeface="+mj-lt"/>
              </a:rPr>
              <a:t>luật</a:t>
            </a:r>
            <a:r>
              <a:rPr lang="en-US" sz="1900" dirty="0">
                <a:solidFill>
                  <a:schemeClr val="tx1"/>
                </a:solidFill>
                <a:latin typeface="+mj-lt"/>
              </a:rPr>
              <a:t> </a:t>
            </a:r>
            <a:r>
              <a:rPr lang="en-US" sz="1900" dirty="0" err="1">
                <a:solidFill>
                  <a:schemeClr val="tx1"/>
                </a:solidFill>
                <a:latin typeface="+mj-lt"/>
              </a:rPr>
              <a:t>thuế</a:t>
            </a:r>
            <a:r>
              <a:rPr lang="en-US" sz="1900" dirty="0">
                <a:solidFill>
                  <a:schemeClr val="tx1"/>
                </a:solidFill>
                <a:latin typeface="+mj-lt"/>
              </a:rPr>
              <a:t> </a:t>
            </a:r>
            <a:r>
              <a:rPr lang="en-US" sz="1900" dirty="0" err="1">
                <a:solidFill>
                  <a:schemeClr val="tx1"/>
                </a:solidFill>
                <a:latin typeface="+mj-lt"/>
              </a:rPr>
              <a:t>khi</a:t>
            </a:r>
            <a:r>
              <a:rPr lang="en-US" sz="1900" dirty="0">
                <a:solidFill>
                  <a:schemeClr val="tx1"/>
                </a:solidFill>
                <a:latin typeface="+mj-lt"/>
              </a:rPr>
              <a:t> </a:t>
            </a:r>
            <a:r>
              <a:rPr lang="en-US" sz="1900" dirty="0" err="1">
                <a:solidFill>
                  <a:schemeClr val="tx1"/>
                </a:solidFill>
                <a:latin typeface="+mj-lt"/>
              </a:rPr>
              <a:t>thực</a:t>
            </a:r>
            <a:r>
              <a:rPr lang="en-US" sz="1900" dirty="0">
                <a:solidFill>
                  <a:schemeClr val="tx1"/>
                </a:solidFill>
                <a:latin typeface="+mj-lt"/>
              </a:rPr>
              <a:t> </a:t>
            </a:r>
            <a:r>
              <a:rPr lang="en-US" sz="1900" dirty="0" err="1">
                <a:solidFill>
                  <a:schemeClr val="tx1"/>
                </a:solidFill>
                <a:latin typeface="+mj-lt"/>
              </a:rPr>
              <a:t>hiện</a:t>
            </a:r>
            <a:r>
              <a:rPr lang="en-US" sz="1900" dirty="0">
                <a:solidFill>
                  <a:schemeClr val="tx1"/>
                </a:solidFill>
                <a:latin typeface="+mj-lt"/>
              </a:rPr>
              <a:t> </a:t>
            </a:r>
            <a:r>
              <a:rPr lang="en-US" sz="1900" dirty="0" err="1">
                <a:solidFill>
                  <a:schemeClr val="tx1"/>
                </a:solidFill>
                <a:latin typeface="+mj-lt"/>
              </a:rPr>
              <a:t>các</a:t>
            </a:r>
            <a:r>
              <a:rPr lang="en-US" sz="1900" dirty="0">
                <a:solidFill>
                  <a:schemeClr val="tx1"/>
                </a:solidFill>
                <a:latin typeface="+mj-lt"/>
              </a:rPr>
              <a:t> </a:t>
            </a:r>
            <a:r>
              <a:rPr lang="en-US" sz="1900" dirty="0" err="1">
                <a:solidFill>
                  <a:schemeClr val="tx1"/>
                </a:solidFill>
                <a:latin typeface="+mj-lt"/>
              </a:rPr>
              <a:t>thủ</a:t>
            </a:r>
            <a:r>
              <a:rPr lang="en-US" sz="1900" dirty="0">
                <a:solidFill>
                  <a:schemeClr val="tx1"/>
                </a:solidFill>
                <a:latin typeface="+mj-lt"/>
              </a:rPr>
              <a:t> </a:t>
            </a:r>
            <a:r>
              <a:rPr lang="en-US" sz="1900" dirty="0" err="1">
                <a:solidFill>
                  <a:schemeClr val="tx1"/>
                </a:solidFill>
                <a:latin typeface="+mj-lt"/>
              </a:rPr>
              <a:t>tục</a:t>
            </a:r>
            <a:r>
              <a:rPr lang="en-US" sz="1900" dirty="0">
                <a:solidFill>
                  <a:schemeClr val="tx1"/>
                </a:solidFill>
                <a:latin typeface="+mj-lt"/>
              </a:rPr>
              <a:t> </a:t>
            </a:r>
            <a:r>
              <a:rPr lang="en-US" sz="1900" dirty="0" err="1">
                <a:solidFill>
                  <a:schemeClr val="tx1"/>
                </a:solidFill>
                <a:latin typeface="+mj-lt"/>
              </a:rPr>
              <a:t>về</a:t>
            </a:r>
            <a:r>
              <a:rPr lang="en-US" sz="1900" dirty="0">
                <a:solidFill>
                  <a:schemeClr val="tx1"/>
                </a:solidFill>
                <a:latin typeface="+mj-lt"/>
              </a:rPr>
              <a:t> </a:t>
            </a:r>
            <a:r>
              <a:rPr lang="en-US" sz="1900" dirty="0" err="1">
                <a:solidFill>
                  <a:schemeClr val="tx1"/>
                </a:solidFill>
                <a:latin typeface="+mj-lt"/>
              </a:rPr>
              <a:t>thuế</a:t>
            </a:r>
            <a:r>
              <a:rPr lang="en-US" sz="1900" dirty="0">
                <a:solidFill>
                  <a:schemeClr val="tx1"/>
                </a:solidFill>
                <a:latin typeface="+mj-lt"/>
              </a:rPr>
              <a:t> </a:t>
            </a:r>
            <a:r>
              <a:rPr lang="en-US" sz="1900" dirty="0" err="1">
                <a:solidFill>
                  <a:schemeClr val="tx1"/>
                </a:solidFill>
                <a:latin typeface="+mj-lt"/>
              </a:rPr>
              <a:t>hoặc</a:t>
            </a:r>
            <a:r>
              <a:rPr lang="en-US" sz="1900" dirty="0">
                <a:solidFill>
                  <a:schemeClr val="tx1"/>
                </a:solidFill>
                <a:latin typeface="+mj-lt"/>
              </a:rPr>
              <a:t> </a:t>
            </a:r>
            <a:r>
              <a:rPr lang="en-US" sz="1900" dirty="0" err="1">
                <a:solidFill>
                  <a:schemeClr val="tx1"/>
                </a:solidFill>
                <a:latin typeface="+mj-lt"/>
              </a:rPr>
              <a:t>các</a:t>
            </a:r>
            <a:r>
              <a:rPr lang="en-US" sz="1900" dirty="0">
                <a:solidFill>
                  <a:schemeClr val="tx1"/>
                </a:solidFill>
                <a:latin typeface="+mj-lt"/>
              </a:rPr>
              <a:t> </a:t>
            </a:r>
            <a:r>
              <a:rPr lang="en-US" sz="1900" dirty="0" err="1">
                <a:solidFill>
                  <a:schemeClr val="tx1"/>
                </a:solidFill>
                <a:latin typeface="+mj-lt"/>
              </a:rPr>
              <a:t>khoản</a:t>
            </a:r>
            <a:r>
              <a:rPr lang="en-US" sz="1900" dirty="0">
                <a:solidFill>
                  <a:schemeClr val="tx1"/>
                </a:solidFill>
                <a:latin typeface="+mj-lt"/>
              </a:rPr>
              <a:t> thu </a:t>
            </a:r>
            <a:r>
              <a:rPr lang="en-US" sz="1900" dirty="0" err="1">
                <a:solidFill>
                  <a:schemeClr val="tx1"/>
                </a:solidFill>
                <a:latin typeface="+mj-lt"/>
              </a:rPr>
              <a:t>khác</a:t>
            </a:r>
            <a:r>
              <a:rPr lang="en-US" sz="1900" dirty="0">
                <a:solidFill>
                  <a:schemeClr val="tx1"/>
                </a:solidFill>
                <a:latin typeface="+mj-lt"/>
              </a:rPr>
              <a:t> </a:t>
            </a:r>
            <a:r>
              <a:rPr lang="en-US" sz="1900" dirty="0" err="1">
                <a:solidFill>
                  <a:schemeClr val="tx1"/>
                </a:solidFill>
                <a:latin typeface="+mj-lt"/>
              </a:rPr>
              <a:t>thuộc</a:t>
            </a:r>
            <a:r>
              <a:rPr lang="en-US" sz="1900" dirty="0">
                <a:solidFill>
                  <a:schemeClr val="tx1"/>
                </a:solidFill>
                <a:latin typeface="+mj-lt"/>
              </a:rPr>
              <a:t> </a:t>
            </a:r>
            <a:r>
              <a:rPr lang="en-US" sz="1900" dirty="0" err="1">
                <a:solidFill>
                  <a:schemeClr val="tx1"/>
                </a:solidFill>
                <a:latin typeface="+mj-lt"/>
              </a:rPr>
              <a:t>ngân</a:t>
            </a:r>
            <a:r>
              <a:rPr lang="en-US" sz="1900" dirty="0">
                <a:solidFill>
                  <a:schemeClr val="tx1"/>
                </a:solidFill>
                <a:latin typeface="+mj-lt"/>
              </a:rPr>
              <a:t> </a:t>
            </a:r>
            <a:r>
              <a:rPr lang="en-US" sz="1900" dirty="0" err="1">
                <a:solidFill>
                  <a:schemeClr val="tx1"/>
                </a:solidFill>
                <a:latin typeface="+mj-lt"/>
              </a:rPr>
              <a:t>sách</a:t>
            </a:r>
            <a:r>
              <a:rPr lang="en-US" sz="1900" dirty="0">
                <a:solidFill>
                  <a:schemeClr val="tx1"/>
                </a:solidFill>
                <a:latin typeface="+mj-lt"/>
              </a:rPr>
              <a:t> </a:t>
            </a:r>
            <a:r>
              <a:rPr lang="en-US" sz="1900" dirty="0" err="1">
                <a:solidFill>
                  <a:schemeClr val="tx1"/>
                </a:solidFill>
                <a:latin typeface="+mj-lt"/>
              </a:rPr>
              <a:t>nhà</a:t>
            </a:r>
            <a:r>
              <a:rPr lang="en-US" sz="1900" dirty="0">
                <a:solidFill>
                  <a:schemeClr val="tx1"/>
                </a:solidFill>
                <a:latin typeface="+mj-lt"/>
              </a:rPr>
              <a:t> </a:t>
            </a:r>
            <a:r>
              <a:rPr lang="en-US" sz="1900" dirty="0" err="1">
                <a:solidFill>
                  <a:schemeClr val="tx1"/>
                </a:solidFill>
                <a:latin typeface="+mj-lt"/>
              </a:rPr>
              <a:t>nước</a:t>
            </a:r>
            <a:r>
              <a:rPr lang="en-US" sz="1900" dirty="0">
                <a:solidFill>
                  <a:schemeClr val="tx1"/>
                </a:solidFill>
                <a:latin typeface="+mj-lt"/>
              </a:rPr>
              <a:t> </a:t>
            </a:r>
            <a:r>
              <a:rPr lang="en-US" sz="1900" dirty="0" err="1">
                <a:solidFill>
                  <a:schemeClr val="tx1"/>
                </a:solidFill>
                <a:latin typeface="+mj-lt"/>
              </a:rPr>
              <a:t>và</a:t>
            </a:r>
            <a:r>
              <a:rPr lang="en-US" sz="1900" dirty="0">
                <a:solidFill>
                  <a:schemeClr val="tx1"/>
                </a:solidFill>
                <a:latin typeface="+mj-lt"/>
              </a:rPr>
              <a:t> </a:t>
            </a:r>
            <a:r>
              <a:rPr lang="en-US" sz="1900" dirty="0" err="1">
                <a:solidFill>
                  <a:schemeClr val="tx1"/>
                </a:solidFill>
                <a:latin typeface="+mj-lt"/>
              </a:rPr>
              <a:t>các</a:t>
            </a:r>
            <a:r>
              <a:rPr lang="en-US" sz="1900" dirty="0">
                <a:solidFill>
                  <a:schemeClr val="tx1"/>
                </a:solidFill>
                <a:latin typeface="+mj-lt"/>
              </a:rPr>
              <a:t> </a:t>
            </a:r>
            <a:r>
              <a:rPr lang="en-US" sz="1900" dirty="0" err="1">
                <a:solidFill>
                  <a:schemeClr val="tx1"/>
                </a:solidFill>
                <a:latin typeface="+mj-lt"/>
              </a:rPr>
              <a:t>loại</a:t>
            </a:r>
            <a:r>
              <a:rPr lang="en-US" sz="1900" dirty="0">
                <a:solidFill>
                  <a:schemeClr val="tx1"/>
                </a:solidFill>
                <a:latin typeface="+mj-lt"/>
              </a:rPr>
              <a:t> </a:t>
            </a:r>
            <a:r>
              <a:rPr lang="en-US" sz="1900" dirty="0" err="1">
                <a:solidFill>
                  <a:schemeClr val="tx1"/>
                </a:solidFill>
                <a:latin typeface="+mj-lt"/>
              </a:rPr>
              <a:t>chứng</a:t>
            </a:r>
            <a:r>
              <a:rPr lang="en-US" sz="1900" dirty="0">
                <a:solidFill>
                  <a:schemeClr val="tx1"/>
                </a:solidFill>
                <a:latin typeface="+mj-lt"/>
              </a:rPr>
              <a:t> </a:t>
            </a:r>
            <a:r>
              <a:rPr lang="en-US" sz="1900" dirty="0" err="1">
                <a:solidFill>
                  <a:schemeClr val="tx1"/>
                </a:solidFill>
                <a:latin typeface="+mj-lt"/>
              </a:rPr>
              <a:t>từ</a:t>
            </a:r>
            <a:r>
              <a:rPr lang="en-US" sz="1900" dirty="0">
                <a:solidFill>
                  <a:schemeClr val="tx1"/>
                </a:solidFill>
                <a:latin typeface="+mj-lt"/>
              </a:rPr>
              <a:t>, </a:t>
            </a:r>
            <a:r>
              <a:rPr lang="en-US" sz="1900" dirty="0" err="1">
                <a:solidFill>
                  <a:schemeClr val="tx1"/>
                </a:solidFill>
                <a:latin typeface="+mj-lt"/>
              </a:rPr>
              <a:t>biên</a:t>
            </a:r>
            <a:r>
              <a:rPr lang="en-US" sz="1900" dirty="0">
                <a:solidFill>
                  <a:schemeClr val="tx1"/>
                </a:solidFill>
                <a:latin typeface="+mj-lt"/>
              </a:rPr>
              <a:t> </a:t>
            </a:r>
            <a:r>
              <a:rPr lang="en-US" sz="1900" dirty="0" err="1">
                <a:solidFill>
                  <a:schemeClr val="tx1"/>
                </a:solidFill>
                <a:latin typeface="+mj-lt"/>
              </a:rPr>
              <a:t>lai</a:t>
            </a:r>
            <a:r>
              <a:rPr lang="en-US" sz="1900" dirty="0">
                <a:solidFill>
                  <a:schemeClr val="tx1"/>
                </a:solidFill>
                <a:latin typeface="+mj-lt"/>
              </a:rPr>
              <a:t> </a:t>
            </a:r>
            <a:r>
              <a:rPr lang="en-US" sz="1900" dirty="0" err="1">
                <a:solidFill>
                  <a:schemeClr val="tx1"/>
                </a:solidFill>
                <a:latin typeface="+mj-lt"/>
              </a:rPr>
              <a:t>điện</a:t>
            </a:r>
            <a:r>
              <a:rPr lang="en-US" sz="1900" dirty="0">
                <a:solidFill>
                  <a:schemeClr val="tx1"/>
                </a:solidFill>
                <a:latin typeface="+mj-lt"/>
              </a:rPr>
              <a:t> </a:t>
            </a:r>
            <a:r>
              <a:rPr lang="en-US" sz="1900" dirty="0" err="1">
                <a:solidFill>
                  <a:schemeClr val="tx1"/>
                </a:solidFill>
                <a:latin typeface="+mj-lt"/>
              </a:rPr>
              <a:t>tử</a:t>
            </a:r>
            <a:r>
              <a:rPr lang="en-US" sz="1900" dirty="0">
                <a:solidFill>
                  <a:schemeClr val="tx1"/>
                </a:solidFill>
                <a:latin typeface="+mj-lt"/>
              </a:rPr>
              <a:t> </a:t>
            </a:r>
            <a:r>
              <a:rPr lang="en-US" sz="1900" dirty="0" err="1">
                <a:solidFill>
                  <a:schemeClr val="tx1"/>
                </a:solidFill>
                <a:latin typeface="+mj-lt"/>
              </a:rPr>
              <a:t>khác</a:t>
            </a:r>
            <a:r>
              <a:rPr lang="en-US" sz="1900" dirty="0">
                <a:solidFill>
                  <a:schemeClr val="tx1"/>
                </a:solidFill>
                <a:latin typeface="+mj-lt"/>
              </a:rPr>
              <a:t>.</a:t>
            </a:r>
            <a:endParaRPr lang="vi-VN" sz="1900" dirty="0">
              <a:solidFill>
                <a:schemeClr val="tx1"/>
              </a:solidFill>
              <a:latin typeface="+mj-lt"/>
            </a:endParaRPr>
          </a:p>
          <a:p>
            <a:pPr marL="0" indent="0" algn="just">
              <a:buNone/>
            </a:pPr>
            <a:r>
              <a:rPr lang="en-US" sz="1900" i="1" dirty="0">
                <a:solidFill>
                  <a:schemeClr val="tx1"/>
                </a:solidFill>
                <a:latin typeface="+mj-lt"/>
              </a:rPr>
              <a:t>(</a:t>
            </a:r>
            <a:r>
              <a:rPr lang="en-US" sz="1900" i="1" dirty="0" err="1">
                <a:solidFill>
                  <a:schemeClr val="tx1"/>
                </a:solidFill>
                <a:latin typeface="+mj-lt"/>
              </a:rPr>
              <a:t>Khoản</a:t>
            </a:r>
            <a:r>
              <a:rPr lang="en-US" sz="1900" i="1" dirty="0">
                <a:solidFill>
                  <a:schemeClr val="tx1"/>
                </a:solidFill>
                <a:latin typeface="+mj-lt"/>
              </a:rPr>
              <a:t> 5 </a:t>
            </a:r>
            <a:r>
              <a:rPr lang="en-US" sz="1900" i="1" dirty="0" err="1">
                <a:solidFill>
                  <a:schemeClr val="tx1"/>
                </a:solidFill>
                <a:latin typeface="+mj-lt"/>
              </a:rPr>
              <a:t>Điều</a:t>
            </a:r>
            <a:r>
              <a:rPr lang="en-US" sz="1900" i="1" dirty="0">
                <a:solidFill>
                  <a:schemeClr val="tx1"/>
                </a:solidFill>
                <a:latin typeface="+mj-lt"/>
              </a:rPr>
              <a:t> 3 </a:t>
            </a:r>
            <a:r>
              <a:rPr lang="en-US" sz="1900" i="1" dirty="0" err="1">
                <a:solidFill>
                  <a:schemeClr val="tx1"/>
                </a:solidFill>
                <a:latin typeface="+mj-lt"/>
              </a:rPr>
              <a:t>Nghị</a:t>
            </a:r>
            <a:r>
              <a:rPr lang="en-US" sz="1900" i="1" dirty="0">
                <a:solidFill>
                  <a:schemeClr val="tx1"/>
                </a:solidFill>
                <a:latin typeface="+mj-lt"/>
              </a:rPr>
              <a:t> </a:t>
            </a:r>
            <a:r>
              <a:rPr lang="en-US" sz="1900" i="1" dirty="0" err="1">
                <a:solidFill>
                  <a:schemeClr val="tx1"/>
                </a:solidFill>
                <a:latin typeface="+mj-lt"/>
              </a:rPr>
              <a:t>định</a:t>
            </a:r>
            <a:r>
              <a:rPr lang="en-US" sz="1900" i="1" dirty="0">
                <a:solidFill>
                  <a:schemeClr val="tx1"/>
                </a:solidFill>
                <a:latin typeface="+mj-lt"/>
              </a:rPr>
              <a:t> </a:t>
            </a:r>
            <a:r>
              <a:rPr lang="en-US" sz="1900" i="1" dirty="0" err="1">
                <a:solidFill>
                  <a:schemeClr val="tx1"/>
                </a:solidFill>
                <a:latin typeface="+mj-lt"/>
              </a:rPr>
              <a:t>số</a:t>
            </a:r>
            <a:r>
              <a:rPr lang="en-US" sz="1900" i="1" dirty="0">
                <a:solidFill>
                  <a:schemeClr val="tx1"/>
                </a:solidFill>
                <a:latin typeface="+mj-lt"/>
              </a:rPr>
              <a:t> 123/2020/NĐ-CP)</a:t>
            </a:r>
            <a:endParaRPr lang="vi-VN" sz="1900" i="1" dirty="0">
              <a:solidFill>
                <a:schemeClr val="tx1"/>
              </a:solidFill>
              <a:latin typeface="+mj-lt"/>
            </a:endParaRPr>
          </a:p>
        </p:txBody>
      </p:sp>
      <p:sp>
        <p:nvSpPr>
          <p:cNvPr id="4" name="Rectangle 3"/>
          <p:cNvSpPr/>
          <p:nvPr/>
        </p:nvSpPr>
        <p:spPr>
          <a:xfrm>
            <a:off x="1607102" y="292498"/>
            <a:ext cx="6737131" cy="64633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PHẦN 1 – TỔNG QUAN CHUNG VỀ HÓA ĐƠN, CHỨNG TỪ</a:t>
            </a:r>
            <a:r>
              <a:rPr lang="en-US" b="1" dirty="0">
                <a:latin typeface="Cambria" panose="02040503050406030204" pitchFamily="18" charset="0"/>
              </a:rPr>
              <a:t/>
            </a:r>
            <a:br>
              <a:rPr lang="en-US" b="1" dirty="0">
                <a:latin typeface="Cambria" panose="02040503050406030204" pitchFamily="18" charset="0"/>
              </a:rPr>
            </a:br>
            <a:endParaRPr lang="en-US" dirty="0"/>
          </a:p>
        </p:txBody>
      </p:sp>
      <p:pic>
        <p:nvPicPr>
          <p:cNvPr id="5" name="Picture 4"/>
          <p:cNvPicPr>
            <a:picLocks noChangeAspect="1"/>
          </p:cNvPicPr>
          <p:nvPr/>
        </p:nvPicPr>
        <p:blipFill>
          <a:blip r:embed="rId2"/>
          <a:stretch>
            <a:fillRect/>
          </a:stretch>
        </p:blipFill>
        <p:spPr>
          <a:xfrm>
            <a:off x="1" y="0"/>
            <a:ext cx="1280159" cy="1061048"/>
          </a:xfrm>
          <a:prstGeom prst="rect">
            <a:avLst/>
          </a:prstGeom>
        </p:spPr>
      </p:pic>
    </p:spTree>
    <p:extLst>
      <p:ext uri="{BB962C8B-B14F-4D97-AF65-F5344CB8AC3E}">
        <p14:creationId xmlns:p14="http://schemas.microsoft.com/office/powerpoint/2010/main" val="970003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791308"/>
            <a:ext cx="8596668" cy="642425"/>
          </a:xfrm>
        </p:spPr>
        <p:txBody>
          <a:bodyPr anchor="ctr" anchorCtr="0">
            <a:noAutofit/>
          </a:bodyPr>
          <a:lstStyle/>
          <a:p>
            <a:pPr algn="ctr"/>
            <a:r>
              <a:rPr lang="vi-VN" sz="2400" b="1" dirty="0">
                <a:solidFill>
                  <a:srgbClr val="C00000"/>
                </a:solidFill>
                <a:latin typeface="Times New Roman" panose="02020603050405020304" pitchFamily="18" charset="0"/>
                <a:cs typeface="Times New Roman" panose="02020603050405020304" pitchFamily="18" charset="0"/>
              </a:rPr>
              <a:t> </a:t>
            </a:r>
            <a:r>
              <a:rPr lang="en-US" sz="2400" b="1" dirty="0">
                <a:solidFill>
                  <a:srgbClr val="C00000"/>
                </a:solidFill>
                <a:latin typeface="Times New Roman" panose="02020603050405020304" pitchFamily="18" charset="0"/>
                <a:cs typeface="Times New Roman" panose="02020603050405020304" pitchFamily="18" charset="0"/>
              </a:rPr>
              <a:t>ĐĂNG KÝ SỬ DỤNG HĐĐT, BLĐT VỚI CQT</a:t>
            </a:r>
            <a:endParaRPr lang="vi-VN" sz="24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252025"/>
            <a:ext cx="8596668" cy="4789337"/>
          </a:xfrm>
        </p:spPr>
        <p:txBody>
          <a:bodyPr vert="horz" anchor="ctr" anchorCtr="0">
            <a:normAutofit/>
          </a:bodyPr>
          <a:lstStyle/>
          <a:p>
            <a:pPr marL="0" indent="0" algn="just">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Trước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dụng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hóa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biên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lai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doanh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nghiệp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tổ</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chức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kinh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tế</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tổ</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chức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hộ</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cá</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nhân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kinh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doanh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tổ</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chức</a:t>
            </a:r>
            <a:r>
              <a:rPr lang="en-US" sz="2000" dirty="0">
                <a:latin typeface="Times New Roman" panose="02020603050405020304" pitchFamily="18" charset="0"/>
                <a:cs typeface="Times New Roman" panose="02020603050405020304" pitchFamily="18" charset="0"/>
              </a:rPr>
              <a:t> thu </a:t>
            </a:r>
            <a:r>
              <a:rPr lang="en-US" sz="2000" dirty="0" err="1">
                <a:latin typeface="Times New Roman" panose="02020603050405020304" pitchFamily="18" charset="0"/>
                <a:cs typeface="Times New Roman" panose="02020603050405020304" pitchFamily="18" charset="0"/>
              </a:rPr>
              <a:t>thuế</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lệ</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phải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thực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hiện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đăng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ký</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dụng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cơ</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thuế</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hoặc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thực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hiện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thông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báo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phát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hành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theo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định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tại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Điều</a:t>
            </a:r>
            <a:r>
              <a:rPr lang="en-US" sz="2000" dirty="0">
                <a:latin typeface="Times New Roman" panose="02020603050405020304" pitchFamily="18" charset="0"/>
                <a:cs typeface="Times New Roman" panose="02020603050405020304" pitchFamily="18" charset="0"/>
              </a:rPr>
              <a:t> 15, </a:t>
            </a:r>
            <a:r>
              <a:rPr lang="en-US" sz="2000" dirty="0" err="1">
                <a:latin typeface="Times New Roman" panose="02020603050405020304" pitchFamily="18" charset="0"/>
                <a:cs typeface="Times New Roman" panose="02020603050405020304" pitchFamily="18" charset="0"/>
              </a:rPr>
              <a:t>Điều</a:t>
            </a:r>
            <a:r>
              <a:rPr lang="en-US" sz="2000" dirty="0">
                <a:latin typeface="Times New Roman" panose="02020603050405020304" pitchFamily="18" charset="0"/>
                <a:cs typeface="Times New Roman" panose="02020603050405020304" pitchFamily="18" charset="0"/>
              </a:rPr>
              <a:t> 34 </a:t>
            </a:r>
            <a:r>
              <a:rPr lang="en-US" sz="2000" dirty="0" err="1">
                <a:latin typeface="Times New Roman" panose="02020603050405020304" pitchFamily="18" charset="0"/>
                <a:cs typeface="Times New Roman" panose="02020603050405020304" pitchFamily="18" charset="0"/>
              </a:rPr>
              <a:t>Nghị</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định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số</a:t>
            </a:r>
            <a:r>
              <a:rPr lang="en-US" sz="2000" dirty="0">
                <a:latin typeface="Times New Roman" panose="02020603050405020304" pitchFamily="18" charset="0"/>
                <a:cs typeface="Times New Roman" panose="02020603050405020304" pitchFamily="18" charset="0"/>
              </a:rPr>
              <a:t> 123/2020/NĐ-CP. </a:t>
            </a:r>
            <a:endParaRPr lang="vi-VN" sz="2000" dirty="0">
              <a:latin typeface="Times New Roman" panose="02020603050405020304" pitchFamily="18" charset="0"/>
              <a:cs typeface="Times New Roman" panose="02020603050405020304" pitchFamily="18" charset="0"/>
            </a:endParaRPr>
          </a:p>
          <a:p>
            <a:pPr marL="0" indent="0" algn="just">
              <a:buNone/>
            </a:pPr>
            <a:r>
              <a:rPr lang="en-US" sz="2000" i="1" dirty="0">
                <a:latin typeface="Times New Roman" panose="02020603050405020304" pitchFamily="18" charset="0"/>
                <a:cs typeface="Times New Roman" panose="02020603050405020304" pitchFamily="18" charset="0"/>
              </a:rPr>
              <a:t>(</a:t>
            </a:r>
            <a:r>
              <a:rPr lang="en-US" sz="2000" i="1" dirty="0" err="1">
                <a:latin typeface="Times New Roman" panose="02020603050405020304" pitchFamily="18" charset="0"/>
                <a:cs typeface="Times New Roman" panose="02020603050405020304" pitchFamily="18" charset="0"/>
              </a:rPr>
              <a:t>Khoản</a:t>
            </a:r>
            <a:r>
              <a:rPr lang="en-US" sz="2000" i="1" dirty="0">
                <a:latin typeface="Times New Roman" panose="02020603050405020304" pitchFamily="18" charset="0"/>
                <a:cs typeface="Times New Roman" panose="02020603050405020304" pitchFamily="18" charset="0"/>
              </a:rPr>
              <a:t> 3 </a:t>
            </a:r>
            <a:r>
              <a:rPr lang="en-US" sz="2000" i="1" dirty="0" err="1">
                <a:latin typeface="Times New Roman" panose="02020603050405020304" pitchFamily="18" charset="0"/>
                <a:cs typeface="Times New Roman" panose="02020603050405020304" pitchFamily="18" charset="0"/>
              </a:rPr>
              <a:t>Điều</a:t>
            </a:r>
            <a:r>
              <a:rPr lang="en-US" sz="2000" i="1" dirty="0">
                <a:latin typeface="Times New Roman" panose="02020603050405020304" pitchFamily="18" charset="0"/>
                <a:cs typeface="Times New Roman" panose="02020603050405020304" pitchFamily="18" charset="0"/>
              </a:rPr>
              <a:t> 4 </a:t>
            </a:r>
            <a:r>
              <a:rPr lang="en-US" sz="2000" i="1" dirty="0" err="1">
                <a:latin typeface="Times New Roman" panose="02020603050405020304" pitchFamily="18" charset="0"/>
                <a:cs typeface="Times New Roman" panose="02020603050405020304" pitchFamily="18" charset="0"/>
              </a:rPr>
              <a:t>Nghị</a:t>
            </a: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định</a:t>
            </a: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số</a:t>
            </a:r>
            <a:r>
              <a:rPr lang="en-US" sz="2000" i="1" dirty="0">
                <a:latin typeface="Times New Roman" panose="02020603050405020304" pitchFamily="18" charset="0"/>
                <a:cs typeface="Times New Roman" panose="02020603050405020304" pitchFamily="18" charset="0"/>
              </a:rPr>
              <a:t> 123/2020/NĐ-CP). </a:t>
            </a:r>
            <a:endParaRPr lang="vi-VN"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Trường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hợp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người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có</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dụng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máy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tính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tiền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thì</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người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đăng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ký</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dụng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hóa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điện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được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khởi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tạo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máy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tính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tiền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có</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kết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nối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chuyển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dữ</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liệu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điện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cơ</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thuế</a:t>
            </a:r>
            <a:r>
              <a:rPr lang="en-US" sz="2000" dirty="0">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p>
            <a:pPr marL="0" indent="0" algn="just">
              <a:buNone/>
            </a:pPr>
            <a:r>
              <a:rPr lang="en-US" sz="2000" i="1" dirty="0">
                <a:latin typeface="Times New Roman" panose="02020603050405020304" pitchFamily="18" charset="0"/>
                <a:cs typeface="Times New Roman" panose="02020603050405020304" pitchFamily="18" charset="0"/>
              </a:rPr>
              <a:t>(</a:t>
            </a:r>
            <a:r>
              <a:rPr lang="en-US" sz="2000" i="1" dirty="0" err="1">
                <a:latin typeface="Times New Roman" panose="02020603050405020304" pitchFamily="18" charset="0"/>
                <a:cs typeface="Times New Roman" panose="02020603050405020304" pitchFamily="18" charset="0"/>
              </a:rPr>
              <a:t>Khoản</a:t>
            </a:r>
            <a:r>
              <a:rPr lang="en-US" sz="2000" i="1" dirty="0">
                <a:latin typeface="Times New Roman" panose="02020603050405020304" pitchFamily="18" charset="0"/>
                <a:cs typeface="Times New Roman" panose="02020603050405020304" pitchFamily="18" charset="0"/>
              </a:rPr>
              <a:t> 2 </a:t>
            </a:r>
            <a:r>
              <a:rPr lang="en-US" sz="2000" i="1" dirty="0" err="1">
                <a:latin typeface="Times New Roman" panose="02020603050405020304" pitchFamily="18" charset="0"/>
                <a:cs typeface="Times New Roman" panose="02020603050405020304" pitchFamily="18" charset="0"/>
              </a:rPr>
              <a:t>Điều</a:t>
            </a:r>
            <a:r>
              <a:rPr lang="en-US" sz="2000" i="1" dirty="0">
                <a:latin typeface="Times New Roman" panose="02020603050405020304" pitchFamily="18" charset="0"/>
                <a:cs typeface="Times New Roman" panose="02020603050405020304" pitchFamily="18" charset="0"/>
              </a:rPr>
              <a:t> 90 </a:t>
            </a:r>
            <a:r>
              <a:rPr lang="en-US" sz="2000" i="1" dirty="0" err="1">
                <a:latin typeface="Times New Roman" panose="02020603050405020304" pitchFamily="18" charset="0"/>
                <a:cs typeface="Times New Roman" panose="02020603050405020304" pitchFamily="18" charset="0"/>
              </a:rPr>
              <a:t>Luật</a:t>
            </a: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Quản</a:t>
            </a: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lý</a:t>
            </a: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thuế</a:t>
            </a:r>
            <a:r>
              <a:rPr lang="en-US" sz="2000" i="1" dirty="0">
                <a:latin typeface="Times New Roman" panose="02020603050405020304" pitchFamily="18" charset="0"/>
                <a:cs typeface="Times New Roman" panose="02020603050405020304" pitchFamily="18" charset="0"/>
              </a:rPr>
              <a:t> 2019)</a:t>
            </a:r>
            <a:endParaRPr lang="vi-V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1280160" y="277894"/>
            <a:ext cx="8294014" cy="64633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PHẦN 1 – TỔNG QUAN CHUNG VỀ HÓA ĐƠN, CHỨNG TỪ - ĐĂNG KÝ </a:t>
            </a:r>
            <a:r>
              <a:rPr lang="en-US" b="1" dirty="0">
                <a:latin typeface="Cambria" panose="02040503050406030204" pitchFamily="18" charset="0"/>
              </a:rPr>
              <a:t/>
            </a:r>
            <a:br>
              <a:rPr lang="en-US" b="1" dirty="0">
                <a:latin typeface="Cambria" panose="02040503050406030204" pitchFamily="18" charset="0"/>
              </a:rPr>
            </a:br>
            <a:endParaRPr lang="en-US" dirty="0"/>
          </a:p>
        </p:txBody>
      </p:sp>
      <p:pic>
        <p:nvPicPr>
          <p:cNvPr id="5" name="Picture 4"/>
          <p:cNvPicPr>
            <a:picLocks noChangeAspect="1"/>
          </p:cNvPicPr>
          <p:nvPr/>
        </p:nvPicPr>
        <p:blipFill>
          <a:blip r:embed="rId2"/>
          <a:stretch>
            <a:fillRect/>
          </a:stretch>
        </p:blipFill>
        <p:spPr>
          <a:xfrm>
            <a:off x="1" y="0"/>
            <a:ext cx="1280159" cy="1061048"/>
          </a:xfrm>
          <a:prstGeom prst="rect">
            <a:avLst/>
          </a:prstGeom>
        </p:spPr>
      </p:pic>
    </p:spTree>
    <p:extLst>
      <p:ext uri="{BB962C8B-B14F-4D97-AF65-F5344CB8AC3E}">
        <p14:creationId xmlns:p14="http://schemas.microsoft.com/office/powerpoint/2010/main" val="456720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1134583"/>
            <a:ext cx="8596668" cy="726831"/>
          </a:xfrm>
        </p:spPr>
        <p:txBody>
          <a:bodyPr>
            <a:normAutofit/>
          </a:bodyPr>
          <a:lstStyle/>
          <a:p>
            <a:pPr algn="ctr"/>
            <a:r>
              <a:rPr lang="en-US" sz="2600" b="1" dirty="0">
                <a:solidFill>
                  <a:srgbClr val="C00000"/>
                </a:solidFill>
                <a:cs typeface="Times New Roman" panose="02020603050405020304" pitchFamily="18" charset="0"/>
              </a:rPr>
              <a:t>ĐĂNG KÝ SỬ DỤNG HĐĐT, BLĐT VỚI CQT</a:t>
            </a:r>
            <a:endParaRPr lang="vi-VN" sz="2600" b="1" dirty="0">
              <a:solidFill>
                <a:srgbClr val="C00000"/>
              </a:solidFill>
            </a:endParaRPr>
          </a:p>
        </p:txBody>
      </p:sp>
      <p:sp>
        <p:nvSpPr>
          <p:cNvPr id="3" name="Content Placeholder 2"/>
          <p:cNvSpPr>
            <a:spLocks noGrp="1"/>
          </p:cNvSpPr>
          <p:nvPr>
            <p:ph idx="1"/>
          </p:nvPr>
        </p:nvSpPr>
        <p:spPr>
          <a:xfrm>
            <a:off x="743094" y="1763486"/>
            <a:ext cx="8596668" cy="4309291"/>
          </a:xfrm>
        </p:spPr>
        <p:txBody>
          <a:bodyPr anchor="ctr" anchorCtr="0">
            <a:normAutofit lnSpcReduction="10000"/>
          </a:bodyPr>
          <a:lstStyle/>
          <a:p>
            <a:pPr marL="0" indent="0">
              <a:buNone/>
            </a:pPr>
            <a:endParaRPr lang="en-US" sz="2400" b="1" dirty="0">
              <a:solidFill>
                <a:schemeClr val="tx1"/>
              </a:solidFill>
              <a:latin typeface="+mj-lt"/>
            </a:endParaRPr>
          </a:p>
          <a:p>
            <a:pPr marL="0" indent="0" algn="just">
              <a:buNone/>
            </a:pPr>
            <a:r>
              <a:rPr lang="en-US" sz="2400" dirty="0">
                <a:solidFill>
                  <a:schemeClr val="tx1"/>
                </a:solidFill>
                <a:latin typeface="+mj-lt"/>
              </a:rPr>
              <a:t>1.</a:t>
            </a:r>
            <a:r>
              <a:rPr lang="vi-VN" sz="2400" dirty="0">
                <a:solidFill>
                  <a:schemeClr val="tx1"/>
                </a:solidFill>
                <a:latin typeface="+mj-lt"/>
              </a:rPr>
              <a:t> Đăng ký sử dụng hóa đơn điện tử</a:t>
            </a:r>
            <a:r>
              <a:rPr lang="en-US" sz="2400" dirty="0">
                <a:solidFill>
                  <a:schemeClr val="tx1"/>
                </a:solidFill>
                <a:latin typeface="+mj-lt"/>
              </a:rPr>
              <a:t>, </a:t>
            </a:r>
            <a:r>
              <a:rPr lang="en-US" sz="2400" dirty="0" err="1">
                <a:solidFill>
                  <a:schemeClr val="tx1"/>
                </a:solidFill>
                <a:latin typeface="+mj-lt"/>
              </a:rPr>
              <a:t>biên</a:t>
            </a:r>
            <a:r>
              <a:rPr lang="en-US" sz="2400" dirty="0">
                <a:solidFill>
                  <a:schemeClr val="tx1"/>
                </a:solidFill>
                <a:latin typeface="+mj-lt"/>
              </a:rPr>
              <a:t> </a:t>
            </a:r>
            <a:r>
              <a:rPr lang="en-US" sz="2400" dirty="0" err="1">
                <a:solidFill>
                  <a:schemeClr val="tx1"/>
                </a:solidFill>
                <a:latin typeface="+mj-lt"/>
              </a:rPr>
              <a:t>lai</a:t>
            </a:r>
            <a:r>
              <a:rPr lang="en-US" sz="2400" dirty="0">
                <a:solidFill>
                  <a:schemeClr val="tx1"/>
                </a:solidFill>
                <a:latin typeface="+mj-lt"/>
              </a:rPr>
              <a:t> </a:t>
            </a:r>
            <a:r>
              <a:rPr lang="en-US" sz="2400" dirty="0" err="1">
                <a:solidFill>
                  <a:schemeClr val="tx1"/>
                </a:solidFill>
                <a:latin typeface="+mj-lt"/>
              </a:rPr>
              <a:t>điện</a:t>
            </a:r>
            <a:r>
              <a:rPr lang="en-US" sz="2400" dirty="0">
                <a:solidFill>
                  <a:schemeClr val="tx1"/>
                </a:solidFill>
                <a:latin typeface="+mj-lt"/>
              </a:rPr>
              <a:t> </a:t>
            </a:r>
            <a:r>
              <a:rPr lang="en-US" sz="2400" dirty="0" err="1">
                <a:solidFill>
                  <a:schemeClr val="tx1"/>
                </a:solidFill>
                <a:latin typeface="+mj-lt"/>
              </a:rPr>
              <a:t>tử</a:t>
            </a:r>
            <a:r>
              <a:rPr lang="vi-VN" sz="2400" dirty="0">
                <a:solidFill>
                  <a:schemeClr val="tx1"/>
                </a:solidFill>
                <a:latin typeface="+mj-lt"/>
              </a:rPr>
              <a:t>  </a:t>
            </a:r>
          </a:p>
          <a:p>
            <a:pPr marL="0" indent="0" algn="just">
              <a:buNone/>
            </a:pPr>
            <a:r>
              <a:rPr lang="vi-VN" sz="2400" dirty="0">
                <a:solidFill>
                  <a:schemeClr val="tx1"/>
                </a:solidFill>
                <a:latin typeface="+mj-lt"/>
              </a:rPr>
              <a:t>2. Phản hồi của cơ quan thuế</a:t>
            </a:r>
          </a:p>
          <a:p>
            <a:pPr marL="0" indent="0" algn="just">
              <a:buNone/>
            </a:pPr>
            <a:r>
              <a:rPr lang="en-US" sz="2400" dirty="0">
                <a:solidFill>
                  <a:schemeClr val="tx1"/>
                </a:solidFill>
                <a:latin typeface="+mj-lt"/>
              </a:rPr>
              <a:t>3</a:t>
            </a:r>
            <a:r>
              <a:rPr lang="vi-VN" sz="2400" dirty="0">
                <a:solidFill>
                  <a:schemeClr val="tx1"/>
                </a:solidFill>
                <a:latin typeface="+mj-lt"/>
              </a:rPr>
              <a:t>. Chấp nhận đăng ký sử dụng hóa đơn điện tử</a:t>
            </a:r>
            <a:r>
              <a:rPr lang="en-US" sz="2400" dirty="0">
                <a:solidFill>
                  <a:schemeClr val="tx1"/>
                </a:solidFill>
                <a:latin typeface="+mj-lt"/>
              </a:rPr>
              <a:t>, </a:t>
            </a:r>
            <a:r>
              <a:rPr lang="en-US" sz="2400" dirty="0" err="1">
                <a:solidFill>
                  <a:schemeClr val="tx1"/>
                </a:solidFill>
                <a:latin typeface="+mj-lt"/>
              </a:rPr>
              <a:t>biên</a:t>
            </a:r>
            <a:r>
              <a:rPr lang="en-US" sz="2400" dirty="0">
                <a:solidFill>
                  <a:schemeClr val="tx1"/>
                </a:solidFill>
                <a:latin typeface="+mj-lt"/>
              </a:rPr>
              <a:t> </a:t>
            </a:r>
            <a:r>
              <a:rPr lang="en-US" sz="2400" dirty="0" err="1">
                <a:solidFill>
                  <a:schemeClr val="tx1"/>
                </a:solidFill>
                <a:latin typeface="+mj-lt"/>
              </a:rPr>
              <a:t>lai</a:t>
            </a:r>
            <a:r>
              <a:rPr lang="en-US" sz="2400" dirty="0">
                <a:solidFill>
                  <a:schemeClr val="tx1"/>
                </a:solidFill>
                <a:latin typeface="+mj-lt"/>
              </a:rPr>
              <a:t> </a:t>
            </a:r>
            <a:r>
              <a:rPr lang="en-US" sz="2400" dirty="0" err="1">
                <a:solidFill>
                  <a:schemeClr val="tx1"/>
                </a:solidFill>
                <a:latin typeface="+mj-lt"/>
              </a:rPr>
              <a:t>điện</a:t>
            </a:r>
            <a:r>
              <a:rPr lang="en-US" sz="2400" dirty="0">
                <a:solidFill>
                  <a:schemeClr val="tx1"/>
                </a:solidFill>
                <a:latin typeface="+mj-lt"/>
              </a:rPr>
              <a:t> </a:t>
            </a:r>
            <a:r>
              <a:rPr lang="en-US" sz="2400" dirty="0" err="1">
                <a:solidFill>
                  <a:schemeClr val="tx1"/>
                </a:solidFill>
                <a:latin typeface="+mj-lt"/>
              </a:rPr>
              <a:t>tử</a:t>
            </a:r>
            <a:r>
              <a:rPr lang="vi-VN" sz="2400" dirty="0">
                <a:solidFill>
                  <a:schemeClr val="tx1"/>
                </a:solidFill>
                <a:latin typeface="+mj-lt"/>
              </a:rPr>
              <a:t> </a:t>
            </a:r>
          </a:p>
          <a:p>
            <a:pPr marL="0" indent="0" algn="just">
              <a:buNone/>
            </a:pPr>
            <a:r>
              <a:rPr lang="vi-VN" sz="2400" dirty="0">
                <a:solidFill>
                  <a:schemeClr val="tx1"/>
                </a:solidFill>
                <a:latin typeface="+mj-lt"/>
              </a:rPr>
              <a:t>4. Thay đổi thông tin đã đăng ký sử dụng hóa đơn điện tử</a:t>
            </a:r>
            <a:r>
              <a:rPr lang="en-US" sz="2400" dirty="0">
                <a:solidFill>
                  <a:schemeClr val="tx1"/>
                </a:solidFill>
                <a:latin typeface="+mj-lt"/>
              </a:rPr>
              <a:t>, </a:t>
            </a:r>
            <a:r>
              <a:rPr lang="en-US" sz="2400" dirty="0" err="1">
                <a:solidFill>
                  <a:schemeClr val="tx1"/>
                </a:solidFill>
                <a:latin typeface="+mj-lt"/>
              </a:rPr>
              <a:t>biên</a:t>
            </a:r>
            <a:r>
              <a:rPr lang="en-US" sz="2400" dirty="0">
                <a:solidFill>
                  <a:schemeClr val="tx1"/>
                </a:solidFill>
                <a:latin typeface="+mj-lt"/>
              </a:rPr>
              <a:t> </a:t>
            </a:r>
            <a:r>
              <a:rPr lang="en-US" sz="2400" dirty="0" err="1">
                <a:solidFill>
                  <a:schemeClr val="tx1"/>
                </a:solidFill>
                <a:latin typeface="+mj-lt"/>
              </a:rPr>
              <a:t>lai</a:t>
            </a:r>
            <a:r>
              <a:rPr lang="en-US" sz="2400" dirty="0">
                <a:solidFill>
                  <a:schemeClr val="tx1"/>
                </a:solidFill>
                <a:latin typeface="+mj-lt"/>
              </a:rPr>
              <a:t> </a:t>
            </a:r>
            <a:r>
              <a:rPr lang="en-US" sz="2400" dirty="0" err="1">
                <a:solidFill>
                  <a:schemeClr val="tx1"/>
                </a:solidFill>
                <a:latin typeface="+mj-lt"/>
              </a:rPr>
              <a:t>điện</a:t>
            </a:r>
            <a:r>
              <a:rPr lang="en-US" sz="2400" dirty="0">
                <a:solidFill>
                  <a:schemeClr val="tx1"/>
                </a:solidFill>
                <a:latin typeface="+mj-lt"/>
              </a:rPr>
              <a:t> </a:t>
            </a:r>
            <a:r>
              <a:rPr lang="en-US" sz="2400" dirty="0" err="1">
                <a:solidFill>
                  <a:schemeClr val="tx1"/>
                </a:solidFill>
                <a:latin typeface="+mj-lt"/>
              </a:rPr>
              <a:t>tử</a:t>
            </a:r>
            <a:r>
              <a:rPr lang="vi-VN" sz="2400" dirty="0">
                <a:solidFill>
                  <a:schemeClr val="tx1"/>
                </a:solidFill>
                <a:latin typeface="+mj-lt"/>
              </a:rPr>
              <a:t> </a:t>
            </a:r>
          </a:p>
          <a:p>
            <a:pPr marL="0" indent="0" algn="just">
              <a:buNone/>
            </a:pPr>
            <a:r>
              <a:rPr lang="vi-VN" sz="2400" dirty="0">
                <a:solidFill>
                  <a:schemeClr val="tx1"/>
                </a:solidFill>
                <a:latin typeface="+mj-lt"/>
              </a:rPr>
              <a:t>5. Thông báo về việc chuyển sang sử dụng hóa đơn điện tử có mã của cơ quan thuế thông qua tổ chức cung cấp dịch vụ về hóa đơn điện tử</a:t>
            </a:r>
          </a:p>
          <a:p>
            <a:pPr marL="0" indent="0" algn="just">
              <a:buNone/>
            </a:pPr>
            <a:r>
              <a:rPr lang="vi-VN" sz="2400" dirty="0">
                <a:solidFill>
                  <a:schemeClr val="tx1"/>
                </a:solidFill>
                <a:latin typeface="+mj-lt"/>
              </a:rPr>
              <a:t>6. Chuyển sang sử dụng hóa đơn điện tử có mã của cơ quan thuế </a:t>
            </a:r>
          </a:p>
        </p:txBody>
      </p:sp>
      <p:sp>
        <p:nvSpPr>
          <p:cNvPr id="4" name="Rectangle 3"/>
          <p:cNvSpPr/>
          <p:nvPr/>
        </p:nvSpPr>
        <p:spPr>
          <a:xfrm>
            <a:off x="1397726" y="207358"/>
            <a:ext cx="8294014" cy="64633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PHẦN 1 – TỔNG QUAN CHUNG VỀ HÓA ĐƠN, CHỨNG TỪ - ĐĂNG KÝ </a:t>
            </a:r>
            <a:r>
              <a:rPr lang="en-US" b="1" dirty="0">
                <a:latin typeface="Cambria" panose="02040503050406030204" pitchFamily="18" charset="0"/>
              </a:rPr>
              <a:t/>
            </a:r>
            <a:br>
              <a:rPr lang="en-US" b="1" dirty="0">
                <a:latin typeface="Cambria" panose="02040503050406030204" pitchFamily="18" charset="0"/>
              </a:rPr>
            </a:br>
            <a:endParaRPr lang="en-US" dirty="0"/>
          </a:p>
        </p:txBody>
      </p:sp>
      <p:pic>
        <p:nvPicPr>
          <p:cNvPr id="5" name="Picture 4"/>
          <p:cNvPicPr>
            <a:picLocks noChangeAspect="1"/>
          </p:cNvPicPr>
          <p:nvPr/>
        </p:nvPicPr>
        <p:blipFill>
          <a:blip r:embed="rId2"/>
          <a:stretch>
            <a:fillRect/>
          </a:stretch>
        </p:blipFill>
        <p:spPr>
          <a:xfrm>
            <a:off x="1" y="0"/>
            <a:ext cx="1280159" cy="1061048"/>
          </a:xfrm>
          <a:prstGeom prst="rect">
            <a:avLst/>
          </a:prstGeom>
        </p:spPr>
      </p:pic>
    </p:spTree>
    <p:extLst>
      <p:ext uri="{BB962C8B-B14F-4D97-AF65-F5344CB8AC3E}">
        <p14:creationId xmlns:p14="http://schemas.microsoft.com/office/powerpoint/2010/main" val="2223802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677333" y="609599"/>
            <a:ext cx="9786015" cy="5622389"/>
          </a:xfrm>
        </p:spPr>
        <p:txBody>
          <a:bodyPr anchor="ctr" anchorCtr="0">
            <a:normAutofit/>
          </a:bodyPr>
          <a:lstStyle/>
          <a:p>
            <a:pPr algn="ctr"/>
            <a:r>
              <a:rPr lang="en-US" sz="4000" b="1" dirty="0">
                <a:solidFill>
                  <a:schemeClr val="tx1"/>
                </a:solidFill>
              </a:rPr>
              <a:t>PHẦN 2 – QUY ĐỊNH VỀ HÓA ĐƠN</a:t>
            </a:r>
            <a:r>
              <a:rPr lang="en-US" sz="4800" b="1" dirty="0">
                <a:solidFill>
                  <a:schemeClr val="tx1"/>
                </a:solidFill>
                <a:latin typeface="Cambria" panose="02040503050406030204" pitchFamily="18" charset="0"/>
              </a:rPr>
              <a:t/>
            </a:r>
            <a:br>
              <a:rPr lang="en-US" sz="4800" b="1" dirty="0">
                <a:solidFill>
                  <a:schemeClr val="tx1"/>
                </a:solidFill>
                <a:latin typeface="Cambria" panose="02040503050406030204" pitchFamily="18" charset="0"/>
              </a:rPr>
            </a:br>
            <a:r>
              <a:rPr lang="en-US" sz="4800" b="1" dirty="0">
                <a:solidFill>
                  <a:schemeClr val="tx1"/>
                </a:solidFill>
                <a:latin typeface="Cambria" panose="02040503050406030204" pitchFamily="18" charset="0"/>
              </a:rPr>
              <a:t/>
            </a:r>
            <a:br>
              <a:rPr lang="en-US" sz="4800" b="1" dirty="0">
                <a:solidFill>
                  <a:schemeClr val="tx1"/>
                </a:solidFill>
                <a:latin typeface="Cambria" panose="02040503050406030204" pitchFamily="18" charset="0"/>
              </a:rPr>
            </a:br>
            <a:r>
              <a:rPr lang="en-US" sz="4000" b="1" dirty="0">
                <a:latin typeface="Cambria" panose="02040503050406030204" pitchFamily="18" charset="0"/>
              </a:rPr>
              <a:t/>
            </a:r>
            <a:br>
              <a:rPr lang="en-US" sz="4000" b="1" dirty="0">
                <a:latin typeface="Cambria" panose="02040503050406030204" pitchFamily="18" charset="0"/>
              </a:rPr>
            </a:br>
            <a:endParaRPr lang="vi-VN" sz="4000" dirty="0">
              <a:solidFill>
                <a:schemeClr val="tx1"/>
              </a:solidFill>
              <a:latin typeface="Cambria" panose="020405030504060302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5446" y="3303227"/>
            <a:ext cx="4625067" cy="2811195"/>
          </a:xfrm>
          <a:prstGeom prst="rect">
            <a:avLst/>
          </a:prstGeom>
        </p:spPr>
      </p:pic>
      <p:pic>
        <p:nvPicPr>
          <p:cNvPr id="5" name="Picture 4"/>
          <p:cNvPicPr>
            <a:picLocks noChangeAspect="1"/>
          </p:cNvPicPr>
          <p:nvPr/>
        </p:nvPicPr>
        <p:blipFill>
          <a:blip r:embed="rId3"/>
          <a:stretch>
            <a:fillRect/>
          </a:stretch>
        </p:blipFill>
        <p:spPr>
          <a:xfrm>
            <a:off x="1" y="0"/>
            <a:ext cx="1280159" cy="1061048"/>
          </a:xfrm>
          <a:prstGeom prst="rect">
            <a:avLst/>
          </a:prstGeom>
        </p:spPr>
      </p:pic>
    </p:spTree>
    <p:extLst>
      <p:ext uri="{BB962C8B-B14F-4D97-AF65-F5344CB8AC3E}">
        <p14:creationId xmlns:p14="http://schemas.microsoft.com/office/powerpoint/2010/main" val="1592351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itle 1"/>
          <p:cNvSpPr>
            <a:spLocks noGrp="1"/>
          </p:cNvSpPr>
          <p:nvPr>
            <p:ph type="title"/>
          </p:nvPr>
        </p:nvSpPr>
        <p:spPr>
          <a:xfrm>
            <a:off x="677334" y="1065796"/>
            <a:ext cx="8596668" cy="783102"/>
          </a:xfrm>
        </p:spPr>
        <p:txBody>
          <a:bodyPr>
            <a:noAutofit/>
          </a:bodyPr>
          <a:lstStyle/>
          <a:p>
            <a:pPr algn="ctr"/>
            <a:r>
              <a:rPr lang="en-US" sz="3200" b="1" dirty="0">
                <a:solidFill>
                  <a:schemeClr val="tx1"/>
                </a:solidFill>
                <a:latin typeface="Times New Roman" panose="02020603050405020304" pitchFamily="18" charset="0"/>
                <a:cs typeface="Times New Roman" panose="02020603050405020304" pitchFamily="18" charset="0"/>
              </a:rPr>
              <a:t>PHẦN 2: QUY ĐỊNH VỀ HÓA ĐƠN</a:t>
            </a:r>
            <a:endParaRPr lang="vi-VN" sz="3200"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07963" y="1645920"/>
            <a:ext cx="8596668" cy="3337351"/>
          </a:xfrm>
        </p:spPr>
        <p:txBody>
          <a:bodyPr anchor="ctr" anchorCtr="0">
            <a:normAutofit/>
          </a:bodyPr>
          <a:lstStyle/>
          <a:p>
            <a:pPr marL="514350" indent="-514350">
              <a:buAutoNum type="alphaUcPeriod"/>
            </a:pPr>
            <a:r>
              <a:rPr lang="en-US" sz="2800" b="1" dirty="0">
                <a:solidFill>
                  <a:schemeClr val="tx1"/>
                </a:solidFill>
                <a:latin typeface="Cambria" panose="02040503050406030204" pitchFamily="18" charset="0"/>
              </a:rPr>
              <a:t>QUY ĐỊNH VỀ HÓA ĐƠN</a:t>
            </a:r>
          </a:p>
          <a:p>
            <a:pPr marL="514350" indent="-514350">
              <a:buAutoNum type="alphaUcPeriod"/>
            </a:pPr>
            <a:r>
              <a:rPr lang="en-US" sz="2800" b="1" dirty="0">
                <a:solidFill>
                  <a:schemeClr val="tx1"/>
                </a:solidFill>
                <a:latin typeface="Cambria" panose="02040503050406030204" pitchFamily="18" charset="0"/>
              </a:rPr>
              <a:t>HÓA ĐƠN ĐIỆN TỬ</a:t>
            </a:r>
          </a:p>
        </p:txBody>
      </p:sp>
      <p:pic>
        <p:nvPicPr>
          <p:cNvPr id="4" name="Picture 3"/>
          <p:cNvPicPr>
            <a:picLocks noChangeAspect="1"/>
          </p:cNvPicPr>
          <p:nvPr/>
        </p:nvPicPr>
        <p:blipFill>
          <a:blip r:embed="rId2"/>
          <a:stretch>
            <a:fillRect/>
          </a:stretch>
        </p:blipFill>
        <p:spPr>
          <a:xfrm>
            <a:off x="1" y="0"/>
            <a:ext cx="1280159" cy="1061048"/>
          </a:xfrm>
          <a:prstGeom prst="rect">
            <a:avLst/>
          </a:prstGeom>
        </p:spPr>
      </p:pic>
    </p:spTree>
    <p:extLst>
      <p:ext uri="{BB962C8B-B14F-4D97-AF65-F5344CB8AC3E}">
        <p14:creationId xmlns:p14="http://schemas.microsoft.com/office/powerpoint/2010/main" val="255852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Content Placeholder 4"/>
          <p:cNvSpPr>
            <a:spLocks noGrp="1"/>
          </p:cNvSpPr>
          <p:nvPr>
            <p:ph idx="1"/>
          </p:nvPr>
        </p:nvSpPr>
        <p:spPr>
          <a:xfrm>
            <a:off x="677334" y="1947490"/>
            <a:ext cx="8596668" cy="4093872"/>
          </a:xfrm>
        </p:spPr>
        <p:txBody>
          <a:bodyPr anchor="ctr" anchorCtr="0">
            <a:normAutofit/>
          </a:bodyPr>
          <a:lstStyle/>
          <a:p>
            <a:r>
              <a:rPr lang="en-US" sz="2200" dirty="0">
                <a:solidFill>
                  <a:schemeClr val="tx1"/>
                </a:solidFill>
                <a:latin typeface="Times New Roman" panose="02020603050405020304" pitchFamily="18" charset="0"/>
                <a:cs typeface="Times New Roman" panose="02020603050405020304" pitchFamily="18" charset="0"/>
              </a:rPr>
              <a:t>1. </a:t>
            </a:r>
            <a:r>
              <a:rPr lang="en-US" sz="2200" dirty="0" err="1">
                <a:solidFill>
                  <a:schemeClr val="tx1"/>
                </a:solidFill>
                <a:latin typeface="Times New Roman" panose="02020603050405020304" pitchFamily="18" charset="0"/>
                <a:cs typeface="Times New Roman" panose="02020603050405020304" pitchFamily="18" charset="0"/>
              </a:rPr>
              <a:t>Loại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hóa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đơn</a:t>
            </a:r>
            <a:endParaRPr lang="en-US" sz="2200" dirty="0">
              <a:solidFill>
                <a:schemeClr val="tx1"/>
              </a:solidFill>
              <a:latin typeface="Times New Roman" panose="02020603050405020304" pitchFamily="18" charset="0"/>
              <a:cs typeface="Times New Roman" panose="02020603050405020304" pitchFamily="18" charset="0"/>
            </a:endParaRPr>
          </a:p>
          <a:p>
            <a:r>
              <a:rPr lang="en-US" sz="2200" dirty="0">
                <a:solidFill>
                  <a:schemeClr val="tx1"/>
                </a:solidFill>
                <a:latin typeface="Times New Roman" panose="02020603050405020304" pitchFamily="18" charset="0"/>
                <a:cs typeface="Times New Roman" panose="02020603050405020304" pitchFamily="18" charset="0"/>
              </a:rPr>
              <a:t>2. </a:t>
            </a:r>
            <a:r>
              <a:rPr lang="en-US" sz="2200" dirty="0" err="1">
                <a:solidFill>
                  <a:schemeClr val="tx1"/>
                </a:solidFill>
                <a:latin typeface="Times New Roman" panose="02020603050405020304" pitchFamily="18" charset="0"/>
                <a:cs typeface="Times New Roman" panose="02020603050405020304" pitchFamily="18" charset="0"/>
              </a:rPr>
              <a:t>Thời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điểm</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lập</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hóa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đơn</a:t>
            </a:r>
            <a:endParaRPr lang="en-US" sz="2200" dirty="0">
              <a:solidFill>
                <a:schemeClr val="tx1"/>
              </a:solidFill>
              <a:latin typeface="Times New Roman" panose="02020603050405020304" pitchFamily="18" charset="0"/>
              <a:cs typeface="Times New Roman" panose="02020603050405020304" pitchFamily="18" charset="0"/>
            </a:endParaRPr>
          </a:p>
          <a:p>
            <a:r>
              <a:rPr lang="en-US" sz="2200" dirty="0">
                <a:solidFill>
                  <a:schemeClr val="tx1"/>
                </a:solidFill>
                <a:latin typeface="Times New Roman" panose="02020603050405020304" pitchFamily="18" charset="0"/>
                <a:cs typeface="Times New Roman" panose="02020603050405020304" pitchFamily="18" charset="0"/>
              </a:rPr>
              <a:t>3. </a:t>
            </a:r>
            <a:r>
              <a:rPr lang="en-US" sz="2200" dirty="0" err="1">
                <a:solidFill>
                  <a:schemeClr val="tx1"/>
                </a:solidFill>
                <a:latin typeface="Times New Roman" panose="02020603050405020304" pitchFamily="18" charset="0"/>
                <a:cs typeface="Times New Roman" panose="02020603050405020304" pitchFamily="18" charset="0"/>
              </a:rPr>
              <a:t>Nội</a:t>
            </a:r>
            <a:r>
              <a:rPr lang="en-US" sz="2200" dirty="0">
                <a:solidFill>
                  <a:schemeClr val="tx1"/>
                </a:solidFill>
                <a:latin typeface="Times New Roman" panose="02020603050405020304" pitchFamily="18" charset="0"/>
                <a:cs typeface="Times New Roman" panose="02020603050405020304" pitchFamily="18" charset="0"/>
              </a:rPr>
              <a:t> dung </a:t>
            </a:r>
            <a:r>
              <a:rPr lang="en-US" sz="2200" dirty="0" err="1">
                <a:solidFill>
                  <a:schemeClr val="tx1"/>
                </a:solidFill>
                <a:latin typeface="Times New Roman" panose="02020603050405020304" pitchFamily="18" charset="0"/>
                <a:cs typeface="Times New Roman" panose="02020603050405020304" pitchFamily="18" charset="0"/>
              </a:rPr>
              <a:t>hóa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đơn</a:t>
            </a:r>
            <a:endParaRPr lang="en-US" sz="2200" dirty="0">
              <a:solidFill>
                <a:schemeClr val="tx1"/>
              </a:solidFill>
              <a:latin typeface="Times New Roman" panose="02020603050405020304" pitchFamily="18" charset="0"/>
              <a:cs typeface="Times New Roman" panose="02020603050405020304" pitchFamily="18" charset="0"/>
            </a:endParaRPr>
          </a:p>
          <a:p>
            <a:r>
              <a:rPr lang="en-US" sz="2200" dirty="0">
                <a:solidFill>
                  <a:schemeClr val="tx1"/>
                </a:solidFill>
                <a:latin typeface="Times New Roman" panose="02020603050405020304" pitchFamily="18" charset="0"/>
                <a:cs typeface="Times New Roman" panose="02020603050405020304" pitchFamily="18" charset="0"/>
              </a:rPr>
              <a:t>4. Quy </a:t>
            </a:r>
            <a:r>
              <a:rPr lang="en-US" sz="2200" dirty="0" err="1">
                <a:solidFill>
                  <a:schemeClr val="tx1"/>
                </a:solidFill>
                <a:latin typeface="Times New Roman" panose="02020603050405020304" pitchFamily="18" charset="0"/>
                <a:cs typeface="Times New Roman" panose="02020603050405020304" pitchFamily="18" charset="0"/>
              </a:rPr>
              <a:t>định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về</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việc</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áp</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dụng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hóa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đơn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đối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với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một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số</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trường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hợp</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theo</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yêu</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cầu</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quản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lý</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6" name="Title 1"/>
          <p:cNvSpPr txBox="1">
            <a:spLocks/>
          </p:cNvSpPr>
          <p:nvPr/>
        </p:nvSpPr>
        <p:spPr>
          <a:xfrm>
            <a:off x="1783755" y="392101"/>
            <a:ext cx="5008763" cy="546862"/>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a:t>
            </a:r>
            <a:endParaRPr lang="vi-VN" sz="2000" b="1"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47826" y="1484262"/>
            <a:ext cx="4137351" cy="461665"/>
          </a:xfrm>
          <a:prstGeom prst="rect">
            <a:avLst/>
          </a:prstGeom>
        </p:spPr>
        <p:txBody>
          <a:bodyPr wrap="none">
            <a:spAutoFit/>
          </a:bodyPr>
          <a:lstStyle/>
          <a:p>
            <a:r>
              <a:rPr lang="en-US" sz="2400" b="1" dirty="0">
                <a:solidFill>
                  <a:srgbClr val="C00000"/>
                </a:solidFill>
                <a:latin typeface="Times New Roman" panose="02020603050405020304" pitchFamily="18" charset="0"/>
                <a:cs typeface="Times New Roman" panose="02020603050405020304" pitchFamily="18" charset="0"/>
              </a:rPr>
              <a:t>A. QUY ĐỊNH VỀ HÓA ĐƠN</a:t>
            </a:r>
          </a:p>
        </p:txBody>
      </p:sp>
      <p:pic>
        <p:nvPicPr>
          <p:cNvPr id="8" name="Picture 7"/>
          <p:cNvPicPr>
            <a:picLocks noChangeAspect="1"/>
          </p:cNvPicPr>
          <p:nvPr/>
        </p:nvPicPr>
        <p:blipFill>
          <a:blip r:embed="rId2"/>
          <a:stretch>
            <a:fillRect/>
          </a:stretch>
        </p:blipFill>
        <p:spPr>
          <a:xfrm>
            <a:off x="1" y="0"/>
            <a:ext cx="1280159" cy="1061048"/>
          </a:xfrm>
          <a:prstGeom prst="rect">
            <a:avLst/>
          </a:prstGeom>
        </p:spPr>
      </p:pic>
    </p:spTree>
    <p:extLst>
      <p:ext uri="{BB962C8B-B14F-4D97-AF65-F5344CB8AC3E}">
        <p14:creationId xmlns:p14="http://schemas.microsoft.com/office/powerpoint/2010/main" val="3370592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2588" y="1167850"/>
            <a:ext cx="8596668" cy="726831"/>
          </a:xfrm>
        </p:spPr>
        <p:txBody>
          <a:bodyPr>
            <a:normAutofit fontScale="90000"/>
          </a:bodyPr>
          <a:lstStyle/>
          <a:p>
            <a:pPr algn="ctr"/>
            <a:r>
              <a:rPr lang="en-US" sz="2900" b="1" dirty="0">
                <a:solidFill>
                  <a:srgbClr val="C00000"/>
                </a:solidFill>
              </a:rPr>
              <a:t>THỜI ĐIỂM LẬP HÓA ĐƠN</a:t>
            </a:r>
            <a:r>
              <a:rPr lang="en-US" b="1" dirty="0">
                <a:solidFill>
                  <a:srgbClr val="FF0000"/>
                </a:solidFill>
                <a:latin typeface="Cambria" panose="02040503050406030204" pitchFamily="18" charset="0"/>
              </a:rPr>
              <a:t/>
            </a:r>
            <a:br>
              <a:rPr lang="en-US" b="1" dirty="0">
                <a:solidFill>
                  <a:srgbClr val="FF0000"/>
                </a:solidFill>
                <a:latin typeface="Cambria" panose="02040503050406030204" pitchFamily="18" charset="0"/>
              </a:rPr>
            </a:br>
            <a:endParaRPr lang="vi-VN" b="1" dirty="0">
              <a:solidFill>
                <a:srgbClr val="FF0000"/>
              </a:solidFill>
              <a:latin typeface="Cambria" panose="02040503050406030204" pitchFamily="18" charset="0"/>
            </a:endParaRPr>
          </a:p>
        </p:txBody>
      </p:sp>
      <p:sp>
        <p:nvSpPr>
          <p:cNvPr id="4" name="Title 1"/>
          <p:cNvSpPr txBox="1">
            <a:spLocks/>
          </p:cNvSpPr>
          <p:nvPr/>
        </p:nvSpPr>
        <p:spPr>
          <a:xfrm>
            <a:off x="1500060" y="270589"/>
            <a:ext cx="4788045" cy="567883"/>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a:t>
            </a:r>
            <a:endParaRPr lang="vi-VN" sz="20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2588" y="1985554"/>
            <a:ext cx="9460498" cy="3566160"/>
          </a:xfrm>
        </p:spPr>
        <p:txBody>
          <a:bodyPr anchor="ctr" anchorCtr="0">
            <a:normAutofit/>
          </a:bodyPr>
          <a:lstStyle/>
          <a:p>
            <a:pPr marL="0" indent="0" algn="just">
              <a:buNone/>
            </a:pPr>
            <a:r>
              <a:rPr lang="en-US" sz="2800" dirty="0">
                <a:solidFill>
                  <a:schemeClr val="tx1"/>
                </a:solidFill>
                <a:latin typeface="+mj-lt"/>
              </a:rPr>
              <a:t>1. </a:t>
            </a:r>
            <a:r>
              <a:rPr lang="en-US" sz="2800" dirty="0" err="1">
                <a:solidFill>
                  <a:schemeClr val="tx1"/>
                </a:solidFill>
                <a:latin typeface="+mj-lt"/>
              </a:rPr>
              <a:t>Thời</a:t>
            </a:r>
            <a:r>
              <a:rPr lang="en-US" sz="2800" dirty="0">
                <a:solidFill>
                  <a:schemeClr val="tx1"/>
                </a:solidFill>
                <a:latin typeface="+mj-lt"/>
              </a:rPr>
              <a:t> </a:t>
            </a:r>
            <a:r>
              <a:rPr lang="en-US" sz="2800" dirty="0" err="1">
                <a:solidFill>
                  <a:schemeClr val="tx1"/>
                </a:solidFill>
                <a:latin typeface="+mj-lt"/>
              </a:rPr>
              <a:t>điểm</a:t>
            </a:r>
            <a:r>
              <a:rPr lang="en-US" sz="2800" dirty="0">
                <a:solidFill>
                  <a:schemeClr val="tx1"/>
                </a:solidFill>
                <a:latin typeface="+mj-lt"/>
              </a:rPr>
              <a:t> </a:t>
            </a:r>
            <a:r>
              <a:rPr lang="en-US" sz="2800" dirty="0" err="1">
                <a:solidFill>
                  <a:schemeClr val="tx1"/>
                </a:solidFill>
                <a:latin typeface="+mj-lt"/>
              </a:rPr>
              <a:t>lập</a:t>
            </a:r>
            <a:r>
              <a:rPr lang="en-US" sz="2800" dirty="0">
                <a:solidFill>
                  <a:schemeClr val="tx1"/>
                </a:solidFill>
                <a:latin typeface="+mj-lt"/>
              </a:rPr>
              <a:t> </a:t>
            </a:r>
            <a:r>
              <a:rPr lang="en-US" sz="2800" dirty="0" err="1">
                <a:solidFill>
                  <a:schemeClr val="tx1"/>
                </a:solidFill>
                <a:latin typeface="+mj-lt"/>
              </a:rPr>
              <a:t>hóa</a:t>
            </a:r>
            <a:r>
              <a:rPr lang="en-US" sz="2800" dirty="0">
                <a:solidFill>
                  <a:schemeClr val="tx1"/>
                </a:solidFill>
                <a:latin typeface="+mj-lt"/>
              </a:rPr>
              <a:t> </a:t>
            </a:r>
            <a:r>
              <a:rPr lang="en-US" sz="2800" dirty="0" err="1">
                <a:solidFill>
                  <a:schemeClr val="tx1"/>
                </a:solidFill>
                <a:latin typeface="+mj-lt"/>
              </a:rPr>
              <a:t>đơn</a:t>
            </a:r>
            <a:r>
              <a:rPr lang="en-US" sz="2800" dirty="0">
                <a:solidFill>
                  <a:schemeClr val="tx1"/>
                </a:solidFill>
                <a:latin typeface="+mj-lt"/>
              </a:rPr>
              <a:t> </a:t>
            </a:r>
            <a:r>
              <a:rPr lang="en-US" sz="2800" dirty="0" err="1">
                <a:solidFill>
                  <a:schemeClr val="tx1"/>
                </a:solidFill>
                <a:latin typeface="+mj-lt"/>
              </a:rPr>
              <a:t>đối</a:t>
            </a:r>
            <a:r>
              <a:rPr lang="en-US" sz="2800" dirty="0">
                <a:solidFill>
                  <a:schemeClr val="tx1"/>
                </a:solidFill>
                <a:latin typeface="+mj-lt"/>
              </a:rPr>
              <a:t> </a:t>
            </a:r>
            <a:r>
              <a:rPr lang="en-US" sz="2800" dirty="0" err="1">
                <a:solidFill>
                  <a:schemeClr val="tx1"/>
                </a:solidFill>
                <a:latin typeface="+mj-lt"/>
              </a:rPr>
              <a:t>với</a:t>
            </a:r>
            <a:r>
              <a:rPr lang="en-US" sz="2800" dirty="0">
                <a:solidFill>
                  <a:schemeClr val="tx1"/>
                </a:solidFill>
                <a:latin typeface="+mj-lt"/>
              </a:rPr>
              <a:t> </a:t>
            </a:r>
            <a:r>
              <a:rPr lang="en-US" sz="2800" dirty="0" err="1">
                <a:solidFill>
                  <a:schemeClr val="tx1"/>
                </a:solidFill>
                <a:latin typeface="+mj-lt"/>
              </a:rPr>
              <a:t>bán</a:t>
            </a:r>
            <a:r>
              <a:rPr lang="en-US" sz="2800" dirty="0">
                <a:solidFill>
                  <a:schemeClr val="tx1"/>
                </a:solidFill>
                <a:latin typeface="+mj-lt"/>
              </a:rPr>
              <a:t> </a:t>
            </a:r>
            <a:r>
              <a:rPr lang="en-US" sz="2800" dirty="0" err="1">
                <a:solidFill>
                  <a:schemeClr val="tx1"/>
                </a:solidFill>
                <a:latin typeface="+mj-lt"/>
              </a:rPr>
              <a:t>hàng</a:t>
            </a:r>
            <a:r>
              <a:rPr lang="en-US" sz="2800" dirty="0">
                <a:solidFill>
                  <a:schemeClr val="tx1"/>
                </a:solidFill>
                <a:latin typeface="+mj-lt"/>
              </a:rPr>
              <a:t> </a:t>
            </a:r>
            <a:r>
              <a:rPr lang="en-US" sz="2800" dirty="0" err="1">
                <a:solidFill>
                  <a:schemeClr val="tx1"/>
                </a:solidFill>
                <a:latin typeface="+mj-lt"/>
              </a:rPr>
              <a:t>hóa</a:t>
            </a:r>
            <a:r>
              <a:rPr lang="en-US" sz="2800" dirty="0">
                <a:solidFill>
                  <a:schemeClr val="tx1"/>
                </a:solidFill>
                <a:latin typeface="+mj-lt"/>
              </a:rPr>
              <a:t> </a:t>
            </a:r>
            <a:endParaRPr lang="vi-VN" sz="2800" dirty="0">
              <a:solidFill>
                <a:schemeClr val="tx1"/>
              </a:solidFill>
              <a:latin typeface="+mj-lt"/>
            </a:endParaRPr>
          </a:p>
          <a:p>
            <a:pPr marL="0" indent="0" algn="just">
              <a:buNone/>
            </a:pPr>
            <a:r>
              <a:rPr lang="en-US" sz="2800" dirty="0">
                <a:solidFill>
                  <a:schemeClr val="tx1"/>
                </a:solidFill>
                <a:latin typeface="+mj-lt"/>
              </a:rPr>
              <a:t>2. </a:t>
            </a:r>
            <a:r>
              <a:rPr lang="en-US" sz="2800" dirty="0" err="1">
                <a:solidFill>
                  <a:schemeClr val="tx1"/>
                </a:solidFill>
                <a:latin typeface="+mj-lt"/>
              </a:rPr>
              <a:t>Thời</a:t>
            </a:r>
            <a:r>
              <a:rPr lang="en-US" sz="2800" dirty="0">
                <a:solidFill>
                  <a:schemeClr val="tx1"/>
                </a:solidFill>
                <a:latin typeface="+mj-lt"/>
              </a:rPr>
              <a:t> </a:t>
            </a:r>
            <a:r>
              <a:rPr lang="en-US" sz="2800" dirty="0" err="1">
                <a:solidFill>
                  <a:schemeClr val="tx1"/>
                </a:solidFill>
                <a:latin typeface="+mj-lt"/>
              </a:rPr>
              <a:t>điểm</a:t>
            </a:r>
            <a:r>
              <a:rPr lang="en-US" sz="2800" dirty="0">
                <a:solidFill>
                  <a:schemeClr val="tx1"/>
                </a:solidFill>
                <a:latin typeface="+mj-lt"/>
              </a:rPr>
              <a:t> </a:t>
            </a:r>
            <a:r>
              <a:rPr lang="en-US" sz="2800" dirty="0" err="1">
                <a:solidFill>
                  <a:schemeClr val="tx1"/>
                </a:solidFill>
                <a:latin typeface="+mj-lt"/>
              </a:rPr>
              <a:t>lập</a:t>
            </a:r>
            <a:r>
              <a:rPr lang="en-US" sz="2800" dirty="0">
                <a:solidFill>
                  <a:schemeClr val="tx1"/>
                </a:solidFill>
                <a:latin typeface="+mj-lt"/>
              </a:rPr>
              <a:t> </a:t>
            </a:r>
            <a:r>
              <a:rPr lang="en-US" sz="2800" dirty="0" err="1">
                <a:solidFill>
                  <a:schemeClr val="tx1"/>
                </a:solidFill>
                <a:latin typeface="+mj-lt"/>
              </a:rPr>
              <a:t>hóa</a:t>
            </a:r>
            <a:r>
              <a:rPr lang="en-US" sz="2800" dirty="0">
                <a:solidFill>
                  <a:schemeClr val="tx1"/>
                </a:solidFill>
                <a:latin typeface="+mj-lt"/>
              </a:rPr>
              <a:t> </a:t>
            </a:r>
            <a:r>
              <a:rPr lang="en-US" sz="2800" dirty="0" err="1">
                <a:solidFill>
                  <a:schemeClr val="tx1"/>
                </a:solidFill>
                <a:latin typeface="+mj-lt"/>
              </a:rPr>
              <a:t>đơn</a:t>
            </a:r>
            <a:r>
              <a:rPr lang="en-US" sz="2800" dirty="0">
                <a:solidFill>
                  <a:schemeClr val="tx1"/>
                </a:solidFill>
                <a:latin typeface="+mj-lt"/>
              </a:rPr>
              <a:t> </a:t>
            </a:r>
            <a:r>
              <a:rPr lang="en-US" sz="2800" dirty="0" err="1">
                <a:solidFill>
                  <a:schemeClr val="tx1"/>
                </a:solidFill>
                <a:latin typeface="+mj-lt"/>
              </a:rPr>
              <a:t>đối</a:t>
            </a:r>
            <a:r>
              <a:rPr lang="en-US" sz="2800" dirty="0">
                <a:solidFill>
                  <a:schemeClr val="tx1"/>
                </a:solidFill>
                <a:latin typeface="+mj-lt"/>
              </a:rPr>
              <a:t> </a:t>
            </a:r>
            <a:r>
              <a:rPr lang="en-US" sz="2800" dirty="0" err="1">
                <a:solidFill>
                  <a:schemeClr val="tx1"/>
                </a:solidFill>
                <a:latin typeface="+mj-lt"/>
              </a:rPr>
              <a:t>với</a:t>
            </a:r>
            <a:r>
              <a:rPr lang="en-US" sz="2800" dirty="0">
                <a:solidFill>
                  <a:schemeClr val="tx1"/>
                </a:solidFill>
                <a:latin typeface="+mj-lt"/>
              </a:rPr>
              <a:t> </a:t>
            </a:r>
            <a:r>
              <a:rPr lang="en-US" sz="2800" dirty="0" err="1">
                <a:solidFill>
                  <a:schemeClr val="tx1"/>
                </a:solidFill>
                <a:latin typeface="+mj-lt"/>
              </a:rPr>
              <a:t>cung</a:t>
            </a:r>
            <a:r>
              <a:rPr lang="en-US" sz="2800" dirty="0">
                <a:solidFill>
                  <a:schemeClr val="tx1"/>
                </a:solidFill>
                <a:latin typeface="+mj-lt"/>
              </a:rPr>
              <a:t> </a:t>
            </a:r>
            <a:r>
              <a:rPr lang="en-US" sz="2800" dirty="0" err="1">
                <a:solidFill>
                  <a:schemeClr val="tx1"/>
                </a:solidFill>
                <a:latin typeface="+mj-lt"/>
              </a:rPr>
              <a:t>cấp</a:t>
            </a:r>
            <a:r>
              <a:rPr lang="en-US" sz="2800" dirty="0">
                <a:solidFill>
                  <a:schemeClr val="tx1"/>
                </a:solidFill>
                <a:latin typeface="+mj-lt"/>
              </a:rPr>
              <a:t> </a:t>
            </a:r>
            <a:r>
              <a:rPr lang="en-US" sz="2800" dirty="0" err="1">
                <a:solidFill>
                  <a:schemeClr val="tx1"/>
                </a:solidFill>
                <a:latin typeface="+mj-lt"/>
              </a:rPr>
              <a:t>dịch</a:t>
            </a:r>
            <a:r>
              <a:rPr lang="en-US" sz="2800" dirty="0">
                <a:solidFill>
                  <a:schemeClr val="tx1"/>
                </a:solidFill>
                <a:latin typeface="+mj-lt"/>
              </a:rPr>
              <a:t> </a:t>
            </a:r>
            <a:r>
              <a:rPr lang="en-US" sz="2800" dirty="0" err="1">
                <a:solidFill>
                  <a:schemeClr val="tx1"/>
                </a:solidFill>
                <a:latin typeface="+mj-lt"/>
              </a:rPr>
              <a:t>vụ</a:t>
            </a:r>
            <a:r>
              <a:rPr lang="en-US" sz="2800" dirty="0">
                <a:solidFill>
                  <a:schemeClr val="tx1"/>
                </a:solidFill>
                <a:latin typeface="+mj-lt"/>
              </a:rPr>
              <a:t> </a:t>
            </a:r>
            <a:endParaRPr lang="vi-VN" sz="2800" dirty="0">
              <a:solidFill>
                <a:schemeClr val="tx1"/>
              </a:solidFill>
              <a:latin typeface="+mj-lt"/>
            </a:endParaRPr>
          </a:p>
          <a:p>
            <a:pPr marL="0" indent="0" algn="just">
              <a:buNone/>
            </a:pPr>
            <a:r>
              <a:rPr lang="en-US" sz="2800" dirty="0">
                <a:solidFill>
                  <a:schemeClr val="tx1"/>
                </a:solidFill>
                <a:latin typeface="+mj-lt"/>
              </a:rPr>
              <a:t>3. </a:t>
            </a:r>
            <a:r>
              <a:rPr lang="en-US" sz="2800" dirty="0" err="1">
                <a:solidFill>
                  <a:schemeClr val="tx1"/>
                </a:solidFill>
                <a:latin typeface="+mj-lt"/>
              </a:rPr>
              <a:t>Thời</a:t>
            </a:r>
            <a:r>
              <a:rPr lang="en-US" sz="2800" dirty="0">
                <a:solidFill>
                  <a:schemeClr val="tx1"/>
                </a:solidFill>
                <a:latin typeface="+mj-lt"/>
              </a:rPr>
              <a:t> </a:t>
            </a:r>
            <a:r>
              <a:rPr lang="en-US" sz="2800" dirty="0" err="1">
                <a:solidFill>
                  <a:schemeClr val="tx1"/>
                </a:solidFill>
                <a:latin typeface="+mj-lt"/>
              </a:rPr>
              <a:t>điểm</a:t>
            </a:r>
            <a:r>
              <a:rPr lang="en-US" sz="2800" dirty="0">
                <a:solidFill>
                  <a:schemeClr val="tx1"/>
                </a:solidFill>
                <a:latin typeface="+mj-lt"/>
              </a:rPr>
              <a:t> </a:t>
            </a:r>
            <a:r>
              <a:rPr lang="en-US" sz="2800" dirty="0" err="1">
                <a:solidFill>
                  <a:schemeClr val="tx1"/>
                </a:solidFill>
                <a:latin typeface="+mj-lt"/>
              </a:rPr>
              <a:t>lập</a:t>
            </a:r>
            <a:r>
              <a:rPr lang="en-US" sz="2800" dirty="0">
                <a:solidFill>
                  <a:schemeClr val="tx1"/>
                </a:solidFill>
                <a:latin typeface="+mj-lt"/>
              </a:rPr>
              <a:t> </a:t>
            </a:r>
            <a:r>
              <a:rPr lang="en-US" sz="2800" dirty="0" err="1">
                <a:solidFill>
                  <a:schemeClr val="tx1"/>
                </a:solidFill>
                <a:latin typeface="+mj-lt"/>
              </a:rPr>
              <a:t>hóa</a:t>
            </a:r>
            <a:r>
              <a:rPr lang="en-US" sz="2800" dirty="0">
                <a:solidFill>
                  <a:schemeClr val="tx1"/>
                </a:solidFill>
                <a:latin typeface="+mj-lt"/>
              </a:rPr>
              <a:t> </a:t>
            </a:r>
            <a:r>
              <a:rPr lang="en-US" sz="2800" dirty="0" err="1">
                <a:solidFill>
                  <a:schemeClr val="tx1"/>
                </a:solidFill>
                <a:latin typeface="+mj-lt"/>
              </a:rPr>
              <a:t>đơn</a:t>
            </a:r>
            <a:r>
              <a:rPr lang="en-US" sz="2800" dirty="0">
                <a:solidFill>
                  <a:schemeClr val="tx1"/>
                </a:solidFill>
                <a:latin typeface="+mj-lt"/>
              </a:rPr>
              <a:t> </a:t>
            </a:r>
            <a:r>
              <a:rPr lang="en-US" sz="2800" dirty="0" err="1">
                <a:solidFill>
                  <a:schemeClr val="tx1"/>
                </a:solidFill>
                <a:latin typeface="+mj-lt"/>
              </a:rPr>
              <a:t>đối</a:t>
            </a:r>
            <a:r>
              <a:rPr lang="en-US" sz="2800" dirty="0">
                <a:solidFill>
                  <a:schemeClr val="tx1"/>
                </a:solidFill>
                <a:latin typeface="+mj-lt"/>
              </a:rPr>
              <a:t> </a:t>
            </a:r>
            <a:r>
              <a:rPr lang="en-US" sz="2800" dirty="0" err="1">
                <a:solidFill>
                  <a:schemeClr val="tx1"/>
                </a:solidFill>
                <a:latin typeface="+mj-lt"/>
              </a:rPr>
              <a:t>với</a:t>
            </a:r>
            <a:r>
              <a:rPr lang="en-US" sz="2800" dirty="0">
                <a:solidFill>
                  <a:schemeClr val="tx1"/>
                </a:solidFill>
                <a:latin typeface="+mj-lt"/>
              </a:rPr>
              <a:t> </a:t>
            </a:r>
            <a:r>
              <a:rPr lang="en-US" sz="2800" dirty="0" err="1">
                <a:solidFill>
                  <a:schemeClr val="tx1"/>
                </a:solidFill>
                <a:latin typeface="+mj-lt"/>
              </a:rPr>
              <a:t>trường</a:t>
            </a:r>
            <a:r>
              <a:rPr lang="en-US" sz="2800" dirty="0">
                <a:solidFill>
                  <a:schemeClr val="tx1"/>
                </a:solidFill>
                <a:latin typeface="+mj-lt"/>
              </a:rPr>
              <a:t> </a:t>
            </a:r>
            <a:r>
              <a:rPr lang="en-US" sz="2800" dirty="0" err="1">
                <a:solidFill>
                  <a:schemeClr val="tx1"/>
                </a:solidFill>
                <a:latin typeface="+mj-lt"/>
              </a:rPr>
              <a:t>hợp</a:t>
            </a:r>
            <a:r>
              <a:rPr lang="en-US" sz="2800" dirty="0">
                <a:solidFill>
                  <a:schemeClr val="tx1"/>
                </a:solidFill>
                <a:latin typeface="+mj-lt"/>
              </a:rPr>
              <a:t> </a:t>
            </a:r>
            <a:r>
              <a:rPr lang="en-US" sz="2800" dirty="0" err="1">
                <a:solidFill>
                  <a:schemeClr val="tx1"/>
                </a:solidFill>
                <a:latin typeface="+mj-lt"/>
              </a:rPr>
              <a:t>giao</a:t>
            </a:r>
            <a:r>
              <a:rPr lang="en-US" sz="2800" dirty="0">
                <a:solidFill>
                  <a:schemeClr val="tx1"/>
                </a:solidFill>
                <a:latin typeface="+mj-lt"/>
              </a:rPr>
              <a:t> </a:t>
            </a:r>
            <a:r>
              <a:rPr lang="en-US" sz="2800" dirty="0" err="1">
                <a:solidFill>
                  <a:schemeClr val="tx1"/>
                </a:solidFill>
                <a:latin typeface="+mj-lt"/>
              </a:rPr>
              <a:t>hàng</a:t>
            </a:r>
            <a:r>
              <a:rPr lang="en-US" sz="2800" dirty="0">
                <a:solidFill>
                  <a:schemeClr val="tx1"/>
                </a:solidFill>
                <a:latin typeface="+mj-lt"/>
              </a:rPr>
              <a:t> </a:t>
            </a:r>
            <a:r>
              <a:rPr lang="en-US" sz="2800" dirty="0" err="1">
                <a:solidFill>
                  <a:schemeClr val="tx1"/>
                </a:solidFill>
                <a:latin typeface="+mj-lt"/>
              </a:rPr>
              <a:t>nhiều</a:t>
            </a:r>
            <a:r>
              <a:rPr lang="en-US" sz="2800" dirty="0">
                <a:solidFill>
                  <a:schemeClr val="tx1"/>
                </a:solidFill>
                <a:latin typeface="+mj-lt"/>
              </a:rPr>
              <a:t> </a:t>
            </a:r>
            <a:r>
              <a:rPr lang="en-US" sz="2800" dirty="0" err="1">
                <a:solidFill>
                  <a:schemeClr val="tx1"/>
                </a:solidFill>
                <a:latin typeface="+mj-lt"/>
              </a:rPr>
              <a:t>lần</a:t>
            </a:r>
            <a:r>
              <a:rPr lang="en-US" sz="2800" dirty="0">
                <a:solidFill>
                  <a:schemeClr val="tx1"/>
                </a:solidFill>
                <a:latin typeface="+mj-lt"/>
              </a:rPr>
              <a:t> </a:t>
            </a:r>
            <a:r>
              <a:rPr lang="en-US" sz="2800" dirty="0" err="1">
                <a:solidFill>
                  <a:schemeClr val="tx1"/>
                </a:solidFill>
                <a:latin typeface="+mj-lt"/>
              </a:rPr>
              <a:t>hoặc</a:t>
            </a:r>
            <a:r>
              <a:rPr lang="en-US" sz="2800" dirty="0">
                <a:solidFill>
                  <a:schemeClr val="tx1"/>
                </a:solidFill>
                <a:latin typeface="+mj-lt"/>
              </a:rPr>
              <a:t> </a:t>
            </a:r>
            <a:r>
              <a:rPr lang="en-US" sz="2800" dirty="0" err="1">
                <a:solidFill>
                  <a:schemeClr val="tx1"/>
                </a:solidFill>
                <a:latin typeface="+mj-lt"/>
              </a:rPr>
              <a:t>bàn</a:t>
            </a:r>
            <a:r>
              <a:rPr lang="en-US" sz="2800" dirty="0">
                <a:solidFill>
                  <a:schemeClr val="tx1"/>
                </a:solidFill>
                <a:latin typeface="+mj-lt"/>
              </a:rPr>
              <a:t> </a:t>
            </a:r>
            <a:r>
              <a:rPr lang="en-US" sz="2800" dirty="0" err="1">
                <a:solidFill>
                  <a:schemeClr val="tx1"/>
                </a:solidFill>
                <a:latin typeface="+mj-lt"/>
              </a:rPr>
              <a:t>giao</a:t>
            </a:r>
            <a:r>
              <a:rPr lang="en-US" sz="2800" dirty="0">
                <a:solidFill>
                  <a:schemeClr val="tx1"/>
                </a:solidFill>
                <a:latin typeface="+mj-lt"/>
              </a:rPr>
              <a:t> </a:t>
            </a:r>
            <a:r>
              <a:rPr lang="en-US" sz="2800" dirty="0" err="1">
                <a:solidFill>
                  <a:schemeClr val="tx1"/>
                </a:solidFill>
                <a:latin typeface="+mj-lt"/>
              </a:rPr>
              <a:t>từng</a:t>
            </a:r>
            <a:r>
              <a:rPr lang="en-US" sz="2800" dirty="0">
                <a:solidFill>
                  <a:schemeClr val="tx1"/>
                </a:solidFill>
                <a:latin typeface="+mj-lt"/>
              </a:rPr>
              <a:t> </a:t>
            </a:r>
            <a:r>
              <a:rPr lang="en-US" sz="2800" dirty="0" err="1">
                <a:solidFill>
                  <a:schemeClr val="tx1"/>
                </a:solidFill>
                <a:latin typeface="+mj-lt"/>
              </a:rPr>
              <a:t>hạng</a:t>
            </a:r>
            <a:r>
              <a:rPr lang="en-US" sz="2800" dirty="0">
                <a:solidFill>
                  <a:schemeClr val="tx1"/>
                </a:solidFill>
                <a:latin typeface="+mj-lt"/>
              </a:rPr>
              <a:t> </a:t>
            </a:r>
            <a:r>
              <a:rPr lang="en-US" sz="2800" dirty="0" err="1">
                <a:solidFill>
                  <a:schemeClr val="tx1"/>
                </a:solidFill>
                <a:latin typeface="+mj-lt"/>
              </a:rPr>
              <a:t>mục</a:t>
            </a:r>
            <a:r>
              <a:rPr lang="en-US" sz="2800" dirty="0">
                <a:solidFill>
                  <a:schemeClr val="tx1"/>
                </a:solidFill>
                <a:latin typeface="+mj-lt"/>
              </a:rPr>
              <a:t>, </a:t>
            </a:r>
            <a:r>
              <a:rPr lang="en-US" sz="2800" dirty="0" err="1">
                <a:solidFill>
                  <a:schemeClr val="tx1"/>
                </a:solidFill>
                <a:latin typeface="+mj-lt"/>
              </a:rPr>
              <a:t>công</a:t>
            </a:r>
            <a:r>
              <a:rPr lang="en-US" sz="2800" dirty="0">
                <a:solidFill>
                  <a:schemeClr val="tx1"/>
                </a:solidFill>
                <a:latin typeface="+mj-lt"/>
              </a:rPr>
              <a:t> </a:t>
            </a:r>
            <a:r>
              <a:rPr lang="en-US" sz="2800" dirty="0" err="1">
                <a:solidFill>
                  <a:schemeClr val="tx1"/>
                </a:solidFill>
                <a:latin typeface="+mj-lt"/>
              </a:rPr>
              <a:t>đoạn</a:t>
            </a:r>
            <a:r>
              <a:rPr lang="en-US" sz="2800" dirty="0">
                <a:solidFill>
                  <a:schemeClr val="tx1"/>
                </a:solidFill>
                <a:latin typeface="+mj-lt"/>
              </a:rPr>
              <a:t> </a:t>
            </a:r>
            <a:r>
              <a:rPr lang="en-US" sz="2800" dirty="0" err="1">
                <a:solidFill>
                  <a:schemeClr val="tx1"/>
                </a:solidFill>
                <a:latin typeface="+mj-lt"/>
              </a:rPr>
              <a:t>dịch</a:t>
            </a:r>
            <a:r>
              <a:rPr lang="en-US" sz="2800" dirty="0">
                <a:solidFill>
                  <a:schemeClr val="tx1"/>
                </a:solidFill>
                <a:latin typeface="+mj-lt"/>
              </a:rPr>
              <a:t> </a:t>
            </a:r>
            <a:r>
              <a:rPr lang="en-US" sz="2800" dirty="0" err="1">
                <a:solidFill>
                  <a:schemeClr val="tx1"/>
                </a:solidFill>
                <a:latin typeface="+mj-lt"/>
              </a:rPr>
              <a:t>vụ</a:t>
            </a:r>
            <a:endParaRPr lang="en-US" sz="2800" dirty="0">
              <a:solidFill>
                <a:schemeClr val="tx1"/>
              </a:solidFill>
              <a:latin typeface="+mj-lt"/>
            </a:endParaRPr>
          </a:p>
          <a:p>
            <a:pPr marL="0" indent="0" algn="just">
              <a:buNone/>
            </a:pPr>
            <a:r>
              <a:rPr lang="en-US" sz="2800" dirty="0">
                <a:solidFill>
                  <a:schemeClr val="tx1"/>
                </a:solidFill>
                <a:latin typeface="+mj-lt"/>
              </a:rPr>
              <a:t>4. </a:t>
            </a:r>
            <a:r>
              <a:rPr lang="en-US" sz="2800" dirty="0" err="1">
                <a:solidFill>
                  <a:schemeClr val="tx1"/>
                </a:solidFill>
                <a:latin typeface="+mj-lt"/>
              </a:rPr>
              <a:t>Thời</a:t>
            </a:r>
            <a:r>
              <a:rPr lang="en-US" sz="2800" dirty="0">
                <a:solidFill>
                  <a:schemeClr val="tx1"/>
                </a:solidFill>
                <a:latin typeface="+mj-lt"/>
              </a:rPr>
              <a:t> </a:t>
            </a:r>
            <a:r>
              <a:rPr lang="en-US" sz="2800" dirty="0" err="1">
                <a:solidFill>
                  <a:schemeClr val="tx1"/>
                </a:solidFill>
                <a:latin typeface="+mj-lt"/>
              </a:rPr>
              <a:t>điểm</a:t>
            </a:r>
            <a:r>
              <a:rPr lang="en-US" sz="2800" dirty="0">
                <a:solidFill>
                  <a:schemeClr val="tx1"/>
                </a:solidFill>
                <a:latin typeface="+mj-lt"/>
              </a:rPr>
              <a:t> </a:t>
            </a:r>
            <a:r>
              <a:rPr lang="en-US" sz="2800" dirty="0" err="1">
                <a:solidFill>
                  <a:schemeClr val="tx1"/>
                </a:solidFill>
                <a:latin typeface="+mj-lt"/>
              </a:rPr>
              <a:t>lập</a:t>
            </a:r>
            <a:r>
              <a:rPr lang="en-US" sz="2800" dirty="0">
                <a:solidFill>
                  <a:schemeClr val="tx1"/>
                </a:solidFill>
                <a:latin typeface="+mj-lt"/>
              </a:rPr>
              <a:t> </a:t>
            </a:r>
            <a:r>
              <a:rPr lang="en-US" sz="2800" dirty="0" err="1">
                <a:solidFill>
                  <a:schemeClr val="tx1"/>
                </a:solidFill>
                <a:latin typeface="+mj-lt"/>
              </a:rPr>
              <a:t>hóa</a:t>
            </a:r>
            <a:r>
              <a:rPr lang="en-US" sz="2800" dirty="0">
                <a:solidFill>
                  <a:schemeClr val="tx1"/>
                </a:solidFill>
                <a:latin typeface="+mj-lt"/>
              </a:rPr>
              <a:t> </a:t>
            </a:r>
            <a:r>
              <a:rPr lang="en-US" sz="2800" dirty="0" err="1">
                <a:solidFill>
                  <a:schemeClr val="tx1"/>
                </a:solidFill>
                <a:latin typeface="+mj-lt"/>
              </a:rPr>
              <a:t>đơn</a:t>
            </a:r>
            <a:r>
              <a:rPr lang="en-US" sz="2800" dirty="0">
                <a:solidFill>
                  <a:schemeClr val="tx1"/>
                </a:solidFill>
                <a:latin typeface="+mj-lt"/>
              </a:rPr>
              <a:t> </a:t>
            </a:r>
            <a:r>
              <a:rPr lang="en-US" sz="2800" dirty="0" err="1">
                <a:solidFill>
                  <a:schemeClr val="tx1"/>
                </a:solidFill>
                <a:latin typeface="+mj-lt"/>
              </a:rPr>
              <a:t>với</a:t>
            </a:r>
            <a:r>
              <a:rPr lang="en-US" sz="2800" dirty="0">
                <a:solidFill>
                  <a:schemeClr val="tx1"/>
                </a:solidFill>
                <a:latin typeface="+mj-lt"/>
              </a:rPr>
              <a:t> </a:t>
            </a:r>
            <a:r>
              <a:rPr lang="en-US" sz="2800" dirty="0" err="1">
                <a:solidFill>
                  <a:schemeClr val="tx1"/>
                </a:solidFill>
                <a:latin typeface="+mj-lt"/>
              </a:rPr>
              <a:t>một</a:t>
            </a:r>
            <a:r>
              <a:rPr lang="en-US" sz="2800" dirty="0">
                <a:solidFill>
                  <a:schemeClr val="tx1"/>
                </a:solidFill>
                <a:latin typeface="+mj-lt"/>
              </a:rPr>
              <a:t> </a:t>
            </a:r>
            <a:r>
              <a:rPr lang="en-US" sz="2800" dirty="0" err="1">
                <a:solidFill>
                  <a:schemeClr val="tx1"/>
                </a:solidFill>
                <a:latin typeface="+mj-lt"/>
              </a:rPr>
              <a:t>số</a:t>
            </a:r>
            <a:r>
              <a:rPr lang="en-US" sz="2800" dirty="0">
                <a:solidFill>
                  <a:schemeClr val="tx1"/>
                </a:solidFill>
                <a:latin typeface="+mj-lt"/>
              </a:rPr>
              <a:t> </a:t>
            </a:r>
            <a:r>
              <a:rPr lang="en-US" sz="2800" dirty="0" err="1">
                <a:solidFill>
                  <a:schemeClr val="tx1"/>
                </a:solidFill>
                <a:latin typeface="+mj-lt"/>
              </a:rPr>
              <a:t>trường</a:t>
            </a:r>
            <a:r>
              <a:rPr lang="en-US" sz="2800" dirty="0">
                <a:solidFill>
                  <a:schemeClr val="tx1"/>
                </a:solidFill>
                <a:latin typeface="+mj-lt"/>
              </a:rPr>
              <a:t> </a:t>
            </a:r>
            <a:r>
              <a:rPr lang="en-US" sz="2800" dirty="0" err="1">
                <a:solidFill>
                  <a:schemeClr val="tx1"/>
                </a:solidFill>
                <a:latin typeface="+mj-lt"/>
              </a:rPr>
              <a:t>hợp</a:t>
            </a:r>
            <a:r>
              <a:rPr lang="en-US" sz="2800" dirty="0">
                <a:solidFill>
                  <a:schemeClr val="tx1"/>
                </a:solidFill>
                <a:latin typeface="+mj-lt"/>
              </a:rPr>
              <a:t> </a:t>
            </a:r>
            <a:r>
              <a:rPr lang="en-US" sz="2800" dirty="0" err="1">
                <a:solidFill>
                  <a:schemeClr val="tx1"/>
                </a:solidFill>
                <a:latin typeface="+mj-lt"/>
              </a:rPr>
              <a:t>cụ</a:t>
            </a:r>
            <a:r>
              <a:rPr lang="en-US" sz="2800" dirty="0">
                <a:solidFill>
                  <a:schemeClr val="tx1"/>
                </a:solidFill>
                <a:latin typeface="+mj-lt"/>
              </a:rPr>
              <a:t> </a:t>
            </a:r>
            <a:r>
              <a:rPr lang="en-US" sz="2800" dirty="0" err="1">
                <a:solidFill>
                  <a:schemeClr val="tx1"/>
                </a:solidFill>
                <a:latin typeface="+mj-lt"/>
              </a:rPr>
              <a:t>thể</a:t>
            </a:r>
            <a:endParaRPr lang="vi-VN" sz="2800" dirty="0">
              <a:solidFill>
                <a:schemeClr val="tx1"/>
              </a:solidFill>
              <a:latin typeface="+mj-lt"/>
            </a:endParaRPr>
          </a:p>
        </p:txBody>
      </p:sp>
      <p:pic>
        <p:nvPicPr>
          <p:cNvPr id="5" name="Picture 4"/>
          <p:cNvPicPr>
            <a:picLocks noChangeAspect="1"/>
          </p:cNvPicPr>
          <p:nvPr/>
        </p:nvPicPr>
        <p:blipFill>
          <a:blip r:embed="rId2"/>
          <a:stretch>
            <a:fillRect/>
          </a:stretch>
        </p:blipFill>
        <p:spPr>
          <a:xfrm>
            <a:off x="1" y="0"/>
            <a:ext cx="1280159" cy="1061048"/>
          </a:xfrm>
          <a:prstGeom prst="rect">
            <a:avLst/>
          </a:prstGeom>
        </p:spPr>
      </p:pic>
    </p:spTree>
    <p:extLst>
      <p:ext uri="{BB962C8B-B14F-4D97-AF65-F5344CB8AC3E}">
        <p14:creationId xmlns:p14="http://schemas.microsoft.com/office/powerpoint/2010/main" val="338184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1082566"/>
            <a:ext cx="8596668" cy="642425"/>
          </a:xfrm>
        </p:spPr>
        <p:txBody>
          <a:bodyPr anchor="ctr" anchorCtr="0">
            <a:noAutofit/>
          </a:bodyPr>
          <a:lstStyle/>
          <a:p>
            <a:pPr algn="ctr"/>
            <a:r>
              <a:rPr lang="vi-VN" sz="2000" b="1" dirty="0">
                <a:solidFill>
                  <a:srgbClr val="C00000"/>
                </a:solidFill>
                <a:latin typeface="Times New Roman" panose="02020603050405020304" pitchFamily="18" charset="0"/>
                <a:cs typeface="Times New Roman" panose="02020603050405020304" pitchFamily="18" charset="0"/>
              </a:rPr>
              <a:t>T</a:t>
            </a:r>
            <a:r>
              <a:rPr lang="en-US" sz="2000" b="1" dirty="0">
                <a:solidFill>
                  <a:srgbClr val="C00000"/>
                </a:solidFill>
                <a:latin typeface="Times New Roman" panose="02020603050405020304" pitchFamily="18" charset="0"/>
                <a:cs typeface="Times New Roman" panose="02020603050405020304" pitchFamily="18" charset="0"/>
              </a:rPr>
              <a:t>HỜI ĐIỂM LẬP HÓA ĐƠN ĐỐI VỚI MỘT SỐ TRƯỜNG HỢP CỤ THỂ</a:t>
            </a:r>
            <a:endParaRPr lang="vi-VN" sz="2000" b="1" dirty="0">
              <a:solidFill>
                <a:srgbClr val="C00000"/>
              </a:solidFill>
              <a:latin typeface="Times New Roman" panose="02020603050405020304" pitchFamily="18" charset="0"/>
              <a:cs typeface="Times New Roman" panose="02020603050405020304" pitchFamily="18" charset="0"/>
            </a:endParaRPr>
          </a:p>
        </p:txBody>
      </p:sp>
      <p:sp>
        <p:nvSpPr>
          <p:cNvPr id="4" name="Title 1"/>
          <p:cNvSpPr txBox="1">
            <a:spLocks/>
          </p:cNvSpPr>
          <p:nvPr/>
        </p:nvSpPr>
        <p:spPr>
          <a:xfrm>
            <a:off x="1461158" y="430197"/>
            <a:ext cx="4677104"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a:t>
            </a:r>
            <a:endParaRPr lang="vi-VN" sz="20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252025"/>
            <a:ext cx="8596668" cy="3218375"/>
          </a:xfrm>
        </p:spPr>
        <p:txBody>
          <a:bodyPr vert="horz" anchor="ctr" anchorCtr="0">
            <a:normAutofit/>
          </a:bodyPr>
          <a:lstStyle/>
          <a:p>
            <a:pPr algn="just"/>
            <a:r>
              <a:rPr lang="en-US" sz="2000" b="1" dirty="0">
                <a:solidFill>
                  <a:schemeClr val="tx1"/>
                </a:solidFill>
                <a:latin typeface="+mj-lt"/>
              </a:rPr>
              <a:t>14 TRƯỜNG HỢP CỤ THỂ VỀ THỜI ĐIỂM LẬP HÓA ĐƠN </a:t>
            </a:r>
            <a:endParaRPr lang="vi-VN" sz="2000" b="1" dirty="0">
              <a:solidFill>
                <a:schemeClr val="tx1"/>
              </a:solidFill>
              <a:latin typeface="+mj-lt"/>
            </a:endParaRPr>
          </a:p>
        </p:txBody>
      </p:sp>
      <p:pic>
        <p:nvPicPr>
          <p:cNvPr id="5" name="Picture 4"/>
          <p:cNvPicPr>
            <a:picLocks noChangeAspect="1"/>
          </p:cNvPicPr>
          <p:nvPr/>
        </p:nvPicPr>
        <p:blipFill>
          <a:blip r:embed="rId2"/>
          <a:stretch>
            <a:fillRect/>
          </a:stretch>
        </p:blipFill>
        <p:spPr>
          <a:xfrm>
            <a:off x="1" y="0"/>
            <a:ext cx="1280159" cy="1061048"/>
          </a:xfrm>
          <a:prstGeom prst="rect">
            <a:avLst/>
          </a:prstGeom>
        </p:spPr>
      </p:pic>
    </p:spTree>
    <p:extLst>
      <p:ext uri="{BB962C8B-B14F-4D97-AF65-F5344CB8AC3E}">
        <p14:creationId xmlns:p14="http://schemas.microsoft.com/office/powerpoint/2010/main" val="1733077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Content Placeholder 4"/>
          <p:cNvSpPr>
            <a:spLocks noGrp="1"/>
          </p:cNvSpPr>
          <p:nvPr>
            <p:ph idx="1"/>
          </p:nvPr>
        </p:nvSpPr>
        <p:spPr>
          <a:xfrm>
            <a:off x="677334" y="1308295"/>
            <a:ext cx="8596668" cy="4733067"/>
          </a:xfrm>
        </p:spPr>
        <p:txBody>
          <a:bodyPr anchor="ctr" anchorCtr="0">
            <a:normAutofit/>
          </a:bodyPr>
          <a:lstStyle/>
          <a:p>
            <a:pPr algn="just"/>
            <a:r>
              <a:rPr lang="en-US" sz="2000" dirty="0">
                <a:solidFill>
                  <a:schemeClr val="tx1"/>
                </a:solidFill>
                <a:latin typeface="+mj-lt"/>
              </a:rPr>
              <a:t>1. </a:t>
            </a:r>
            <a:r>
              <a:rPr lang="en-US" sz="2000" dirty="0" err="1">
                <a:solidFill>
                  <a:schemeClr val="tx1"/>
                </a:solidFill>
                <a:latin typeface="+mj-lt"/>
              </a:rPr>
              <a:t>Đối</a:t>
            </a:r>
            <a:r>
              <a:rPr lang="en-US" sz="2000" dirty="0">
                <a:solidFill>
                  <a:schemeClr val="tx1"/>
                </a:solidFill>
                <a:latin typeface="+mj-lt"/>
              </a:rPr>
              <a:t> </a:t>
            </a:r>
            <a:r>
              <a:rPr lang="en-US" sz="2000" dirty="0" err="1">
                <a:solidFill>
                  <a:schemeClr val="tx1"/>
                </a:solidFill>
                <a:latin typeface="+mj-lt"/>
              </a:rPr>
              <a:t>tượng</a:t>
            </a:r>
            <a:r>
              <a:rPr lang="en-US" sz="2000" dirty="0">
                <a:solidFill>
                  <a:schemeClr val="tx1"/>
                </a:solidFill>
                <a:latin typeface="+mj-lt"/>
              </a:rPr>
              <a:t> </a:t>
            </a:r>
            <a:r>
              <a:rPr lang="en-US" sz="2000" dirty="0" err="1">
                <a:solidFill>
                  <a:schemeClr val="tx1"/>
                </a:solidFill>
                <a:latin typeface="+mj-lt"/>
              </a:rPr>
              <a:t>áp</a:t>
            </a:r>
            <a:r>
              <a:rPr lang="en-US" sz="2000" dirty="0">
                <a:solidFill>
                  <a:schemeClr val="tx1"/>
                </a:solidFill>
                <a:latin typeface="+mj-lt"/>
              </a:rPr>
              <a:t> </a:t>
            </a:r>
            <a:r>
              <a:rPr lang="en-US" sz="2000" dirty="0" err="1">
                <a:solidFill>
                  <a:schemeClr val="tx1"/>
                </a:solidFill>
                <a:latin typeface="+mj-lt"/>
              </a:rPr>
              <a:t>dụng</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(HĐĐT)</a:t>
            </a:r>
          </a:p>
          <a:p>
            <a:pPr algn="just"/>
            <a:r>
              <a:rPr lang="en-US" sz="2000" dirty="0">
                <a:solidFill>
                  <a:schemeClr val="tx1"/>
                </a:solidFill>
                <a:latin typeface="+mj-lt"/>
              </a:rPr>
              <a:t>2. </a:t>
            </a:r>
            <a:r>
              <a:rPr lang="en-US" sz="2000" dirty="0" err="1">
                <a:solidFill>
                  <a:schemeClr val="tx1"/>
                </a:solidFill>
                <a:latin typeface="+mj-lt"/>
              </a:rPr>
              <a:t>Các</a:t>
            </a:r>
            <a:r>
              <a:rPr lang="en-US" sz="2000" dirty="0">
                <a:solidFill>
                  <a:schemeClr val="tx1"/>
                </a:solidFill>
                <a:latin typeface="+mj-lt"/>
              </a:rPr>
              <a:t> </a:t>
            </a:r>
            <a:r>
              <a:rPr lang="en-US" sz="2000" dirty="0" err="1">
                <a:solidFill>
                  <a:schemeClr val="tx1"/>
                </a:solidFill>
                <a:latin typeface="+mj-lt"/>
              </a:rPr>
              <a:t>trường</a:t>
            </a:r>
            <a:r>
              <a:rPr lang="en-US" sz="2000" dirty="0">
                <a:solidFill>
                  <a:schemeClr val="tx1"/>
                </a:solidFill>
                <a:latin typeface="+mj-lt"/>
              </a:rPr>
              <a:t> </a:t>
            </a:r>
            <a:r>
              <a:rPr lang="en-US" sz="2000" dirty="0" err="1">
                <a:solidFill>
                  <a:schemeClr val="tx1"/>
                </a:solidFill>
                <a:latin typeface="+mj-lt"/>
              </a:rPr>
              <a:t>hợp</a:t>
            </a:r>
            <a:r>
              <a:rPr lang="en-US" sz="2000" dirty="0">
                <a:solidFill>
                  <a:schemeClr val="tx1"/>
                </a:solidFill>
                <a:latin typeface="+mj-lt"/>
              </a:rPr>
              <a:t> </a:t>
            </a:r>
            <a:r>
              <a:rPr lang="en-US" sz="2000" dirty="0" err="1">
                <a:solidFill>
                  <a:schemeClr val="tx1"/>
                </a:solidFill>
                <a:latin typeface="+mj-lt"/>
              </a:rPr>
              <a:t>sử</a:t>
            </a:r>
            <a:r>
              <a:rPr lang="en-US" sz="2000" dirty="0">
                <a:solidFill>
                  <a:schemeClr val="tx1"/>
                </a:solidFill>
                <a:latin typeface="+mj-lt"/>
              </a:rPr>
              <a:t> </a:t>
            </a:r>
            <a:r>
              <a:rPr lang="en-US" sz="2000" dirty="0" err="1">
                <a:solidFill>
                  <a:schemeClr val="tx1"/>
                </a:solidFill>
                <a:latin typeface="+mj-lt"/>
              </a:rPr>
              <a:t>dụng</a:t>
            </a:r>
            <a:r>
              <a:rPr lang="en-US" sz="2000" dirty="0">
                <a:solidFill>
                  <a:schemeClr val="tx1"/>
                </a:solidFill>
                <a:latin typeface="+mj-lt"/>
              </a:rPr>
              <a:t> HĐĐT </a:t>
            </a:r>
            <a:r>
              <a:rPr lang="en-US" sz="2000" dirty="0" err="1">
                <a:solidFill>
                  <a:schemeClr val="tx1"/>
                </a:solidFill>
                <a:latin typeface="+mj-lt"/>
              </a:rPr>
              <a:t>phải</a:t>
            </a:r>
            <a:r>
              <a:rPr lang="en-US" sz="2000" dirty="0">
                <a:solidFill>
                  <a:schemeClr val="tx1"/>
                </a:solidFill>
                <a:latin typeface="+mj-lt"/>
              </a:rPr>
              <a:t> </a:t>
            </a:r>
            <a:r>
              <a:rPr lang="en-US" sz="2000" dirty="0" err="1">
                <a:solidFill>
                  <a:schemeClr val="tx1"/>
                </a:solidFill>
                <a:latin typeface="+mj-lt"/>
              </a:rPr>
              <a:t>trả</a:t>
            </a:r>
            <a:r>
              <a:rPr lang="en-US" sz="2000" dirty="0">
                <a:solidFill>
                  <a:schemeClr val="tx1"/>
                </a:solidFill>
                <a:latin typeface="+mj-lt"/>
              </a:rPr>
              <a:t> </a:t>
            </a:r>
            <a:r>
              <a:rPr lang="en-US" sz="2000" dirty="0" err="1">
                <a:solidFill>
                  <a:schemeClr val="tx1"/>
                </a:solidFill>
                <a:latin typeface="+mj-lt"/>
              </a:rPr>
              <a:t>tiền</a:t>
            </a:r>
            <a:r>
              <a:rPr lang="en-US" sz="2000" dirty="0">
                <a:solidFill>
                  <a:schemeClr val="tx1"/>
                </a:solidFill>
                <a:latin typeface="+mj-lt"/>
              </a:rPr>
              <a:t>/</a:t>
            </a:r>
            <a:r>
              <a:rPr lang="en-US" sz="2000" dirty="0" err="1">
                <a:solidFill>
                  <a:schemeClr val="tx1"/>
                </a:solidFill>
                <a:latin typeface="+mj-lt"/>
              </a:rPr>
              <a:t>không</a:t>
            </a:r>
            <a:r>
              <a:rPr lang="en-US" sz="2000" dirty="0">
                <a:solidFill>
                  <a:schemeClr val="tx1"/>
                </a:solidFill>
                <a:latin typeface="+mj-lt"/>
              </a:rPr>
              <a:t> </a:t>
            </a:r>
            <a:r>
              <a:rPr lang="en-US" sz="2000" dirty="0" err="1">
                <a:solidFill>
                  <a:schemeClr val="tx1"/>
                </a:solidFill>
                <a:latin typeface="+mj-lt"/>
              </a:rPr>
              <a:t>phải</a:t>
            </a:r>
            <a:r>
              <a:rPr lang="en-US" sz="2000" dirty="0">
                <a:solidFill>
                  <a:schemeClr val="tx1"/>
                </a:solidFill>
                <a:latin typeface="+mj-lt"/>
              </a:rPr>
              <a:t> </a:t>
            </a:r>
            <a:r>
              <a:rPr lang="en-US" sz="2000" dirty="0" err="1">
                <a:solidFill>
                  <a:schemeClr val="tx1"/>
                </a:solidFill>
                <a:latin typeface="+mj-lt"/>
              </a:rPr>
              <a:t>trả</a:t>
            </a:r>
            <a:r>
              <a:rPr lang="en-US" sz="2000" dirty="0">
                <a:solidFill>
                  <a:schemeClr val="tx1"/>
                </a:solidFill>
                <a:latin typeface="+mj-lt"/>
              </a:rPr>
              <a:t> </a:t>
            </a:r>
            <a:r>
              <a:rPr lang="en-US" sz="2000" dirty="0" err="1">
                <a:solidFill>
                  <a:schemeClr val="tx1"/>
                </a:solidFill>
                <a:latin typeface="+mj-lt"/>
              </a:rPr>
              <a:t>tiền</a:t>
            </a:r>
            <a:r>
              <a:rPr lang="en-US" sz="2000" dirty="0">
                <a:solidFill>
                  <a:schemeClr val="tx1"/>
                </a:solidFill>
                <a:latin typeface="+mj-lt"/>
              </a:rPr>
              <a:t> </a:t>
            </a:r>
            <a:r>
              <a:rPr lang="en-US" sz="2000" dirty="0" err="1">
                <a:solidFill>
                  <a:schemeClr val="tx1"/>
                </a:solidFill>
                <a:latin typeface="+mj-lt"/>
              </a:rPr>
              <a:t>dịch</a:t>
            </a:r>
            <a:r>
              <a:rPr lang="en-US" sz="2000" dirty="0">
                <a:solidFill>
                  <a:schemeClr val="tx1"/>
                </a:solidFill>
                <a:latin typeface="+mj-lt"/>
              </a:rPr>
              <a:t> </a:t>
            </a:r>
            <a:r>
              <a:rPr lang="en-US" sz="2000" dirty="0" err="1">
                <a:solidFill>
                  <a:schemeClr val="tx1"/>
                </a:solidFill>
                <a:latin typeface="+mj-lt"/>
              </a:rPr>
              <a:t>vụ</a:t>
            </a:r>
            <a:endParaRPr lang="en-US" sz="2000" dirty="0">
              <a:solidFill>
                <a:schemeClr val="tx1"/>
              </a:solidFill>
              <a:latin typeface="+mj-lt"/>
            </a:endParaRPr>
          </a:p>
          <a:p>
            <a:pPr algn="just"/>
            <a:r>
              <a:rPr lang="en-US" sz="2000" dirty="0">
                <a:solidFill>
                  <a:schemeClr val="tx1"/>
                </a:solidFill>
                <a:latin typeface="+mj-lt"/>
              </a:rPr>
              <a:t>3. </a:t>
            </a:r>
            <a:r>
              <a:rPr lang="en-US" sz="2000" dirty="0" err="1">
                <a:solidFill>
                  <a:schemeClr val="tx1"/>
                </a:solidFill>
                <a:latin typeface="+mj-lt"/>
              </a:rPr>
              <a:t>Ủy</a:t>
            </a:r>
            <a:r>
              <a:rPr lang="en-US" sz="2000" dirty="0">
                <a:solidFill>
                  <a:schemeClr val="tx1"/>
                </a:solidFill>
                <a:latin typeface="+mj-lt"/>
              </a:rPr>
              <a:t> </a:t>
            </a:r>
            <a:r>
              <a:rPr lang="en-US" sz="2000" dirty="0" err="1">
                <a:solidFill>
                  <a:schemeClr val="tx1"/>
                </a:solidFill>
                <a:latin typeface="+mj-lt"/>
              </a:rPr>
              <a:t>nhiệm</a:t>
            </a:r>
            <a:r>
              <a:rPr lang="en-US" sz="2000" dirty="0">
                <a:solidFill>
                  <a:schemeClr val="tx1"/>
                </a:solidFill>
                <a:latin typeface="+mj-lt"/>
              </a:rPr>
              <a:t> </a:t>
            </a:r>
            <a:r>
              <a:rPr lang="en-US" sz="2000" dirty="0" err="1">
                <a:solidFill>
                  <a:schemeClr val="tx1"/>
                </a:solidFill>
                <a:latin typeface="+mj-lt"/>
              </a:rPr>
              <a:t>lập</a:t>
            </a:r>
            <a:r>
              <a:rPr lang="en-US" sz="2000" dirty="0">
                <a:solidFill>
                  <a:schemeClr val="tx1"/>
                </a:solidFill>
                <a:latin typeface="+mj-lt"/>
              </a:rPr>
              <a:t> HĐĐT</a:t>
            </a:r>
          </a:p>
          <a:p>
            <a:pPr algn="just"/>
            <a:r>
              <a:rPr lang="en-US" sz="2000" dirty="0">
                <a:solidFill>
                  <a:schemeClr val="tx1"/>
                </a:solidFill>
                <a:latin typeface="+mj-lt"/>
              </a:rPr>
              <a:t>4. </a:t>
            </a:r>
            <a:r>
              <a:rPr lang="en-US" sz="2000" dirty="0" err="1">
                <a:solidFill>
                  <a:schemeClr val="tx1"/>
                </a:solidFill>
                <a:latin typeface="+mj-lt"/>
              </a:rPr>
              <a:t>Định</a:t>
            </a:r>
            <a:r>
              <a:rPr lang="en-US" sz="2000" dirty="0">
                <a:solidFill>
                  <a:schemeClr val="tx1"/>
                </a:solidFill>
                <a:latin typeface="+mj-lt"/>
              </a:rPr>
              <a:t> </a:t>
            </a:r>
            <a:r>
              <a:rPr lang="en-US" sz="2000" dirty="0" err="1">
                <a:solidFill>
                  <a:schemeClr val="tx1"/>
                </a:solidFill>
                <a:latin typeface="+mj-lt"/>
              </a:rPr>
              <a:t>dạng</a:t>
            </a:r>
            <a:r>
              <a:rPr lang="en-US" sz="2000" dirty="0">
                <a:solidFill>
                  <a:schemeClr val="tx1"/>
                </a:solidFill>
                <a:latin typeface="+mj-lt"/>
              </a:rPr>
              <a:t> </a:t>
            </a:r>
            <a:r>
              <a:rPr lang="en-US" sz="2000" dirty="0" err="1">
                <a:solidFill>
                  <a:schemeClr val="tx1"/>
                </a:solidFill>
                <a:latin typeface="+mj-lt"/>
              </a:rPr>
              <a:t>lập</a:t>
            </a:r>
            <a:r>
              <a:rPr lang="en-US" sz="2000" dirty="0">
                <a:solidFill>
                  <a:schemeClr val="tx1"/>
                </a:solidFill>
                <a:latin typeface="+mj-lt"/>
              </a:rPr>
              <a:t> HĐĐT</a:t>
            </a:r>
          </a:p>
          <a:p>
            <a:pPr algn="just"/>
            <a:r>
              <a:rPr lang="en-US" sz="2000" dirty="0">
                <a:solidFill>
                  <a:schemeClr val="tx1"/>
                </a:solidFill>
                <a:latin typeface="+mj-lt"/>
              </a:rPr>
              <a:t>5. </a:t>
            </a:r>
            <a:r>
              <a:rPr lang="en-US" sz="2000" dirty="0" err="1">
                <a:solidFill>
                  <a:schemeClr val="tx1"/>
                </a:solidFill>
                <a:latin typeface="+mj-lt"/>
              </a:rPr>
              <a:t>Nội</a:t>
            </a:r>
            <a:r>
              <a:rPr lang="en-US" sz="2000" dirty="0">
                <a:solidFill>
                  <a:schemeClr val="tx1"/>
                </a:solidFill>
                <a:latin typeface="+mj-lt"/>
              </a:rPr>
              <a:t> dung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ký</a:t>
            </a:r>
            <a:r>
              <a:rPr lang="en-US" sz="2000" dirty="0">
                <a:solidFill>
                  <a:schemeClr val="tx1"/>
                </a:solidFill>
                <a:latin typeface="+mj-lt"/>
              </a:rPr>
              <a:t> </a:t>
            </a:r>
            <a:r>
              <a:rPr lang="en-US" sz="2000" dirty="0" err="1">
                <a:solidFill>
                  <a:schemeClr val="tx1"/>
                </a:solidFill>
                <a:latin typeface="+mj-lt"/>
              </a:rPr>
              <a:t>hiệu</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ký</a:t>
            </a:r>
            <a:r>
              <a:rPr lang="en-US" sz="2000" dirty="0">
                <a:solidFill>
                  <a:schemeClr val="tx1"/>
                </a:solidFill>
                <a:latin typeface="+mj-lt"/>
              </a:rPr>
              <a:t> </a:t>
            </a:r>
            <a:r>
              <a:rPr lang="en-US" sz="2000" dirty="0" err="1">
                <a:solidFill>
                  <a:schemeClr val="tx1"/>
                </a:solidFill>
                <a:latin typeface="+mj-lt"/>
              </a:rPr>
              <a:t>hiệu</a:t>
            </a:r>
            <a:r>
              <a:rPr lang="en-US" sz="2000" dirty="0">
                <a:solidFill>
                  <a:schemeClr val="tx1"/>
                </a:solidFill>
                <a:latin typeface="+mj-lt"/>
              </a:rPr>
              <a:t> </a:t>
            </a:r>
            <a:r>
              <a:rPr lang="en-US" sz="2000" dirty="0" err="1">
                <a:solidFill>
                  <a:schemeClr val="tx1"/>
                </a:solidFill>
                <a:latin typeface="+mj-lt"/>
              </a:rPr>
              <a:t>mẫu</a:t>
            </a:r>
            <a:r>
              <a:rPr lang="en-US" sz="2000" dirty="0">
                <a:solidFill>
                  <a:schemeClr val="tx1"/>
                </a:solidFill>
                <a:latin typeface="+mj-lt"/>
              </a:rPr>
              <a:t> </a:t>
            </a:r>
            <a:r>
              <a:rPr lang="en-US" sz="2000" dirty="0" err="1">
                <a:solidFill>
                  <a:schemeClr val="tx1"/>
                </a:solidFill>
                <a:latin typeface="+mj-lt"/>
              </a:rPr>
              <a:t>số</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a:t>
            </a:r>
          </a:p>
          <a:p>
            <a:pPr algn="just"/>
            <a:r>
              <a:rPr lang="en-US" sz="2000" dirty="0">
                <a:solidFill>
                  <a:schemeClr val="tx1"/>
                </a:solidFill>
                <a:latin typeface="+mj-lt"/>
              </a:rPr>
              <a:t>6. </a:t>
            </a:r>
            <a:r>
              <a:rPr lang="en-US" sz="2000" dirty="0" err="1">
                <a:solidFill>
                  <a:schemeClr val="tx1"/>
                </a:solidFill>
                <a:latin typeface="+mj-lt"/>
              </a:rPr>
              <a:t>Cấp</a:t>
            </a:r>
            <a:r>
              <a:rPr lang="en-US" sz="2000" dirty="0">
                <a:solidFill>
                  <a:schemeClr val="tx1"/>
                </a:solidFill>
                <a:latin typeface="+mj-lt"/>
              </a:rPr>
              <a:t> HĐĐT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cơ</a:t>
            </a:r>
            <a:r>
              <a:rPr lang="en-US" sz="2000" dirty="0">
                <a:solidFill>
                  <a:schemeClr val="tx1"/>
                </a:solidFill>
                <a:latin typeface="+mj-lt"/>
              </a:rPr>
              <a:t> </a:t>
            </a:r>
            <a:r>
              <a:rPr lang="en-US" sz="2000" dirty="0" err="1">
                <a:solidFill>
                  <a:schemeClr val="tx1"/>
                </a:solidFill>
                <a:latin typeface="+mj-lt"/>
              </a:rPr>
              <a:t>quan</a:t>
            </a:r>
            <a:r>
              <a:rPr lang="en-US" sz="2000" dirty="0">
                <a:solidFill>
                  <a:schemeClr val="tx1"/>
                </a:solidFill>
                <a:latin typeface="+mj-lt"/>
              </a:rPr>
              <a:t> </a:t>
            </a:r>
            <a:r>
              <a:rPr lang="en-US" sz="2000" dirty="0" err="1">
                <a:solidFill>
                  <a:schemeClr val="tx1"/>
                </a:solidFill>
                <a:latin typeface="+mj-lt"/>
              </a:rPr>
              <a:t>thuế</a:t>
            </a:r>
            <a:r>
              <a:rPr lang="en-US" sz="2000" dirty="0">
                <a:solidFill>
                  <a:schemeClr val="tx1"/>
                </a:solidFill>
                <a:latin typeface="+mj-lt"/>
              </a:rPr>
              <a:t> </a:t>
            </a:r>
            <a:r>
              <a:rPr lang="en-US" sz="2000" dirty="0" err="1">
                <a:solidFill>
                  <a:schemeClr val="tx1"/>
                </a:solidFill>
                <a:latin typeface="+mj-lt"/>
              </a:rPr>
              <a:t>theo</a:t>
            </a:r>
            <a:r>
              <a:rPr lang="en-US" sz="2000" dirty="0">
                <a:solidFill>
                  <a:schemeClr val="tx1"/>
                </a:solidFill>
                <a:latin typeface="+mj-lt"/>
              </a:rPr>
              <a:t> </a:t>
            </a:r>
            <a:r>
              <a:rPr lang="en-US" sz="2000" dirty="0" err="1">
                <a:solidFill>
                  <a:schemeClr val="tx1"/>
                </a:solidFill>
                <a:latin typeface="+mj-lt"/>
              </a:rPr>
              <a:t>từng</a:t>
            </a:r>
            <a:r>
              <a:rPr lang="en-US" sz="2000" dirty="0">
                <a:solidFill>
                  <a:schemeClr val="tx1"/>
                </a:solidFill>
                <a:latin typeface="+mj-lt"/>
              </a:rPr>
              <a:t> </a:t>
            </a:r>
            <a:r>
              <a:rPr lang="en-US" sz="2000" dirty="0" err="1">
                <a:solidFill>
                  <a:schemeClr val="tx1"/>
                </a:solidFill>
                <a:latin typeface="+mj-lt"/>
              </a:rPr>
              <a:t>lần</a:t>
            </a:r>
            <a:r>
              <a:rPr lang="en-US" sz="2000" dirty="0">
                <a:solidFill>
                  <a:schemeClr val="tx1"/>
                </a:solidFill>
                <a:latin typeface="+mj-lt"/>
              </a:rPr>
              <a:t> </a:t>
            </a:r>
            <a:r>
              <a:rPr lang="en-US" sz="2000" dirty="0" err="1">
                <a:solidFill>
                  <a:schemeClr val="tx1"/>
                </a:solidFill>
                <a:latin typeface="+mj-lt"/>
              </a:rPr>
              <a:t>phát</a:t>
            </a:r>
            <a:r>
              <a:rPr lang="en-US" sz="2000" dirty="0">
                <a:solidFill>
                  <a:schemeClr val="tx1"/>
                </a:solidFill>
                <a:latin typeface="+mj-lt"/>
              </a:rPr>
              <a:t> </a:t>
            </a:r>
            <a:r>
              <a:rPr lang="en-US" sz="2000" dirty="0" err="1">
                <a:solidFill>
                  <a:schemeClr val="tx1"/>
                </a:solidFill>
                <a:latin typeface="+mj-lt"/>
              </a:rPr>
              <a:t>sinh</a:t>
            </a:r>
            <a:endParaRPr lang="en-US" sz="2000" dirty="0">
              <a:solidFill>
                <a:schemeClr val="tx1"/>
              </a:solidFill>
              <a:latin typeface="+mj-lt"/>
            </a:endParaRPr>
          </a:p>
          <a:p>
            <a:pPr algn="just"/>
            <a:r>
              <a:rPr lang="en-US" sz="2000" dirty="0">
                <a:solidFill>
                  <a:schemeClr val="tx1"/>
                </a:solidFill>
                <a:latin typeface="+mj-lt"/>
              </a:rPr>
              <a:t>7. </a:t>
            </a:r>
            <a:r>
              <a:rPr lang="en-US" sz="2000" dirty="0" err="1">
                <a:solidFill>
                  <a:schemeClr val="tx1"/>
                </a:solidFill>
                <a:latin typeface="+mj-lt"/>
              </a:rPr>
              <a:t>Ngừng</a:t>
            </a:r>
            <a:r>
              <a:rPr lang="en-US" sz="2000" dirty="0">
                <a:solidFill>
                  <a:schemeClr val="tx1"/>
                </a:solidFill>
                <a:latin typeface="+mj-lt"/>
              </a:rPr>
              <a:t> </a:t>
            </a:r>
            <a:r>
              <a:rPr lang="en-US" sz="2000" dirty="0" err="1">
                <a:solidFill>
                  <a:schemeClr val="tx1"/>
                </a:solidFill>
                <a:latin typeface="+mj-lt"/>
              </a:rPr>
              <a:t>sử</a:t>
            </a:r>
            <a:r>
              <a:rPr lang="en-US" sz="2000" dirty="0">
                <a:solidFill>
                  <a:schemeClr val="tx1"/>
                </a:solidFill>
                <a:latin typeface="+mj-lt"/>
              </a:rPr>
              <a:t> </a:t>
            </a:r>
            <a:r>
              <a:rPr lang="en-US" sz="2000" dirty="0" err="1">
                <a:solidFill>
                  <a:schemeClr val="tx1"/>
                </a:solidFill>
                <a:latin typeface="+mj-lt"/>
              </a:rPr>
              <a:t>dụng</a:t>
            </a:r>
            <a:r>
              <a:rPr lang="en-US" sz="2000" dirty="0">
                <a:solidFill>
                  <a:schemeClr val="tx1"/>
                </a:solidFill>
                <a:latin typeface="+mj-lt"/>
              </a:rPr>
              <a:t> HĐĐT</a:t>
            </a:r>
          </a:p>
          <a:p>
            <a:pPr algn="just"/>
            <a:r>
              <a:rPr lang="en-US" sz="2000" dirty="0">
                <a:solidFill>
                  <a:schemeClr val="tx1"/>
                </a:solidFill>
                <a:latin typeface="+mj-lt"/>
              </a:rPr>
              <a:t>8. </a:t>
            </a:r>
            <a:r>
              <a:rPr lang="en-US" sz="2000" dirty="0" err="1">
                <a:solidFill>
                  <a:schemeClr val="tx1"/>
                </a:solidFill>
                <a:latin typeface="+mj-lt"/>
              </a:rPr>
              <a:t>Lập</a:t>
            </a:r>
            <a:r>
              <a:rPr lang="en-US" sz="2000" dirty="0">
                <a:solidFill>
                  <a:schemeClr val="tx1"/>
                </a:solidFill>
                <a:latin typeface="+mj-lt"/>
              </a:rPr>
              <a:t> HĐĐT</a:t>
            </a:r>
          </a:p>
          <a:p>
            <a:pPr algn="just"/>
            <a:r>
              <a:rPr lang="en-US" sz="2000" dirty="0">
                <a:solidFill>
                  <a:schemeClr val="tx1"/>
                </a:solidFill>
                <a:latin typeface="+mj-lt"/>
              </a:rPr>
              <a:t>9. </a:t>
            </a:r>
            <a:r>
              <a:rPr lang="en-US" sz="2000" dirty="0" err="1">
                <a:solidFill>
                  <a:schemeClr val="tx1"/>
                </a:solidFill>
                <a:latin typeface="+mj-lt"/>
              </a:rPr>
              <a:t>Xử</a:t>
            </a:r>
            <a:r>
              <a:rPr lang="en-US" sz="2000" dirty="0">
                <a:solidFill>
                  <a:schemeClr val="tx1"/>
                </a:solidFill>
                <a:latin typeface="+mj-lt"/>
              </a:rPr>
              <a:t> </a:t>
            </a:r>
            <a:r>
              <a:rPr lang="en-US" sz="2000" dirty="0" err="1">
                <a:solidFill>
                  <a:schemeClr val="tx1"/>
                </a:solidFill>
                <a:latin typeface="+mj-lt"/>
              </a:rPr>
              <a:t>lý</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sai</a:t>
            </a:r>
            <a:r>
              <a:rPr lang="en-US" sz="2000" dirty="0">
                <a:solidFill>
                  <a:schemeClr val="tx1"/>
                </a:solidFill>
                <a:latin typeface="+mj-lt"/>
              </a:rPr>
              <a:t> </a:t>
            </a:r>
            <a:r>
              <a:rPr lang="en-US" sz="2000" dirty="0" err="1">
                <a:solidFill>
                  <a:schemeClr val="tx1"/>
                </a:solidFill>
                <a:latin typeface="+mj-lt"/>
              </a:rPr>
              <a:t>sót</a:t>
            </a:r>
            <a:endParaRPr lang="en-US" sz="2000" dirty="0">
              <a:solidFill>
                <a:schemeClr val="tx1"/>
              </a:solidFill>
              <a:latin typeface="+mj-lt"/>
            </a:endParaRPr>
          </a:p>
        </p:txBody>
      </p:sp>
      <p:sp>
        <p:nvSpPr>
          <p:cNvPr id="6" name="Title 1"/>
          <p:cNvSpPr txBox="1">
            <a:spLocks/>
          </p:cNvSpPr>
          <p:nvPr/>
        </p:nvSpPr>
        <p:spPr>
          <a:xfrm>
            <a:off x="1408907" y="284824"/>
            <a:ext cx="4677104"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a:t>
            </a:r>
            <a:endParaRPr lang="vi-VN" sz="2000" b="1" dirty="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2637116" y="846630"/>
            <a:ext cx="5489516" cy="461665"/>
          </a:xfrm>
          <a:prstGeom prst="rect">
            <a:avLst/>
          </a:prstGeom>
        </p:spPr>
        <p:txBody>
          <a:bodyPr wrap="none">
            <a:spAutoFit/>
          </a:bodyPr>
          <a:lstStyle/>
          <a:p>
            <a:r>
              <a:rPr lang="en-US" sz="2400" b="1" dirty="0">
                <a:solidFill>
                  <a:srgbClr val="C00000"/>
                </a:solidFill>
                <a:latin typeface="Times New Roman" panose="02020603050405020304" pitchFamily="18" charset="0"/>
                <a:cs typeface="Times New Roman" panose="02020603050405020304" pitchFamily="18" charset="0"/>
              </a:rPr>
              <a:t>B. QUY ĐỊNH VỀ HÓA ĐƠN ĐIỆN TỬ</a:t>
            </a:r>
          </a:p>
        </p:txBody>
      </p:sp>
      <p:pic>
        <p:nvPicPr>
          <p:cNvPr id="7" name="Picture 6"/>
          <p:cNvPicPr>
            <a:picLocks noChangeAspect="1"/>
          </p:cNvPicPr>
          <p:nvPr/>
        </p:nvPicPr>
        <p:blipFill>
          <a:blip r:embed="rId2"/>
          <a:stretch>
            <a:fillRect/>
          </a:stretch>
        </p:blipFill>
        <p:spPr>
          <a:xfrm>
            <a:off x="1" y="0"/>
            <a:ext cx="1280159" cy="1061048"/>
          </a:xfrm>
          <a:prstGeom prst="rect">
            <a:avLst/>
          </a:prstGeom>
        </p:spPr>
      </p:pic>
    </p:spTree>
    <p:extLst>
      <p:ext uri="{BB962C8B-B14F-4D97-AF65-F5344CB8AC3E}">
        <p14:creationId xmlns:p14="http://schemas.microsoft.com/office/powerpoint/2010/main" val="33384606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Content Placeholder 4"/>
          <p:cNvSpPr>
            <a:spLocks noGrp="1"/>
          </p:cNvSpPr>
          <p:nvPr>
            <p:ph idx="1"/>
          </p:nvPr>
        </p:nvSpPr>
        <p:spPr>
          <a:xfrm>
            <a:off x="677333" y="1308295"/>
            <a:ext cx="9328815" cy="4733067"/>
          </a:xfrm>
        </p:spPr>
        <p:txBody>
          <a:bodyPr anchor="ctr" anchorCtr="0">
            <a:normAutofit/>
          </a:bodyPr>
          <a:lstStyle/>
          <a:p>
            <a:pPr algn="just"/>
            <a:r>
              <a:rPr lang="en-US" sz="2000" dirty="0">
                <a:solidFill>
                  <a:schemeClr val="tx1"/>
                </a:solidFill>
                <a:latin typeface="+mj-lt"/>
              </a:rPr>
              <a:t>10. </a:t>
            </a:r>
            <a:r>
              <a:rPr lang="en-US" sz="2000" dirty="0" err="1">
                <a:solidFill>
                  <a:schemeClr val="tx1"/>
                </a:solidFill>
                <a:latin typeface="+mj-lt"/>
              </a:rPr>
              <a:t>Xử</a:t>
            </a:r>
            <a:r>
              <a:rPr lang="en-US" sz="2000" dirty="0">
                <a:solidFill>
                  <a:schemeClr val="tx1"/>
                </a:solidFill>
                <a:latin typeface="+mj-lt"/>
              </a:rPr>
              <a:t> </a:t>
            </a:r>
            <a:r>
              <a:rPr lang="en-US" sz="2000" dirty="0" err="1">
                <a:solidFill>
                  <a:schemeClr val="tx1"/>
                </a:solidFill>
                <a:latin typeface="+mj-lt"/>
              </a:rPr>
              <a:t>lý</a:t>
            </a:r>
            <a:r>
              <a:rPr lang="en-US" sz="2000" dirty="0">
                <a:solidFill>
                  <a:schemeClr val="tx1"/>
                </a:solidFill>
                <a:latin typeface="+mj-lt"/>
              </a:rPr>
              <a:t> </a:t>
            </a:r>
            <a:r>
              <a:rPr lang="en-US" sz="2000" dirty="0" err="1">
                <a:solidFill>
                  <a:schemeClr val="tx1"/>
                </a:solidFill>
                <a:latin typeface="+mj-lt"/>
              </a:rPr>
              <a:t>sự</a:t>
            </a:r>
            <a:r>
              <a:rPr lang="en-US" sz="2000" dirty="0">
                <a:solidFill>
                  <a:schemeClr val="tx1"/>
                </a:solidFill>
                <a:latin typeface="+mj-lt"/>
              </a:rPr>
              <a:t> </a:t>
            </a:r>
            <a:r>
              <a:rPr lang="en-US" sz="2000" dirty="0" err="1">
                <a:solidFill>
                  <a:schemeClr val="tx1"/>
                </a:solidFill>
                <a:latin typeface="+mj-lt"/>
              </a:rPr>
              <a:t>cố</a:t>
            </a:r>
            <a:r>
              <a:rPr lang="en-US" sz="2000" dirty="0">
                <a:solidFill>
                  <a:schemeClr val="tx1"/>
                </a:solidFill>
                <a:latin typeface="+mj-lt"/>
              </a:rPr>
              <a:t> </a:t>
            </a:r>
            <a:r>
              <a:rPr lang="en-US" sz="2000" dirty="0" err="1">
                <a:solidFill>
                  <a:schemeClr val="tx1"/>
                </a:solidFill>
                <a:latin typeface="+mj-lt"/>
              </a:rPr>
              <a:t>đối</a:t>
            </a:r>
            <a:r>
              <a:rPr lang="en-US" sz="2000" dirty="0">
                <a:solidFill>
                  <a:schemeClr val="tx1"/>
                </a:solidFill>
                <a:latin typeface="+mj-lt"/>
              </a:rPr>
              <a:t> </a:t>
            </a:r>
            <a:r>
              <a:rPr lang="en-US" sz="2000" dirty="0" err="1">
                <a:solidFill>
                  <a:schemeClr val="tx1"/>
                </a:solidFill>
                <a:latin typeface="+mj-lt"/>
              </a:rPr>
              <a:t>với</a:t>
            </a:r>
            <a:r>
              <a:rPr lang="en-US" sz="2000" dirty="0">
                <a:solidFill>
                  <a:schemeClr val="tx1"/>
                </a:solidFill>
                <a:latin typeface="+mj-lt"/>
              </a:rPr>
              <a:t> HĐĐT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cơ</a:t>
            </a:r>
            <a:r>
              <a:rPr lang="en-US" sz="2000" dirty="0">
                <a:solidFill>
                  <a:schemeClr val="tx1"/>
                </a:solidFill>
                <a:latin typeface="+mj-lt"/>
              </a:rPr>
              <a:t> </a:t>
            </a:r>
            <a:r>
              <a:rPr lang="en-US" sz="2000" dirty="0" err="1">
                <a:solidFill>
                  <a:schemeClr val="tx1"/>
                </a:solidFill>
                <a:latin typeface="+mj-lt"/>
              </a:rPr>
              <a:t>quan</a:t>
            </a:r>
            <a:r>
              <a:rPr lang="en-US" sz="2000" dirty="0">
                <a:solidFill>
                  <a:schemeClr val="tx1"/>
                </a:solidFill>
                <a:latin typeface="+mj-lt"/>
              </a:rPr>
              <a:t> </a:t>
            </a:r>
            <a:r>
              <a:rPr lang="en-US" sz="2000" dirty="0" err="1">
                <a:solidFill>
                  <a:schemeClr val="tx1"/>
                </a:solidFill>
                <a:latin typeface="+mj-lt"/>
              </a:rPr>
              <a:t>thuế</a:t>
            </a:r>
            <a:endParaRPr lang="en-US" sz="2000" dirty="0">
              <a:solidFill>
                <a:schemeClr val="tx1"/>
              </a:solidFill>
              <a:latin typeface="+mj-lt"/>
            </a:endParaRPr>
          </a:p>
          <a:p>
            <a:pPr algn="just"/>
            <a:r>
              <a:rPr lang="en-US" sz="2000" dirty="0">
                <a:solidFill>
                  <a:schemeClr val="tx1"/>
                </a:solidFill>
                <a:latin typeface="+mj-lt"/>
              </a:rPr>
              <a:t>11. </a:t>
            </a:r>
            <a:r>
              <a:rPr lang="en-US" sz="2000" dirty="0" err="1">
                <a:solidFill>
                  <a:schemeClr val="tx1"/>
                </a:solidFill>
                <a:latin typeface="+mj-lt"/>
              </a:rPr>
              <a:t>Trách</a:t>
            </a:r>
            <a:r>
              <a:rPr lang="en-US" sz="2000" dirty="0">
                <a:solidFill>
                  <a:schemeClr val="tx1"/>
                </a:solidFill>
                <a:latin typeface="+mj-lt"/>
              </a:rPr>
              <a:t> </a:t>
            </a:r>
            <a:r>
              <a:rPr lang="en-US" sz="2000" dirty="0" err="1">
                <a:solidFill>
                  <a:schemeClr val="tx1"/>
                </a:solidFill>
                <a:latin typeface="+mj-lt"/>
              </a:rPr>
              <a:t>nhiệm</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người</a:t>
            </a:r>
            <a:r>
              <a:rPr lang="en-US" sz="2000" dirty="0">
                <a:solidFill>
                  <a:schemeClr val="tx1"/>
                </a:solidFill>
                <a:latin typeface="+mj-lt"/>
              </a:rPr>
              <a:t> </a:t>
            </a:r>
            <a:r>
              <a:rPr lang="en-US" sz="2000" dirty="0" err="1">
                <a:solidFill>
                  <a:schemeClr val="tx1"/>
                </a:solidFill>
                <a:latin typeface="+mj-lt"/>
              </a:rPr>
              <a:t>bán</a:t>
            </a:r>
            <a:r>
              <a:rPr lang="en-US" sz="2000" dirty="0">
                <a:solidFill>
                  <a:schemeClr val="tx1"/>
                </a:solidFill>
                <a:latin typeface="+mj-lt"/>
              </a:rPr>
              <a:t> </a:t>
            </a:r>
            <a:r>
              <a:rPr lang="en-US" sz="2000" dirty="0" err="1">
                <a:solidFill>
                  <a:schemeClr val="tx1"/>
                </a:solidFill>
                <a:latin typeface="+mj-lt"/>
              </a:rPr>
              <a:t>hàng</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cung</a:t>
            </a:r>
            <a:r>
              <a:rPr lang="en-US" sz="2000" dirty="0">
                <a:solidFill>
                  <a:schemeClr val="tx1"/>
                </a:solidFill>
                <a:latin typeface="+mj-lt"/>
              </a:rPr>
              <a:t> </a:t>
            </a:r>
            <a:r>
              <a:rPr lang="en-US" sz="2000" dirty="0" err="1">
                <a:solidFill>
                  <a:schemeClr val="tx1"/>
                </a:solidFill>
                <a:latin typeface="+mj-lt"/>
              </a:rPr>
              <a:t>cấp</a:t>
            </a:r>
            <a:r>
              <a:rPr lang="en-US" sz="2000" dirty="0">
                <a:solidFill>
                  <a:schemeClr val="tx1"/>
                </a:solidFill>
                <a:latin typeface="+mj-lt"/>
              </a:rPr>
              <a:t> </a:t>
            </a:r>
            <a:r>
              <a:rPr lang="en-US" sz="2000" dirty="0" err="1">
                <a:solidFill>
                  <a:schemeClr val="tx1"/>
                </a:solidFill>
                <a:latin typeface="+mj-lt"/>
              </a:rPr>
              <a:t>dịch</a:t>
            </a:r>
            <a:r>
              <a:rPr lang="en-US" sz="2000" dirty="0">
                <a:solidFill>
                  <a:schemeClr val="tx1"/>
                </a:solidFill>
                <a:latin typeface="+mj-lt"/>
              </a:rPr>
              <a:t> </a:t>
            </a:r>
            <a:r>
              <a:rPr lang="en-US" sz="2000" dirty="0" err="1">
                <a:solidFill>
                  <a:schemeClr val="tx1"/>
                </a:solidFill>
                <a:latin typeface="+mj-lt"/>
              </a:rPr>
              <a:t>vụ</a:t>
            </a:r>
            <a:r>
              <a:rPr lang="en-US" sz="2000" dirty="0">
                <a:solidFill>
                  <a:schemeClr val="tx1"/>
                </a:solidFill>
                <a:latin typeface="+mj-lt"/>
              </a:rPr>
              <a:t> </a:t>
            </a:r>
            <a:r>
              <a:rPr lang="en-US" sz="2000" dirty="0" err="1">
                <a:solidFill>
                  <a:schemeClr val="tx1"/>
                </a:solidFill>
                <a:latin typeface="+mj-lt"/>
              </a:rPr>
              <a:t>sử</a:t>
            </a:r>
            <a:r>
              <a:rPr lang="en-US" sz="2000" dirty="0">
                <a:solidFill>
                  <a:schemeClr val="tx1"/>
                </a:solidFill>
                <a:latin typeface="+mj-lt"/>
              </a:rPr>
              <a:t> </a:t>
            </a:r>
            <a:r>
              <a:rPr lang="en-US" sz="2000" dirty="0" err="1">
                <a:solidFill>
                  <a:schemeClr val="tx1"/>
                </a:solidFill>
                <a:latin typeface="+mj-lt"/>
              </a:rPr>
              <a:t>dụng</a:t>
            </a:r>
            <a:r>
              <a:rPr lang="en-US" sz="2000" dirty="0">
                <a:solidFill>
                  <a:schemeClr val="tx1"/>
                </a:solidFill>
                <a:latin typeface="+mj-lt"/>
              </a:rPr>
              <a:t> HĐĐT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cơ</a:t>
            </a:r>
            <a:r>
              <a:rPr lang="en-US" sz="2000" dirty="0">
                <a:solidFill>
                  <a:schemeClr val="tx1"/>
                </a:solidFill>
                <a:latin typeface="+mj-lt"/>
              </a:rPr>
              <a:t> </a:t>
            </a:r>
            <a:r>
              <a:rPr lang="en-US" sz="2000" dirty="0" err="1">
                <a:solidFill>
                  <a:schemeClr val="tx1"/>
                </a:solidFill>
                <a:latin typeface="+mj-lt"/>
              </a:rPr>
              <a:t>quan</a:t>
            </a:r>
            <a:r>
              <a:rPr lang="en-US" sz="2000" dirty="0">
                <a:solidFill>
                  <a:schemeClr val="tx1"/>
                </a:solidFill>
                <a:latin typeface="+mj-lt"/>
              </a:rPr>
              <a:t> </a:t>
            </a:r>
            <a:r>
              <a:rPr lang="en-US" sz="2000" dirty="0" err="1">
                <a:solidFill>
                  <a:schemeClr val="tx1"/>
                </a:solidFill>
                <a:latin typeface="+mj-lt"/>
              </a:rPr>
              <a:t>thuế</a:t>
            </a:r>
            <a:endParaRPr lang="en-US" sz="2000" dirty="0">
              <a:solidFill>
                <a:schemeClr val="tx1"/>
              </a:solidFill>
              <a:latin typeface="+mj-lt"/>
            </a:endParaRPr>
          </a:p>
          <a:p>
            <a:pPr algn="just"/>
            <a:r>
              <a:rPr lang="en-US" sz="2000" dirty="0">
                <a:solidFill>
                  <a:schemeClr val="tx1"/>
                </a:solidFill>
                <a:latin typeface="+mj-lt"/>
              </a:rPr>
              <a:t>12. </a:t>
            </a:r>
            <a:r>
              <a:rPr lang="en-US" sz="2000" dirty="0" err="1">
                <a:solidFill>
                  <a:schemeClr val="tx1"/>
                </a:solidFill>
                <a:latin typeface="+mj-lt"/>
              </a:rPr>
              <a:t>Trách</a:t>
            </a:r>
            <a:r>
              <a:rPr lang="en-US" sz="2000" dirty="0">
                <a:solidFill>
                  <a:schemeClr val="tx1"/>
                </a:solidFill>
                <a:latin typeface="+mj-lt"/>
              </a:rPr>
              <a:t> </a:t>
            </a:r>
            <a:r>
              <a:rPr lang="en-US" sz="2000" dirty="0" err="1">
                <a:solidFill>
                  <a:schemeClr val="tx1"/>
                </a:solidFill>
                <a:latin typeface="+mj-lt"/>
              </a:rPr>
              <a:t>nhiệm</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người</a:t>
            </a:r>
            <a:r>
              <a:rPr lang="en-US" sz="2000" dirty="0">
                <a:solidFill>
                  <a:schemeClr val="tx1"/>
                </a:solidFill>
                <a:latin typeface="+mj-lt"/>
              </a:rPr>
              <a:t> </a:t>
            </a:r>
            <a:r>
              <a:rPr lang="en-US" sz="2000" dirty="0" err="1">
                <a:solidFill>
                  <a:schemeClr val="tx1"/>
                </a:solidFill>
                <a:latin typeface="+mj-lt"/>
              </a:rPr>
              <a:t>bán</a:t>
            </a:r>
            <a:r>
              <a:rPr lang="en-US" sz="2000" dirty="0">
                <a:solidFill>
                  <a:schemeClr val="tx1"/>
                </a:solidFill>
                <a:latin typeface="+mj-lt"/>
              </a:rPr>
              <a:t> </a:t>
            </a:r>
            <a:r>
              <a:rPr lang="en-US" sz="2000" dirty="0" err="1">
                <a:solidFill>
                  <a:schemeClr val="tx1"/>
                </a:solidFill>
                <a:latin typeface="+mj-lt"/>
              </a:rPr>
              <a:t>hàng</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cung</a:t>
            </a:r>
            <a:r>
              <a:rPr lang="en-US" sz="2000" dirty="0">
                <a:solidFill>
                  <a:schemeClr val="tx1"/>
                </a:solidFill>
                <a:latin typeface="+mj-lt"/>
              </a:rPr>
              <a:t> </a:t>
            </a:r>
            <a:r>
              <a:rPr lang="en-US" sz="2000" dirty="0" err="1">
                <a:solidFill>
                  <a:schemeClr val="tx1"/>
                </a:solidFill>
                <a:latin typeface="+mj-lt"/>
              </a:rPr>
              <a:t>cấp</a:t>
            </a:r>
            <a:r>
              <a:rPr lang="en-US" sz="2000" dirty="0">
                <a:solidFill>
                  <a:schemeClr val="tx1"/>
                </a:solidFill>
                <a:latin typeface="+mj-lt"/>
              </a:rPr>
              <a:t> </a:t>
            </a:r>
            <a:r>
              <a:rPr lang="en-US" sz="2000" dirty="0" err="1">
                <a:solidFill>
                  <a:schemeClr val="tx1"/>
                </a:solidFill>
                <a:latin typeface="+mj-lt"/>
              </a:rPr>
              <a:t>dịch</a:t>
            </a:r>
            <a:r>
              <a:rPr lang="en-US" sz="2000" dirty="0">
                <a:solidFill>
                  <a:schemeClr val="tx1"/>
                </a:solidFill>
                <a:latin typeface="+mj-lt"/>
              </a:rPr>
              <a:t> </a:t>
            </a:r>
            <a:r>
              <a:rPr lang="en-US" sz="2000" dirty="0" err="1">
                <a:solidFill>
                  <a:schemeClr val="tx1"/>
                </a:solidFill>
                <a:latin typeface="+mj-lt"/>
              </a:rPr>
              <a:t>vụ</a:t>
            </a:r>
            <a:r>
              <a:rPr lang="en-US" sz="2000" dirty="0">
                <a:solidFill>
                  <a:schemeClr val="tx1"/>
                </a:solidFill>
                <a:latin typeface="+mj-lt"/>
              </a:rPr>
              <a:t> </a:t>
            </a:r>
            <a:r>
              <a:rPr lang="en-US" sz="2000" dirty="0" err="1">
                <a:solidFill>
                  <a:schemeClr val="tx1"/>
                </a:solidFill>
                <a:latin typeface="+mj-lt"/>
              </a:rPr>
              <a:t>sử</a:t>
            </a:r>
            <a:r>
              <a:rPr lang="en-US" sz="2000" dirty="0">
                <a:solidFill>
                  <a:schemeClr val="tx1"/>
                </a:solidFill>
                <a:latin typeface="+mj-lt"/>
              </a:rPr>
              <a:t> </a:t>
            </a:r>
            <a:r>
              <a:rPr lang="en-US" sz="2000" dirty="0" err="1">
                <a:solidFill>
                  <a:schemeClr val="tx1"/>
                </a:solidFill>
                <a:latin typeface="+mj-lt"/>
              </a:rPr>
              <a:t>dụng</a:t>
            </a:r>
            <a:r>
              <a:rPr lang="en-US" sz="2000" dirty="0">
                <a:solidFill>
                  <a:schemeClr val="tx1"/>
                </a:solidFill>
                <a:latin typeface="+mj-lt"/>
              </a:rPr>
              <a:t> HĐĐT </a:t>
            </a:r>
            <a:r>
              <a:rPr lang="en-US" sz="2000" dirty="0" err="1">
                <a:solidFill>
                  <a:schemeClr val="tx1"/>
                </a:solidFill>
                <a:latin typeface="+mj-lt"/>
              </a:rPr>
              <a:t>không</a:t>
            </a:r>
            <a:r>
              <a:rPr lang="en-US" sz="2000" dirty="0">
                <a:solidFill>
                  <a:schemeClr val="tx1"/>
                </a:solidFill>
                <a:latin typeface="+mj-lt"/>
              </a:rPr>
              <a: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cơ</a:t>
            </a:r>
            <a:r>
              <a:rPr lang="en-US" sz="2000" dirty="0">
                <a:solidFill>
                  <a:schemeClr val="tx1"/>
                </a:solidFill>
                <a:latin typeface="+mj-lt"/>
              </a:rPr>
              <a:t> </a:t>
            </a:r>
            <a:r>
              <a:rPr lang="en-US" sz="2000" dirty="0" err="1">
                <a:solidFill>
                  <a:schemeClr val="tx1"/>
                </a:solidFill>
                <a:latin typeface="+mj-lt"/>
              </a:rPr>
              <a:t>quan</a:t>
            </a:r>
            <a:r>
              <a:rPr lang="en-US" sz="2000" dirty="0">
                <a:solidFill>
                  <a:schemeClr val="tx1"/>
                </a:solidFill>
                <a:latin typeface="+mj-lt"/>
              </a:rPr>
              <a:t> </a:t>
            </a:r>
            <a:r>
              <a:rPr lang="en-US" sz="2000" dirty="0" err="1">
                <a:solidFill>
                  <a:schemeClr val="tx1"/>
                </a:solidFill>
                <a:latin typeface="+mj-lt"/>
              </a:rPr>
              <a:t>thuế</a:t>
            </a:r>
            <a:endParaRPr lang="en-US" sz="2000" dirty="0">
              <a:solidFill>
                <a:schemeClr val="tx1"/>
              </a:solidFill>
              <a:latin typeface="+mj-lt"/>
            </a:endParaRPr>
          </a:p>
          <a:p>
            <a:pPr algn="just"/>
            <a:r>
              <a:rPr lang="en-US" sz="2000" dirty="0">
                <a:solidFill>
                  <a:schemeClr val="tx1"/>
                </a:solidFill>
                <a:latin typeface="+mj-lt"/>
              </a:rPr>
              <a:t>13. </a:t>
            </a:r>
            <a:r>
              <a:rPr lang="en-US" sz="2000" dirty="0" err="1">
                <a:solidFill>
                  <a:schemeClr val="tx1"/>
                </a:solidFill>
                <a:latin typeface="+mj-lt"/>
              </a:rPr>
              <a:t>Trách</a:t>
            </a:r>
            <a:r>
              <a:rPr lang="en-US" sz="2000" dirty="0">
                <a:solidFill>
                  <a:schemeClr val="tx1"/>
                </a:solidFill>
                <a:latin typeface="+mj-lt"/>
              </a:rPr>
              <a:t> </a:t>
            </a:r>
            <a:r>
              <a:rPr lang="en-US" sz="2000" dirty="0" err="1">
                <a:solidFill>
                  <a:schemeClr val="tx1"/>
                </a:solidFill>
                <a:latin typeface="+mj-lt"/>
              </a:rPr>
              <a:t>nhiệm</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người</a:t>
            </a:r>
            <a:r>
              <a:rPr lang="en-US" sz="2000" dirty="0">
                <a:solidFill>
                  <a:schemeClr val="tx1"/>
                </a:solidFill>
                <a:latin typeface="+mj-lt"/>
              </a:rPr>
              <a:t> </a:t>
            </a:r>
            <a:r>
              <a:rPr lang="en-US" sz="2000" dirty="0" err="1">
                <a:solidFill>
                  <a:schemeClr val="tx1"/>
                </a:solidFill>
                <a:latin typeface="+mj-lt"/>
              </a:rPr>
              <a:t>bán</a:t>
            </a:r>
            <a:r>
              <a:rPr lang="en-US" sz="2000" dirty="0">
                <a:solidFill>
                  <a:schemeClr val="tx1"/>
                </a:solidFill>
                <a:latin typeface="+mj-lt"/>
              </a:rPr>
              <a:t> </a:t>
            </a:r>
            <a:r>
              <a:rPr lang="en-US" sz="2000" dirty="0" err="1">
                <a:solidFill>
                  <a:schemeClr val="tx1"/>
                </a:solidFill>
                <a:latin typeface="+mj-lt"/>
              </a:rPr>
              <a:t>hàng</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cung</a:t>
            </a:r>
            <a:r>
              <a:rPr lang="en-US" sz="2000" dirty="0">
                <a:solidFill>
                  <a:schemeClr val="tx1"/>
                </a:solidFill>
                <a:latin typeface="+mj-lt"/>
              </a:rPr>
              <a:t> </a:t>
            </a:r>
            <a:r>
              <a:rPr lang="en-US" sz="2000" dirty="0" err="1">
                <a:solidFill>
                  <a:schemeClr val="tx1"/>
                </a:solidFill>
                <a:latin typeface="+mj-lt"/>
              </a:rPr>
              <a:t>cấp</a:t>
            </a:r>
            <a:r>
              <a:rPr lang="en-US" sz="2000" dirty="0">
                <a:solidFill>
                  <a:schemeClr val="tx1"/>
                </a:solidFill>
                <a:latin typeface="+mj-lt"/>
              </a:rPr>
              <a:t> </a:t>
            </a:r>
            <a:r>
              <a:rPr lang="en-US" sz="2000" dirty="0" err="1">
                <a:solidFill>
                  <a:schemeClr val="tx1"/>
                </a:solidFill>
                <a:latin typeface="+mj-lt"/>
              </a:rPr>
              <a:t>dịch</a:t>
            </a:r>
            <a:r>
              <a:rPr lang="en-US" sz="2000" dirty="0">
                <a:solidFill>
                  <a:schemeClr val="tx1"/>
                </a:solidFill>
                <a:latin typeface="+mj-lt"/>
              </a:rPr>
              <a:t> </a:t>
            </a:r>
            <a:r>
              <a:rPr lang="en-US" sz="2000" dirty="0" err="1">
                <a:solidFill>
                  <a:schemeClr val="tx1"/>
                </a:solidFill>
                <a:latin typeface="+mj-lt"/>
              </a:rPr>
              <a:t>vụ</a:t>
            </a:r>
            <a:r>
              <a:rPr lang="en-US" sz="2000" dirty="0">
                <a:solidFill>
                  <a:schemeClr val="tx1"/>
                </a:solidFill>
                <a:latin typeface="+mj-lt"/>
              </a:rPr>
              <a:t> </a:t>
            </a:r>
            <a:r>
              <a:rPr lang="en-US" sz="2000" dirty="0" err="1">
                <a:solidFill>
                  <a:schemeClr val="tx1"/>
                </a:solidFill>
                <a:latin typeface="+mj-lt"/>
              </a:rPr>
              <a:t>sử</a:t>
            </a:r>
            <a:r>
              <a:rPr lang="en-US" sz="2000" dirty="0">
                <a:solidFill>
                  <a:schemeClr val="tx1"/>
                </a:solidFill>
                <a:latin typeface="+mj-lt"/>
              </a:rPr>
              <a:t> </a:t>
            </a:r>
            <a:r>
              <a:rPr lang="en-US" sz="2000" dirty="0" err="1">
                <a:solidFill>
                  <a:schemeClr val="tx1"/>
                </a:solidFill>
                <a:latin typeface="+mj-lt"/>
              </a:rPr>
              <a:t>dụng</a:t>
            </a:r>
            <a:r>
              <a:rPr lang="en-US" sz="2000" dirty="0">
                <a:solidFill>
                  <a:schemeClr val="tx1"/>
                </a:solidFill>
                <a:latin typeface="+mj-lt"/>
              </a:rPr>
              <a:t> HĐĐT </a:t>
            </a:r>
            <a:r>
              <a:rPr lang="en-US" sz="2000" dirty="0" err="1">
                <a:solidFill>
                  <a:schemeClr val="tx1"/>
                </a:solidFill>
                <a:latin typeface="+mj-lt"/>
              </a:rPr>
              <a:t>khởi</a:t>
            </a:r>
            <a:r>
              <a:rPr lang="en-US" sz="2000" dirty="0">
                <a:solidFill>
                  <a:schemeClr val="tx1"/>
                </a:solidFill>
                <a:latin typeface="+mj-lt"/>
              </a:rPr>
              <a:t> </a:t>
            </a:r>
            <a:r>
              <a:rPr lang="en-US" sz="2000" dirty="0" err="1">
                <a:solidFill>
                  <a:schemeClr val="tx1"/>
                </a:solidFill>
                <a:latin typeface="+mj-lt"/>
              </a:rPr>
              <a:t>tạo</a:t>
            </a:r>
            <a:r>
              <a:rPr lang="en-US" sz="2000" dirty="0">
                <a:solidFill>
                  <a:schemeClr val="tx1"/>
                </a:solidFill>
                <a:latin typeface="+mj-lt"/>
              </a:rPr>
              <a:t> </a:t>
            </a:r>
            <a:r>
              <a:rPr lang="en-US" sz="2000" dirty="0" err="1">
                <a:solidFill>
                  <a:schemeClr val="tx1"/>
                </a:solidFill>
                <a:latin typeface="+mj-lt"/>
              </a:rPr>
              <a:t>từ</a:t>
            </a:r>
            <a:r>
              <a:rPr lang="en-US" sz="2000" dirty="0">
                <a:solidFill>
                  <a:schemeClr val="tx1"/>
                </a:solidFill>
                <a:latin typeface="+mj-lt"/>
              </a:rPr>
              <a:t> </a:t>
            </a:r>
            <a:r>
              <a:rPr lang="en-US" sz="2000" dirty="0" err="1">
                <a:solidFill>
                  <a:schemeClr val="tx1"/>
                </a:solidFill>
                <a:latin typeface="+mj-lt"/>
              </a:rPr>
              <a:t>máy</a:t>
            </a:r>
            <a:r>
              <a:rPr lang="en-US" sz="2000" dirty="0">
                <a:solidFill>
                  <a:schemeClr val="tx1"/>
                </a:solidFill>
                <a:latin typeface="+mj-lt"/>
              </a:rPr>
              <a:t> </a:t>
            </a:r>
            <a:r>
              <a:rPr lang="en-US" sz="2000" dirty="0" err="1">
                <a:solidFill>
                  <a:schemeClr val="tx1"/>
                </a:solidFill>
                <a:latin typeface="+mj-lt"/>
              </a:rPr>
              <a:t>tính</a:t>
            </a:r>
            <a:r>
              <a:rPr lang="en-US" sz="2000" dirty="0">
                <a:solidFill>
                  <a:schemeClr val="tx1"/>
                </a:solidFill>
                <a:latin typeface="+mj-lt"/>
              </a:rPr>
              <a:t> </a:t>
            </a:r>
            <a:r>
              <a:rPr lang="en-US" sz="2000" dirty="0" err="1">
                <a:solidFill>
                  <a:schemeClr val="tx1"/>
                </a:solidFill>
                <a:latin typeface="+mj-lt"/>
              </a:rPr>
              <a:t>tiền</a:t>
            </a:r>
            <a:endParaRPr lang="en-US" sz="2000" dirty="0">
              <a:solidFill>
                <a:schemeClr val="tx1"/>
              </a:solidFill>
              <a:latin typeface="+mj-lt"/>
            </a:endParaRPr>
          </a:p>
          <a:p>
            <a:pPr algn="just"/>
            <a:r>
              <a:rPr lang="en-US" sz="2000" dirty="0">
                <a:solidFill>
                  <a:schemeClr val="tx1"/>
                </a:solidFill>
                <a:latin typeface="+mj-lt"/>
              </a:rPr>
              <a:t>14. </a:t>
            </a:r>
            <a:r>
              <a:rPr lang="en-US" sz="2000" dirty="0" err="1">
                <a:solidFill>
                  <a:schemeClr val="tx1"/>
                </a:solidFill>
                <a:latin typeface="+mj-lt"/>
              </a:rPr>
              <a:t>Tiêu</a:t>
            </a:r>
            <a:r>
              <a:rPr lang="en-US" sz="2000" dirty="0">
                <a:solidFill>
                  <a:schemeClr val="tx1"/>
                </a:solidFill>
                <a:latin typeface="+mj-lt"/>
              </a:rPr>
              <a:t> </a:t>
            </a:r>
            <a:r>
              <a:rPr lang="en-US" sz="2000" dirty="0" err="1">
                <a:solidFill>
                  <a:schemeClr val="tx1"/>
                </a:solidFill>
                <a:latin typeface="+mj-lt"/>
              </a:rPr>
              <a:t>chí</a:t>
            </a:r>
            <a:r>
              <a:rPr lang="en-US" sz="2000" dirty="0">
                <a:solidFill>
                  <a:schemeClr val="tx1"/>
                </a:solidFill>
                <a:latin typeface="+mj-lt"/>
              </a:rPr>
              <a:t> </a:t>
            </a:r>
            <a:r>
              <a:rPr lang="en-US" sz="2000" dirty="0" err="1">
                <a:solidFill>
                  <a:schemeClr val="tx1"/>
                </a:solidFill>
                <a:latin typeface="+mj-lt"/>
              </a:rPr>
              <a:t>lựa</a:t>
            </a:r>
            <a:r>
              <a:rPr lang="en-US" sz="2000" dirty="0">
                <a:solidFill>
                  <a:schemeClr val="tx1"/>
                </a:solidFill>
                <a:latin typeface="+mj-lt"/>
              </a:rPr>
              <a:t> </a:t>
            </a:r>
            <a:r>
              <a:rPr lang="en-US" sz="2000" dirty="0" err="1">
                <a:solidFill>
                  <a:schemeClr val="tx1"/>
                </a:solidFill>
                <a:latin typeface="+mj-lt"/>
              </a:rPr>
              <a:t>chọn</a:t>
            </a:r>
            <a:r>
              <a:rPr lang="en-US" sz="2000" dirty="0">
                <a:solidFill>
                  <a:schemeClr val="tx1"/>
                </a:solidFill>
                <a:latin typeface="+mj-lt"/>
              </a:rPr>
              <a:t> </a:t>
            </a:r>
            <a:r>
              <a:rPr lang="en-US" sz="2000" dirty="0" err="1">
                <a:solidFill>
                  <a:schemeClr val="tx1"/>
                </a:solidFill>
                <a:latin typeface="+mj-lt"/>
              </a:rPr>
              <a:t>tổ</a:t>
            </a:r>
            <a:r>
              <a:rPr lang="en-US" sz="2000" dirty="0">
                <a:solidFill>
                  <a:schemeClr val="tx1"/>
                </a:solidFill>
                <a:latin typeface="+mj-lt"/>
              </a:rPr>
              <a:t> </a:t>
            </a:r>
            <a:r>
              <a:rPr lang="en-US" sz="2000" dirty="0" err="1">
                <a:solidFill>
                  <a:schemeClr val="tx1"/>
                </a:solidFill>
                <a:latin typeface="+mj-lt"/>
              </a:rPr>
              <a:t>chức</a:t>
            </a:r>
            <a:r>
              <a:rPr lang="en-US" sz="2000" dirty="0">
                <a:solidFill>
                  <a:schemeClr val="tx1"/>
                </a:solidFill>
                <a:latin typeface="+mj-lt"/>
              </a:rPr>
              <a:t> </a:t>
            </a:r>
            <a:r>
              <a:rPr lang="en-US" sz="2000" dirty="0" err="1">
                <a:solidFill>
                  <a:schemeClr val="tx1"/>
                </a:solidFill>
                <a:latin typeface="+mj-lt"/>
              </a:rPr>
              <a:t>cung</a:t>
            </a:r>
            <a:r>
              <a:rPr lang="en-US" sz="2000" dirty="0">
                <a:solidFill>
                  <a:schemeClr val="tx1"/>
                </a:solidFill>
                <a:latin typeface="+mj-lt"/>
              </a:rPr>
              <a:t> </a:t>
            </a:r>
            <a:r>
              <a:rPr lang="en-US" sz="2000" dirty="0" err="1">
                <a:solidFill>
                  <a:schemeClr val="tx1"/>
                </a:solidFill>
                <a:latin typeface="+mj-lt"/>
              </a:rPr>
              <a:t>cấp</a:t>
            </a:r>
            <a:r>
              <a:rPr lang="en-US" sz="2000" dirty="0">
                <a:solidFill>
                  <a:schemeClr val="tx1"/>
                </a:solidFill>
                <a:latin typeface="+mj-lt"/>
              </a:rPr>
              <a:t> </a:t>
            </a:r>
            <a:r>
              <a:rPr lang="en-US" sz="2000" dirty="0" err="1">
                <a:solidFill>
                  <a:schemeClr val="tx1"/>
                </a:solidFill>
                <a:latin typeface="+mj-lt"/>
              </a:rPr>
              <a:t>dịch</a:t>
            </a:r>
            <a:r>
              <a:rPr lang="en-US" sz="2000" dirty="0">
                <a:solidFill>
                  <a:schemeClr val="tx1"/>
                </a:solidFill>
                <a:latin typeface="+mj-lt"/>
              </a:rPr>
              <a:t> </a:t>
            </a:r>
            <a:r>
              <a:rPr lang="en-US" sz="2000" dirty="0" err="1">
                <a:solidFill>
                  <a:schemeClr val="tx1"/>
                </a:solidFill>
                <a:latin typeface="+mj-lt"/>
              </a:rPr>
              <a:t>vụ</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dịch</a:t>
            </a:r>
            <a:r>
              <a:rPr lang="en-US" sz="2000" dirty="0">
                <a:solidFill>
                  <a:schemeClr val="tx1"/>
                </a:solidFill>
                <a:latin typeface="+mj-lt"/>
              </a:rPr>
              <a:t> </a:t>
            </a:r>
            <a:r>
              <a:rPr lang="en-US" sz="2000" dirty="0" err="1">
                <a:solidFill>
                  <a:schemeClr val="tx1"/>
                </a:solidFill>
                <a:latin typeface="+mj-lt"/>
              </a:rPr>
              <a:t>vụ</a:t>
            </a:r>
            <a:r>
              <a:rPr lang="en-US" sz="2000" dirty="0">
                <a:solidFill>
                  <a:schemeClr val="tx1"/>
                </a:solidFill>
                <a:latin typeface="+mj-lt"/>
              </a:rPr>
              <a:t> </a:t>
            </a:r>
            <a:r>
              <a:rPr lang="en-US" sz="2000" dirty="0" err="1">
                <a:solidFill>
                  <a:schemeClr val="tx1"/>
                </a:solidFill>
                <a:latin typeface="+mj-lt"/>
              </a:rPr>
              <a:t>kết</a:t>
            </a:r>
            <a:r>
              <a:rPr lang="en-US" sz="2000" dirty="0">
                <a:solidFill>
                  <a:schemeClr val="tx1"/>
                </a:solidFill>
                <a:latin typeface="+mj-lt"/>
              </a:rPr>
              <a:t> </a:t>
            </a:r>
            <a:r>
              <a:rPr lang="en-US" sz="2000" dirty="0" err="1">
                <a:solidFill>
                  <a:schemeClr val="tx1"/>
                </a:solidFill>
                <a:latin typeface="+mj-lt"/>
              </a:rPr>
              <a:t>nối</a:t>
            </a:r>
            <a:r>
              <a:rPr lang="en-US" sz="2000" dirty="0">
                <a:solidFill>
                  <a:schemeClr val="tx1"/>
                </a:solidFill>
                <a:latin typeface="+mj-lt"/>
              </a:rPr>
              <a:t> </a:t>
            </a:r>
            <a:r>
              <a:rPr lang="en-US" sz="2000" dirty="0" err="1">
                <a:solidFill>
                  <a:schemeClr val="tx1"/>
                </a:solidFill>
                <a:latin typeface="+mj-lt"/>
              </a:rPr>
              <a:t>truyền</a:t>
            </a:r>
            <a:r>
              <a:rPr lang="en-US" sz="2000" dirty="0">
                <a:solidFill>
                  <a:schemeClr val="tx1"/>
                </a:solidFill>
                <a:latin typeface="+mj-lt"/>
              </a:rPr>
              <a:t> </a:t>
            </a:r>
            <a:r>
              <a:rPr lang="en-US" sz="2000" dirty="0" err="1">
                <a:solidFill>
                  <a:schemeClr val="tx1"/>
                </a:solidFill>
                <a:latin typeface="+mj-lt"/>
              </a:rPr>
              <a:t>nhận</a:t>
            </a:r>
            <a:endParaRPr lang="en-US" sz="2000" dirty="0">
              <a:solidFill>
                <a:schemeClr val="tx1"/>
              </a:solidFill>
              <a:latin typeface="+mj-lt"/>
            </a:endParaRPr>
          </a:p>
        </p:txBody>
      </p:sp>
      <p:sp>
        <p:nvSpPr>
          <p:cNvPr id="2" name="Title 1"/>
          <p:cNvSpPr>
            <a:spLocks noGrp="1"/>
          </p:cNvSpPr>
          <p:nvPr>
            <p:ph type="title"/>
          </p:nvPr>
        </p:nvSpPr>
        <p:spPr>
          <a:xfrm>
            <a:off x="677334" y="1051034"/>
            <a:ext cx="8596668" cy="819807"/>
          </a:xfrm>
        </p:spPr>
        <p:txBody>
          <a:bodyPr>
            <a:normAutofit fontScale="90000"/>
          </a:bodyPr>
          <a:lstStyle/>
          <a:p>
            <a:pPr algn="ctr"/>
            <a:r>
              <a:rPr lang="en-US" sz="2900" b="1" dirty="0">
                <a:solidFill>
                  <a:srgbClr val="C00000"/>
                </a:solidFill>
                <a:latin typeface="Times New Roman" panose="02020603050405020304" pitchFamily="18" charset="0"/>
                <a:cs typeface="Times New Roman" panose="02020603050405020304" pitchFamily="18" charset="0"/>
              </a:rPr>
              <a:t>B. QUY ĐỊNH VỀ HÓA ĐƠN ĐIỆN TỬ (TIẾP)</a:t>
            </a:r>
            <a:r>
              <a:rPr lang="en-US" b="1" dirty="0">
                <a:solidFill>
                  <a:schemeClr val="tx1"/>
                </a:solidFill>
                <a:latin typeface="Cambria" panose="02040503050406030204" pitchFamily="18" charset="0"/>
              </a:rPr>
              <a:t/>
            </a:r>
            <a:br>
              <a:rPr lang="en-US" b="1" dirty="0">
                <a:solidFill>
                  <a:schemeClr val="tx1"/>
                </a:solidFill>
                <a:latin typeface="Cambria" panose="02040503050406030204" pitchFamily="18" charset="0"/>
              </a:rPr>
            </a:br>
            <a:endParaRPr lang="en-US" dirty="0"/>
          </a:p>
        </p:txBody>
      </p:sp>
      <p:sp>
        <p:nvSpPr>
          <p:cNvPr id="6" name="Title 1"/>
          <p:cNvSpPr txBox="1">
            <a:spLocks/>
          </p:cNvSpPr>
          <p:nvPr/>
        </p:nvSpPr>
        <p:spPr>
          <a:xfrm>
            <a:off x="1280160" y="279818"/>
            <a:ext cx="4677104"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1" y="0"/>
            <a:ext cx="1280159" cy="1061048"/>
          </a:xfrm>
          <a:prstGeom prst="rect">
            <a:avLst/>
          </a:prstGeom>
        </p:spPr>
      </p:pic>
    </p:spTree>
    <p:extLst>
      <p:ext uri="{BB962C8B-B14F-4D97-AF65-F5344CB8AC3E}">
        <p14:creationId xmlns:p14="http://schemas.microsoft.com/office/powerpoint/2010/main" val="2236481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77334" y="1012875"/>
            <a:ext cx="8596668" cy="4733067"/>
          </a:xfrm>
        </p:spPr>
        <p:txBody>
          <a:bodyPr anchor="t" anchorCtr="0">
            <a:normAutofit/>
          </a:bodyPr>
          <a:lstStyle/>
          <a:p>
            <a:pPr marL="0" indent="0" algn="ctr">
              <a:buNone/>
            </a:pPr>
            <a:r>
              <a:rPr lang="en-US" sz="2000" b="1" dirty="0">
                <a:solidFill>
                  <a:srgbClr val="C00000"/>
                </a:solidFill>
                <a:latin typeface="+mj-lt"/>
              </a:rPr>
              <a:t>1. ĐỐI TƯỢNG ÁP DỤNG</a:t>
            </a:r>
          </a:p>
          <a:p>
            <a:pPr marL="0" indent="0" algn="ctr">
              <a:buNone/>
            </a:pPr>
            <a:r>
              <a:rPr lang="en-US" sz="2000" b="1" dirty="0">
                <a:solidFill>
                  <a:srgbClr val="C00000"/>
                </a:solidFill>
                <a:latin typeface="+mj-lt"/>
              </a:rPr>
              <a:t>ĐỐI TƯỢNG ÁP DỤNG - HĐĐT CÓ MÃ CỦA CQT</a:t>
            </a:r>
          </a:p>
          <a:p>
            <a:pPr marL="0" indent="0" algn="ctr">
              <a:buNone/>
            </a:pPr>
            <a:endParaRPr lang="en-US" sz="2000" b="1" dirty="0">
              <a:solidFill>
                <a:srgbClr val="C00000"/>
              </a:solidFill>
              <a:latin typeface="+mj-lt"/>
            </a:endParaRPr>
          </a:p>
          <a:p>
            <a:pPr marL="0" indent="0" algn="just">
              <a:buNone/>
            </a:pPr>
            <a:r>
              <a:rPr lang="en-US" sz="2000" dirty="0">
                <a:solidFill>
                  <a:schemeClr val="tx1"/>
                </a:solidFill>
                <a:latin typeface="+mj-lt"/>
              </a:rPr>
              <a:t>a)</a:t>
            </a:r>
            <a:r>
              <a:rPr lang="vi-VN" sz="2000" dirty="0">
                <a:solidFill>
                  <a:schemeClr val="tx1"/>
                </a:solidFill>
                <a:latin typeface="+mj-lt"/>
              </a:rPr>
              <a:t> Doanh nghiệp, tổ chức kinh tế khi bán hàng hóa, cung cấp dịch vụ không phân biệt giá trị từng lần bán hàng hóa, cung cấp dịch vụ.</a:t>
            </a:r>
            <a:endParaRPr lang="en-US" sz="2000" dirty="0">
              <a:solidFill>
                <a:schemeClr val="tx1"/>
              </a:solidFill>
              <a:latin typeface="+mj-lt"/>
            </a:endParaRPr>
          </a:p>
          <a:p>
            <a:pPr marL="0" indent="0" algn="just">
              <a:buNone/>
            </a:pPr>
            <a:r>
              <a:rPr lang="en-US" sz="2000" dirty="0">
                <a:solidFill>
                  <a:schemeClr val="tx1"/>
                </a:solidFill>
                <a:latin typeface="+mj-lt"/>
              </a:rPr>
              <a:t>b) </a:t>
            </a:r>
            <a:r>
              <a:rPr lang="vi-VN" sz="2000" dirty="0">
                <a:solidFill>
                  <a:schemeClr val="tx1"/>
                </a:solidFill>
                <a:latin typeface="+mj-lt"/>
              </a:rPr>
              <a:t>Doanh nghiệp thuộc đối tượng nêu tại Khoản 2 Điều 91 Luật Quản lý thuế đang sử dụng hoá đơn điện tử không mã có nhu cầu chuyển đổi sử dụng hoá đơn điện tử có mã của cơ quan thuế.</a:t>
            </a:r>
          </a:p>
          <a:p>
            <a:pPr marL="0" indent="0" algn="just">
              <a:buNone/>
            </a:pPr>
            <a:r>
              <a:rPr lang="vi-VN" sz="2000" dirty="0">
                <a:solidFill>
                  <a:schemeClr val="tx1"/>
                </a:solidFill>
                <a:latin typeface="+mj-lt"/>
              </a:rPr>
              <a:t>c) Doanh nghiệp rủi ro cao về thuế</a:t>
            </a:r>
          </a:p>
          <a:p>
            <a:pPr marL="0" indent="0" algn="just">
              <a:buNone/>
            </a:pPr>
            <a:r>
              <a:rPr lang="en-US" sz="2000" dirty="0">
                <a:solidFill>
                  <a:schemeClr val="tx1"/>
                </a:solidFill>
                <a:latin typeface="+mj-lt"/>
              </a:rPr>
              <a:t>d) </a:t>
            </a:r>
            <a:r>
              <a:rPr lang="vi-VN" sz="2000" dirty="0">
                <a:solidFill>
                  <a:schemeClr val="tx1"/>
                </a:solidFill>
                <a:latin typeface="+mj-lt"/>
              </a:rPr>
              <a:t>Hộ, cá nhân kinh doanh</a:t>
            </a:r>
          </a:p>
          <a:p>
            <a:pPr marL="0" indent="0">
              <a:buNone/>
            </a:pPr>
            <a:endParaRPr lang="vi-VN" dirty="0"/>
          </a:p>
          <a:p>
            <a:pPr marL="0" indent="0">
              <a:buNone/>
            </a:pPr>
            <a:endParaRPr lang="en-US" sz="2400" b="1" dirty="0">
              <a:solidFill>
                <a:schemeClr val="tx1"/>
              </a:solidFill>
              <a:latin typeface="Cambria" panose="02040503050406030204" pitchFamily="18" charset="0"/>
            </a:endParaRPr>
          </a:p>
          <a:p>
            <a:pPr marL="0" indent="0" algn="ctr">
              <a:buNone/>
            </a:pPr>
            <a:endParaRPr lang="en-US" sz="3200" b="1" dirty="0">
              <a:solidFill>
                <a:schemeClr val="accent5"/>
              </a:solidFill>
              <a:latin typeface="Cambria" panose="02040503050406030204" pitchFamily="18" charset="0"/>
            </a:endParaRPr>
          </a:p>
        </p:txBody>
      </p:sp>
      <p:sp>
        <p:nvSpPr>
          <p:cNvPr id="4" name="Title 1"/>
          <p:cNvSpPr txBox="1">
            <a:spLocks/>
          </p:cNvSpPr>
          <p:nvPr/>
        </p:nvSpPr>
        <p:spPr>
          <a:xfrm>
            <a:off x="1280160" y="394310"/>
            <a:ext cx="7759337"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ĐỐI TƯỢNG ÁP DỤNG</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 y="0"/>
            <a:ext cx="1280159" cy="1061048"/>
          </a:xfrm>
          <a:prstGeom prst="rect">
            <a:avLst/>
          </a:prstGeom>
        </p:spPr>
      </p:pic>
    </p:spTree>
    <p:extLst>
      <p:ext uri="{BB962C8B-B14F-4D97-AF65-F5344CB8AC3E}">
        <p14:creationId xmlns:p14="http://schemas.microsoft.com/office/powerpoint/2010/main" val="39641438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91797"/>
            <a:ext cx="8596668" cy="642425"/>
          </a:xfrm>
        </p:spPr>
        <p:txBody>
          <a:bodyPr anchor="ctr" anchorCtr="0">
            <a:noAutofit/>
          </a:bodyPr>
          <a:lstStyle/>
          <a:p>
            <a:pPr algn="ctr"/>
            <a:r>
              <a:rPr lang="vi-VN" sz="2400" b="1" dirty="0">
                <a:solidFill>
                  <a:srgbClr val="C00000"/>
                </a:solidFill>
              </a:rPr>
              <a:t> Đ</a:t>
            </a:r>
            <a:r>
              <a:rPr lang="en-US" sz="2400" b="1" dirty="0">
                <a:solidFill>
                  <a:srgbClr val="C00000"/>
                </a:solidFill>
              </a:rPr>
              <a:t>ỐI TƯỢNG ÁP DỤNG - </a:t>
            </a:r>
            <a:r>
              <a:rPr lang="vi-VN" sz="2400" b="1" dirty="0">
                <a:solidFill>
                  <a:srgbClr val="C00000"/>
                </a:solidFill>
              </a:rPr>
              <a:t>HĐĐT </a:t>
            </a:r>
            <a:r>
              <a:rPr lang="en-US" sz="2400" b="1" dirty="0">
                <a:solidFill>
                  <a:srgbClr val="C00000"/>
                </a:solidFill>
              </a:rPr>
              <a:t>KHÔNG CÓ MÃ CỦA CQT</a:t>
            </a:r>
            <a:endParaRPr lang="vi-VN" sz="2400" b="1" dirty="0">
              <a:solidFill>
                <a:srgbClr val="C00000"/>
              </a:solidFill>
            </a:endParaRPr>
          </a:p>
        </p:txBody>
      </p:sp>
      <p:sp>
        <p:nvSpPr>
          <p:cNvPr id="3" name="Content Placeholder 2"/>
          <p:cNvSpPr>
            <a:spLocks noGrp="1"/>
          </p:cNvSpPr>
          <p:nvPr>
            <p:ph idx="1"/>
          </p:nvPr>
        </p:nvSpPr>
        <p:spPr>
          <a:xfrm>
            <a:off x="677333" y="1252025"/>
            <a:ext cx="9274001" cy="5212275"/>
          </a:xfrm>
        </p:spPr>
        <p:txBody>
          <a:bodyPr vert="horz" anchor="ctr" anchorCtr="0">
            <a:noAutofit/>
          </a:bodyPr>
          <a:lstStyle/>
          <a:p>
            <a:pPr marL="0" indent="0" algn="just">
              <a:buNone/>
            </a:pPr>
            <a:r>
              <a:rPr lang="vi-VN" dirty="0">
                <a:solidFill>
                  <a:schemeClr val="tx1"/>
                </a:solidFill>
                <a:latin typeface="+mj-lt"/>
              </a:rPr>
              <a:t>a) Doanh nghiệp kinh doanh ở lĩnh vực điện lực, xăng dầu, bưu chính viễn thông, nước sạch, tài chính tín dụng, bảo hiểm, y tế, kinh doanh thương mại điện tử, kinh doanh siêu thị, thương mại, vận tải hàng không, đường bộ, đường sắt, đường biển, đường thủy và doanh nghiệp, tổ chức kinh tế đã hoặc sẽ thực hiện giao dịch với cơ quan thuế bằng phương tiện điện tử, xây dựng hạ tầng công nghệ thông tin, có hệ thống phần mềm kế toán, phần mềm lập hóa đơn điện tử đáp ứng lập, tra cứu hóa đơn điện tử, lưu trữ dữ liệu hóa đơn điện tử theo quy định và bảo đảm việc truyền dữ liệu hóa đơn điện tử đến người mua và đến cơ quan thuế thì được sử dụng hóa đơn điện tử không có mã của cơ quan thuế khi bán hàng hóa, cung cấp dịch vụ, không phân biệt giá trị từng lần bán hàng hóa, cung cấp dịch vụ, trừ trường hợp rủi ro về thuế cao theo quy định của Bộ trưởng Bộ Tài chính và trường hợp đăng ký sử dụng hóa đơn điện tử có mã của cơ quan thuế.</a:t>
            </a:r>
          </a:p>
          <a:p>
            <a:pPr marL="0" indent="0" algn="just">
              <a:buNone/>
            </a:pPr>
            <a:r>
              <a:rPr lang="vi-VN" dirty="0">
                <a:solidFill>
                  <a:schemeClr val="tx1"/>
                </a:solidFill>
                <a:latin typeface="+mj-lt"/>
              </a:rPr>
              <a:t>b) Doanh nghiệp thuộc trường hợp rủi ro cao về thuế chuyển sang sử dụng hóa đơn điện tử có mã của cơ quan thuế nhưng sau 12 tháng kể từ thời điểm chuyển sang sử dụng hóa đơn điện tử có mã của cơ quan thuế, </a:t>
            </a:r>
            <a:r>
              <a:rPr lang="vi-VN" i="1" dirty="0">
                <a:solidFill>
                  <a:schemeClr val="tx1"/>
                </a:solidFill>
                <a:latin typeface="+mj-lt"/>
              </a:rPr>
              <a:t>nếu người nộp thuế có nhu cầu sử dụng hóa đơn điện tử không có mã</a:t>
            </a:r>
            <a:r>
              <a:rPr lang="vi-VN" dirty="0">
                <a:solidFill>
                  <a:schemeClr val="tx1"/>
                </a:solidFill>
                <a:latin typeface="+mj-lt"/>
              </a:rPr>
              <a:t> thì người nộp thuế thay đổi thông tin sử dụng hóa đơn điện tử theo quy định tại Điều 15 Nghị định số 123/2020/NĐ-CP, cơ quan thuế căn cứ quy định tại khoản 2 Điều 91 Luật Quản lý thuế số 38/2019/QH14 và quy định tại Thông tư số 31/2021/TT-BTC để xem xét, quyết định. </a:t>
            </a:r>
          </a:p>
        </p:txBody>
      </p:sp>
      <p:sp>
        <p:nvSpPr>
          <p:cNvPr id="4" name="Title 1"/>
          <p:cNvSpPr txBox="1">
            <a:spLocks/>
          </p:cNvSpPr>
          <p:nvPr/>
        </p:nvSpPr>
        <p:spPr>
          <a:xfrm>
            <a:off x="943669" y="187196"/>
            <a:ext cx="9007666"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1. ĐỐI TƯỢNG ÁP DỤNG</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 y="0"/>
            <a:ext cx="898343" cy="744583"/>
          </a:xfrm>
          <a:prstGeom prst="rect">
            <a:avLst/>
          </a:prstGeom>
        </p:spPr>
      </p:pic>
    </p:spTree>
    <p:extLst>
      <p:ext uri="{BB962C8B-B14F-4D97-AF65-F5344CB8AC3E}">
        <p14:creationId xmlns:p14="http://schemas.microsoft.com/office/powerpoint/2010/main" val="2905335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051035"/>
            <a:ext cx="8596668" cy="642425"/>
          </a:xfrm>
        </p:spPr>
        <p:txBody>
          <a:bodyPr anchor="ctr" anchorCtr="0">
            <a:noAutofit/>
          </a:bodyPr>
          <a:lstStyle/>
          <a:p>
            <a:pPr algn="ctr"/>
            <a:r>
              <a:rPr lang="vi-VN" sz="2000" b="1" dirty="0">
                <a:solidFill>
                  <a:srgbClr val="C00000"/>
                </a:solidFill>
              </a:rPr>
              <a:t>Đ</a:t>
            </a:r>
            <a:r>
              <a:rPr lang="en-US" sz="2000" b="1" dirty="0">
                <a:solidFill>
                  <a:srgbClr val="C00000"/>
                </a:solidFill>
              </a:rPr>
              <a:t>ỐI TƯỢNG ÁP DỤNG – HĐĐT CÓ MÃ CỦA CQT KHỞI TẠO TỪ MÁY TÍNH TIỀN CÓ KẾT NỐI CHUYỂN DỮ LIỆU VỚI CQT</a:t>
            </a:r>
            <a:endParaRPr lang="vi-VN" sz="2000" b="1" dirty="0">
              <a:solidFill>
                <a:srgbClr val="C00000"/>
              </a:solidFill>
            </a:endParaRPr>
          </a:p>
        </p:txBody>
      </p:sp>
      <p:sp>
        <p:nvSpPr>
          <p:cNvPr id="3" name="Content Placeholder 2"/>
          <p:cNvSpPr>
            <a:spLocks noGrp="1"/>
          </p:cNvSpPr>
          <p:nvPr>
            <p:ph idx="1"/>
          </p:nvPr>
        </p:nvSpPr>
        <p:spPr>
          <a:xfrm>
            <a:off x="635293" y="1851115"/>
            <a:ext cx="8596668" cy="4079785"/>
          </a:xfrm>
        </p:spPr>
        <p:txBody>
          <a:bodyPr vert="horz" anchor="ctr" anchorCtr="0">
            <a:noAutofit/>
          </a:bodyPr>
          <a:lstStyle/>
          <a:p>
            <a:pPr marL="0" indent="0" algn="just">
              <a:buNone/>
            </a:pPr>
            <a:r>
              <a:rPr lang="vi-VN" sz="2000" dirty="0">
                <a:solidFill>
                  <a:schemeClr val="tx1"/>
                </a:solidFill>
                <a:latin typeface="+mj-lt"/>
              </a:rPr>
              <a:t>Doanh nghiệp, hộ, cá nhân kinh doanh nộp thuế theo phương pháp kê khai có hoạt động cung cấp hàng hoá, dịch vụ trực tiếp đến người tiêu dùng theo mô hình kinh doanh (trung tâm thương mại; siêu thị; bán lẻ hàng tiêu dùng; ăn uống; nhà hàng; khách sạn; bán lẻ thuốc tân dược; dịch vụ vui chơi, giải trí và các dịch vụ khác) được lựa chọn sử dụng hoá đơn điện tử được khởi tạo từ máy tính tiền có kết nối chuyển dữ liệu điện tử với cơ quan thuế hoặc hóa đơn điện tử có mã, hóa đơn điện tử không có mã.</a:t>
            </a:r>
          </a:p>
          <a:p>
            <a:pPr marL="0" indent="0" algn="just">
              <a:buNone/>
            </a:pPr>
            <a:endParaRPr lang="vi-VN" sz="2000" dirty="0">
              <a:solidFill>
                <a:schemeClr val="tx1"/>
              </a:solidFill>
              <a:latin typeface="+mj-lt"/>
            </a:endParaRPr>
          </a:p>
          <a:p>
            <a:pPr marL="0" indent="0" algn="just">
              <a:buNone/>
            </a:pPr>
            <a:r>
              <a:rPr lang="vi-VN" sz="2000" i="1" dirty="0">
                <a:solidFill>
                  <a:schemeClr val="tx1"/>
                </a:solidFill>
                <a:latin typeface="+mj-lt"/>
              </a:rPr>
              <a:t>(Khoản 2 Điều 8 Thông tư số 78/2021/TT-BTC)</a:t>
            </a:r>
            <a:endParaRPr lang="vi-VN" sz="2000" dirty="0">
              <a:solidFill>
                <a:schemeClr val="tx1"/>
              </a:solidFill>
              <a:latin typeface="+mj-lt"/>
            </a:endParaRPr>
          </a:p>
          <a:p>
            <a:pPr marL="0" indent="0">
              <a:buNone/>
            </a:pPr>
            <a:endParaRPr lang="vi-VN" sz="2000" dirty="0">
              <a:solidFill>
                <a:schemeClr val="tx1"/>
              </a:solidFill>
              <a:latin typeface="+mj-lt"/>
            </a:endParaRPr>
          </a:p>
        </p:txBody>
      </p:sp>
      <p:sp>
        <p:nvSpPr>
          <p:cNvPr id="4" name="Title 1"/>
          <p:cNvSpPr txBox="1">
            <a:spLocks/>
          </p:cNvSpPr>
          <p:nvPr/>
        </p:nvSpPr>
        <p:spPr>
          <a:xfrm>
            <a:off x="940526" y="235109"/>
            <a:ext cx="8119391"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1. ĐỐI TƯỢNG </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3"/>
          <a:stretch>
            <a:fillRect/>
          </a:stretch>
        </p:blipFill>
        <p:spPr>
          <a:xfrm>
            <a:off x="1" y="0"/>
            <a:ext cx="940525" cy="779545"/>
          </a:xfrm>
          <a:prstGeom prst="rect">
            <a:avLst/>
          </a:prstGeom>
        </p:spPr>
      </p:pic>
    </p:spTree>
    <p:extLst>
      <p:ext uri="{BB962C8B-B14F-4D97-AF65-F5344CB8AC3E}">
        <p14:creationId xmlns:p14="http://schemas.microsoft.com/office/powerpoint/2010/main" val="2988445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5346" y="1045308"/>
            <a:ext cx="8596668" cy="726831"/>
          </a:xfrm>
        </p:spPr>
        <p:txBody>
          <a:bodyPr>
            <a:noAutofit/>
          </a:bodyPr>
          <a:lstStyle/>
          <a:p>
            <a:pPr algn="ctr"/>
            <a:r>
              <a:rPr lang="vi-VN" sz="2600" b="1" dirty="0">
                <a:solidFill>
                  <a:srgbClr val="C00000"/>
                </a:solidFill>
              </a:rPr>
              <a:t>C</a:t>
            </a:r>
            <a:r>
              <a:rPr lang="en-US" sz="2600" b="1" dirty="0">
                <a:solidFill>
                  <a:srgbClr val="C00000"/>
                </a:solidFill>
              </a:rPr>
              <a:t>ÁC TRƯỜNG HỢP SỬ DỤNG HĐĐT PHẢI TRẢ TIỀN/KHÔNG PHẢI TRẢ TIỀN DỊCH VỤ</a:t>
            </a:r>
            <a:endParaRPr lang="vi-VN" sz="2600" b="1" dirty="0">
              <a:solidFill>
                <a:srgbClr val="C00000"/>
              </a:solidFill>
            </a:endParaRPr>
          </a:p>
        </p:txBody>
      </p:sp>
      <p:sp>
        <p:nvSpPr>
          <p:cNvPr id="3" name="Content Placeholder 2"/>
          <p:cNvSpPr>
            <a:spLocks noGrp="1"/>
          </p:cNvSpPr>
          <p:nvPr>
            <p:ph idx="1"/>
          </p:nvPr>
        </p:nvSpPr>
        <p:spPr>
          <a:xfrm>
            <a:off x="795346" y="2717074"/>
            <a:ext cx="8596668" cy="2926080"/>
          </a:xfrm>
        </p:spPr>
        <p:txBody>
          <a:bodyPr anchor="ctr" anchorCtr="0">
            <a:normAutofit/>
          </a:bodyPr>
          <a:lstStyle/>
          <a:p>
            <a:pPr marL="0" indent="0" algn="just">
              <a:buNone/>
            </a:pPr>
            <a:r>
              <a:rPr lang="en-US" sz="2400" dirty="0">
                <a:solidFill>
                  <a:schemeClr val="tx1"/>
                </a:solidFill>
                <a:latin typeface="+mj-lt"/>
              </a:rPr>
              <a:t>- </a:t>
            </a:r>
            <a:r>
              <a:rPr lang="vi-VN" sz="2400" dirty="0">
                <a:solidFill>
                  <a:schemeClr val="tx1"/>
                </a:solidFill>
                <a:latin typeface="+mj-lt"/>
              </a:rPr>
              <a:t>Sử dụng hóa đơn điện tử có mã của cơ quan Thuế không phải trả tiền dịch vụ   </a:t>
            </a:r>
          </a:p>
          <a:p>
            <a:pPr marL="0" indent="0" algn="just">
              <a:buNone/>
            </a:pPr>
            <a:r>
              <a:rPr lang="en-US" sz="2400" dirty="0">
                <a:solidFill>
                  <a:schemeClr val="tx1"/>
                </a:solidFill>
                <a:latin typeface="+mj-lt"/>
              </a:rPr>
              <a:t>- </a:t>
            </a:r>
            <a:r>
              <a:rPr lang="vi-VN" sz="2400" dirty="0">
                <a:solidFill>
                  <a:schemeClr val="tx1"/>
                </a:solidFill>
                <a:latin typeface="+mj-lt"/>
              </a:rPr>
              <a:t>Sử dụng hóa đơn điện tử không có mã của CQT/sử dụng hóa đơn có mã thông qua tổ chức cung cấp dịch vụ về hóa đơn điện tử (phải trả tiền dịch vụ)</a:t>
            </a:r>
            <a:endParaRPr lang="en-US" sz="2400" dirty="0">
              <a:solidFill>
                <a:schemeClr val="tx1"/>
              </a:solidFill>
              <a:latin typeface="+mj-lt"/>
            </a:endParaRPr>
          </a:p>
          <a:p>
            <a:pPr marL="0" indent="0">
              <a:buNone/>
            </a:pPr>
            <a:endParaRPr lang="vi-VN" sz="1900" b="1" dirty="0">
              <a:solidFill>
                <a:schemeClr val="tx1"/>
              </a:solidFill>
              <a:latin typeface="Cambria" panose="02040503050406030204" pitchFamily="18" charset="0"/>
            </a:endParaRPr>
          </a:p>
        </p:txBody>
      </p:sp>
      <p:sp>
        <p:nvSpPr>
          <p:cNvPr id="4" name="Title 1"/>
          <p:cNvSpPr txBox="1">
            <a:spLocks/>
          </p:cNvSpPr>
          <p:nvPr/>
        </p:nvSpPr>
        <p:spPr>
          <a:xfrm>
            <a:off x="1118990" y="271986"/>
            <a:ext cx="8916226"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2. HÌNH THỨC SỬ DỤNG</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2" y="0"/>
            <a:ext cx="1118988" cy="927463"/>
          </a:xfrm>
          <a:prstGeom prst="rect">
            <a:avLst/>
          </a:prstGeom>
        </p:spPr>
      </p:pic>
    </p:spTree>
    <p:extLst>
      <p:ext uri="{BB962C8B-B14F-4D97-AF65-F5344CB8AC3E}">
        <p14:creationId xmlns:p14="http://schemas.microsoft.com/office/powerpoint/2010/main" val="1817469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3457" y="741948"/>
            <a:ext cx="8596668" cy="726831"/>
          </a:xfrm>
        </p:spPr>
        <p:txBody>
          <a:bodyPr>
            <a:normAutofit/>
          </a:bodyPr>
          <a:lstStyle/>
          <a:p>
            <a:pPr algn="ctr"/>
            <a:r>
              <a:rPr lang="en-US" sz="2600" b="1" dirty="0">
                <a:solidFill>
                  <a:srgbClr val="C00000"/>
                </a:solidFill>
              </a:rPr>
              <a:t>3. ỦY NHIỆM LẬP HĐĐT</a:t>
            </a:r>
            <a:endParaRPr lang="vi-VN" sz="2600" b="1" dirty="0">
              <a:solidFill>
                <a:srgbClr val="C00000"/>
              </a:solidFill>
            </a:endParaRPr>
          </a:p>
        </p:txBody>
      </p:sp>
      <p:sp>
        <p:nvSpPr>
          <p:cNvPr id="3" name="Content Placeholder 2"/>
          <p:cNvSpPr>
            <a:spLocks noGrp="1"/>
          </p:cNvSpPr>
          <p:nvPr>
            <p:ph idx="1"/>
          </p:nvPr>
        </p:nvSpPr>
        <p:spPr>
          <a:xfrm>
            <a:off x="795346" y="1489166"/>
            <a:ext cx="8596668" cy="4846320"/>
          </a:xfrm>
        </p:spPr>
        <p:txBody>
          <a:bodyPr anchor="ctr" anchorCtr="0">
            <a:normAutofit fontScale="85000" lnSpcReduction="10000"/>
          </a:bodyPr>
          <a:lstStyle/>
          <a:p>
            <a:pPr marL="0" indent="0" algn="ctr">
              <a:buNone/>
            </a:pPr>
            <a:r>
              <a:rPr lang="en-US" sz="2400" b="1" dirty="0">
                <a:solidFill>
                  <a:srgbClr val="C00000"/>
                </a:solidFill>
                <a:latin typeface="+mj-lt"/>
              </a:rPr>
              <a:t> NGUYÊN TẮC</a:t>
            </a:r>
          </a:p>
          <a:p>
            <a:pPr marL="0" indent="0" algn="just">
              <a:buNone/>
            </a:pPr>
            <a:r>
              <a:rPr lang="vi-VN" sz="1900" dirty="0">
                <a:solidFill>
                  <a:schemeClr val="tx1"/>
                </a:solidFill>
                <a:latin typeface="+mj-lt"/>
              </a:rPr>
              <a:t>a) Bên thứ ba được quyền ủy nhiệm là bên có quan hệ liên kết với người bán, là đối tượng đủ điều kiện sử dụng hoá đơn điện tử và không thuộc trường hợp ngừng sử dụng hóa đơn điện tử theo quy định tại Điều 16 Nghị định số 123/2020/NĐ-CP;</a:t>
            </a:r>
          </a:p>
          <a:p>
            <a:pPr marL="0" indent="0" algn="just">
              <a:buNone/>
            </a:pPr>
            <a:r>
              <a:rPr lang="vi-VN" sz="1900" dirty="0">
                <a:solidFill>
                  <a:schemeClr val="tx1"/>
                </a:solidFill>
                <a:latin typeface="+mj-lt"/>
              </a:rPr>
              <a:t>b) Việc ủy nhiệm phải được lập bằng văn bản (hợp đồng hoặc thỏa thuận) giữa bên ủy nhiệm và bên nhận ủy nhiệm;</a:t>
            </a:r>
          </a:p>
          <a:p>
            <a:pPr marL="0" indent="0" algn="just">
              <a:buNone/>
            </a:pPr>
            <a:r>
              <a:rPr lang="vi-VN" sz="1900" dirty="0">
                <a:solidFill>
                  <a:schemeClr val="tx1"/>
                </a:solidFill>
                <a:latin typeface="+mj-lt"/>
              </a:rPr>
              <a:t>c) Việc ủy nhiệm phải thông báo cho cơ quan thuế khi đăng ký sử dụng hóa đơn điện tử;</a:t>
            </a:r>
          </a:p>
          <a:p>
            <a:pPr marL="0" indent="0" algn="just">
              <a:buNone/>
            </a:pPr>
            <a:r>
              <a:rPr lang="vi-VN" sz="1900" dirty="0">
                <a:solidFill>
                  <a:schemeClr val="tx1"/>
                </a:solidFill>
                <a:latin typeface="+mj-lt"/>
              </a:rPr>
              <a:t>d) Hóa đơn điện tử do tổ chức được ủy nhiệm lập là hóa đơn điện tử có mã hoặc không có mã của cơ quan thuế và phải thể hiện tên, địa chỉ, mã số thuế của bên ủy nhiệm và tên, địa chỉ, mã số thuế của bên nhận ủy nhiệm;</a:t>
            </a:r>
          </a:p>
          <a:p>
            <a:pPr marL="0" indent="0" algn="just">
              <a:buNone/>
            </a:pPr>
            <a:r>
              <a:rPr lang="vi-VN" sz="1900" dirty="0">
                <a:solidFill>
                  <a:schemeClr val="tx1"/>
                </a:solidFill>
                <a:latin typeface="+mj-lt"/>
              </a:rPr>
              <a:t>đ) Bên ủy nhiệm và bên nhận ủy nhiệm có trách nhiệm niêm yết trên website của đơn vị mình hoặc thông báo công khai trên phương tiện thông tin đại chúng để người mua hàng hóa, dịch vụ được biết về việc ủy nhiệm lập hóa đơn;</a:t>
            </a:r>
          </a:p>
          <a:p>
            <a:pPr marL="0" indent="0" algn="just">
              <a:buNone/>
            </a:pPr>
            <a:r>
              <a:rPr lang="vi-VN" sz="1900" dirty="0">
                <a:solidFill>
                  <a:schemeClr val="tx1"/>
                </a:solidFill>
                <a:latin typeface="+mj-lt"/>
              </a:rPr>
              <a:t>e) Trường hợp hóa đơn ủy nhiệm là hóa đơn điện tử không có mã của cơ quan thuế thì bên ủy nhiệm phải chuyển dữ liệu hóa đơn điện tử đến cơ quan thuế quản lý trực tiếp;</a:t>
            </a:r>
          </a:p>
          <a:p>
            <a:pPr marL="0" indent="0" algn="just">
              <a:buNone/>
            </a:pPr>
            <a:r>
              <a:rPr lang="vi-VN" sz="1900" dirty="0">
                <a:solidFill>
                  <a:schemeClr val="tx1"/>
                </a:solidFill>
                <a:latin typeface="+mj-lt"/>
              </a:rPr>
              <a:t>g) Bên nhận ủy nhiệm có trách nhiệm lập hóa đơn điện tử ủy nhiệm theo đúng thực tế phát sinh, theo thỏa thuận với bên ủy nhiệm và tuân thủ nguyên tắc tại khoản 1 Điều 3 Thông tư số 78/2021/TT-BTC.</a:t>
            </a:r>
          </a:p>
        </p:txBody>
      </p:sp>
      <p:sp>
        <p:nvSpPr>
          <p:cNvPr id="4" name="Title 1"/>
          <p:cNvSpPr txBox="1">
            <a:spLocks/>
          </p:cNvSpPr>
          <p:nvPr/>
        </p:nvSpPr>
        <p:spPr>
          <a:xfrm>
            <a:off x="1071154" y="320093"/>
            <a:ext cx="9086043"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-3. ỦY NHIỆM LẬP HĐĐT</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 y="0"/>
            <a:ext cx="1071153" cy="887815"/>
          </a:xfrm>
          <a:prstGeom prst="rect">
            <a:avLst/>
          </a:prstGeom>
        </p:spPr>
      </p:pic>
    </p:spTree>
    <p:extLst>
      <p:ext uri="{BB962C8B-B14F-4D97-AF65-F5344CB8AC3E}">
        <p14:creationId xmlns:p14="http://schemas.microsoft.com/office/powerpoint/2010/main" val="39058541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634" y="1066800"/>
            <a:ext cx="8596668" cy="642425"/>
          </a:xfrm>
        </p:spPr>
        <p:txBody>
          <a:bodyPr anchor="ctr" anchorCtr="0">
            <a:noAutofit/>
          </a:bodyPr>
          <a:lstStyle/>
          <a:p>
            <a:pPr algn="ctr"/>
            <a:r>
              <a:rPr lang="en-US" sz="2400" b="1" dirty="0">
                <a:solidFill>
                  <a:srgbClr val="C00000"/>
                </a:solidFill>
              </a:rPr>
              <a:t>HỢP ĐỒNG HOẶC THỎA THUẬN ỦY NHIỆM</a:t>
            </a:r>
            <a:endParaRPr lang="vi-VN" sz="2400" b="1" dirty="0">
              <a:solidFill>
                <a:srgbClr val="C00000"/>
              </a:solidFill>
            </a:endParaRPr>
          </a:p>
        </p:txBody>
      </p:sp>
      <p:sp>
        <p:nvSpPr>
          <p:cNvPr id="3" name="Content Placeholder 2"/>
          <p:cNvSpPr>
            <a:spLocks noGrp="1"/>
          </p:cNvSpPr>
          <p:nvPr>
            <p:ph idx="1"/>
          </p:nvPr>
        </p:nvSpPr>
        <p:spPr>
          <a:xfrm>
            <a:off x="677333" y="2416630"/>
            <a:ext cx="9237375" cy="3383280"/>
          </a:xfrm>
        </p:spPr>
        <p:txBody>
          <a:bodyPr vert="horz" anchor="ctr" anchorCtr="0">
            <a:noAutofit/>
          </a:bodyPr>
          <a:lstStyle/>
          <a:p>
            <a:pPr marL="0" indent="0" algn="just">
              <a:buNone/>
            </a:pPr>
            <a:r>
              <a:rPr lang="vi-VN" sz="2000" dirty="0">
                <a:solidFill>
                  <a:schemeClr val="tx1"/>
                </a:solidFill>
                <a:latin typeface="+mj-lt"/>
              </a:rPr>
              <a:t>a) Hợp đồng ủy nhiệm hoặc thỏa thuận ủy nhiệm phải thể hiện đầy đủ các thông tin về bên ủy nhiệm và bên nhận ủy nhiệm (tên, địa chỉ, mã số thuế, chứng thư số); thông tin về hoá đơn điện tử ủy nhiệm (loại hoá đơn, ký hiệu hoá đơn, ký hiệu mẫu số hóa đơn); mục đích ủy nhiệm; thời hạn ủy nhiệm; phương thức thanh toán hoá đơn ủy nhiệm (ghi rõ trách nhiệm thanh toán tiền hàng hóa, dịch vụ trên hóa đơn ủy nhiệm); </a:t>
            </a:r>
          </a:p>
          <a:p>
            <a:pPr marL="0" indent="0" algn="just">
              <a:buNone/>
            </a:pPr>
            <a:r>
              <a:rPr lang="vi-VN" sz="2000" dirty="0">
                <a:solidFill>
                  <a:schemeClr val="tx1"/>
                </a:solidFill>
                <a:latin typeface="+mj-lt"/>
              </a:rPr>
              <a:t>b) Bên ủy nhiệm và bên nhận ủy nhiệm có trách nhiệm lưu trữ văn bản ủy nhiệm và xuất trình khi cơ quan có thẩm quyền yêu cầu. </a:t>
            </a:r>
          </a:p>
          <a:p>
            <a:pPr marL="0" indent="0">
              <a:buNone/>
            </a:pPr>
            <a:endParaRPr lang="vi-VN" sz="1900" dirty="0">
              <a:solidFill>
                <a:schemeClr val="tx1"/>
              </a:solidFill>
              <a:latin typeface="Cambria" panose="02040503050406030204" pitchFamily="18" charset="0"/>
            </a:endParaRPr>
          </a:p>
        </p:txBody>
      </p:sp>
      <p:sp>
        <p:nvSpPr>
          <p:cNvPr id="4" name="Title 1"/>
          <p:cNvSpPr txBox="1">
            <a:spLocks/>
          </p:cNvSpPr>
          <p:nvPr/>
        </p:nvSpPr>
        <p:spPr>
          <a:xfrm>
            <a:off x="945624" y="221698"/>
            <a:ext cx="7740568"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3. ỦY NHIỆM LẬP HĐĐT</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 y="0"/>
            <a:ext cx="945623" cy="783771"/>
          </a:xfrm>
          <a:prstGeom prst="rect">
            <a:avLst/>
          </a:prstGeom>
        </p:spPr>
      </p:pic>
    </p:spTree>
    <p:extLst>
      <p:ext uri="{BB962C8B-B14F-4D97-AF65-F5344CB8AC3E}">
        <p14:creationId xmlns:p14="http://schemas.microsoft.com/office/powerpoint/2010/main" val="42485315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930812"/>
            <a:ext cx="8596668" cy="642425"/>
          </a:xfrm>
        </p:spPr>
        <p:txBody>
          <a:bodyPr anchor="ctr" anchorCtr="0">
            <a:noAutofit/>
          </a:bodyPr>
          <a:lstStyle/>
          <a:p>
            <a:pPr algn="ctr"/>
            <a:r>
              <a:rPr lang="vi-VN" sz="2400" b="1" dirty="0">
                <a:solidFill>
                  <a:srgbClr val="C00000"/>
                </a:solidFill>
              </a:rPr>
              <a:t>T</a:t>
            </a:r>
            <a:r>
              <a:rPr lang="en-US" sz="2400" b="1" dirty="0">
                <a:solidFill>
                  <a:srgbClr val="C00000"/>
                </a:solidFill>
              </a:rPr>
              <a:t>HÔNG BÁO VỚI CQT VỀ VIỆC ỦY NHIỆM LẬP HĐĐT</a:t>
            </a:r>
            <a:r>
              <a:rPr lang="en-US" sz="2400" b="1" dirty="0">
                <a:solidFill>
                  <a:schemeClr val="tx1"/>
                </a:solidFill>
                <a:latin typeface="Cambria" panose="02040503050406030204" pitchFamily="18" charset="0"/>
              </a:rPr>
              <a:t/>
            </a:r>
            <a:br>
              <a:rPr lang="en-US" sz="2400" b="1" dirty="0">
                <a:solidFill>
                  <a:schemeClr val="tx1"/>
                </a:solidFill>
                <a:latin typeface="Cambria" panose="02040503050406030204" pitchFamily="18" charset="0"/>
              </a:rPr>
            </a:br>
            <a:endParaRPr lang="vi-VN" sz="2400" b="1" dirty="0">
              <a:solidFill>
                <a:schemeClr val="tx1"/>
              </a:solidFill>
              <a:latin typeface="Cambria" panose="02040503050406030204" pitchFamily="18" charset="0"/>
            </a:endParaRPr>
          </a:p>
        </p:txBody>
      </p:sp>
      <p:sp>
        <p:nvSpPr>
          <p:cNvPr id="3" name="Content Placeholder 2"/>
          <p:cNvSpPr>
            <a:spLocks noGrp="1"/>
          </p:cNvSpPr>
          <p:nvPr>
            <p:ph idx="1"/>
          </p:nvPr>
        </p:nvSpPr>
        <p:spPr>
          <a:xfrm>
            <a:off x="677333" y="1252025"/>
            <a:ext cx="9328815" cy="5212275"/>
          </a:xfrm>
        </p:spPr>
        <p:txBody>
          <a:bodyPr vert="horz" anchor="ctr" anchorCtr="0">
            <a:noAutofit/>
          </a:bodyPr>
          <a:lstStyle/>
          <a:p>
            <a:pPr marL="0" indent="0" algn="just">
              <a:buNone/>
            </a:pPr>
            <a:r>
              <a:rPr lang="vi-VN" sz="1900" dirty="0">
                <a:solidFill>
                  <a:schemeClr val="tx1"/>
                </a:solidFill>
                <a:latin typeface="+mj-lt"/>
              </a:rPr>
              <a:t>a) </a:t>
            </a:r>
            <a:r>
              <a:rPr lang="vi-VN" sz="1900" b="1" dirty="0">
                <a:solidFill>
                  <a:schemeClr val="tx1"/>
                </a:solidFill>
                <a:latin typeface="+mj-lt"/>
              </a:rPr>
              <a:t>Việc ủy nhiệm </a:t>
            </a:r>
            <a:r>
              <a:rPr lang="vi-VN" sz="1900" dirty="0">
                <a:solidFill>
                  <a:schemeClr val="tx1"/>
                </a:solidFill>
                <a:latin typeface="+mj-lt"/>
              </a:rPr>
              <a:t>được xác định là thay đổi thông tin đăng ký sử dụng hóa đơn điện tử theo quy định tại Điều 15 Nghị định số 123/2020/NĐ-CP. Bên ủy nhiệm và bên nhận ủy nhiệm sử dụng Mẫu số 01ĐKTĐ/HĐĐT ban hành kèm theo Nghị định số 123/2020/NĐ-CP </a:t>
            </a:r>
            <a:endParaRPr lang="en-US" sz="1900" dirty="0">
              <a:solidFill>
                <a:schemeClr val="tx1"/>
              </a:solidFill>
              <a:latin typeface="+mj-lt"/>
            </a:endParaRPr>
          </a:p>
          <a:p>
            <a:pPr marL="0" indent="0" algn="just">
              <a:buNone/>
            </a:pPr>
            <a:r>
              <a:rPr lang="vi-VN" sz="1900" dirty="0">
                <a:solidFill>
                  <a:schemeClr val="tx1"/>
                </a:solidFill>
                <a:latin typeface="+mj-lt"/>
              </a:rPr>
              <a:t>b) </a:t>
            </a:r>
            <a:r>
              <a:rPr lang="vi-VN" sz="1900" b="1" dirty="0">
                <a:solidFill>
                  <a:schemeClr val="tx1"/>
                </a:solidFill>
                <a:latin typeface="+mj-lt"/>
              </a:rPr>
              <a:t>Bên ủy nhiệm </a:t>
            </a:r>
            <a:r>
              <a:rPr lang="vi-VN" sz="1900" dirty="0">
                <a:solidFill>
                  <a:schemeClr val="tx1"/>
                </a:solidFill>
                <a:latin typeface="+mj-lt"/>
              </a:rPr>
              <a:t>điền thông tin của bên nhận ủy nhiệm, bên nhận ủy nhiệm điền thông tin của bên ủy nhiệm tại Mẫu số 01ĐKTĐ/HĐĐT ban hành kèm theo Nghị định số 123/2020/NĐ-CP</a:t>
            </a:r>
            <a:r>
              <a:rPr lang="en-US" sz="1900" dirty="0">
                <a:solidFill>
                  <a:schemeClr val="tx1"/>
                </a:solidFill>
                <a:latin typeface="+mj-lt"/>
              </a:rPr>
              <a:t>.</a:t>
            </a:r>
            <a:endParaRPr lang="vi-VN" sz="1900" dirty="0">
              <a:solidFill>
                <a:schemeClr val="tx1"/>
              </a:solidFill>
              <a:latin typeface="+mj-lt"/>
            </a:endParaRPr>
          </a:p>
        </p:txBody>
      </p:sp>
      <p:sp>
        <p:nvSpPr>
          <p:cNvPr id="4" name="Title 1"/>
          <p:cNvSpPr txBox="1">
            <a:spLocks/>
          </p:cNvSpPr>
          <p:nvPr/>
        </p:nvSpPr>
        <p:spPr>
          <a:xfrm>
            <a:off x="1027318" y="354320"/>
            <a:ext cx="8628843"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3. ỦY NHIỆM LẬP HĐĐT</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2" y="0"/>
            <a:ext cx="927462" cy="768718"/>
          </a:xfrm>
          <a:prstGeom prst="rect">
            <a:avLst/>
          </a:prstGeom>
        </p:spPr>
      </p:pic>
    </p:spTree>
    <p:extLst>
      <p:ext uri="{BB962C8B-B14F-4D97-AF65-F5344CB8AC3E}">
        <p14:creationId xmlns:p14="http://schemas.microsoft.com/office/powerpoint/2010/main" val="34714247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5346" y="734963"/>
            <a:ext cx="8596668" cy="726831"/>
          </a:xfrm>
        </p:spPr>
        <p:txBody>
          <a:bodyPr>
            <a:normAutofit/>
          </a:bodyPr>
          <a:lstStyle/>
          <a:p>
            <a:pPr algn="ctr"/>
            <a:r>
              <a:rPr lang="en-US" sz="2600" b="1" dirty="0">
                <a:solidFill>
                  <a:schemeClr val="accent5"/>
                </a:solidFill>
              </a:rPr>
              <a:t>4. ĐỊNH DẠNG HĐĐT</a:t>
            </a:r>
            <a:endParaRPr lang="vi-VN" sz="2600" b="1" dirty="0">
              <a:solidFill>
                <a:schemeClr val="accent5"/>
              </a:solidFill>
            </a:endParaRPr>
          </a:p>
        </p:txBody>
      </p:sp>
      <p:sp>
        <p:nvSpPr>
          <p:cNvPr id="3" name="Content Placeholder 2"/>
          <p:cNvSpPr>
            <a:spLocks noGrp="1"/>
          </p:cNvSpPr>
          <p:nvPr>
            <p:ph idx="1"/>
          </p:nvPr>
        </p:nvSpPr>
        <p:spPr>
          <a:xfrm>
            <a:off x="795346" y="1460500"/>
            <a:ext cx="9263054" cy="4991100"/>
          </a:xfrm>
        </p:spPr>
        <p:txBody>
          <a:bodyPr anchor="ctr" anchorCtr="0">
            <a:noAutofit/>
          </a:bodyPr>
          <a:lstStyle/>
          <a:p>
            <a:pPr marL="0" indent="0" algn="just">
              <a:buNone/>
            </a:pPr>
            <a:r>
              <a:rPr lang="en-US" sz="2000" dirty="0">
                <a:solidFill>
                  <a:schemeClr val="tx1"/>
                </a:solidFill>
                <a:latin typeface="+mj-lt"/>
              </a:rPr>
              <a:t>- </a:t>
            </a:r>
            <a:r>
              <a:rPr lang="vi-VN" sz="2000" dirty="0">
                <a:solidFill>
                  <a:schemeClr val="tx1"/>
                </a:solidFill>
                <a:latin typeface="+mj-lt"/>
              </a:rPr>
              <a:t>Định dạng hóa đơn điện tử sử dụng ngôn ngữ định dạng văn bản XML (XML là chữ viết tắt của cụm từ tiếng Anh "extensible Markup Language" được tạo ra với mục đích chia sẻ dữ liệu điện tử giữa các hệ thống công nghệ thông tin).</a:t>
            </a:r>
          </a:p>
          <a:p>
            <a:pPr marL="0" indent="0" algn="just">
              <a:buNone/>
            </a:pPr>
            <a:r>
              <a:rPr lang="vi-VN" sz="2000" b="1" dirty="0">
                <a:solidFill>
                  <a:schemeClr val="tx1"/>
                </a:solidFill>
                <a:latin typeface="+mj-lt"/>
              </a:rPr>
              <a:t>-</a:t>
            </a:r>
            <a:r>
              <a:rPr lang="vi-VN" sz="2000" dirty="0">
                <a:solidFill>
                  <a:schemeClr val="tx1"/>
                </a:solidFill>
                <a:latin typeface="+mj-lt"/>
              </a:rPr>
              <a:t> </a:t>
            </a:r>
            <a:r>
              <a:rPr lang="en-US" sz="2000" dirty="0">
                <a:solidFill>
                  <a:schemeClr val="tx1"/>
                </a:solidFill>
                <a:latin typeface="+mj-lt"/>
              </a:rPr>
              <a:t>G</a:t>
            </a:r>
            <a:r>
              <a:rPr lang="vi-VN" sz="2000" dirty="0">
                <a:solidFill>
                  <a:schemeClr val="tx1"/>
                </a:solidFill>
                <a:latin typeface="+mj-lt"/>
              </a:rPr>
              <a:t>ồm hai thành phần: thành phần chứa dữ liệu nghiệp vụ hóa đơn điện tử và thành phần chứa dữ liệu chữ ký số. Đối với hóa đơn điện tử có mã của cơ quan thuế thì có thêm thành phần chứa dữ liệu liên quan đến mã cơ quan thuế.</a:t>
            </a:r>
          </a:p>
          <a:p>
            <a:pPr marL="0" indent="0" algn="just">
              <a:buNone/>
            </a:pPr>
            <a:r>
              <a:rPr lang="vi-VN" sz="2000" b="1" dirty="0">
                <a:solidFill>
                  <a:schemeClr val="tx1"/>
                </a:solidFill>
                <a:latin typeface="+mj-lt"/>
              </a:rPr>
              <a:t>-</a:t>
            </a:r>
            <a:r>
              <a:rPr lang="vi-VN" sz="2000" dirty="0">
                <a:solidFill>
                  <a:schemeClr val="tx1"/>
                </a:solidFill>
                <a:latin typeface="+mj-lt"/>
              </a:rPr>
              <a:t> Tổ chức, doanh nghiệp bán hàng hóa, cung cấp dịch vụ khi chuyển dữ liệu hóa đơn điện tử đến cơ quan thuế bằng hình thức gửi trực tiếp phải đáp ứng yêu cầu sau:</a:t>
            </a:r>
          </a:p>
          <a:p>
            <a:pPr marL="0" indent="0" algn="just">
              <a:buNone/>
            </a:pPr>
            <a:r>
              <a:rPr lang="vi-VN" sz="2000" dirty="0">
                <a:solidFill>
                  <a:schemeClr val="tx1"/>
                </a:solidFill>
                <a:latin typeface="+mj-lt"/>
              </a:rPr>
              <a:t>+ Kết nối với Tổng cục Thuế thông qua kênh thuê riêng hoặc kênh MPLS VPN Layer 3, gồm 1 kênh truyền chính và 1 kênh truyền dự phòng. Mỗi kênh truyền có băng thông tối thiểu 5 Mbps.</a:t>
            </a:r>
          </a:p>
          <a:p>
            <a:pPr marL="0" indent="0" algn="just">
              <a:buNone/>
            </a:pPr>
            <a:r>
              <a:rPr lang="vi-VN" sz="2000" dirty="0">
                <a:solidFill>
                  <a:schemeClr val="tx1"/>
                </a:solidFill>
                <a:latin typeface="+mj-lt"/>
              </a:rPr>
              <a:t>+ Sử dụng dịch vụ Web (Web Service) hoặc Message Queue (MQ) có mã hóa làm phương thức để kết nối.</a:t>
            </a:r>
          </a:p>
          <a:p>
            <a:pPr marL="0" indent="0" algn="just">
              <a:buNone/>
            </a:pPr>
            <a:r>
              <a:rPr lang="vi-VN" sz="2000" dirty="0">
                <a:solidFill>
                  <a:schemeClr val="tx1"/>
                </a:solidFill>
                <a:latin typeface="+mj-lt"/>
              </a:rPr>
              <a:t>+ Sử dụng giao thức SOAP để đóng gói và truyền nhận dữ liệu.</a:t>
            </a:r>
          </a:p>
        </p:txBody>
      </p:sp>
      <p:sp>
        <p:nvSpPr>
          <p:cNvPr id="4" name="Title 1"/>
          <p:cNvSpPr txBox="1">
            <a:spLocks/>
          </p:cNvSpPr>
          <p:nvPr/>
        </p:nvSpPr>
        <p:spPr>
          <a:xfrm>
            <a:off x="1182030" y="244157"/>
            <a:ext cx="8772534"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4. ĐỊNH DẠNG HĐĐT</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 y="0"/>
            <a:ext cx="1182029" cy="979714"/>
          </a:xfrm>
          <a:prstGeom prst="rect">
            <a:avLst/>
          </a:prstGeom>
        </p:spPr>
      </p:pic>
    </p:spTree>
    <p:extLst>
      <p:ext uri="{BB962C8B-B14F-4D97-AF65-F5344CB8AC3E}">
        <p14:creationId xmlns:p14="http://schemas.microsoft.com/office/powerpoint/2010/main" val="26949193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3" y="1210982"/>
            <a:ext cx="8596668" cy="642425"/>
          </a:xfrm>
        </p:spPr>
        <p:txBody>
          <a:bodyPr anchor="ctr" anchorCtr="0">
            <a:noAutofit/>
          </a:bodyPr>
          <a:lstStyle/>
          <a:p>
            <a:pPr algn="ctr"/>
            <a:r>
              <a:rPr lang="en-US" sz="2400" b="1" dirty="0">
                <a:solidFill>
                  <a:srgbClr val="C00000"/>
                </a:solidFill>
              </a:rPr>
              <a:t>5. NỘI DUNG HÓA ĐƠN</a:t>
            </a:r>
            <a:br>
              <a:rPr lang="en-US" sz="2400" b="1" dirty="0">
                <a:solidFill>
                  <a:srgbClr val="C00000"/>
                </a:solidFill>
              </a:rPr>
            </a:br>
            <a:r>
              <a:rPr lang="vi-VN" sz="2400" b="1" dirty="0">
                <a:solidFill>
                  <a:srgbClr val="C00000"/>
                </a:solidFill>
              </a:rPr>
              <a:t> K</a:t>
            </a:r>
            <a:r>
              <a:rPr lang="en-US" sz="2400" b="1" dirty="0">
                <a:solidFill>
                  <a:srgbClr val="C00000"/>
                </a:solidFill>
              </a:rPr>
              <a:t>Ý HIỆU MẪU SỐ HÓA ĐƠN, KÝ HIỆU HÓA ĐƠN</a:t>
            </a:r>
            <a:endParaRPr lang="vi-VN" sz="2400" b="1" dirty="0">
              <a:solidFill>
                <a:srgbClr val="C00000"/>
              </a:solidFill>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290248909"/>
              </p:ext>
            </p:extLst>
          </p:nvPr>
        </p:nvGraphicFramePr>
        <p:xfrm>
          <a:off x="1345849" y="2254613"/>
          <a:ext cx="7259637" cy="3342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p:cNvSpPr txBox="1">
            <a:spLocks/>
          </p:cNvSpPr>
          <p:nvPr/>
        </p:nvSpPr>
        <p:spPr>
          <a:xfrm>
            <a:off x="1398101" y="318377"/>
            <a:ext cx="8772534"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5. NỘI DUNG HĐĐT</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26526" y="2500312"/>
            <a:ext cx="5369838" cy="3861299"/>
          </a:xfrm>
          <a:prstGeom prst="rect">
            <a:avLst/>
          </a:prstGeom>
        </p:spPr>
      </p:pic>
      <p:pic>
        <p:nvPicPr>
          <p:cNvPr id="6" name="Picture 5"/>
          <p:cNvPicPr>
            <a:picLocks noChangeAspect="1"/>
          </p:cNvPicPr>
          <p:nvPr/>
        </p:nvPicPr>
        <p:blipFill>
          <a:blip r:embed="rId8"/>
          <a:stretch>
            <a:fillRect/>
          </a:stretch>
        </p:blipFill>
        <p:spPr>
          <a:xfrm>
            <a:off x="1" y="0"/>
            <a:ext cx="1280159" cy="1061048"/>
          </a:xfrm>
          <a:prstGeom prst="rect">
            <a:avLst/>
          </a:prstGeom>
        </p:spPr>
      </p:pic>
    </p:spTree>
    <p:extLst>
      <p:ext uri="{BB962C8B-B14F-4D97-AF65-F5344CB8AC3E}">
        <p14:creationId xmlns:p14="http://schemas.microsoft.com/office/powerpoint/2010/main" val="32624934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5346" y="791308"/>
            <a:ext cx="8596668" cy="726831"/>
          </a:xfrm>
        </p:spPr>
        <p:txBody>
          <a:bodyPr>
            <a:normAutofit fontScale="90000"/>
          </a:bodyPr>
          <a:lstStyle/>
          <a:p>
            <a:pPr algn="ctr"/>
            <a:r>
              <a:rPr lang="en-US" sz="2000" b="1" dirty="0">
                <a:solidFill>
                  <a:srgbClr val="C00000"/>
                </a:solidFill>
                <a:latin typeface="Times New Roman" panose="02020603050405020304" pitchFamily="18" charset="0"/>
                <a:cs typeface="Times New Roman" panose="02020603050405020304" pitchFamily="18" charset="0"/>
              </a:rPr>
              <a:t>5. NỘI DUNG HÓA ĐƠN</a:t>
            </a:r>
            <a:br>
              <a:rPr lang="en-US" sz="2000" b="1" dirty="0">
                <a:solidFill>
                  <a:srgbClr val="C00000"/>
                </a:solidFill>
                <a:latin typeface="Times New Roman" panose="02020603050405020304" pitchFamily="18" charset="0"/>
                <a:cs typeface="Times New Roman" panose="02020603050405020304" pitchFamily="18" charset="0"/>
              </a:rPr>
            </a:br>
            <a:r>
              <a:rPr lang="vi-VN" sz="2000" b="1" dirty="0">
                <a:solidFill>
                  <a:srgbClr val="C00000"/>
                </a:solidFill>
                <a:latin typeface="Times New Roman" panose="02020603050405020304" pitchFamily="18" charset="0"/>
                <a:cs typeface="Times New Roman" panose="02020603050405020304" pitchFamily="18" charset="0"/>
              </a:rPr>
              <a:t> K</a:t>
            </a:r>
            <a:r>
              <a:rPr lang="en-US" sz="2000" b="1" dirty="0">
                <a:solidFill>
                  <a:srgbClr val="C00000"/>
                </a:solidFill>
                <a:latin typeface="Times New Roman" panose="02020603050405020304" pitchFamily="18" charset="0"/>
                <a:cs typeface="Times New Roman" panose="02020603050405020304" pitchFamily="18" charset="0"/>
              </a:rPr>
              <a:t>Ý HIỆU MẪU SỐ HÓA ĐƠN, KÝ HIỆU HÓA ĐƠN – HÓA ĐƠN ĐIỆN TỬ</a:t>
            </a:r>
            <a:r>
              <a:rPr lang="en-US" b="1" dirty="0">
                <a:solidFill>
                  <a:srgbClr val="C00000"/>
                </a:solidFill>
                <a:latin typeface="Cambria" panose="02040503050406030204" pitchFamily="18" charset="0"/>
              </a:rPr>
              <a:t/>
            </a:r>
            <a:br>
              <a:rPr lang="en-US" b="1" dirty="0">
                <a:solidFill>
                  <a:srgbClr val="C00000"/>
                </a:solidFill>
                <a:latin typeface="Cambria" panose="02040503050406030204" pitchFamily="18" charset="0"/>
              </a:rPr>
            </a:br>
            <a:endParaRPr lang="vi-VN" b="1" dirty="0">
              <a:solidFill>
                <a:srgbClr val="C00000"/>
              </a:solidFill>
              <a:latin typeface="Cambria" panose="02040503050406030204" pitchFamily="18" charset="0"/>
            </a:endParaRPr>
          </a:p>
        </p:txBody>
      </p:sp>
      <p:sp>
        <p:nvSpPr>
          <p:cNvPr id="3" name="Content Placeholder 2"/>
          <p:cNvSpPr>
            <a:spLocks noGrp="1"/>
          </p:cNvSpPr>
          <p:nvPr>
            <p:ph idx="1"/>
          </p:nvPr>
        </p:nvSpPr>
        <p:spPr>
          <a:xfrm>
            <a:off x="795346" y="895839"/>
            <a:ext cx="9720254" cy="5555761"/>
          </a:xfrm>
        </p:spPr>
        <p:txBody>
          <a:bodyPr anchor="ctr" anchorCtr="0">
            <a:normAutofit/>
          </a:bodyPr>
          <a:lstStyle/>
          <a:p>
            <a:pPr marL="0" indent="0" algn="just">
              <a:buNone/>
            </a:pPr>
            <a:r>
              <a:rPr lang="en-US" sz="2000" b="1" dirty="0">
                <a:solidFill>
                  <a:schemeClr val="tx1"/>
                </a:solidFill>
                <a:latin typeface="+mj-lt"/>
              </a:rPr>
              <a:t>a) </a:t>
            </a:r>
            <a:r>
              <a:rPr lang="en-US" sz="2000" b="1" dirty="0" err="1">
                <a:solidFill>
                  <a:schemeClr val="tx1"/>
                </a:solidFill>
                <a:latin typeface="+mj-lt"/>
              </a:rPr>
              <a:t>Ký</a:t>
            </a:r>
            <a:r>
              <a:rPr lang="en-US" sz="2000" b="1" dirty="0">
                <a:solidFill>
                  <a:schemeClr val="tx1"/>
                </a:solidFill>
                <a:latin typeface="+mj-lt"/>
              </a:rPr>
              <a:t> </a:t>
            </a:r>
            <a:r>
              <a:rPr lang="en-US" sz="2000" b="1" dirty="0" err="1">
                <a:solidFill>
                  <a:schemeClr val="tx1"/>
                </a:solidFill>
                <a:latin typeface="+mj-lt"/>
              </a:rPr>
              <a:t>hiệu</a:t>
            </a:r>
            <a:r>
              <a:rPr lang="en-US" sz="2000" b="1" dirty="0">
                <a:solidFill>
                  <a:schemeClr val="tx1"/>
                </a:solidFill>
                <a:latin typeface="+mj-lt"/>
              </a:rPr>
              <a:t> </a:t>
            </a:r>
            <a:r>
              <a:rPr lang="en-US" sz="2000" b="1" dirty="0" err="1">
                <a:solidFill>
                  <a:schemeClr val="tx1"/>
                </a:solidFill>
                <a:latin typeface="+mj-lt"/>
              </a:rPr>
              <a:t>mẫu</a:t>
            </a:r>
            <a:r>
              <a:rPr lang="en-US" sz="2000" b="1" dirty="0">
                <a:solidFill>
                  <a:schemeClr val="tx1"/>
                </a:solidFill>
                <a:latin typeface="+mj-lt"/>
              </a:rPr>
              <a:t> </a:t>
            </a:r>
            <a:r>
              <a:rPr lang="en-US" sz="2000" b="1" dirty="0" err="1">
                <a:solidFill>
                  <a:schemeClr val="tx1"/>
                </a:solidFill>
                <a:latin typeface="+mj-lt"/>
              </a:rPr>
              <a:t>số</a:t>
            </a:r>
            <a:r>
              <a:rPr lang="en-US" sz="2000" b="1" dirty="0">
                <a:solidFill>
                  <a:schemeClr val="tx1"/>
                </a:solidFill>
                <a:latin typeface="+mj-lt"/>
              </a:rPr>
              <a:t> </a:t>
            </a:r>
            <a:r>
              <a:rPr lang="en-US" sz="2000" b="1" dirty="0" err="1">
                <a:solidFill>
                  <a:schemeClr val="tx1"/>
                </a:solidFill>
                <a:latin typeface="+mj-lt"/>
              </a:rPr>
              <a:t>hóa</a:t>
            </a:r>
            <a:r>
              <a:rPr lang="en-US" sz="2000" b="1" dirty="0">
                <a:solidFill>
                  <a:schemeClr val="tx1"/>
                </a:solidFill>
                <a:latin typeface="+mj-lt"/>
              </a:rPr>
              <a:t> </a:t>
            </a:r>
            <a:r>
              <a:rPr lang="en-US" sz="2000" b="1" dirty="0" err="1">
                <a:solidFill>
                  <a:schemeClr val="tx1"/>
                </a:solidFill>
                <a:latin typeface="+mj-lt"/>
              </a:rPr>
              <a:t>đơn</a:t>
            </a:r>
            <a:endParaRPr lang="en-US" sz="2000" b="1" dirty="0">
              <a:solidFill>
                <a:schemeClr val="tx1"/>
              </a:solidFill>
              <a:latin typeface="+mj-lt"/>
            </a:endParaRPr>
          </a:p>
          <a:p>
            <a:pPr marL="0" indent="0" algn="just">
              <a:buNone/>
            </a:pPr>
            <a:r>
              <a:rPr lang="en-US" sz="2000" b="1" dirty="0" err="1">
                <a:solidFill>
                  <a:schemeClr val="tx1"/>
                </a:solidFill>
                <a:latin typeface="+mj-lt"/>
              </a:rPr>
              <a:t>Số</a:t>
            </a:r>
            <a:r>
              <a:rPr lang="en-US" sz="2000" b="1" dirty="0">
                <a:solidFill>
                  <a:schemeClr val="tx1"/>
                </a:solidFill>
                <a:latin typeface="+mj-lt"/>
              </a:rPr>
              <a:t> 1: </a:t>
            </a:r>
            <a:r>
              <a:rPr lang="en-US" sz="2000" dirty="0" err="1">
                <a:solidFill>
                  <a:schemeClr val="tx1"/>
                </a:solidFill>
                <a:latin typeface="+mj-lt"/>
              </a:rPr>
              <a:t>Phản</a:t>
            </a:r>
            <a:r>
              <a:rPr lang="en-US" sz="2000" dirty="0">
                <a:solidFill>
                  <a:schemeClr val="tx1"/>
                </a:solidFill>
                <a:latin typeface="+mj-lt"/>
              </a:rPr>
              <a:t> </a:t>
            </a:r>
            <a:r>
              <a:rPr lang="en-US" sz="2000" dirty="0" err="1">
                <a:solidFill>
                  <a:schemeClr val="tx1"/>
                </a:solidFill>
                <a:latin typeface="+mj-lt"/>
              </a:rPr>
              <a:t>ánh</a:t>
            </a:r>
            <a:r>
              <a:rPr lang="en-US" sz="2000" dirty="0">
                <a:solidFill>
                  <a:schemeClr val="tx1"/>
                </a:solidFill>
                <a:latin typeface="+mj-lt"/>
              </a:rPr>
              <a:t> </a:t>
            </a:r>
            <a:r>
              <a:rPr lang="en-US" sz="2000" dirty="0" err="1">
                <a:solidFill>
                  <a:schemeClr val="tx1"/>
                </a:solidFill>
                <a:latin typeface="+mj-lt"/>
              </a:rPr>
              <a:t>loại</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giá</a:t>
            </a:r>
            <a:r>
              <a:rPr lang="en-US" sz="2000" dirty="0">
                <a:solidFill>
                  <a:schemeClr val="tx1"/>
                </a:solidFill>
                <a:latin typeface="+mj-lt"/>
              </a:rPr>
              <a:t> </a:t>
            </a:r>
            <a:r>
              <a:rPr lang="en-US" sz="2000" dirty="0" err="1">
                <a:solidFill>
                  <a:schemeClr val="tx1"/>
                </a:solidFill>
                <a:latin typeface="+mj-lt"/>
              </a:rPr>
              <a:t>trị</a:t>
            </a:r>
            <a:r>
              <a:rPr lang="en-US" sz="2000" dirty="0">
                <a:solidFill>
                  <a:schemeClr val="tx1"/>
                </a:solidFill>
                <a:latin typeface="+mj-lt"/>
              </a:rPr>
              <a:t> </a:t>
            </a:r>
            <a:r>
              <a:rPr lang="en-US" sz="2000" dirty="0" err="1">
                <a:solidFill>
                  <a:schemeClr val="tx1"/>
                </a:solidFill>
                <a:latin typeface="+mj-lt"/>
              </a:rPr>
              <a:t>gia</a:t>
            </a:r>
            <a:r>
              <a:rPr lang="en-US" sz="2000" dirty="0">
                <a:solidFill>
                  <a:schemeClr val="tx1"/>
                </a:solidFill>
                <a:latin typeface="+mj-lt"/>
              </a:rPr>
              <a:t> </a:t>
            </a:r>
            <a:r>
              <a:rPr lang="en-US" sz="2000" dirty="0" err="1">
                <a:solidFill>
                  <a:schemeClr val="tx1"/>
                </a:solidFill>
                <a:latin typeface="+mj-lt"/>
              </a:rPr>
              <a:t>tăng</a:t>
            </a:r>
            <a:r>
              <a:rPr lang="en-US" sz="2000" dirty="0">
                <a:solidFill>
                  <a:schemeClr val="tx1"/>
                </a:solidFill>
                <a:latin typeface="+mj-lt"/>
              </a:rPr>
              <a:t>; </a:t>
            </a:r>
            <a:endParaRPr lang="vi-VN" sz="2000" dirty="0">
              <a:solidFill>
                <a:schemeClr val="tx1"/>
              </a:solidFill>
              <a:latin typeface="+mj-lt"/>
            </a:endParaRPr>
          </a:p>
          <a:p>
            <a:pPr marL="0" indent="0" algn="just">
              <a:buNone/>
            </a:pPr>
            <a:r>
              <a:rPr lang="en-US" sz="2000" b="1" dirty="0" err="1">
                <a:solidFill>
                  <a:schemeClr val="tx1"/>
                </a:solidFill>
                <a:latin typeface="+mj-lt"/>
              </a:rPr>
              <a:t>Số</a:t>
            </a:r>
            <a:r>
              <a:rPr lang="en-US" sz="2000" b="1" dirty="0">
                <a:solidFill>
                  <a:schemeClr val="tx1"/>
                </a:solidFill>
                <a:latin typeface="+mj-lt"/>
              </a:rPr>
              <a:t> 2:</a:t>
            </a:r>
            <a:r>
              <a:rPr lang="en-US" sz="2000" dirty="0">
                <a:solidFill>
                  <a:schemeClr val="tx1"/>
                </a:solidFill>
                <a:latin typeface="+mj-lt"/>
              </a:rPr>
              <a:t> </a:t>
            </a:r>
            <a:r>
              <a:rPr lang="en-US" sz="2000" dirty="0" err="1">
                <a:solidFill>
                  <a:schemeClr val="tx1"/>
                </a:solidFill>
                <a:latin typeface="+mj-lt"/>
              </a:rPr>
              <a:t>Phản</a:t>
            </a:r>
            <a:r>
              <a:rPr lang="en-US" sz="2000" dirty="0">
                <a:solidFill>
                  <a:schemeClr val="tx1"/>
                </a:solidFill>
                <a:latin typeface="+mj-lt"/>
              </a:rPr>
              <a:t> </a:t>
            </a:r>
            <a:r>
              <a:rPr lang="en-US" sz="2000" dirty="0" err="1">
                <a:solidFill>
                  <a:schemeClr val="tx1"/>
                </a:solidFill>
                <a:latin typeface="+mj-lt"/>
              </a:rPr>
              <a:t>ánh</a:t>
            </a:r>
            <a:r>
              <a:rPr lang="en-US" sz="2000" dirty="0">
                <a:solidFill>
                  <a:schemeClr val="tx1"/>
                </a:solidFill>
                <a:latin typeface="+mj-lt"/>
              </a:rPr>
              <a:t> </a:t>
            </a:r>
            <a:r>
              <a:rPr lang="en-US" sz="2000" dirty="0" err="1">
                <a:solidFill>
                  <a:schemeClr val="tx1"/>
                </a:solidFill>
                <a:latin typeface="+mj-lt"/>
              </a:rPr>
              <a:t>loại</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bán</a:t>
            </a:r>
            <a:r>
              <a:rPr lang="en-US" sz="2000" dirty="0">
                <a:solidFill>
                  <a:schemeClr val="tx1"/>
                </a:solidFill>
                <a:latin typeface="+mj-lt"/>
              </a:rPr>
              <a:t> </a:t>
            </a:r>
            <a:r>
              <a:rPr lang="en-US" sz="2000" dirty="0" err="1">
                <a:solidFill>
                  <a:schemeClr val="tx1"/>
                </a:solidFill>
                <a:latin typeface="+mj-lt"/>
              </a:rPr>
              <a:t>hàng</a:t>
            </a:r>
            <a:r>
              <a:rPr lang="en-US" sz="2000" dirty="0">
                <a:solidFill>
                  <a:schemeClr val="tx1"/>
                </a:solidFill>
                <a:latin typeface="+mj-lt"/>
              </a:rPr>
              <a:t>; </a:t>
            </a:r>
          </a:p>
          <a:p>
            <a:pPr marL="0" indent="0" algn="just">
              <a:buNone/>
            </a:pPr>
            <a:r>
              <a:rPr lang="en-US" sz="2000" b="1" dirty="0" err="1">
                <a:solidFill>
                  <a:schemeClr val="tx1"/>
                </a:solidFill>
                <a:latin typeface="+mj-lt"/>
              </a:rPr>
              <a:t>Số</a:t>
            </a:r>
            <a:r>
              <a:rPr lang="en-US" sz="2000" b="1" dirty="0">
                <a:solidFill>
                  <a:schemeClr val="tx1"/>
                </a:solidFill>
                <a:latin typeface="+mj-lt"/>
              </a:rPr>
              <a:t> 3:</a:t>
            </a:r>
            <a:r>
              <a:rPr lang="en-US" sz="2000" dirty="0">
                <a:solidFill>
                  <a:schemeClr val="tx1"/>
                </a:solidFill>
                <a:latin typeface="+mj-lt"/>
              </a:rPr>
              <a:t> </a:t>
            </a:r>
            <a:r>
              <a:rPr lang="en-US" sz="2000" dirty="0" err="1">
                <a:solidFill>
                  <a:schemeClr val="tx1"/>
                </a:solidFill>
                <a:latin typeface="+mj-lt"/>
              </a:rPr>
              <a:t>Phản</a:t>
            </a:r>
            <a:r>
              <a:rPr lang="en-US" sz="2000" dirty="0">
                <a:solidFill>
                  <a:schemeClr val="tx1"/>
                </a:solidFill>
                <a:latin typeface="+mj-lt"/>
              </a:rPr>
              <a:t> </a:t>
            </a:r>
            <a:r>
              <a:rPr lang="en-US" sz="2000" dirty="0" err="1">
                <a:solidFill>
                  <a:schemeClr val="tx1"/>
                </a:solidFill>
                <a:latin typeface="+mj-lt"/>
              </a:rPr>
              <a:t>ánh</a:t>
            </a:r>
            <a:r>
              <a:rPr lang="en-US" sz="2000" dirty="0">
                <a:solidFill>
                  <a:schemeClr val="tx1"/>
                </a:solidFill>
                <a:latin typeface="+mj-lt"/>
              </a:rPr>
              <a:t> </a:t>
            </a:r>
            <a:r>
              <a:rPr lang="en-US" sz="2000" dirty="0" err="1">
                <a:solidFill>
                  <a:schemeClr val="tx1"/>
                </a:solidFill>
                <a:latin typeface="+mj-lt"/>
              </a:rPr>
              <a:t>loại</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bán</a:t>
            </a:r>
            <a:r>
              <a:rPr lang="en-US" sz="2000" dirty="0">
                <a:solidFill>
                  <a:schemeClr val="tx1"/>
                </a:solidFill>
                <a:latin typeface="+mj-lt"/>
              </a:rPr>
              <a:t> </a:t>
            </a:r>
            <a:r>
              <a:rPr lang="en-US" sz="2000" dirty="0" err="1">
                <a:solidFill>
                  <a:schemeClr val="tx1"/>
                </a:solidFill>
                <a:latin typeface="+mj-lt"/>
              </a:rPr>
              <a:t>tài</a:t>
            </a:r>
            <a:r>
              <a:rPr lang="en-US" sz="2000" dirty="0">
                <a:solidFill>
                  <a:schemeClr val="tx1"/>
                </a:solidFill>
                <a:latin typeface="+mj-lt"/>
              </a:rPr>
              <a:t> </a:t>
            </a:r>
            <a:r>
              <a:rPr lang="en-US" sz="2000" dirty="0" err="1">
                <a:solidFill>
                  <a:schemeClr val="tx1"/>
                </a:solidFill>
                <a:latin typeface="+mj-lt"/>
              </a:rPr>
              <a:t>sản</a:t>
            </a:r>
            <a:r>
              <a:rPr lang="en-US" sz="2000" dirty="0">
                <a:solidFill>
                  <a:schemeClr val="tx1"/>
                </a:solidFill>
                <a:latin typeface="+mj-lt"/>
              </a:rPr>
              <a:t> </a:t>
            </a:r>
            <a:r>
              <a:rPr lang="en-US" sz="2000" dirty="0" err="1">
                <a:solidFill>
                  <a:schemeClr val="tx1"/>
                </a:solidFill>
                <a:latin typeface="+mj-lt"/>
              </a:rPr>
              <a:t>công</a:t>
            </a:r>
            <a:r>
              <a:rPr lang="en-US" sz="2000" dirty="0">
                <a:solidFill>
                  <a:schemeClr val="tx1"/>
                </a:solidFill>
                <a:latin typeface="+mj-lt"/>
              </a:rPr>
              <a:t>;</a:t>
            </a:r>
            <a:endParaRPr lang="vi-VN" sz="2000" dirty="0">
              <a:solidFill>
                <a:schemeClr val="tx1"/>
              </a:solidFill>
              <a:latin typeface="+mj-lt"/>
            </a:endParaRPr>
          </a:p>
          <a:p>
            <a:pPr marL="0" indent="0" algn="just">
              <a:buNone/>
            </a:pPr>
            <a:r>
              <a:rPr lang="en-US" sz="2000" b="1" dirty="0" err="1">
                <a:solidFill>
                  <a:schemeClr val="tx1"/>
                </a:solidFill>
                <a:latin typeface="+mj-lt"/>
              </a:rPr>
              <a:t>Số</a:t>
            </a:r>
            <a:r>
              <a:rPr lang="en-US" sz="2000" b="1" dirty="0">
                <a:solidFill>
                  <a:schemeClr val="tx1"/>
                </a:solidFill>
                <a:latin typeface="+mj-lt"/>
              </a:rPr>
              <a:t> 4:</a:t>
            </a:r>
            <a:r>
              <a:rPr lang="en-US" sz="2000" dirty="0">
                <a:solidFill>
                  <a:schemeClr val="tx1"/>
                </a:solidFill>
                <a:latin typeface="+mj-lt"/>
              </a:rPr>
              <a:t> </a:t>
            </a:r>
            <a:r>
              <a:rPr lang="en-US" sz="2000" dirty="0" err="1">
                <a:solidFill>
                  <a:schemeClr val="tx1"/>
                </a:solidFill>
                <a:latin typeface="+mj-lt"/>
              </a:rPr>
              <a:t>Phản</a:t>
            </a:r>
            <a:r>
              <a:rPr lang="en-US" sz="2000" dirty="0">
                <a:solidFill>
                  <a:schemeClr val="tx1"/>
                </a:solidFill>
                <a:latin typeface="+mj-lt"/>
              </a:rPr>
              <a:t> </a:t>
            </a:r>
            <a:r>
              <a:rPr lang="en-US" sz="2000" dirty="0" err="1">
                <a:solidFill>
                  <a:schemeClr val="tx1"/>
                </a:solidFill>
                <a:latin typeface="+mj-lt"/>
              </a:rPr>
              <a:t>ánh</a:t>
            </a:r>
            <a:r>
              <a:rPr lang="en-US" sz="2000" dirty="0">
                <a:solidFill>
                  <a:schemeClr val="tx1"/>
                </a:solidFill>
                <a:latin typeface="+mj-lt"/>
              </a:rPr>
              <a:t> </a:t>
            </a:r>
            <a:r>
              <a:rPr lang="en-US" sz="2000" dirty="0" err="1">
                <a:solidFill>
                  <a:schemeClr val="tx1"/>
                </a:solidFill>
                <a:latin typeface="+mj-lt"/>
              </a:rPr>
              <a:t>loại</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bán</a:t>
            </a:r>
            <a:r>
              <a:rPr lang="en-US" sz="2000" dirty="0">
                <a:solidFill>
                  <a:schemeClr val="tx1"/>
                </a:solidFill>
                <a:latin typeface="+mj-lt"/>
              </a:rPr>
              <a:t> </a:t>
            </a:r>
            <a:r>
              <a:rPr lang="en-US" sz="2000" dirty="0" err="1">
                <a:solidFill>
                  <a:schemeClr val="tx1"/>
                </a:solidFill>
                <a:latin typeface="+mj-lt"/>
              </a:rPr>
              <a:t>hàng</a:t>
            </a:r>
            <a:r>
              <a:rPr lang="en-US" sz="2000" dirty="0">
                <a:solidFill>
                  <a:schemeClr val="tx1"/>
                </a:solidFill>
                <a:latin typeface="+mj-lt"/>
              </a:rPr>
              <a:t> </a:t>
            </a:r>
            <a:r>
              <a:rPr lang="en-US" sz="2000" dirty="0" err="1">
                <a:solidFill>
                  <a:schemeClr val="tx1"/>
                </a:solidFill>
                <a:latin typeface="+mj-lt"/>
              </a:rPr>
              <a:t>dự</a:t>
            </a:r>
            <a:r>
              <a:rPr lang="en-US" sz="2000" dirty="0">
                <a:solidFill>
                  <a:schemeClr val="tx1"/>
                </a:solidFill>
                <a:latin typeface="+mj-lt"/>
              </a:rPr>
              <a:t> </a:t>
            </a:r>
            <a:r>
              <a:rPr lang="en-US" sz="2000" dirty="0" err="1">
                <a:solidFill>
                  <a:schemeClr val="tx1"/>
                </a:solidFill>
                <a:latin typeface="+mj-lt"/>
              </a:rPr>
              <a:t>trữ</a:t>
            </a:r>
            <a:r>
              <a:rPr lang="en-US" sz="2000" dirty="0">
                <a:solidFill>
                  <a:schemeClr val="tx1"/>
                </a:solidFill>
                <a:latin typeface="+mj-lt"/>
              </a:rPr>
              <a:t> </a:t>
            </a:r>
            <a:r>
              <a:rPr lang="en-US" sz="2000" dirty="0" err="1">
                <a:solidFill>
                  <a:schemeClr val="tx1"/>
                </a:solidFill>
                <a:latin typeface="+mj-lt"/>
              </a:rPr>
              <a:t>quốc</a:t>
            </a:r>
            <a:r>
              <a:rPr lang="en-US" sz="2000" dirty="0">
                <a:solidFill>
                  <a:schemeClr val="tx1"/>
                </a:solidFill>
                <a:latin typeface="+mj-lt"/>
              </a:rPr>
              <a:t> </a:t>
            </a:r>
            <a:r>
              <a:rPr lang="en-US" sz="2000" dirty="0" err="1">
                <a:solidFill>
                  <a:schemeClr val="tx1"/>
                </a:solidFill>
                <a:latin typeface="+mj-lt"/>
              </a:rPr>
              <a:t>gia</a:t>
            </a:r>
            <a:r>
              <a:rPr lang="en-US" sz="2000" dirty="0">
                <a:solidFill>
                  <a:schemeClr val="tx1"/>
                </a:solidFill>
                <a:latin typeface="+mj-lt"/>
              </a:rPr>
              <a:t>;</a:t>
            </a:r>
          </a:p>
          <a:p>
            <a:pPr marL="0" indent="0" algn="just">
              <a:buNone/>
            </a:pPr>
            <a:r>
              <a:rPr lang="en-US" sz="2000" b="1" dirty="0" err="1">
                <a:solidFill>
                  <a:schemeClr val="tx1"/>
                </a:solidFill>
                <a:latin typeface="+mj-lt"/>
              </a:rPr>
              <a:t>Số</a:t>
            </a:r>
            <a:r>
              <a:rPr lang="en-US" sz="2000" b="1" dirty="0">
                <a:solidFill>
                  <a:schemeClr val="tx1"/>
                </a:solidFill>
                <a:latin typeface="+mj-lt"/>
              </a:rPr>
              <a:t> 5:</a:t>
            </a:r>
            <a:r>
              <a:rPr lang="en-US" sz="2000" dirty="0">
                <a:solidFill>
                  <a:schemeClr val="tx1"/>
                </a:solidFill>
                <a:latin typeface="+mj-lt"/>
              </a:rPr>
              <a:t> </a:t>
            </a:r>
            <a:r>
              <a:rPr lang="en-US" sz="2000" dirty="0" err="1">
                <a:solidFill>
                  <a:schemeClr val="tx1"/>
                </a:solidFill>
                <a:latin typeface="+mj-lt"/>
              </a:rPr>
              <a:t>Phản</a:t>
            </a:r>
            <a:r>
              <a:rPr lang="en-US" sz="2000" dirty="0">
                <a:solidFill>
                  <a:schemeClr val="tx1"/>
                </a:solidFill>
                <a:latin typeface="+mj-lt"/>
              </a:rPr>
              <a:t> </a:t>
            </a:r>
            <a:r>
              <a:rPr lang="en-US" sz="2000" dirty="0" err="1">
                <a:solidFill>
                  <a:schemeClr val="tx1"/>
                </a:solidFill>
                <a:latin typeface="+mj-lt"/>
              </a:rPr>
              <a:t>ánh</a:t>
            </a:r>
            <a:r>
              <a:rPr lang="en-US" sz="2000" dirty="0">
                <a:solidFill>
                  <a:schemeClr val="tx1"/>
                </a:solidFill>
                <a:latin typeface="+mj-lt"/>
              </a:rPr>
              <a:t> </a:t>
            </a:r>
            <a:r>
              <a:rPr lang="en-US" sz="2000" dirty="0" err="1">
                <a:solidFill>
                  <a:schemeClr val="tx1"/>
                </a:solidFill>
                <a:latin typeface="+mj-lt"/>
              </a:rPr>
              <a:t>các</a:t>
            </a:r>
            <a:r>
              <a:rPr lang="en-US" sz="2000" dirty="0">
                <a:solidFill>
                  <a:schemeClr val="tx1"/>
                </a:solidFill>
                <a:latin typeface="+mj-lt"/>
              </a:rPr>
              <a:t> </a:t>
            </a:r>
            <a:r>
              <a:rPr lang="en-US" sz="2000" dirty="0" err="1">
                <a:solidFill>
                  <a:schemeClr val="tx1"/>
                </a:solidFill>
                <a:latin typeface="+mj-lt"/>
              </a:rPr>
              <a:t>loại</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khác</a:t>
            </a:r>
            <a:r>
              <a:rPr lang="en-US" sz="2000" dirty="0">
                <a:solidFill>
                  <a:schemeClr val="tx1"/>
                </a:solidFill>
                <a:latin typeface="+mj-lt"/>
              </a:rPr>
              <a:t> </a:t>
            </a:r>
            <a:r>
              <a:rPr lang="en-US" sz="2000" dirty="0" err="1">
                <a:solidFill>
                  <a:schemeClr val="tx1"/>
                </a:solidFill>
                <a:latin typeface="+mj-lt"/>
              </a:rPr>
              <a:t>là</a:t>
            </a:r>
            <a:r>
              <a:rPr lang="en-US" sz="2000" dirty="0">
                <a:solidFill>
                  <a:schemeClr val="tx1"/>
                </a:solidFill>
                <a:latin typeface="+mj-lt"/>
              </a:rPr>
              <a:t> tem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vé</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thẻ</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phiếu</a:t>
            </a:r>
            <a:r>
              <a:rPr lang="en-US" sz="2000" dirty="0">
                <a:solidFill>
                  <a:schemeClr val="tx1"/>
                </a:solidFill>
                <a:latin typeface="+mj-lt"/>
              </a:rPr>
              <a:t> thu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hoặc</a:t>
            </a:r>
            <a:r>
              <a:rPr lang="en-US" sz="2000" dirty="0">
                <a:solidFill>
                  <a:schemeClr val="tx1"/>
                </a:solidFill>
                <a:latin typeface="+mj-lt"/>
              </a:rPr>
              <a:t> </a:t>
            </a:r>
            <a:r>
              <a:rPr lang="en-US" sz="2000" dirty="0" err="1">
                <a:solidFill>
                  <a:schemeClr val="tx1"/>
                </a:solidFill>
                <a:latin typeface="+mj-lt"/>
              </a:rPr>
              <a:t>các</a:t>
            </a:r>
            <a:r>
              <a:rPr lang="en-US" sz="2000" dirty="0">
                <a:solidFill>
                  <a:schemeClr val="tx1"/>
                </a:solidFill>
                <a:latin typeface="+mj-lt"/>
              </a:rPr>
              <a:t> </a:t>
            </a:r>
            <a:r>
              <a:rPr lang="en-US" sz="2000" dirty="0" err="1">
                <a:solidFill>
                  <a:schemeClr val="tx1"/>
                </a:solidFill>
                <a:latin typeface="+mj-lt"/>
              </a:rPr>
              <a:t>chứng</a:t>
            </a:r>
            <a:r>
              <a:rPr lang="en-US" sz="2000" dirty="0">
                <a:solidFill>
                  <a:schemeClr val="tx1"/>
                </a:solidFill>
                <a:latin typeface="+mj-lt"/>
              </a:rPr>
              <a:t> </a:t>
            </a:r>
            <a:r>
              <a:rPr lang="en-US" sz="2000" dirty="0" err="1">
                <a:solidFill>
                  <a:schemeClr val="tx1"/>
                </a:solidFill>
                <a:latin typeface="+mj-lt"/>
              </a:rPr>
              <a:t>từ</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tên</a:t>
            </a:r>
            <a:r>
              <a:rPr lang="en-US" sz="2000" dirty="0">
                <a:solidFill>
                  <a:schemeClr val="tx1"/>
                </a:solidFill>
                <a:latin typeface="+mj-lt"/>
              </a:rPr>
              <a:t> </a:t>
            </a:r>
            <a:r>
              <a:rPr lang="en-US" sz="2000" dirty="0" err="1">
                <a:solidFill>
                  <a:schemeClr val="tx1"/>
                </a:solidFill>
                <a:latin typeface="+mj-lt"/>
              </a:rPr>
              <a:t>gọi</a:t>
            </a:r>
            <a:r>
              <a:rPr lang="en-US" sz="2000" dirty="0">
                <a:solidFill>
                  <a:schemeClr val="tx1"/>
                </a:solidFill>
                <a:latin typeface="+mj-lt"/>
              </a:rPr>
              <a:t> </a:t>
            </a:r>
            <a:r>
              <a:rPr lang="en-US" sz="2000" dirty="0" err="1">
                <a:solidFill>
                  <a:schemeClr val="tx1"/>
                </a:solidFill>
                <a:latin typeface="+mj-lt"/>
              </a:rPr>
              <a:t>khác</a:t>
            </a:r>
            <a:r>
              <a:rPr lang="en-US" sz="2000" dirty="0">
                <a:solidFill>
                  <a:schemeClr val="tx1"/>
                </a:solidFill>
                <a:latin typeface="+mj-lt"/>
              </a:rPr>
              <a:t> </a:t>
            </a:r>
            <a:r>
              <a:rPr lang="en-US" sz="2000" dirty="0" err="1">
                <a:solidFill>
                  <a:schemeClr val="tx1"/>
                </a:solidFill>
                <a:latin typeface="+mj-lt"/>
              </a:rPr>
              <a:t>nhưng</a:t>
            </a:r>
            <a:r>
              <a:rPr lang="en-US" sz="2000" dirty="0">
                <a:solidFill>
                  <a:schemeClr val="tx1"/>
                </a:solidFill>
                <a:latin typeface="+mj-lt"/>
              </a:rPr>
              <a: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nội</a:t>
            </a:r>
            <a:r>
              <a:rPr lang="en-US" sz="2000" dirty="0">
                <a:solidFill>
                  <a:schemeClr val="tx1"/>
                </a:solidFill>
                <a:latin typeface="+mj-lt"/>
              </a:rPr>
              <a:t> dung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theo</a:t>
            </a:r>
            <a:r>
              <a:rPr lang="en-US" sz="2000" dirty="0">
                <a:solidFill>
                  <a:schemeClr val="tx1"/>
                </a:solidFill>
                <a:latin typeface="+mj-lt"/>
              </a:rPr>
              <a:t> </a:t>
            </a:r>
            <a:r>
              <a:rPr lang="en-US" sz="2000" dirty="0" err="1">
                <a:solidFill>
                  <a:schemeClr val="tx1"/>
                </a:solidFill>
                <a:latin typeface="+mj-lt"/>
              </a:rPr>
              <a:t>quy</a:t>
            </a:r>
            <a:r>
              <a:rPr lang="en-US" sz="2000" dirty="0">
                <a:solidFill>
                  <a:schemeClr val="tx1"/>
                </a:solidFill>
                <a:latin typeface="+mj-lt"/>
              </a:rPr>
              <a:t> </a:t>
            </a:r>
            <a:r>
              <a:rPr lang="en-US" sz="2000" dirty="0" err="1">
                <a:solidFill>
                  <a:schemeClr val="tx1"/>
                </a:solidFill>
                <a:latin typeface="+mj-lt"/>
              </a:rPr>
              <a:t>định</a:t>
            </a:r>
            <a:r>
              <a:rPr lang="en-US" sz="2000" dirty="0">
                <a:solidFill>
                  <a:schemeClr val="tx1"/>
                </a:solidFill>
                <a:latin typeface="+mj-lt"/>
              </a:rPr>
              <a:t> </a:t>
            </a:r>
            <a:r>
              <a:rPr lang="en-US" sz="2000" dirty="0" err="1">
                <a:solidFill>
                  <a:schemeClr val="tx1"/>
                </a:solidFill>
                <a:latin typeface="+mj-lt"/>
              </a:rPr>
              <a:t>tại</a:t>
            </a:r>
            <a:r>
              <a:rPr lang="en-US" sz="2000" dirty="0">
                <a:solidFill>
                  <a:schemeClr val="tx1"/>
                </a:solidFill>
                <a:latin typeface="+mj-lt"/>
              </a:rPr>
              <a:t> </a:t>
            </a:r>
            <a:r>
              <a:rPr lang="en-US" sz="2000" dirty="0" err="1">
                <a:solidFill>
                  <a:schemeClr val="tx1"/>
                </a:solidFill>
                <a:latin typeface="+mj-lt"/>
              </a:rPr>
              <a:t>Nghị</a:t>
            </a:r>
            <a:r>
              <a:rPr lang="en-US" sz="2000" dirty="0">
                <a:solidFill>
                  <a:schemeClr val="tx1"/>
                </a:solidFill>
                <a:latin typeface="+mj-lt"/>
              </a:rPr>
              <a:t> </a:t>
            </a:r>
            <a:r>
              <a:rPr lang="en-US" sz="2000" dirty="0" err="1">
                <a:solidFill>
                  <a:schemeClr val="tx1"/>
                </a:solidFill>
                <a:latin typeface="+mj-lt"/>
              </a:rPr>
              <a:t>định</a:t>
            </a:r>
            <a:r>
              <a:rPr lang="en-US" sz="2000" dirty="0">
                <a:solidFill>
                  <a:schemeClr val="tx1"/>
                </a:solidFill>
                <a:latin typeface="+mj-lt"/>
              </a:rPr>
              <a:t> </a:t>
            </a:r>
            <a:r>
              <a:rPr lang="en-US" sz="2000" dirty="0" err="1">
                <a:solidFill>
                  <a:schemeClr val="tx1"/>
                </a:solidFill>
                <a:latin typeface="+mj-lt"/>
              </a:rPr>
              <a:t>số</a:t>
            </a:r>
            <a:r>
              <a:rPr lang="en-US" sz="2000" dirty="0">
                <a:solidFill>
                  <a:schemeClr val="tx1"/>
                </a:solidFill>
                <a:latin typeface="+mj-lt"/>
              </a:rPr>
              <a:t> 123/2020/NĐ-CP;</a:t>
            </a:r>
            <a:endParaRPr lang="vi-VN" sz="2000" dirty="0">
              <a:solidFill>
                <a:schemeClr val="tx1"/>
              </a:solidFill>
              <a:latin typeface="+mj-lt"/>
            </a:endParaRPr>
          </a:p>
          <a:p>
            <a:pPr marL="0" indent="0" algn="just">
              <a:buNone/>
            </a:pPr>
            <a:r>
              <a:rPr lang="en-US" sz="2000" b="1" dirty="0" err="1">
                <a:solidFill>
                  <a:schemeClr val="tx1"/>
                </a:solidFill>
                <a:latin typeface="+mj-lt"/>
              </a:rPr>
              <a:t>Số</a:t>
            </a:r>
            <a:r>
              <a:rPr lang="en-US" sz="2000" b="1" dirty="0">
                <a:solidFill>
                  <a:schemeClr val="tx1"/>
                </a:solidFill>
                <a:latin typeface="+mj-lt"/>
              </a:rPr>
              <a:t> 6:</a:t>
            </a:r>
            <a:r>
              <a:rPr lang="en-US" sz="2000" dirty="0">
                <a:solidFill>
                  <a:schemeClr val="tx1"/>
                </a:solidFill>
                <a:latin typeface="+mj-lt"/>
              </a:rPr>
              <a:t> </a:t>
            </a:r>
            <a:r>
              <a:rPr lang="en-US" sz="2000" dirty="0" err="1">
                <a:solidFill>
                  <a:schemeClr val="tx1"/>
                </a:solidFill>
                <a:latin typeface="+mj-lt"/>
              </a:rPr>
              <a:t>Phản</a:t>
            </a:r>
            <a:r>
              <a:rPr lang="en-US" sz="2000" dirty="0">
                <a:solidFill>
                  <a:schemeClr val="tx1"/>
                </a:solidFill>
                <a:latin typeface="+mj-lt"/>
              </a:rPr>
              <a:t> </a:t>
            </a:r>
            <a:r>
              <a:rPr lang="en-US" sz="2000" dirty="0" err="1">
                <a:solidFill>
                  <a:schemeClr val="tx1"/>
                </a:solidFill>
                <a:latin typeface="+mj-lt"/>
              </a:rPr>
              <a:t>ánh</a:t>
            </a:r>
            <a:r>
              <a:rPr lang="en-US" sz="2000" dirty="0">
                <a:solidFill>
                  <a:schemeClr val="tx1"/>
                </a:solidFill>
                <a:latin typeface="+mj-lt"/>
              </a:rPr>
              <a:t> </a:t>
            </a:r>
            <a:r>
              <a:rPr lang="en-US" sz="2000" dirty="0" err="1">
                <a:solidFill>
                  <a:schemeClr val="tx1"/>
                </a:solidFill>
                <a:latin typeface="+mj-lt"/>
              </a:rPr>
              <a:t>các</a:t>
            </a:r>
            <a:r>
              <a:rPr lang="en-US" sz="2000" dirty="0">
                <a:solidFill>
                  <a:schemeClr val="tx1"/>
                </a:solidFill>
                <a:latin typeface="+mj-lt"/>
              </a:rPr>
              <a:t> </a:t>
            </a:r>
            <a:r>
              <a:rPr lang="en-US" sz="2000" dirty="0" err="1">
                <a:solidFill>
                  <a:schemeClr val="tx1"/>
                </a:solidFill>
                <a:latin typeface="+mj-lt"/>
              </a:rPr>
              <a:t>chứng</a:t>
            </a:r>
            <a:r>
              <a:rPr lang="en-US" sz="2000" dirty="0">
                <a:solidFill>
                  <a:schemeClr val="tx1"/>
                </a:solidFill>
                <a:latin typeface="+mj-lt"/>
              </a:rPr>
              <a:t> </a:t>
            </a:r>
            <a:r>
              <a:rPr lang="en-US" sz="2000" dirty="0" err="1">
                <a:solidFill>
                  <a:schemeClr val="tx1"/>
                </a:solidFill>
                <a:latin typeface="+mj-lt"/>
              </a:rPr>
              <a:t>từ</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được</a:t>
            </a:r>
            <a:r>
              <a:rPr lang="en-US" sz="2000" dirty="0">
                <a:solidFill>
                  <a:schemeClr val="tx1"/>
                </a:solidFill>
                <a:latin typeface="+mj-lt"/>
              </a:rPr>
              <a:t> </a:t>
            </a:r>
            <a:r>
              <a:rPr lang="en-US" sz="2000" dirty="0" err="1">
                <a:solidFill>
                  <a:schemeClr val="tx1"/>
                </a:solidFill>
                <a:latin typeface="+mj-lt"/>
              </a:rPr>
              <a:t>sử</a:t>
            </a:r>
            <a:r>
              <a:rPr lang="en-US" sz="2000" dirty="0">
                <a:solidFill>
                  <a:schemeClr val="tx1"/>
                </a:solidFill>
                <a:latin typeface="+mj-lt"/>
              </a:rPr>
              <a:t> </a:t>
            </a:r>
            <a:r>
              <a:rPr lang="en-US" sz="2000" dirty="0" err="1">
                <a:solidFill>
                  <a:schemeClr val="tx1"/>
                </a:solidFill>
                <a:latin typeface="+mj-lt"/>
              </a:rPr>
              <a:t>dụng</a:t>
            </a:r>
            <a:r>
              <a:rPr lang="en-US" sz="2000" dirty="0">
                <a:solidFill>
                  <a:schemeClr val="tx1"/>
                </a:solidFill>
                <a:latin typeface="+mj-lt"/>
              </a:rPr>
              <a:t> </a:t>
            </a:r>
            <a:r>
              <a:rPr lang="en-US" sz="2000" dirty="0" err="1">
                <a:solidFill>
                  <a:schemeClr val="tx1"/>
                </a:solidFill>
                <a:latin typeface="+mj-lt"/>
              </a:rPr>
              <a:t>và</a:t>
            </a:r>
            <a:r>
              <a:rPr lang="en-US" sz="2000" dirty="0">
                <a:solidFill>
                  <a:schemeClr val="tx1"/>
                </a:solidFill>
                <a:latin typeface="+mj-lt"/>
              </a:rPr>
              <a:t> </a:t>
            </a:r>
            <a:r>
              <a:rPr lang="en-US" sz="2000" dirty="0" err="1">
                <a:solidFill>
                  <a:schemeClr val="tx1"/>
                </a:solidFill>
                <a:latin typeface="+mj-lt"/>
              </a:rPr>
              <a:t>quản</a:t>
            </a:r>
            <a:r>
              <a:rPr lang="en-US" sz="2000" dirty="0">
                <a:solidFill>
                  <a:schemeClr val="tx1"/>
                </a:solidFill>
                <a:latin typeface="+mj-lt"/>
              </a:rPr>
              <a:t> </a:t>
            </a:r>
            <a:r>
              <a:rPr lang="en-US" sz="2000" dirty="0" err="1">
                <a:solidFill>
                  <a:schemeClr val="tx1"/>
                </a:solidFill>
                <a:latin typeface="+mj-lt"/>
              </a:rPr>
              <a:t>lý</a:t>
            </a:r>
            <a:r>
              <a:rPr lang="en-US" sz="2000" dirty="0">
                <a:solidFill>
                  <a:schemeClr val="tx1"/>
                </a:solidFill>
                <a:latin typeface="+mj-lt"/>
              </a:rPr>
              <a:t> </a:t>
            </a:r>
            <a:r>
              <a:rPr lang="en-US" sz="2000" dirty="0" err="1">
                <a:solidFill>
                  <a:schemeClr val="tx1"/>
                </a:solidFill>
                <a:latin typeface="+mj-lt"/>
              </a:rPr>
              <a:t>như</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gồm</a:t>
            </a:r>
            <a:r>
              <a:rPr lang="en-US" sz="2000" dirty="0">
                <a:solidFill>
                  <a:schemeClr val="tx1"/>
                </a:solidFill>
                <a:latin typeface="+mj-lt"/>
              </a:rPr>
              <a:t> </a:t>
            </a:r>
            <a:r>
              <a:rPr lang="en-US" sz="2000" dirty="0" err="1">
                <a:solidFill>
                  <a:schemeClr val="tx1"/>
                </a:solidFill>
                <a:latin typeface="+mj-lt"/>
              </a:rPr>
              <a:t>phiếu</a:t>
            </a:r>
            <a:r>
              <a:rPr lang="en-US" sz="2000" dirty="0">
                <a:solidFill>
                  <a:schemeClr val="tx1"/>
                </a:solidFill>
                <a:latin typeface="+mj-lt"/>
              </a:rPr>
              <a:t> </a:t>
            </a:r>
            <a:r>
              <a:rPr lang="en-US" sz="2000" dirty="0" err="1">
                <a:solidFill>
                  <a:schemeClr val="tx1"/>
                </a:solidFill>
                <a:latin typeface="+mj-lt"/>
              </a:rPr>
              <a:t>xuất</a:t>
            </a:r>
            <a:r>
              <a:rPr lang="en-US" sz="2000" dirty="0">
                <a:solidFill>
                  <a:schemeClr val="tx1"/>
                </a:solidFill>
                <a:latin typeface="+mj-lt"/>
              </a:rPr>
              <a:t> </a:t>
            </a:r>
            <a:r>
              <a:rPr lang="en-US" sz="2000" dirty="0" err="1">
                <a:solidFill>
                  <a:schemeClr val="tx1"/>
                </a:solidFill>
                <a:latin typeface="+mj-lt"/>
              </a:rPr>
              <a:t>kho</a:t>
            </a:r>
            <a:r>
              <a:rPr lang="en-US" sz="2000" dirty="0">
                <a:solidFill>
                  <a:schemeClr val="tx1"/>
                </a:solidFill>
                <a:latin typeface="+mj-lt"/>
              </a:rPr>
              <a:t> </a:t>
            </a:r>
            <a:r>
              <a:rPr lang="en-US" sz="2000" dirty="0" err="1">
                <a:solidFill>
                  <a:schemeClr val="tx1"/>
                </a:solidFill>
                <a:latin typeface="+mj-lt"/>
              </a:rPr>
              <a:t>kiêm</a:t>
            </a:r>
            <a:r>
              <a:rPr lang="en-US" sz="2000" dirty="0">
                <a:solidFill>
                  <a:schemeClr val="tx1"/>
                </a:solidFill>
                <a:latin typeface="+mj-lt"/>
              </a:rPr>
              <a:t> </a:t>
            </a:r>
            <a:r>
              <a:rPr lang="en-US" sz="2000" dirty="0" err="1">
                <a:solidFill>
                  <a:schemeClr val="tx1"/>
                </a:solidFill>
                <a:latin typeface="+mj-lt"/>
              </a:rPr>
              <a:t>vận</a:t>
            </a:r>
            <a:r>
              <a:rPr lang="en-US" sz="2000" dirty="0">
                <a:solidFill>
                  <a:schemeClr val="tx1"/>
                </a:solidFill>
                <a:latin typeface="+mj-lt"/>
              </a:rPr>
              <a:t> </a:t>
            </a:r>
            <a:r>
              <a:rPr lang="en-US" sz="2000" dirty="0" err="1">
                <a:solidFill>
                  <a:schemeClr val="tx1"/>
                </a:solidFill>
                <a:latin typeface="+mj-lt"/>
              </a:rPr>
              <a:t>chuyển</a:t>
            </a:r>
            <a:r>
              <a:rPr lang="en-US" sz="2000" dirty="0">
                <a:solidFill>
                  <a:schemeClr val="tx1"/>
                </a:solidFill>
                <a:latin typeface="+mj-lt"/>
              </a:rPr>
              <a:t> </a:t>
            </a:r>
            <a:r>
              <a:rPr lang="en-US" sz="2000" dirty="0" err="1">
                <a:solidFill>
                  <a:schemeClr val="tx1"/>
                </a:solidFill>
                <a:latin typeface="+mj-lt"/>
              </a:rPr>
              <a:t>nội</a:t>
            </a:r>
            <a:r>
              <a:rPr lang="en-US" sz="2000" dirty="0">
                <a:solidFill>
                  <a:schemeClr val="tx1"/>
                </a:solidFill>
                <a:latin typeface="+mj-lt"/>
              </a:rPr>
              <a:t> </a:t>
            </a:r>
            <a:r>
              <a:rPr lang="en-US" sz="2000" dirty="0" err="1">
                <a:solidFill>
                  <a:schemeClr val="tx1"/>
                </a:solidFill>
                <a:latin typeface="+mj-lt"/>
              </a:rPr>
              <a:t>bộ</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phiếu</a:t>
            </a:r>
            <a:r>
              <a:rPr lang="en-US" sz="2000" dirty="0">
                <a:solidFill>
                  <a:schemeClr val="tx1"/>
                </a:solidFill>
                <a:latin typeface="+mj-lt"/>
              </a:rPr>
              <a:t> </a:t>
            </a:r>
            <a:r>
              <a:rPr lang="en-US" sz="2000" dirty="0" err="1">
                <a:solidFill>
                  <a:schemeClr val="tx1"/>
                </a:solidFill>
                <a:latin typeface="+mj-lt"/>
              </a:rPr>
              <a:t>xuất</a:t>
            </a:r>
            <a:r>
              <a:rPr lang="en-US" sz="2000" dirty="0">
                <a:solidFill>
                  <a:schemeClr val="tx1"/>
                </a:solidFill>
                <a:latin typeface="+mj-lt"/>
              </a:rPr>
              <a:t> </a:t>
            </a:r>
            <a:r>
              <a:rPr lang="en-US" sz="2000" dirty="0" err="1">
                <a:solidFill>
                  <a:schemeClr val="tx1"/>
                </a:solidFill>
                <a:latin typeface="+mj-lt"/>
              </a:rPr>
              <a:t>kho</a:t>
            </a:r>
            <a:r>
              <a:rPr lang="en-US" sz="2000" dirty="0">
                <a:solidFill>
                  <a:schemeClr val="tx1"/>
                </a:solidFill>
                <a:latin typeface="+mj-lt"/>
              </a:rPr>
              <a:t> </a:t>
            </a:r>
            <a:r>
              <a:rPr lang="en-US" sz="2000" dirty="0" err="1">
                <a:solidFill>
                  <a:schemeClr val="tx1"/>
                </a:solidFill>
                <a:latin typeface="+mj-lt"/>
              </a:rPr>
              <a:t>hàng</a:t>
            </a:r>
            <a:r>
              <a:rPr lang="en-US" sz="2000" dirty="0">
                <a:solidFill>
                  <a:schemeClr val="tx1"/>
                </a:solidFill>
                <a:latin typeface="+mj-lt"/>
              </a:rPr>
              <a:t> </a:t>
            </a:r>
            <a:r>
              <a:rPr lang="en-US" sz="2000" dirty="0" err="1">
                <a:solidFill>
                  <a:schemeClr val="tx1"/>
                </a:solidFill>
                <a:latin typeface="+mj-lt"/>
              </a:rPr>
              <a:t>gửi</a:t>
            </a:r>
            <a:r>
              <a:rPr lang="en-US" sz="2000" dirty="0">
                <a:solidFill>
                  <a:schemeClr val="tx1"/>
                </a:solidFill>
                <a:latin typeface="+mj-lt"/>
              </a:rPr>
              <a:t> </a:t>
            </a:r>
            <a:r>
              <a:rPr lang="en-US" sz="2000" dirty="0" err="1">
                <a:solidFill>
                  <a:schemeClr val="tx1"/>
                </a:solidFill>
                <a:latin typeface="+mj-lt"/>
              </a:rPr>
              <a:t>bán</a:t>
            </a:r>
            <a:r>
              <a:rPr lang="en-US" sz="2000" dirty="0">
                <a:solidFill>
                  <a:schemeClr val="tx1"/>
                </a:solidFill>
                <a:latin typeface="+mj-lt"/>
              </a:rPr>
              <a:t> </a:t>
            </a:r>
            <a:r>
              <a:rPr lang="en-US" sz="2000" dirty="0" err="1">
                <a:solidFill>
                  <a:schemeClr val="tx1"/>
                </a:solidFill>
                <a:latin typeface="+mj-lt"/>
              </a:rPr>
              <a:t>đại</a:t>
            </a:r>
            <a:r>
              <a:rPr lang="en-US" sz="2000" dirty="0">
                <a:solidFill>
                  <a:schemeClr val="tx1"/>
                </a:solidFill>
                <a:latin typeface="+mj-lt"/>
              </a:rPr>
              <a:t> </a:t>
            </a:r>
            <a:r>
              <a:rPr lang="en-US" sz="2000" dirty="0" err="1">
                <a:solidFill>
                  <a:schemeClr val="tx1"/>
                </a:solidFill>
                <a:latin typeface="+mj-lt"/>
              </a:rPr>
              <a:t>lý</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a:t>
            </a:r>
            <a:endParaRPr lang="vi-VN" sz="2000" dirty="0">
              <a:solidFill>
                <a:schemeClr val="tx1"/>
              </a:solidFill>
              <a:latin typeface="+mj-lt"/>
            </a:endParaRPr>
          </a:p>
        </p:txBody>
      </p:sp>
      <p:sp>
        <p:nvSpPr>
          <p:cNvPr id="4" name="Title 1"/>
          <p:cNvSpPr txBox="1">
            <a:spLocks/>
          </p:cNvSpPr>
          <p:nvPr/>
        </p:nvSpPr>
        <p:spPr>
          <a:xfrm>
            <a:off x="1269206" y="247643"/>
            <a:ext cx="8772534"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5. NỘI DUNG HĐĐT</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2" y="0"/>
            <a:ext cx="1080834" cy="895839"/>
          </a:xfrm>
          <a:prstGeom prst="rect">
            <a:avLst/>
          </a:prstGeom>
        </p:spPr>
      </p:pic>
    </p:spTree>
    <p:extLst>
      <p:ext uri="{BB962C8B-B14F-4D97-AF65-F5344CB8AC3E}">
        <p14:creationId xmlns:p14="http://schemas.microsoft.com/office/powerpoint/2010/main" val="42201412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795346" y="1789611"/>
            <a:ext cx="8596668" cy="4661989"/>
          </a:xfrm>
        </p:spPr>
        <p:txBody>
          <a:bodyPr anchor="ctr" anchorCtr="0">
            <a:normAutofit/>
          </a:bodyPr>
          <a:lstStyle/>
          <a:p>
            <a:pPr marL="0" indent="0" algn="just">
              <a:buNone/>
            </a:pPr>
            <a:r>
              <a:rPr lang="en-US" sz="2000" b="1" i="1" dirty="0">
                <a:solidFill>
                  <a:schemeClr val="tx1"/>
                </a:solidFill>
                <a:latin typeface="+mj-lt"/>
              </a:rPr>
              <a:t>b) </a:t>
            </a:r>
            <a:r>
              <a:rPr lang="en-US" sz="2000" b="1" i="1" dirty="0" err="1">
                <a:solidFill>
                  <a:schemeClr val="tx1"/>
                </a:solidFill>
                <a:latin typeface="+mj-lt"/>
              </a:rPr>
              <a:t>Ký</a:t>
            </a:r>
            <a:r>
              <a:rPr lang="en-US" sz="2000" b="1" i="1" dirty="0">
                <a:solidFill>
                  <a:schemeClr val="tx1"/>
                </a:solidFill>
                <a:latin typeface="+mj-lt"/>
              </a:rPr>
              <a:t> </a:t>
            </a:r>
            <a:r>
              <a:rPr lang="en-US" sz="2000" b="1" i="1" dirty="0" err="1">
                <a:solidFill>
                  <a:schemeClr val="tx1"/>
                </a:solidFill>
                <a:latin typeface="+mj-lt"/>
              </a:rPr>
              <a:t>hiệu</a:t>
            </a:r>
            <a:r>
              <a:rPr lang="en-US" sz="2000" b="1" i="1" dirty="0">
                <a:solidFill>
                  <a:schemeClr val="tx1"/>
                </a:solidFill>
                <a:latin typeface="+mj-lt"/>
              </a:rPr>
              <a:t> </a:t>
            </a:r>
            <a:r>
              <a:rPr lang="en-US" sz="2000" b="1" i="1" dirty="0" err="1">
                <a:solidFill>
                  <a:schemeClr val="tx1"/>
                </a:solidFill>
                <a:latin typeface="+mj-lt"/>
              </a:rPr>
              <a:t>hóa</a:t>
            </a:r>
            <a:r>
              <a:rPr lang="en-US" sz="2000" b="1" i="1" dirty="0">
                <a:solidFill>
                  <a:schemeClr val="tx1"/>
                </a:solidFill>
                <a:latin typeface="+mj-lt"/>
              </a:rPr>
              <a:t> </a:t>
            </a:r>
            <a:r>
              <a:rPr lang="en-US" sz="2000" b="1" i="1" dirty="0" err="1">
                <a:solidFill>
                  <a:schemeClr val="tx1"/>
                </a:solidFill>
                <a:latin typeface="+mj-lt"/>
              </a:rPr>
              <a:t>đơn</a:t>
            </a:r>
            <a:endParaRPr lang="en-US" sz="2000" b="1" i="1" dirty="0">
              <a:solidFill>
                <a:schemeClr val="tx1"/>
              </a:solidFill>
              <a:latin typeface="+mj-lt"/>
            </a:endParaRPr>
          </a:p>
          <a:p>
            <a:pPr marL="0" indent="0" algn="just">
              <a:buNone/>
            </a:pPr>
            <a:r>
              <a:rPr lang="en-US" sz="2000" b="1" dirty="0" err="1">
                <a:solidFill>
                  <a:schemeClr val="tx1"/>
                </a:solidFill>
                <a:latin typeface="+mj-lt"/>
              </a:rPr>
              <a:t>Ký</a:t>
            </a:r>
            <a:r>
              <a:rPr lang="en-US" sz="2000" b="1" dirty="0">
                <a:solidFill>
                  <a:schemeClr val="tx1"/>
                </a:solidFill>
                <a:latin typeface="+mj-lt"/>
              </a:rPr>
              <a:t> </a:t>
            </a:r>
            <a:r>
              <a:rPr lang="en-US" sz="2000" b="1" dirty="0" err="1">
                <a:solidFill>
                  <a:schemeClr val="tx1"/>
                </a:solidFill>
                <a:latin typeface="+mj-lt"/>
              </a:rPr>
              <a:t>hiệu</a:t>
            </a:r>
            <a:r>
              <a:rPr lang="en-US" sz="2000" b="1" dirty="0">
                <a:solidFill>
                  <a:schemeClr val="tx1"/>
                </a:solidFill>
                <a:latin typeface="+mj-lt"/>
              </a:rPr>
              <a:t> </a:t>
            </a:r>
            <a:r>
              <a:rPr lang="en-US" sz="2000" b="1" dirty="0" err="1">
                <a:solidFill>
                  <a:schemeClr val="tx1"/>
                </a:solidFill>
                <a:latin typeface="+mj-lt"/>
              </a:rPr>
              <a:t>hóa</a:t>
            </a:r>
            <a:r>
              <a:rPr lang="en-US" sz="2000" b="1" dirty="0">
                <a:solidFill>
                  <a:schemeClr val="tx1"/>
                </a:solidFill>
                <a:latin typeface="+mj-lt"/>
              </a:rPr>
              <a:t> </a:t>
            </a:r>
            <a:r>
              <a:rPr lang="en-US" sz="2000" b="1" dirty="0" err="1">
                <a:solidFill>
                  <a:schemeClr val="tx1"/>
                </a:solidFill>
                <a:latin typeface="+mj-lt"/>
              </a:rPr>
              <a:t>đơn</a:t>
            </a:r>
            <a:r>
              <a:rPr lang="en-US" sz="2000" b="1" dirty="0">
                <a:solidFill>
                  <a:schemeClr val="tx1"/>
                </a:solidFill>
                <a:latin typeface="+mj-lt"/>
              </a:rPr>
              <a:t> </a:t>
            </a:r>
            <a:r>
              <a:rPr lang="en-US" sz="2000" b="1" dirty="0" err="1">
                <a:solidFill>
                  <a:schemeClr val="tx1"/>
                </a:solidFill>
                <a:latin typeface="+mj-lt"/>
              </a:rPr>
              <a:t>điện</a:t>
            </a:r>
            <a:r>
              <a:rPr lang="en-US" sz="2000" b="1" dirty="0">
                <a:solidFill>
                  <a:schemeClr val="tx1"/>
                </a:solidFill>
                <a:latin typeface="+mj-lt"/>
              </a:rPr>
              <a:t> </a:t>
            </a:r>
            <a:r>
              <a:rPr lang="en-US" sz="2000" b="1"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là</a:t>
            </a:r>
            <a:r>
              <a:rPr lang="en-US" sz="2000" dirty="0">
                <a:solidFill>
                  <a:schemeClr val="tx1"/>
                </a:solidFill>
                <a:latin typeface="+mj-lt"/>
              </a:rPr>
              <a:t> </a:t>
            </a:r>
            <a:r>
              <a:rPr lang="en-US" sz="2000" dirty="0" err="1">
                <a:solidFill>
                  <a:schemeClr val="tx1"/>
                </a:solidFill>
                <a:latin typeface="+mj-lt"/>
              </a:rPr>
              <a:t>nhóm</a:t>
            </a:r>
            <a:r>
              <a:rPr lang="en-US" sz="2000" dirty="0">
                <a:solidFill>
                  <a:schemeClr val="tx1"/>
                </a:solidFill>
                <a:latin typeface="+mj-lt"/>
              </a:rPr>
              <a:t> 6 </a:t>
            </a:r>
            <a:r>
              <a:rPr lang="en-US" sz="2000" dirty="0" err="1">
                <a:solidFill>
                  <a:schemeClr val="tx1"/>
                </a:solidFill>
                <a:latin typeface="+mj-lt"/>
              </a:rPr>
              <a:t>ký</a:t>
            </a:r>
            <a:r>
              <a:rPr lang="en-US" sz="2000" dirty="0">
                <a:solidFill>
                  <a:schemeClr val="tx1"/>
                </a:solidFill>
                <a:latin typeface="+mj-lt"/>
              </a:rPr>
              <a:t> </a:t>
            </a:r>
            <a:r>
              <a:rPr lang="en-US" sz="2000" dirty="0" err="1">
                <a:solidFill>
                  <a:schemeClr val="tx1"/>
                </a:solidFill>
                <a:latin typeface="+mj-lt"/>
              </a:rPr>
              <a:t>tự</a:t>
            </a:r>
            <a:r>
              <a:rPr lang="en-US" sz="2000" dirty="0">
                <a:solidFill>
                  <a:schemeClr val="tx1"/>
                </a:solidFill>
                <a:latin typeface="+mj-lt"/>
              </a:rPr>
              <a:t> </a:t>
            </a:r>
            <a:r>
              <a:rPr lang="en-US" sz="2000" dirty="0" err="1">
                <a:solidFill>
                  <a:schemeClr val="tx1"/>
                </a:solidFill>
                <a:latin typeface="+mj-lt"/>
              </a:rPr>
              <a:t>gồm</a:t>
            </a:r>
            <a:r>
              <a:rPr lang="en-US" sz="2000" dirty="0">
                <a:solidFill>
                  <a:schemeClr val="tx1"/>
                </a:solidFill>
                <a:latin typeface="+mj-lt"/>
              </a:rPr>
              <a:t> </a:t>
            </a:r>
            <a:r>
              <a:rPr lang="en-US" sz="2000" dirty="0" err="1">
                <a:solidFill>
                  <a:schemeClr val="tx1"/>
                </a:solidFill>
                <a:latin typeface="+mj-lt"/>
              </a:rPr>
              <a:t>cả</a:t>
            </a:r>
            <a:r>
              <a:rPr lang="en-US" sz="2000" dirty="0">
                <a:solidFill>
                  <a:schemeClr val="tx1"/>
                </a:solidFill>
                <a:latin typeface="+mj-lt"/>
              </a:rPr>
              <a:t> </a:t>
            </a:r>
            <a:r>
              <a:rPr lang="en-US" sz="2000" dirty="0" err="1">
                <a:solidFill>
                  <a:schemeClr val="tx1"/>
                </a:solidFill>
                <a:latin typeface="+mj-lt"/>
              </a:rPr>
              <a:t>chữ</a:t>
            </a:r>
            <a:r>
              <a:rPr lang="en-US" sz="2000" dirty="0">
                <a:solidFill>
                  <a:schemeClr val="tx1"/>
                </a:solidFill>
                <a:latin typeface="+mj-lt"/>
              </a:rPr>
              <a:t> </a:t>
            </a:r>
            <a:r>
              <a:rPr lang="en-US" sz="2000" dirty="0" err="1">
                <a:solidFill>
                  <a:schemeClr val="tx1"/>
                </a:solidFill>
                <a:latin typeface="+mj-lt"/>
              </a:rPr>
              <a:t>viết</a:t>
            </a:r>
            <a:r>
              <a:rPr lang="en-US" sz="2000" dirty="0">
                <a:solidFill>
                  <a:schemeClr val="tx1"/>
                </a:solidFill>
                <a:latin typeface="+mj-lt"/>
              </a:rPr>
              <a:t> </a:t>
            </a:r>
            <a:r>
              <a:rPr lang="en-US" sz="2000" dirty="0" err="1">
                <a:solidFill>
                  <a:schemeClr val="tx1"/>
                </a:solidFill>
                <a:latin typeface="+mj-lt"/>
              </a:rPr>
              <a:t>và</a:t>
            </a:r>
            <a:r>
              <a:rPr lang="en-US" sz="2000" dirty="0">
                <a:solidFill>
                  <a:schemeClr val="tx1"/>
                </a:solidFill>
                <a:latin typeface="+mj-lt"/>
              </a:rPr>
              <a:t> </a:t>
            </a:r>
            <a:r>
              <a:rPr lang="en-US" sz="2000" dirty="0" err="1">
                <a:solidFill>
                  <a:schemeClr val="tx1"/>
                </a:solidFill>
                <a:latin typeface="+mj-lt"/>
              </a:rPr>
              <a:t>chữ</a:t>
            </a:r>
            <a:r>
              <a:rPr lang="en-US" sz="2000" dirty="0">
                <a:solidFill>
                  <a:schemeClr val="tx1"/>
                </a:solidFill>
                <a:latin typeface="+mj-lt"/>
              </a:rPr>
              <a:t> </a:t>
            </a:r>
            <a:r>
              <a:rPr lang="en-US" sz="2000" dirty="0" err="1">
                <a:solidFill>
                  <a:schemeClr val="tx1"/>
                </a:solidFill>
                <a:latin typeface="+mj-lt"/>
              </a:rPr>
              <a:t>số</a:t>
            </a:r>
            <a:r>
              <a:rPr lang="en-US" sz="2000" dirty="0">
                <a:solidFill>
                  <a:schemeClr val="tx1"/>
                </a:solidFill>
                <a:latin typeface="+mj-lt"/>
              </a:rPr>
              <a:t> </a:t>
            </a:r>
            <a:r>
              <a:rPr lang="en-US" sz="2000" dirty="0" err="1">
                <a:solidFill>
                  <a:schemeClr val="tx1"/>
                </a:solidFill>
                <a:latin typeface="+mj-lt"/>
              </a:rPr>
              <a:t>thể</a:t>
            </a:r>
            <a:r>
              <a:rPr lang="en-US" sz="2000" dirty="0">
                <a:solidFill>
                  <a:schemeClr val="tx1"/>
                </a:solidFill>
                <a:latin typeface="+mj-lt"/>
              </a:rPr>
              <a:t> </a:t>
            </a:r>
            <a:r>
              <a:rPr lang="en-US" sz="2000" dirty="0" err="1">
                <a:solidFill>
                  <a:schemeClr val="tx1"/>
                </a:solidFill>
                <a:latin typeface="+mj-lt"/>
              </a:rPr>
              <a:t>hiện</a:t>
            </a:r>
            <a:r>
              <a:rPr lang="en-US" sz="2000" dirty="0">
                <a:solidFill>
                  <a:schemeClr val="tx1"/>
                </a:solidFill>
                <a:latin typeface="+mj-lt"/>
              </a:rPr>
              <a:t> </a:t>
            </a:r>
            <a:r>
              <a:rPr lang="en-US" sz="2000" dirty="0" err="1">
                <a:solidFill>
                  <a:schemeClr val="tx1"/>
                </a:solidFill>
                <a:latin typeface="+mj-lt"/>
              </a:rPr>
              <a:t>ký</a:t>
            </a:r>
            <a:r>
              <a:rPr lang="en-US" sz="2000" dirty="0">
                <a:solidFill>
                  <a:schemeClr val="tx1"/>
                </a:solidFill>
                <a:latin typeface="+mj-lt"/>
              </a:rPr>
              <a:t> </a:t>
            </a:r>
            <a:r>
              <a:rPr lang="en-US" sz="2000" dirty="0" err="1">
                <a:solidFill>
                  <a:schemeClr val="tx1"/>
                </a:solidFill>
                <a:latin typeface="+mj-lt"/>
              </a:rPr>
              <a:t>hiệu</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để</a:t>
            </a:r>
            <a:r>
              <a:rPr lang="en-US" sz="2000" dirty="0">
                <a:solidFill>
                  <a:schemeClr val="tx1"/>
                </a:solidFill>
                <a:latin typeface="+mj-lt"/>
              </a:rPr>
              <a:t> </a:t>
            </a:r>
            <a:r>
              <a:rPr lang="en-US" sz="2000" dirty="0" err="1">
                <a:solidFill>
                  <a:schemeClr val="tx1"/>
                </a:solidFill>
                <a:latin typeface="+mj-lt"/>
              </a:rPr>
              <a:t>phản</a:t>
            </a:r>
            <a:r>
              <a:rPr lang="en-US" sz="2000" dirty="0">
                <a:solidFill>
                  <a:schemeClr val="tx1"/>
                </a:solidFill>
                <a:latin typeface="+mj-lt"/>
              </a:rPr>
              <a:t> </a:t>
            </a:r>
            <a:r>
              <a:rPr lang="en-US" sz="2000" dirty="0" err="1">
                <a:solidFill>
                  <a:schemeClr val="tx1"/>
                </a:solidFill>
                <a:latin typeface="+mj-lt"/>
              </a:rPr>
              <a:t>ánh</a:t>
            </a:r>
            <a:r>
              <a:rPr lang="en-US" sz="2000" dirty="0">
                <a:solidFill>
                  <a:schemeClr val="tx1"/>
                </a:solidFill>
                <a:latin typeface="+mj-lt"/>
              </a:rPr>
              <a:t> </a:t>
            </a:r>
            <a:r>
              <a:rPr lang="en-US" sz="2000" dirty="0" err="1">
                <a:solidFill>
                  <a:schemeClr val="tx1"/>
                </a:solidFill>
                <a:latin typeface="+mj-lt"/>
              </a:rPr>
              <a:t>các</a:t>
            </a:r>
            <a:r>
              <a:rPr lang="en-US" sz="2000" dirty="0">
                <a:solidFill>
                  <a:schemeClr val="tx1"/>
                </a:solidFill>
                <a:latin typeface="+mj-lt"/>
              </a:rPr>
              <a:t> </a:t>
            </a:r>
            <a:r>
              <a:rPr lang="en-US" sz="2000" dirty="0" err="1">
                <a:solidFill>
                  <a:schemeClr val="tx1"/>
                </a:solidFill>
                <a:latin typeface="+mj-lt"/>
              </a:rPr>
              <a:t>thông</a:t>
            </a:r>
            <a:r>
              <a:rPr lang="en-US" sz="2000" dirty="0">
                <a:solidFill>
                  <a:schemeClr val="tx1"/>
                </a:solidFill>
                <a:latin typeface="+mj-lt"/>
              </a:rPr>
              <a:t> tin </a:t>
            </a:r>
            <a:r>
              <a:rPr lang="en-US" sz="2000" dirty="0" err="1">
                <a:solidFill>
                  <a:schemeClr val="tx1"/>
                </a:solidFill>
                <a:latin typeface="+mj-lt"/>
              </a:rPr>
              <a:t>về</a:t>
            </a:r>
            <a:r>
              <a:rPr lang="en-US" sz="2000" dirty="0">
                <a:solidFill>
                  <a:schemeClr val="tx1"/>
                </a:solidFill>
                <a:latin typeface="+mj-lt"/>
              </a:rPr>
              <a:t> </a:t>
            </a:r>
            <a:r>
              <a:rPr lang="en-US" sz="2000" dirty="0" err="1">
                <a:solidFill>
                  <a:schemeClr val="tx1"/>
                </a:solidFill>
                <a:latin typeface="+mj-lt"/>
              </a:rPr>
              <a:t>loại</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cơ</a:t>
            </a:r>
            <a:r>
              <a:rPr lang="en-US" sz="2000" dirty="0">
                <a:solidFill>
                  <a:schemeClr val="tx1"/>
                </a:solidFill>
                <a:latin typeface="+mj-lt"/>
              </a:rPr>
              <a:t> </a:t>
            </a:r>
            <a:r>
              <a:rPr lang="en-US" sz="2000" dirty="0" err="1">
                <a:solidFill>
                  <a:schemeClr val="tx1"/>
                </a:solidFill>
                <a:latin typeface="+mj-lt"/>
              </a:rPr>
              <a:t>quan</a:t>
            </a:r>
            <a:r>
              <a:rPr lang="en-US" sz="2000" dirty="0">
                <a:solidFill>
                  <a:schemeClr val="tx1"/>
                </a:solidFill>
                <a:latin typeface="+mj-lt"/>
              </a:rPr>
              <a:t> </a:t>
            </a:r>
            <a:r>
              <a:rPr lang="en-US" sz="2000" dirty="0" err="1">
                <a:solidFill>
                  <a:schemeClr val="tx1"/>
                </a:solidFill>
                <a:latin typeface="+mj-lt"/>
              </a:rPr>
              <a:t>thuế</a:t>
            </a:r>
            <a:r>
              <a:rPr lang="en-US" sz="2000" dirty="0">
                <a:solidFill>
                  <a:schemeClr val="tx1"/>
                </a:solidFill>
                <a:latin typeface="+mj-lt"/>
              </a:rPr>
              <a:t> </a:t>
            </a:r>
            <a:r>
              <a:rPr lang="en-US" sz="2000" dirty="0" err="1">
                <a:solidFill>
                  <a:schemeClr val="tx1"/>
                </a:solidFill>
                <a:latin typeface="+mj-lt"/>
              </a:rPr>
              <a:t>hoặc</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không</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 </a:t>
            </a:r>
            <a:r>
              <a:rPr lang="en-US" sz="2000" dirty="0" err="1">
                <a:solidFill>
                  <a:schemeClr val="tx1"/>
                </a:solidFill>
                <a:latin typeface="+mj-lt"/>
              </a:rPr>
              <a:t>năm</a:t>
            </a:r>
            <a:r>
              <a:rPr lang="en-US" sz="2000" dirty="0">
                <a:solidFill>
                  <a:schemeClr val="tx1"/>
                </a:solidFill>
                <a:latin typeface="+mj-lt"/>
              </a:rPr>
              <a:t> </a:t>
            </a:r>
            <a:r>
              <a:rPr lang="en-US" sz="2000" dirty="0" err="1">
                <a:solidFill>
                  <a:schemeClr val="tx1"/>
                </a:solidFill>
                <a:latin typeface="+mj-lt"/>
              </a:rPr>
              <a:t>lập</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loại</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được</a:t>
            </a:r>
            <a:r>
              <a:rPr lang="en-US" sz="2000" dirty="0">
                <a:solidFill>
                  <a:schemeClr val="tx1"/>
                </a:solidFill>
                <a:latin typeface="+mj-lt"/>
              </a:rPr>
              <a:t> </a:t>
            </a:r>
            <a:r>
              <a:rPr lang="en-US" sz="2000" dirty="0" err="1">
                <a:solidFill>
                  <a:schemeClr val="tx1"/>
                </a:solidFill>
                <a:latin typeface="+mj-lt"/>
              </a:rPr>
              <a:t>sử</a:t>
            </a:r>
            <a:r>
              <a:rPr lang="en-US" sz="2000" dirty="0">
                <a:solidFill>
                  <a:schemeClr val="tx1"/>
                </a:solidFill>
                <a:latin typeface="+mj-lt"/>
              </a:rPr>
              <a:t> </a:t>
            </a:r>
            <a:r>
              <a:rPr lang="en-US" sz="2000" dirty="0" err="1">
                <a:solidFill>
                  <a:schemeClr val="tx1"/>
                </a:solidFill>
                <a:latin typeface="+mj-lt"/>
              </a:rPr>
              <a:t>dụng</a:t>
            </a:r>
            <a:r>
              <a:rPr lang="en-US" sz="2000" dirty="0">
                <a:solidFill>
                  <a:schemeClr val="tx1"/>
                </a:solidFill>
                <a:latin typeface="+mj-lt"/>
              </a:rPr>
              <a:t>. </a:t>
            </a:r>
            <a:r>
              <a:rPr lang="en-US" sz="2000" dirty="0" err="1">
                <a:solidFill>
                  <a:schemeClr val="tx1"/>
                </a:solidFill>
                <a:latin typeface="+mj-lt"/>
              </a:rPr>
              <a:t>Sáu</a:t>
            </a:r>
            <a:r>
              <a:rPr lang="en-US" sz="2000" dirty="0">
                <a:solidFill>
                  <a:schemeClr val="tx1"/>
                </a:solidFill>
                <a:latin typeface="+mj-lt"/>
              </a:rPr>
              <a:t> (06) </a:t>
            </a:r>
            <a:r>
              <a:rPr lang="en-US" sz="2000" dirty="0" err="1">
                <a:solidFill>
                  <a:schemeClr val="tx1"/>
                </a:solidFill>
                <a:latin typeface="+mj-lt"/>
              </a:rPr>
              <a:t>ký</a:t>
            </a:r>
            <a:r>
              <a:rPr lang="en-US" sz="2000" dirty="0">
                <a:solidFill>
                  <a:schemeClr val="tx1"/>
                </a:solidFill>
                <a:latin typeface="+mj-lt"/>
              </a:rPr>
              <a:t> </a:t>
            </a:r>
            <a:r>
              <a:rPr lang="en-US" sz="2000" dirty="0" err="1">
                <a:solidFill>
                  <a:schemeClr val="tx1"/>
                </a:solidFill>
                <a:latin typeface="+mj-lt"/>
              </a:rPr>
              <a:t>tự</a:t>
            </a:r>
            <a:r>
              <a:rPr lang="en-US" sz="2000" dirty="0">
                <a:solidFill>
                  <a:schemeClr val="tx1"/>
                </a:solidFill>
                <a:latin typeface="+mj-lt"/>
              </a:rPr>
              <a:t> </a:t>
            </a:r>
            <a:r>
              <a:rPr lang="en-US" sz="2000" dirty="0" err="1">
                <a:solidFill>
                  <a:schemeClr val="tx1"/>
                </a:solidFill>
                <a:latin typeface="+mj-lt"/>
              </a:rPr>
              <a:t>này</a:t>
            </a:r>
            <a:r>
              <a:rPr lang="en-US" sz="2000" dirty="0">
                <a:solidFill>
                  <a:schemeClr val="tx1"/>
                </a:solidFill>
                <a:latin typeface="+mj-lt"/>
              </a:rPr>
              <a:t> </a:t>
            </a:r>
            <a:r>
              <a:rPr lang="en-US" sz="2000" dirty="0" err="1">
                <a:solidFill>
                  <a:schemeClr val="tx1"/>
                </a:solidFill>
                <a:latin typeface="+mj-lt"/>
              </a:rPr>
              <a:t>được</a:t>
            </a:r>
            <a:r>
              <a:rPr lang="en-US" sz="2000" dirty="0">
                <a:solidFill>
                  <a:schemeClr val="tx1"/>
                </a:solidFill>
                <a:latin typeface="+mj-lt"/>
              </a:rPr>
              <a:t> </a:t>
            </a:r>
            <a:r>
              <a:rPr lang="en-US" sz="2000" dirty="0" err="1">
                <a:solidFill>
                  <a:schemeClr val="tx1"/>
                </a:solidFill>
                <a:latin typeface="+mj-lt"/>
              </a:rPr>
              <a:t>quy</a:t>
            </a:r>
            <a:r>
              <a:rPr lang="en-US" sz="2000" dirty="0">
                <a:solidFill>
                  <a:schemeClr val="tx1"/>
                </a:solidFill>
                <a:latin typeface="+mj-lt"/>
              </a:rPr>
              <a:t> </a:t>
            </a:r>
            <a:r>
              <a:rPr lang="en-US" sz="2000" dirty="0" err="1">
                <a:solidFill>
                  <a:schemeClr val="tx1"/>
                </a:solidFill>
                <a:latin typeface="+mj-lt"/>
              </a:rPr>
              <a:t>định</a:t>
            </a:r>
            <a:r>
              <a:rPr lang="en-US" sz="2000" dirty="0">
                <a:solidFill>
                  <a:schemeClr val="tx1"/>
                </a:solidFill>
                <a:latin typeface="+mj-lt"/>
              </a:rPr>
              <a:t> </a:t>
            </a:r>
            <a:r>
              <a:rPr lang="en-US" sz="2000" dirty="0" err="1">
                <a:solidFill>
                  <a:schemeClr val="tx1"/>
                </a:solidFill>
                <a:latin typeface="+mj-lt"/>
              </a:rPr>
              <a:t>như</a:t>
            </a:r>
            <a:r>
              <a:rPr lang="en-US" sz="2000" dirty="0">
                <a:solidFill>
                  <a:schemeClr val="tx1"/>
                </a:solidFill>
                <a:latin typeface="+mj-lt"/>
              </a:rPr>
              <a:t> </a:t>
            </a:r>
            <a:r>
              <a:rPr lang="en-US" sz="2000" dirty="0" err="1">
                <a:solidFill>
                  <a:schemeClr val="tx1"/>
                </a:solidFill>
                <a:latin typeface="+mj-lt"/>
              </a:rPr>
              <a:t>sau</a:t>
            </a:r>
            <a:r>
              <a:rPr lang="en-US" sz="2000" dirty="0">
                <a:solidFill>
                  <a:schemeClr val="tx1"/>
                </a:solidFill>
                <a:latin typeface="+mj-lt"/>
              </a:rPr>
              <a:t>:</a:t>
            </a:r>
            <a:endParaRPr lang="vi-VN" sz="2000" dirty="0">
              <a:solidFill>
                <a:schemeClr val="tx1"/>
              </a:solidFill>
              <a:latin typeface="+mj-lt"/>
            </a:endParaRPr>
          </a:p>
          <a:p>
            <a:pPr marL="0" indent="0" algn="just">
              <a:buNone/>
            </a:pPr>
            <a:r>
              <a:rPr lang="en-US" sz="2000" dirty="0">
                <a:solidFill>
                  <a:schemeClr val="tx1"/>
                </a:solidFill>
                <a:latin typeface="+mj-lt"/>
              </a:rPr>
              <a:t>-  </a:t>
            </a:r>
            <a:r>
              <a:rPr lang="en-US" sz="2000" dirty="0" err="1">
                <a:solidFill>
                  <a:schemeClr val="tx1"/>
                </a:solidFill>
                <a:latin typeface="+mj-lt"/>
              </a:rPr>
              <a:t>Ký</a:t>
            </a:r>
            <a:r>
              <a:rPr lang="en-US" sz="2000" dirty="0">
                <a:solidFill>
                  <a:schemeClr val="tx1"/>
                </a:solidFill>
                <a:latin typeface="+mj-lt"/>
              </a:rPr>
              <a:t> </a:t>
            </a:r>
            <a:r>
              <a:rPr lang="en-US" sz="2000" dirty="0" err="1">
                <a:solidFill>
                  <a:schemeClr val="tx1"/>
                </a:solidFill>
                <a:latin typeface="+mj-lt"/>
              </a:rPr>
              <a:t>tự</a:t>
            </a:r>
            <a:r>
              <a:rPr lang="en-US" sz="2000" dirty="0">
                <a:solidFill>
                  <a:schemeClr val="tx1"/>
                </a:solidFill>
                <a:latin typeface="+mj-lt"/>
              </a:rPr>
              <a:t> </a:t>
            </a:r>
            <a:r>
              <a:rPr lang="en-US" sz="2000" dirty="0" err="1">
                <a:solidFill>
                  <a:schemeClr val="tx1"/>
                </a:solidFill>
                <a:latin typeface="+mj-lt"/>
              </a:rPr>
              <a:t>đầu</a:t>
            </a:r>
            <a:r>
              <a:rPr lang="en-US" sz="2000" dirty="0">
                <a:solidFill>
                  <a:schemeClr val="tx1"/>
                </a:solidFill>
                <a:latin typeface="+mj-lt"/>
              </a:rPr>
              <a:t> </a:t>
            </a:r>
            <a:r>
              <a:rPr lang="en-US" sz="2000" dirty="0" err="1">
                <a:solidFill>
                  <a:schemeClr val="tx1"/>
                </a:solidFill>
                <a:latin typeface="+mj-lt"/>
              </a:rPr>
              <a:t>tiên</a:t>
            </a:r>
            <a:r>
              <a:rPr lang="en-US" sz="2000" dirty="0">
                <a:solidFill>
                  <a:schemeClr val="tx1"/>
                </a:solidFill>
                <a:latin typeface="+mj-lt"/>
              </a:rPr>
              <a:t> </a:t>
            </a:r>
            <a:r>
              <a:rPr lang="en-US" sz="2000" dirty="0" err="1">
                <a:solidFill>
                  <a:schemeClr val="tx1"/>
                </a:solidFill>
                <a:latin typeface="+mj-lt"/>
              </a:rPr>
              <a:t>là</a:t>
            </a:r>
            <a:r>
              <a:rPr lang="en-US" sz="2000" dirty="0">
                <a:solidFill>
                  <a:schemeClr val="tx1"/>
                </a:solidFill>
                <a:latin typeface="+mj-lt"/>
              </a:rPr>
              <a:t> </a:t>
            </a:r>
            <a:r>
              <a:rPr lang="en-US" sz="2000" dirty="0" err="1">
                <a:solidFill>
                  <a:schemeClr val="tx1"/>
                </a:solidFill>
                <a:latin typeface="+mj-lt"/>
              </a:rPr>
              <a:t>một</a:t>
            </a:r>
            <a:r>
              <a:rPr lang="en-US" sz="2000" dirty="0">
                <a:solidFill>
                  <a:schemeClr val="tx1"/>
                </a:solidFill>
                <a:latin typeface="+mj-lt"/>
              </a:rPr>
              <a:t> (01) </a:t>
            </a:r>
            <a:r>
              <a:rPr lang="en-US" sz="2000" dirty="0" err="1">
                <a:solidFill>
                  <a:schemeClr val="tx1"/>
                </a:solidFill>
                <a:latin typeface="+mj-lt"/>
              </a:rPr>
              <a:t>chữ</a:t>
            </a:r>
            <a:r>
              <a:rPr lang="en-US" sz="2000" dirty="0">
                <a:solidFill>
                  <a:schemeClr val="tx1"/>
                </a:solidFill>
                <a:latin typeface="+mj-lt"/>
              </a:rPr>
              <a:t> </a:t>
            </a:r>
            <a:r>
              <a:rPr lang="en-US" sz="2000" dirty="0" err="1">
                <a:solidFill>
                  <a:schemeClr val="tx1"/>
                </a:solidFill>
                <a:latin typeface="+mj-lt"/>
              </a:rPr>
              <a:t>cái</a:t>
            </a:r>
            <a:r>
              <a:rPr lang="en-US" sz="2000" dirty="0">
                <a:solidFill>
                  <a:schemeClr val="tx1"/>
                </a:solidFill>
                <a:latin typeface="+mj-lt"/>
              </a:rPr>
              <a:t> </a:t>
            </a:r>
            <a:r>
              <a:rPr lang="en-US" sz="2000" dirty="0" err="1">
                <a:solidFill>
                  <a:schemeClr val="tx1"/>
                </a:solidFill>
                <a:latin typeface="+mj-lt"/>
              </a:rPr>
              <a:t>được</a:t>
            </a:r>
            <a:r>
              <a:rPr lang="en-US" sz="2000" dirty="0">
                <a:solidFill>
                  <a:schemeClr val="tx1"/>
                </a:solidFill>
                <a:latin typeface="+mj-lt"/>
              </a:rPr>
              <a:t> </a:t>
            </a:r>
            <a:r>
              <a:rPr lang="en-US" sz="2000" dirty="0" err="1">
                <a:solidFill>
                  <a:schemeClr val="tx1"/>
                </a:solidFill>
                <a:latin typeface="+mj-lt"/>
              </a:rPr>
              <a:t>quy</a:t>
            </a:r>
            <a:r>
              <a:rPr lang="en-US" sz="2000" dirty="0">
                <a:solidFill>
                  <a:schemeClr val="tx1"/>
                </a:solidFill>
                <a:latin typeface="+mj-lt"/>
              </a:rPr>
              <a:t> </a:t>
            </a:r>
            <a:r>
              <a:rPr lang="en-US" sz="2000" dirty="0" err="1">
                <a:solidFill>
                  <a:schemeClr val="tx1"/>
                </a:solidFill>
                <a:latin typeface="+mj-lt"/>
              </a:rPr>
              <a:t>định</a:t>
            </a:r>
            <a:r>
              <a:rPr lang="en-US" sz="2000" dirty="0">
                <a:solidFill>
                  <a:schemeClr val="tx1"/>
                </a:solidFill>
                <a:latin typeface="+mj-lt"/>
              </a:rPr>
              <a:t> </a:t>
            </a:r>
            <a:r>
              <a:rPr lang="en-US" sz="2000" dirty="0" err="1">
                <a:solidFill>
                  <a:schemeClr val="tx1"/>
                </a:solidFill>
                <a:latin typeface="+mj-lt"/>
              </a:rPr>
              <a:t>là</a:t>
            </a:r>
            <a:r>
              <a:rPr lang="en-US" sz="2000" dirty="0">
                <a:solidFill>
                  <a:schemeClr val="tx1"/>
                </a:solidFill>
                <a:latin typeface="+mj-lt"/>
              </a:rPr>
              <a:t> C </a:t>
            </a:r>
            <a:r>
              <a:rPr lang="en-US" sz="2000" dirty="0" err="1">
                <a:solidFill>
                  <a:schemeClr val="tx1"/>
                </a:solidFill>
                <a:latin typeface="+mj-lt"/>
              </a:rPr>
              <a:t>hoặc</a:t>
            </a:r>
            <a:r>
              <a:rPr lang="en-US" sz="2000" dirty="0">
                <a:solidFill>
                  <a:schemeClr val="tx1"/>
                </a:solidFill>
                <a:latin typeface="+mj-lt"/>
              </a:rPr>
              <a:t> K </a:t>
            </a:r>
            <a:r>
              <a:rPr lang="en-US" sz="2000" dirty="0" err="1">
                <a:solidFill>
                  <a:schemeClr val="tx1"/>
                </a:solidFill>
                <a:latin typeface="+mj-lt"/>
              </a:rPr>
              <a:t>như</a:t>
            </a:r>
            <a:r>
              <a:rPr lang="en-US" sz="2000" dirty="0">
                <a:solidFill>
                  <a:schemeClr val="tx1"/>
                </a:solidFill>
                <a:latin typeface="+mj-lt"/>
              </a:rPr>
              <a:t> </a:t>
            </a:r>
            <a:r>
              <a:rPr lang="en-US" sz="2000" dirty="0" err="1">
                <a:solidFill>
                  <a:schemeClr val="tx1"/>
                </a:solidFill>
                <a:latin typeface="+mj-lt"/>
              </a:rPr>
              <a:t>sau</a:t>
            </a:r>
            <a:r>
              <a:rPr lang="en-US" sz="2000" dirty="0">
                <a:solidFill>
                  <a:schemeClr val="tx1"/>
                </a:solidFill>
                <a:latin typeface="+mj-lt"/>
              </a:rPr>
              <a:t>: C </a:t>
            </a:r>
            <a:r>
              <a:rPr lang="en-US" sz="2000" dirty="0" err="1">
                <a:solidFill>
                  <a:schemeClr val="tx1"/>
                </a:solidFill>
                <a:latin typeface="+mj-lt"/>
              </a:rPr>
              <a:t>thể</a:t>
            </a:r>
            <a:r>
              <a:rPr lang="en-US" sz="2000" dirty="0">
                <a:solidFill>
                  <a:schemeClr val="tx1"/>
                </a:solidFill>
                <a:latin typeface="+mj-lt"/>
              </a:rPr>
              <a:t> </a:t>
            </a:r>
            <a:r>
              <a:rPr lang="en-US" sz="2000" dirty="0" err="1">
                <a:solidFill>
                  <a:schemeClr val="tx1"/>
                </a:solidFill>
                <a:latin typeface="+mj-lt"/>
              </a:rPr>
              <a:t>hiện</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cơ</a:t>
            </a:r>
            <a:r>
              <a:rPr lang="en-US" sz="2000" dirty="0">
                <a:solidFill>
                  <a:schemeClr val="tx1"/>
                </a:solidFill>
                <a:latin typeface="+mj-lt"/>
              </a:rPr>
              <a:t> </a:t>
            </a:r>
            <a:r>
              <a:rPr lang="en-US" sz="2000" dirty="0" err="1">
                <a:solidFill>
                  <a:schemeClr val="tx1"/>
                </a:solidFill>
                <a:latin typeface="+mj-lt"/>
              </a:rPr>
              <a:t>quan</a:t>
            </a:r>
            <a:r>
              <a:rPr lang="en-US" sz="2000" dirty="0">
                <a:solidFill>
                  <a:schemeClr val="tx1"/>
                </a:solidFill>
                <a:latin typeface="+mj-lt"/>
              </a:rPr>
              <a:t> </a:t>
            </a:r>
            <a:r>
              <a:rPr lang="en-US" sz="2000" dirty="0" err="1">
                <a:solidFill>
                  <a:schemeClr val="tx1"/>
                </a:solidFill>
                <a:latin typeface="+mj-lt"/>
              </a:rPr>
              <a:t>thuế</a:t>
            </a:r>
            <a:r>
              <a:rPr lang="en-US" sz="2000" dirty="0">
                <a:solidFill>
                  <a:schemeClr val="tx1"/>
                </a:solidFill>
                <a:latin typeface="+mj-lt"/>
              </a:rPr>
              <a:t>, K </a:t>
            </a:r>
            <a:r>
              <a:rPr lang="en-US" sz="2000" dirty="0" err="1">
                <a:solidFill>
                  <a:schemeClr val="tx1"/>
                </a:solidFill>
                <a:latin typeface="+mj-lt"/>
              </a:rPr>
              <a:t>thể</a:t>
            </a:r>
            <a:r>
              <a:rPr lang="en-US" sz="2000" dirty="0">
                <a:solidFill>
                  <a:schemeClr val="tx1"/>
                </a:solidFill>
                <a:latin typeface="+mj-lt"/>
              </a:rPr>
              <a:t> </a:t>
            </a:r>
            <a:r>
              <a:rPr lang="en-US" sz="2000" dirty="0" err="1">
                <a:solidFill>
                  <a:schemeClr val="tx1"/>
                </a:solidFill>
                <a:latin typeface="+mj-lt"/>
              </a:rPr>
              <a:t>hiện</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không</a:t>
            </a:r>
            <a:r>
              <a:rPr lang="en-US" sz="2000" dirty="0">
                <a:solidFill>
                  <a:schemeClr val="tx1"/>
                </a:solidFill>
                <a:latin typeface="+mj-lt"/>
              </a:rPr>
              <a: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a:t>
            </a:r>
            <a:endParaRPr lang="vi-VN" sz="2000" dirty="0">
              <a:solidFill>
                <a:schemeClr val="tx1"/>
              </a:solidFill>
              <a:latin typeface="+mj-lt"/>
            </a:endParaRPr>
          </a:p>
          <a:p>
            <a:pPr marL="0" indent="0" algn="just">
              <a:buNone/>
            </a:pPr>
            <a:r>
              <a:rPr lang="en-US" sz="2000" dirty="0">
                <a:solidFill>
                  <a:schemeClr val="tx1"/>
                </a:solidFill>
                <a:latin typeface="+mj-lt"/>
              </a:rPr>
              <a:t>- Hai </a:t>
            </a:r>
            <a:r>
              <a:rPr lang="en-US" sz="2000" dirty="0" err="1">
                <a:solidFill>
                  <a:schemeClr val="tx1"/>
                </a:solidFill>
                <a:latin typeface="+mj-lt"/>
              </a:rPr>
              <a:t>ký</a:t>
            </a:r>
            <a:r>
              <a:rPr lang="en-US" sz="2000" dirty="0">
                <a:solidFill>
                  <a:schemeClr val="tx1"/>
                </a:solidFill>
                <a:latin typeface="+mj-lt"/>
              </a:rPr>
              <a:t> </a:t>
            </a:r>
            <a:r>
              <a:rPr lang="en-US" sz="2000" dirty="0" err="1">
                <a:solidFill>
                  <a:schemeClr val="tx1"/>
                </a:solidFill>
                <a:latin typeface="+mj-lt"/>
              </a:rPr>
              <a:t>tự</a:t>
            </a:r>
            <a:r>
              <a:rPr lang="en-US" sz="2000" dirty="0">
                <a:solidFill>
                  <a:schemeClr val="tx1"/>
                </a:solidFill>
                <a:latin typeface="+mj-lt"/>
              </a:rPr>
              <a:t> </a:t>
            </a:r>
            <a:r>
              <a:rPr lang="en-US" sz="2000" dirty="0" err="1">
                <a:solidFill>
                  <a:schemeClr val="tx1"/>
                </a:solidFill>
                <a:latin typeface="+mj-lt"/>
              </a:rPr>
              <a:t>tiếp</a:t>
            </a:r>
            <a:r>
              <a:rPr lang="en-US" sz="2000" dirty="0">
                <a:solidFill>
                  <a:schemeClr val="tx1"/>
                </a:solidFill>
                <a:latin typeface="+mj-lt"/>
              </a:rPr>
              <a:t> </a:t>
            </a:r>
            <a:r>
              <a:rPr lang="en-US" sz="2000" dirty="0" err="1">
                <a:solidFill>
                  <a:schemeClr val="tx1"/>
                </a:solidFill>
                <a:latin typeface="+mj-lt"/>
              </a:rPr>
              <a:t>theo</a:t>
            </a:r>
            <a:r>
              <a:rPr lang="en-US" sz="2000" dirty="0">
                <a:solidFill>
                  <a:schemeClr val="tx1"/>
                </a:solidFill>
                <a:latin typeface="+mj-lt"/>
              </a:rPr>
              <a:t> </a:t>
            </a:r>
            <a:r>
              <a:rPr lang="en-US" sz="2000" dirty="0" err="1">
                <a:solidFill>
                  <a:schemeClr val="tx1"/>
                </a:solidFill>
                <a:latin typeface="+mj-lt"/>
              </a:rPr>
              <a:t>là</a:t>
            </a:r>
            <a:r>
              <a:rPr lang="en-US" sz="2000" dirty="0">
                <a:solidFill>
                  <a:schemeClr val="tx1"/>
                </a:solidFill>
                <a:latin typeface="+mj-lt"/>
              </a:rPr>
              <a:t> </a:t>
            </a:r>
            <a:r>
              <a:rPr lang="en-US" sz="2000" dirty="0" err="1">
                <a:solidFill>
                  <a:schemeClr val="tx1"/>
                </a:solidFill>
                <a:latin typeface="+mj-lt"/>
              </a:rPr>
              <a:t>hai</a:t>
            </a:r>
            <a:r>
              <a:rPr lang="en-US" sz="2000" dirty="0">
                <a:solidFill>
                  <a:schemeClr val="tx1"/>
                </a:solidFill>
                <a:latin typeface="+mj-lt"/>
              </a:rPr>
              <a:t> (02) </a:t>
            </a:r>
            <a:r>
              <a:rPr lang="en-US" sz="2000" dirty="0" err="1">
                <a:solidFill>
                  <a:schemeClr val="tx1"/>
                </a:solidFill>
                <a:latin typeface="+mj-lt"/>
              </a:rPr>
              <a:t>chữ</a:t>
            </a:r>
            <a:r>
              <a:rPr lang="en-US" sz="2000" dirty="0">
                <a:solidFill>
                  <a:schemeClr val="tx1"/>
                </a:solidFill>
                <a:latin typeface="+mj-lt"/>
              </a:rPr>
              <a:t> </a:t>
            </a:r>
            <a:r>
              <a:rPr lang="en-US" sz="2000" dirty="0" err="1">
                <a:solidFill>
                  <a:schemeClr val="tx1"/>
                </a:solidFill>
                <a:latin typeface="+mj-lt"/>
              </a:rPr>
              <a:t>số</a:t>
            </a:r>
            <a:r>
              <a:rPr lang="en-US" sz="2000" dirty="0">
                <a:solidFill>
                  <a:schemeClr val="tx1"/>
                </a:solidFill>
                <a:latin typeface="+mj-lt"/>
              </a:rPr>
              <a:t> Ả </a:t>
            </a:r>
            <a:r>
              <a:rPr lang="en-US" sz="2000" dirty="0" err="1">
                <a:solidFill>
                  <a:schemeClr val="tx1"/>
                </a:solidFill>
                <a:latin typeface="+mj-lt"/>
              </a:rPr>
              <a:t>rập</a:t>
            </a:r>
            <a:r>
              <a:rPr lang="en-US" sz="2000" dirty="0">
                <a:solidFill>
                  <a:schemeClr val="tx1"/>
                </a:solidFill>
                <a:latin typeface="+mj-lt"/>
              </a:rPr>
              <a:t> </a:t>
            </a:r>
            <a:r>
              <a:rPr lang="en-US" sz="2000" dirty="0" err="1">
                <a:solidFill>
                  <a:schemeClr val="tx1"/>
                </a:solidFill>
                <a:latin typeface="+mj-lt"/>
              </a:rPr>
              <a:t>thể</a:t>
            </a:r>
            <a:r>
              <a:rPr lang="en-US" sz="2000" dirty="0">
                <a:solidFill>
                  <a:schemeClr val="tx1"/>
                </a:solidFill>
                <a:latin typeface="+mj-lt"/>
              </a:rPr>
              <a:t> </a:t>
            </a:r>
            <a:r>
              <a:rPr lang="en-US" sz="2000" dirty="0" err="1">
                <a:solidFill>
                  <a:schemeClr val="tx1"/>
                </a:solidFill>
                <a:latin typeface="+mj-lt"/>
              </a:rPr>
              <a:t>hiện</a:t>
            </a:r>
            <a:r>
              <a:rPr lang="en-US" sz="2000" dirty="0">
                <a:solidFill>
                  <a:schemeClr val="tx1"/>
                </a:solidFill>
                <a:latin typeface="+mj-lt"/>
              </a:rPr>
              <a:t> </a:t>
            </a:r>
            <a:r>
              <a:rPr lang="en-US" sz="2000" dirty="0" err="1">
                <a:solidFill>
                  <a:schemeClr val="tx1"/>
                </a:solidFill>
                <a:latin typeface="+mj-lt"/>
              </a:rPr>
              <a:t>năm</a:t>
            </a:r>
            <a:r>
              <a:rPr lang="en-US" sz="2000" dirty="0">
                <a:solidFill>
                  <a:schemeClr val="tx1"/>
                </a:solidFill>
                <a:latin typeface="+mj-lt"/>
              </a:rPr>
              <a:t> </a:t>
            </a:r>
            <a:r>
              <a:rPr lang="en-US" sz="2000" dirty="0" err="1">
                <a:solidFill>
                  <a:schemeClr val="tx1"/>
                </a:solidFill>
                <a:latin typeface="+mj-lt"/>
              </a:rPr>
              <a:t>lập</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được</a:t>
            </a:r>
            <a:r>
              <a:rPr lang="en-US" sz="2000" dirty="0">
                <a:solidFill>
                  <a:schemeClr val="tx1"/>
                </a:solidFill>
                <a:latin typeface="+mj-lt"/>
              </a:rPr>
              <a:t> </a:t>
            </a:r>
            <a:r>
              <a:rPr lang="en-US" sz="2000" dirty="0" err="1">
                <a:solidFill>
                  <a:schemeClr val="tx1"/>
                </a:solidFill>
                <a:latin typeface="+mj-lt"/>
              </a:rPr>
              <a:t>xác</a:t>
            </a:r>
            <a:r>
              <a:rPr lang="en-US" sz="2000" dirty="0">
                <a:solidFill>
                  <a:schemeClr val="tx1"/>
                </a:solidFill>
                <a:latin typeface="+mj-lt"/>
              </a:rPr>
              <a:t> </a:t>
            </a:r>
            <a:r>
              <a:rPr lang="en-US" sz="2000" dirty="0" err="1">
                <a:solidFill>
                  <a:schemeClr val="tx1"/>
                </a:solidFill>
                <a:latin typeface="+mj-lt"/>
              </a:rPr>
              <a:t>định</a:t>
            </a:r>
            <a:r>
              <a:rPr lang="en-US" sz="2000" dirty="0">
                <a:solidFill>
                  <a:schemeClr val="tx1"/>
                </a:solidFill>
                <a:latin typeface="+mj-lt"/>
              </a:rPr>
              <a:t> </a:t>
            </a:r>
            <a:r>
              <a:rPr lang="en-US" sz="2000" dirty="0" err="1">
                <a:solidFill>
                  <a:schemeClr val="tx1"/>
                </a:solidFill>
                <a:latin typeface="+mj-lt"/>
              </a:rPr>
              <a:t>theo</a:t>
            </a:r>
            <a:r>
              <a:rPr lang="en-US" sz="2000" dirty="0">
                <a:solidFill>
                  <a:schemeClr val="tx1"/>
                </a:solidFill>
                <a:latin typeface="+mj-lt"/>
              </a:rPr>
              <a:t> 2 </a:t>
            </a:r>
            <a:r>
              <a:rPr lang="en-US" sz="2000" dirty="0" err="1">
                <a:solidFill>
                  <a:schemeClr val="tx1"/>
                </a:solidFill>
                <a:latin typeface="+mj-lt"/>
              </a:rPr>
              <a:t>chữ</a:t>
            </a:r>
            <a:r>
              <a:rPr lang="en-US" sz="2000" dirty="0">
                <a:solidFill>
                  <a:schemeClr val="tx1"/>
                </a:solidFill>
                <a:latin typeface="+mj-lt"/>
              </a:rPr>
              <a:t> </a:t>
            </a:r>
            <a:r>
              <a:rPr lang="en-US" sz="2000" dirty="0" err="1">
                <a:solidFill>
                  <a:schemeClr val="tx1"/>
                </a:solidFill>
                <a:latin typeface="+mj-lt"/>
              </a:rPr>
              <a:t>số</a:t>
            </a:r>
            <a:r>
              <a:rPr lang="en-US" sz="2000" dirty="0">
                <a:solidFill>
                  <a:schemeClr val="tx1"/>
                </a:solidFill>
                <a:latin typeface="+mj-lt"/>
              </a:rPr>
              <a:t> </a:t>
            </a:r>
            <a:r>
              <a:rPr lang="en-US" sz="2000" dirty="0" err="1">
                <a:solidFill>
                  <a:schemeClr val="tx1"/>
                </a:solidFill>
                <a:latin typeface="+mj-lt"/>
              </a:rPr>
              <a:t>cuối</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năm</a:t>
            </a:r>
            <a:r>
              <a:rPr lang="en-US" sz="2000" dirty="0">
                <a:solidFill>
                  <a:schemeClr val="tx1"/>
                </a:solidFill>
                <a:latin typeface="+mj-lt"/>
              </a:rPr>
              <a:t> </a:t>
            </a:r>
            <a:r>
              <a:rPr lang="en-US" sz="2000" dirty="0" err="1">
                <a:solidFill>
                  <a:schemeClr val="tx1"/>
                </a:solidFill>
                <a:latin typeface="+mj-lt"/>
              </a:rPr>
              <a:t>dương</a:t>
            </a:r>
            <a:r>
              <a:rPr lang="en-US" sz="2000" dirty="0">
                <a:solidFill>
                  <a:schemeClr val="tx1"/>
                </a:solidFill>
                <a:latin typeface="+mj-lt"/>
              </a:rPr>
              <a:t> </a:t>
            </a:r>
            <a:r>
              <a:rPr lang="en-US" sz="2000" dirty="0" err="1">
                <a:solidFill>
                  <a:schemeClr val="tx1"/>
                </a:solidFill>
                <a:latin typeface="+mj-lt"/>
              </a:rPr>
              <a:t>lịch</a:t>
            </a:r>
            <a:r>
              <a:rPr lang="en-US" sz="2000" dirty="0">
                <a:solidFill>
                  <a:schemeClr val="tx1"/>
                </a:solidFill>
                <a:latin typeface="+mj-lt"/>
              </a:rPr>
              <a:t>. </a:t>
            </a:r>
            <a:r>
              <a:rPr lang="en-US" sz="2000" dirty="0" err="1">
                <a:solidFill>
                  <a:schemeClr val="tx1"/>
                </a:solidFill>
                <a:latin typeface="+mj-lt"/>
              </a:rPr>
              <a:t>Ví</a:t>
            </a:r>
            <a:r>
              <a:rPr lang="en-US" sz="2000" dirty="0">
                <a:solidFill>
                  <a:schemeClr val="tx1"/>
                </a:solidFill>
                <a:latin typeface="+mj-lt"/>
              </a:rPr>
              <a:t> </a:t>
            </a:r>
            <a:r>
              <a:rPr lang="en-US" sz="2000" dirty="0" err="1">
                <a:solidFill>
                  <a:schemeClr val="tx1"/>
                </a:solidFill>
                <a:latin typeface="+mj-lt"/>
              </a:rPr>
              <a:t>dụ</a:t>
            </a:r>
            <a:r>
              <a:rPr lang="en-US" sz="2000" dirty="0">
                <a:solidFill>
                  <a:schemeClr val="tx1"/>
                </a:solidFill>
                <a:latin typeface="+mj-lt"/>
              </a:rPr>
              <a:t>: </a:t>
            </a:r>
            <a:r>
              <a:rPr lang="en-US" sz="2000" dirty="0" err="1">
                <a:solidFill>
                  <a:schemeClr val="tx1"/>
                </a:solidFill>
                <a:latin typeface="+mj-lt"/>
              </a:rPr>
              <a:t>Năm</a:t>
            </a:r>
            <a:r>
              <a:rPr lang="en-US" sz="2000" dirty="0">
                <a:solidFill>
                  <a:schemeClr val="tx1"/>
                </a:solidFill>
                <a:latin typeface="+mj-lt"/>
              </a:rPr>
              <a:t> </a:t>
            </a:r>
            <a:r>
              <a:rPr lang="en-US" sz="2000" dirty="0" err="1">
                <a:solidFill>
                  <a:schemeClr val="tx1"/>
                </a:solidFill>
                <a:latin typeface="+mj-lt"/>
              </a:rPr>
              <a:t>lập</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là</a:t>
            </a:r>
            <a:r>
              <a:rPr lang="en-US" sz="2000" dirty="0">
                <a:solidFill>
                  <a:schemeClr val="tx1"/>
                </a:solidFill>
                <a:latin typeface="+mj-lt"/>
              </a:rPr>
              <a:t> </a:t>
            </a:r>
            <a:r>
              <a:rPr lang="en-US" sz="2000" dirty="0" err="1">
                <a:solidFill>
                  <a:schemeClr val="tx1"/>
                </a:solidFill>
                <a:latin typeface="+mj-lt"/>
              </a:rPr>
              <a:t>năm</a:t>
            </a:r>
            <a:r>
              <a:rPr lang="en-US" sz="2000" dirty="0">
                <a:solidFill>
                  <a:schemeClr val="tx1"/>
                </a:solidFill>
                <a:latin typeface="+mj-lt"/>
              </a:rPr>
              <a:t> 2022 </a:t>
            </a:r>
            <a:r>
              <a:rPr lang="en-US" sz="2000" dirty="0" err="1">
                <a:solidFill>
                  <a:schemeClr val="tx1"/>
                </a:solidFill>
                <a:latin typeface="+mj-lt"/>
              </a:rPr>
              <a:t>thì</a:t>
            </a:r>
            <a:r>
              <a:rPr lang="en-US" sz="2000" dirty="0">
                <a:solidFill>
                  <a:schemeClr val="tx1"/>
                </a:solidFill>
                <a:latin typeface="+mj-lt"/>
              </a:rPr>
              <a:t> </a:t>
            </a:r>
            <a:r>
              <a:rPr lang="en-US" sz="2000" dirty="0" err="1">
                <a:solidFill>
                  <a:schemeClr val="tx1"/>
                </a:solidFill>
                <a:latin typeface="+mj-lt"/>
              </a:rPr>
              <a:t>thể</a:t>
            </a:r>
            <a:r>
              <a:rPr lang="en-US" sz="2000" dirty="0">
                <a:solidFill>
                  <a:schemeClr val="tx1"/>
                </a:solidFill>
                <a:latin typeface="+mj-lt"/>
              </a:rPr>
              <a:t> </a:t>
            </a:r>
            <a:r>
              <a:rPr lang="en-US" sz="2000" dirty="0" err="1">
                <a:solidFill>
                  <a:schemeClr val="tx1"/>
                </a:solidFill>
                <a:latin typeface="+mj-lt"/>
              </a:rPr>
              <a:t>hiện</a:t>
            </a:r>
            <a:r>
              <a:rPr lang="en-US" sz="2000" dirty="0">
                <a:solidFill>
                  <a:schemeClr val="tx1"/>
                </a:solidFill>
                <a:latin typeface="+mj-lt"/>
              </a:rPr>
              <a:t> </a:t>
            </a:r>
            <a:r>
              <a:rPr lang="en-US" sz="2000" dirty="0" err="1">
                <a:solidFill>
                  <a:schemeClr val="tx1"/>
                </a:solidFill>
                <a:latin typeface="+mj-lt"/>
              </a:rPr>
              <a:t>là</a:t>
            </a:r>
            <a:r>
              <a:rPr lang="en-US" sz="2000" dirty="0">
                <a:solidFill>
                  <a:schemeClr val="tx1"/>
                </a:solidFill>
                <a:latin typeface="+mj-lt"/>
              </a:rPr>
              <a:t> </a:t>
            </a:r>
            <a:r>
              <a:rPr lang="en-US" sz="2000" dirty="0" err="1">
                <a:solidFill>
                  <a:schemeClr val="tx1"/>
                </a:solidFill>
                <a:latin typeface="+mj-lt"/>
              </a:rPr>
              <a:t>số</a:t>
            </a:r>
            <a:r>
              <a:rPr lang="en-US" sz="2000" dirty="0">
                <a:solidFill>
                  <a:schemeClr val="tx1"/>
                </a:solidFill>
                <a:latin typeface="+mj-lt"/>
              </a:rPr>
              <a:t> 22; </a:t>
            </a:r>
            <a:r>
              <a:rPr lang="en-US" sz="2000" dirty="0" err="1">
                <a:solidFill>
                  <a:schemeClr val="tx1"/>
                </a:solidFill>
                <a:latin typeface="+mj-lt"/>
              </a:rPr>
              <a:t>năm</a:t>
            </a:r>
            <a:r>
              <a:rPr lang="en-US" sz="2000" dirty="0">
                <a:solidFill>
                  <a:schemeClr val="tx1"/>
                </a:solidFill>
                <a:latin typeface="+mj-lt"/>
              </a:rPr>
              <a:t> </a:t>
            </a:r>
            <a:r>
              <a:rPr lang="en-US" sz="2000" dirty="0" err="1">
                <a:solidFill>
                  <a:schemeClr val="tx1"/>
                </a:solidFill>
                <a:latin typeface="+mj-lt"/>
              </a:rPr>
              <a:t>lập</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là</a:t>
            </a:r>
            <a:r>
              <a:rPr lang="en-US" sz="2000" dirty="0">
                <a:solidFill>
                  <a:schemeClr val="tx1"/>
                </a:solidFill>
                <a:latin typeface="+mj-lt"/>
              </a:rPr>
              <a:t> </a:t>
            </a:r>
            <a:r>
              <a:rPr lang="en-US" sz="2000" dirty="0" err="1">
                <a:solidFill>
                  <a:schemeClr val="tx1"/>
                </a:solidFill>
                <a:latin typeface="+mj-lt"/>
              </a:rPr>
              <a:t>năm</a:t>
            </a:r>
            <a:r>
              <a:rPr lang="en-US" sz="2000" dirty="0">
                <a:solidFill>
                  <a:schemeClr val="tx1"/>
                </a:solidFill>
                <a:latin typeface="+mj-lt"/>
              </a:rPr>
              <a:t> 2023 </a:t>
            </a:r>
            <a:r>
              <a:rPr lang="en-US" sz="2000" dirty="0" err="1">
                <a:solidFill>
                  <a:schemeClr val="tx1"/>
                </a:solidFill>
                <a:latin typeface="+mj-lt"/>
              </a:rPr>
              <a:t>thì</a:t>
            </a:r>
            <a:r>
              <a:rPr lang="en-US" sz="2000" dirty="0">
                <a:solidFill>
                  <a:schemeClr val="tx1"/>
                </a:solidFill>
                <a:latin typeface="+mj-lt"/>
              </a:rPr>
              <a:t> </a:t>
            </a:r>
            <a:r>
              <a:rPr lang="en-US" sz="2000" dirty="0" err="1">
                <a:solidFill>
                  <a:schemeClr val="tx1"/>
                </a:solidFill>
                <a:latin typeface="+mj-lt"/>
              </a:rPr>
              <a:t>thể</a:t>
            </a:r>
            <a:r>
              <a:rPr lang="en-US" sz="2000" dirty="0">
                <a:solidFill>
                  <a:schemeClr val="tx1"/>
                </a:solidFill>
                <a:latin typeface="+mj-lt"/>
              </a:rPr>
              <a:t> </a:t>
            </a:r>
            <a:r>
              <a:rPr lang="en-US" sz="2000" dirty="0" err="1">
                <a:solidFill>
                  <a:schemeClr val="tx1"/>
                </a:solidFill>
                <a:latin typeface="+mj-lt"/>
              </a:rPr>
              <a:t>hiện</a:t>
            </a:r>
            <a:r>
              <a:rPr lang="en-US" sz="2000" dirty="0">
                <a:solidFill>
                  <a:schemeClr val="tx1"/>
                </a:solidFill>
                <a:latin typeface="+mj-lt"/>
              </a:rPr>
              <a:t> </a:t>
            </a:r>
            <a:r>
              <a:rPr lang="en-US" sz="2000" dirty="0" err="1">
                <a:solidFill>
                  <a:schemeClr val="tx1"/>
                </a:solidFill>
                <a:latin typeface="+mj-lt"/>
              </a:rPr>
              <a:t>là</a:t>
            </a:r>
            <a:r>
              <a:rPr lang="en-US" sz="2000" dirty="0">
                <a:solidFill>
                  <a:schemeClr val="tx1"/>
                </a:solidFill>
                <a:latin typeface="+mj-lt"/>
              </a:rPr>
              <a:t> </a:t>
            </a:r>
            <a:r>
              <a:rPr lang="en-US" sz="2000" dirty="0" err="1">
                <a:solidFill>
                  <a:schemeClr val="tx1"/>
                </a:solidFill>
                <a:latin typeface="+mj-lt"/>
              </a:rPr>
              <a:t>số</a:t>
            </a:r>
            <a:r>
              <a:rPr lang="en-US" sz="2000" dirty="0">
                <a:solidFill>
                  <a:schemeClr val="tx1"/>
                </a:solidFill>
                <a:latin typeface="+mj-lt"/>
              </a:rPr>
              <a:t> 23;</a:t>
            </a:r>
            <a:endParaRPr lang="vi-VN" sz="2000" dirty="0">
              <a:solidFill>
                <a:schemeClr val="tx1"/>
              </a:solidFill>
              <a:latin typeface="+mj-lt"/>
            </a:endParaRPr>
          </a:p>
        </p:txBody>
      </p:sp>
      <p:sp>
        <p:nvSpPr>
          <p:cNvPr id="4" name="Title 1"/>
          <p:cNvSpPr txBox="1">
            <a:spLocks/>
          </p:cNvSpPr>
          <p:nvPr/>
        </p:nvSpPr>
        <p:spPr>
          <a:xfrm>
            <a:off x="795346" y="791308"/>
            <a:ext cx="9511248" cy="726831"/>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1800" b="1" dirty="0">
                <a:solidFill>
                  <a:srgbClr val="C00000"/>
                </a:solidFill>
                <a:cs typeface="Times New Roman" panose="02020603050405020304" pitchFamily="18" charset="0"/>
              </a:rPr>
              <a:t>5. NỘI DUNG HÓA ĐƠN</a:t>
            </a:r>
            <a:br>
              <a:rPr lang="en-US" sz="1800" b="1" dirty="0">
                <a:solidFill>
                  <a:srgbClr val="C00000"/>
                </a:solidFill>
                <a:cs typeface="Times New Roman" panose="02020603050405020304" pitchFamily="18" charset="0"/>
              </a:rPr>
            </a:br>
            <a:r>
              <a:rPr lang="vi-VN" sz="1800" b="1" dirty="0">
                <a:solidFill>
                  <a:srgbClr val="C00000"/>
                </a:solidFill>
                <a:cs typeface="Times New Roman" panose="02020603050405020304" pitchFamily="18" charset="0"/>
              </a:rPr>
              <a:t> K</a:t>
            </a:r>
            <a:r>
              <a:rPr lang="en-US" sz="1800" b="1" dirty="0">
                <a:solidFill>
                  <a:srgbClr val="C00000"/>
                </a:solidFill>
                <a:cs typeface="Times New Roman" panose="02020603050405020304" pitchFamily="18" charset="0"/>
              </a:rPr>
              <a:t>Ý HIỆU MẪU SỐ HÓA ĐƠN, KÝ HIỆU HÓA ĐƠN – HÓA ĐƠN ĐIỆN TỬ (TIẾP THEO)</a:t>
            </a:r>
            <a:r>
              <a:rPr lang="en-US" sz="1800" b="1" dirty="0">
                <a:solidFill>
                  <a:srgbClr val="C00000"/>
                </a:solidFill>
              </a:rPr>
              <a:t/>
            </a:r>
            <a:br>
              <a:rPr lang="en-US" sz="1800" b="1" dirty="0">
                <a:solidFill>
                  <a:srgbClr val="C00000"/>
                </a:solidFill>
              </a:rPr>
            </a:br>
            <a:endParaRPr lang="vi-VN" sz="1800" b="1" dirty="0">
              <a:solidFill>
                <a:srgbClr val="C00000"/>
              </a:solidFill>
            </a:endParaRPr>
          </a:p>
        </p:txBody>
      </p:sp>
      <p:sp>
        <p:nvSpPr>
          <p:cNvPr id="6" name="Title 1"/>
          <p:cNvSpPr txBox="1">
            <a:spLocks/>
          </p:cNvSpPr>
          <p:nvPr/>
        </p:nvSpPr>
        <p:spPr>
          <a:xfrm>
            <a:off x="954718" y="274136"/>
            <a:ext cx="8772534"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5. NỘI DUNG HĐĐT</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34254973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795346" y="1518139"/>
            <a:ext cx="9380620" cy="4933461"/>
          </a:xfrm>
        </p:spPr>
        <p:txBody>
          <a:bodyPr anchor="ctr" anchorCtr="0">
            <a:noAutofit/>
          </a:bodyPr>
          <a:lstStyle/>
          <a:p>
            <a:pPr marL="0" indent="0" algn="just">
              <a:spcBef>
                <a:spcPts val="0"/>
              </a:spcBef>
              <a:buNone/>
            </a:pPr>
            <a:r>
              <a:rPr lang="en-US" sz="1900" b="1" dirty="0">
                <a:solidFill>
                  <a:schemeClr val="tx1"/>
                </a:solidFill>
                <a:latin typeface="+mj-lt"/>
              </a:rPr>
              <a:t>b) </a:t>
            </a:r>
            <a:r>
              <a:rPr lang="en-US" sz="1900" b="1" dirty="0" err="1">
                <a:solidFill>
                  <a:schemeClr val="tx1"/>
                </a:solidFill>
                <a:latin typeface="+mj-lt"/>
              </a:rPr>
              <a:t>Ký</a:t>
            </a:r>
            <a:r>
              <a:rPr lang="en-US" sz="1900" b="1" dirty="0">
                <a:solidFill>
                  <a:schemeClr val="tx1"/>
                </a:solidFill>
                <a:latin typeface="+mj-lt"/>
              </a:rPr>
              <a:t> </a:t>
            </a:r>
            <a:r>
              <a:rPr lang="en-US" sz="1900" b="1" dirty="0" err="1">
                <a:solidFill>
                  <a:schemeClr val="tx1"/>
                </a:solidFill>
                <a:latin typeface="+mj-lt"/>
              </a:rPr>
              <a:t>hiệu</a:t>
            </a:r>
            <a:r>
              <a:rPr lang="en-US" sz="1900" b="1" dirty="0">
                <a:solidFill>
                  <a:schemeClr val="tx1"/>
                </a:solidFill>
                <a:latin typeface="+mj-lt"/>
              </a:rPr>
              <a:t> </a:t>
            </a:r>
            <a:r>
              <a:rPr lang="en-US" sz="1900" b="1" dirty="0" err="1">
                <a:solidFill>
                  <a:schemeClr val="tx1"/>
                </a:solidFill>
                <a:latin typeface="+mj-lt"/>
              </a:rPr>
              <a:t>hóa</a:t>
            </a:r>
            <a:r>
              <a:rPr lang="en-US" sz="1900" b="1" dirty="0">
                <a:solidFill>
                  <a:schemeClr val="tx1"/>
                </a:solidFill>
                <a:latin typeface="+mj-lt"/>
              </a:rPr>
              <a:t> </a:t>
            </a:r>
            <a:r>
              <a:rPr lang="en-US" sz="1900" b="1" dirty="0" err="1">
                <a:solidFill>
                  <a:schemeClr val="tx1"/>
                </a:solidFill>
                <a:latin typeface="+mj-lt"/>
              </a:rPr>
              <a:t>đơn</a:t>
            </a:r>
            <a:r>
              <a:rPr lang="en-US" sz="1900" b="1" dirty="0">
                <a:solidFill>
                  <a:schemeClr val="tx1"/>
                </a:solidFill>
                <a:latin typeface="+mj-lt"/>
              </a:rPr>
              <a:t> (</a:t>
            </a:r>
            <a:r>
              <a:rPr lang="en-US" sz="1900" b="1" dirty="0" err="1">
                <a:solidFill>
                  <a:schemeClr val="tx1"/>
                </a:solidFill>
                <a:latin typeface="+mj-lt"/>
              </a:rPr>
              <a:t>tiếp</a:t>
            </a:r>
            <a:r>
              <a:rPr lang="en-US" sz="1900" b="1" dirty="0">
                <a:solidFill>
                  <a:schemeClr val="tx1"/>
                </a:solidFill>
                <a:latin typeface="+mj-lt"/>
              </a:rPr>
              <a:t>)</a:t>
            </a:r>
          </a:p>
          <a:p>
            <a:pPr marL="0" indent="0" algn="just">
              <a:spcBef>
                <a:spcPts val="0"/>
              </a:spcBef>
              <a:buNone/>
            </a:pPr>
            <a:r>
              <a:rPr lang="en-US" sz="1900" dirty="0">
                <a:solidFill>
                  <a:schemeClr val="tx1"/>
                </a:solidFill>
                <a:latin typeface="+mj-lt"/>
              </a:rPr>
              <a:t>- </a:t>
            </a:r>
            <a:r>
              <a:rPr lang="en-US" sz="1900" dirty="0" err="1">
                <a:solidFill>
                  <a:schemeClr val="tx1"/>
                </a:solidFill>
                <a:latin typeface="+mj-lt"/>
              </a:rPr>
              <a:t>Một</a:t>
            </a:r>
            <a:r>
              <a:rPr lang="en-US" sz="1900" dirty="0">
                <a:solidFill>
                  <a:schemeClr val="tx1"/>
                </a:solidFill>
                <a:latin typeface="+mj-lt"/>
              </a:rPr>
              <a:t> </a:t>
            </a:r>
            <a:r>
              <a:rPr lang="en-US" sz="1900" dirty="0" err="1">
                <a:solidFill>
                  <a:schemeClr val="tx1"/>
                </a:solidFill>
                <a:latin typeface="+mj-lt"/>
              </a:rPr>
              <a:t>ký</a:t>
            </a:r>
            <a:r>
              <a:rPr lang="en-US" sz="1900" dirty="0">
                <a:solidFill>
                  <a:schemeClr val="tx1"/>
                </a:solidFill>
                <a:latin typeface="+mj-lt"/>
              </a:rPr>
              <a:t> </a:t>
            </a:r>
            <a:r>
              <a:rPr lang="en-US" sz="1900" dirty="0" err="1">
                <a:solidFill>
                  <a:schemeClr val="tx1"/>
                </a:solidFill>
                <a:latin typeface="+mj-lt"/>
              </a:rPr>
              <a:t>tự</a:t>
            </a:r>
            <a:r>
              <a:rPr lang="en-US" sz="1900" dirty="0">
                <a:solidFill>
                  <a:schemeClr val="tx1"/>
                </a:solidFill>
                <a:latin typeface="+mj-lt"/>
              </a:rPr>
              <a:t> </a:t>
            </a:r>
            <a:r>
              <a:rPr lang="en-US" sz="1900" dirty="0" err="1">
                <a:solidFill>
                  <a:schemeClr val="tx1"/>
                </a:solidFill>
                <a:latin typeface="+mj-lt"/>
              </a:rPr>
              <a:t>tiếp</a:t>
            </a:r>
            <a:r>
              <a:rPr lang="en-US" sz="1900" dirty="0">
                <a:solidFill>
                  <a:schemeClr val="tx1"/>
                </a:solidFill>
                <a:latin typeface="+mj-lt"/>
              </a:rPr>
              <a:t> </a:t>
            </a:r>
            <a:r>
              <a:rPr lang="en-US" sz="1900" dirty="0" err="1">
                <a:solidFill>
                  <a:schemeClr val="tx1"/>
                </a:solidFill>
                <a:latin typeface="+mj-lt"/>
              </a:rPr>
              <a:t>theo</a:t>
            </a:r>
            <a:r>
              <a:rPr lang="en-US" sz="1900" dirty="0">
                <a:solidFill>
                  <a:schemeClr val="tx1"/>
                </a:solidFill>
                <a:latin typeface="+mj-lt"/>
              </a:rPr>
              <a:t> </a:t>
            </a:r>
            <a:r>
              <a:rPr lang="en-US" sz="1900" dirty="0" err="1">
                <a:solidFill>
                  <a:schemeClr val="tx1"/>
                </a:solidFill>
                <a:latin typeface="+mj-lt"/>
              </a:rPr>
              <a:t>là</a:t>
            </a:r>
            <a:r>
              <a:rPr lang="en-US" sz="1900" dirty="0">
                <a:solidFill>
                  <a:schemeClr val="tx1"/>
                </a:solidFill>
                <a:latin typeface="+mj-lt"/>
              </a:rPr>
              <a:t> </a:t>
            </a:r>
            <a:r>
              <a:rPr lang="en-US" sz="1900" dirty="0" err="1">
                <a:solidFill>
                  <a:schemeClr val="tx1"/>
                </a:solidFill>
                <a:latin typeface="+mj-lt"/>
              </a:rPr>
              <a:t>một</a:t>
            </a:r>
            <a:r>
              <a:rPr lang="en-US" sz="1900" dirty="0">
                <a:solidFill>
                  <a:schemeClr val="tx1"/>
                </a:solidFill>
                <a:latin typeface="+mj-lt"/>
              </a:rPr>
              <a:t> (01) </a:t>
            </a:r>
            <a:r>
              <a:rPr lang="en-US" sz="1900" dirty="0" err="1">
                <a:solidFill>
                  <a:schemeClr val="tx1"/>
                </a:solidFill>
                <a:latin typeface="+mj-lt"/>
              </a:rPr>
              <a:t>chữ</a:t>
            </a:r>
            <a:r>
              <a:rPr lang="en-US" sz="1900" dirty="0">
                <a:solidFill>
                  <a:schemeClr val="tx1"/>
                </a:solidFill>
                <a:latin typeface="+mj-lt"/>
              </a:rPr>
              <a:t> </a:t>
            </a:r>
            <a:r>
              <a:rPr lang="en-US" sz="1900" dirty="0" err="1">
                <a:solidFill>
                  <a:schemeClr val="tx1"/>
                </a:solidFill>
                <a:latin typeface="+mj-lt"/>
              </a:rPr>
              <a:t>cái</a:t>
            </a:r>
            <a:r>
              <a:rPr lang="en-US" sz="1900" dirty="0">
                <a:solidFill>
                  <a:schemeClr val="tx1"/>
                </a:solidFill>
                <a:latin typeface="+mj-lt"/>
              </a:rPr>
              <a:t> </a:t>
            </a:r>
            <a:r>
              <a:rPr lang="en-US" sz="1900" dirty="0" err="1">
                <a:solidFill>
                  <a:schemeClr val="tx1"/>
                </a:solidFill>
                <a:latin typeface="+mj-lt"/>
              </a:rPr>
              <a:t>được</a:t>
            </a:r>
            <a:r>
              <a:rPr lang="en-US" sz="1900" dirty="0">
                <a:solidFill>
                  <a:schemeClr val="tx1"/>
                </a:solidFill>
                <a:latin typeface="+mj-lt"/>
              </a:rPr>
              <a:t> </a:t>
            </a:r>
            <a:r>
              <a:rPr lang="en-US" sz="1900" dirty="0" err="1">
                <a:solidFill>
                  <a:schemeClr val="tx1"/>
                </a:solidFill>
                <a:latin typeface="+mj-lt"/>
              </a:rPr>
              <a:t>quy</a:t>
            </a:r>
            <a:r>
              <a:rPr lang="en-US" sz="1900" dirty="0">
                <a:solidFill>
                  <a:schemeClr val="tx1"/>
                </a:solidFill>
                <a:latin typeface="+mj-lt"/>
              </a:rPr>
              <a:t> </a:t>
            </a:r>
            <a:r>
              <a:rPr lang="en-US" sz="1900" dirty="0" err="1">
                <a:solidFill>
                  <a:schemeClr val="tx1"/>
                </a:solidFill>
                <a:latin typeface="+mj-lt"/>
              </a:rPr>
              <a:t>định</a:t>
            </a:r>
            <a:r>
              <a:rPr lang="en-US" sz="1900" dirty="0">
                <a:solidFill>
                  <a:schemeClr val="tx1"/>
                </a:solidFill>
                <a:latin typeface="+mj-lt"/>
              </a:rPr>
              <a:t> </a:t>
            </a:r>
            <a:r>
              <a:rPr lang="en-US" sz="1900" dirty="0" err="1">
                <a:solidFill>
                  <a:schemeClr val="tx1"/>
                </a:solidFill>
                <a:latin typeface="+mj-lt"/>
              </a:rPr>
              <a:t>là</a:t>
            </a:r>
            <a:r>
              <a:rPr lang="en-US" sz="1900" dirty="0">
                <a:solidFill>
                  <a:schemeClr val="tx1"/>
                </a:solidFill>
                <a:latin typeface="+mj-lt"/>
              </a:rPr>
              <a:t> </a:t>
            </a:r>
            <a:r>
              <a:rPr lang="en-US" sz="1900" b="1" dirty="0">
                <a:solidFill>
                  <a:schemeClr val="tx1"/>
                </a:solidFill>
                <a:latin typeface="+mj-lt"/>
              </a:rPr>
              <a:t>T, D, L, M, N, B, G, H </a:t>
            </a:r>
            <a:r>
              <a:rPr lang="en-US" sz="1900" dirty="0" err="1">
                <a:solidFill>
                  <a:schemeClr val="tx1"/>
                </a:solidFill>
                <a:latin typeface="+mj-lt"/>
              </a:rPr>
              <a:t>thể</a:t>
            </a:r>
            <a:r>
              <a:rPr lang="en-US" sz="1900" dirty="0">
                <a:solidFill>
                  <a:schemeClr val="tx1"/>
                </a:solidFill>
                <a:latin typeface="+mj-lt"/>
              </a:rPr>
              <a:t> </a:t>
            </a:r>
            <a:r>
              <a:rPr lang="en-US" sz="1900" dirty="0" err="1">
                <a:solidFill>
                  <a:schemeClr val="tx1"/>
                </a:solidFill>
                <a:latin typeface="+mj-lt"/>
              </a:rPr>
              <a:t>hiện</a:t>
            </a:r>
            <a:r>
              <a:rPr lang="en-US" sz="1900" dirty="0">
                <a:solidFill>
                  <a:schemeClr val="tx1"/>
                </a:solidFill>
                <a:latin typeface="+mj-lt"/>
              </a:rPr>
              <a:t> </a:t>
            </a:r>
            <a:r>
              <a:rPr lang="en-US" sz="1900" dirty="0" err="1">
                <a:solidFill>
                  <a:schemeClr val="tx1"/>
                </a:solidFill>
                <a:latin typeface="+mj-lt"/>
              </a:rPr>
              <a:t>loại</a:t>
            </a:r>
            <a:r>
              <a:rPr lang="en-US" sz="1900" dirty="0">
                <a:solidFill>
                  <a:schemeClr val="tx1"/>
                </a:solidFill>
                <a:latin typeface="+mj-lt"/>
              </a:rPr>
              <a:t> </a:t>
            </a:r>
            <a:r>
              <a:rPr lang="en-US" sz="1900" dirty="0" err="1">
                <a:solidFill>
                  <a:schemeClr val="tx1"/>
                </a:solidFill>
                <a:latin typeface="+mj-lt"/>
              </a:rPr>
              <a:t>hóa</a:t>
            </a:r>
            <a:r>
              <a:rPr lang="en-US" sz="1900" dirty="0">
                <a:solidFill>
                  <a:schemeClr val="tx1"/>
                </a:solidFill>
                <a:latin typeface="+mj-lt"/>
              </a:rPr>
              <a:t> </a:t>
            </a:r>
            <a:r>
              <a:rPr lang="en-US" sz="1900" dirty="0" err="1">
                <a:solidFill>
                  <a:schemeClr val="tx1"/>
                </a:solidFill>
                <a:latin typeface="+mj-lt"/>
              </a:rPr>
              <a:t>đơn</a:t>
            </a:r>
            <a:r>
              <a:rPr lang="en-US" sz="1900" dirty="0">
                <a:solidFill>
                  <a:schemeClr val="tx1"/>
                </a:solidFill>
                <a:latin typeface="+mj-lt"/>
              </a:rPr>
              <a:t> </a:t>
            </a:r>
            <a:r>
              <a:rPr lang="en-US" sz="1900" dirty="0" err="1">
                <a:solidFill>
                  <a:schemeClr val="tx1"/>
                </a:solidFill>
                <a:latin typeface="+mj-lt"/>
              </a:rPr>
              <a:t>điện</a:t>
            </a:r>
            <a:r>
              <a:rPr lang="en-US" sz="1900" dirty="0">
                <a:solidFill>
                  <a:schemeClr val="tx1"/>
                </a:solidFill>
                <a:latin typeface="+mj-lt"/>
              </a:rPr>
              <a:t> </a:t>
            </a:r>
            <a:r>
              <a:rPr lang="en-US" sz="1900" dirty="0" err="1">
                <a:solidFill>
                  <a:schemeClr val="tx1"/>
                </a:solidFill>
                <a:latin typeface="+mj-lt"/>
              </a:rPr>
              <a:t>tử</a:t>
            </a:r>
            <a:r>
              <a:rPr lang="en-US" sz="1900" dirty="0">
                <a:solidFill>
                  <a:schemeClr val="tx1"/>
                </a:solidFill>
                <a:latin typeface="+mj-lt"/>
              </a:rPr>
              <a:t> </a:t>
            </a:r>
            <a:r>
              <a:rPr lang="en-US" sz="1900" dirty="0" err="1">
                <a:solidFill>
                  <a:schemeClr val="tx1"/>
                </a:solidFill>
                <a:latin typeface="+mj-lt"/>
              </a:rPr>
              <a:t>được</a:t>
            </a:r>
            <a:r>
              <a:rPr lang="en-US" sz="1900" dirty="0">
                <a:solidFill>
                  <a:schemeClr val="tx1"/>
                </a:solidFill>
                <a:latin typeface="+mj-lt"/>
              </a:rPr>
              <a:t> </a:t>
            </a:r>
            <a:r>
              <a:rPr lang="en-US" sz="1900" dirty="0" err="1">
                <a:solidFill>
                  <a:schemeClr val="tx1"/>
                </a:solidFill>
                <a:latin typeface="+mj-lt"/>
              </a:rPr>
              <a:t>sử</a:t>
            </a:r>
            <a:r>
              <a:rPr lang="en-US" sz="1900" dirty="0">
                <a:solidFill>
                  <a:schemeClr val="tx1"/>
                </a:solidFill>
                <a:latin typeface="+mj-lt"/>
              </a:rPr>
              <a:t> </a:t>
            </a:r>
            <a:r>
              <a:rPr lang="en-US" sz="1900" dirty="0" err="1">
                <a:solidFill>
                  <a:schemeClr val="tx1"/>
                </a:solidFill>
                <a:latin typeface="+mj-lt"/>
              </a:rPr>
              <a:t>dụng</a:t>
            </a:r>
            <a:r>
              <a:rPr lang="en-US" sz="1900" dirty="0">
                <a:solidFill>
                  <a:schemeClr val="tx1"/>
                </a:solidFill>
                <a:latin typeface="+mj-lt"/>
              </a:rPr>
              <a:t>, </a:t>
            </a:r>
            <a:r>
              <a:rPr lang="en-US" sz="1900" dirty="0" err="1">
                <a:solidFill>
                  <a:schemeClr val="tx1"/>
                </a:solidFill>
                <a:latin typeface="+mj-lt"/>
              </a:rPr>
              <a:t>cụ</a:t>
            </a:r>
            <a:r>
              <a:rPr lang="en-US" sz="1900" dirty="0">
                <a:solidFill>
                  <a:schemeClr val="tx1"/>
                </a:solidFill>
                <a:latin typeface="+mj-lt"/>
              </a:rPr>
              <a:t> </a:t>
            </a:r>
            <a:r>
              <a:rPr lang="en-US" sz="1900" dirty="0" err="1">
                <a:solidFill>
                  <a:schemeClr val="tx1"/>
                </a:solidFill>
                <a:latin typeface="+mj-lt"/>
              </a:rPr>
              <a:t>thể</a:t>
            </a:r>
            <a:r>
              <a:rPr lang="en-US" sz="1900" dirty="0">
                <a:solidFill>
                  <a:schemeClr val="tx1"/>
                </a:solidFill>
                <a:latin typeface="+mj-lt"/>
              </a:rPr>
              <a:t>:</a:t>
            </a:r>
            <a:endParaRPr lang="vi-VN" sz="1900" dirty="0">
              <a:solidFill>
                <a:schemeClr val="tx1"/>
              </a:solidFill>
              <a:latin typeface="+mj-lt"/>
            </a:endParaRPr>
          </a:p>
          <a:p>
            <a:pPr marL="0" indent="0" algn="just">
              <a:spcBef>
                <a:spcPts val="0"/>
              </a:spcBef>
              <a:buNone/>
            </a:pPr>
            <a:r>
              <a:rPr lang="en-US" sz="1900" dirty="0">
                <a:solidFill>
                  <a:schemeClr val="tx1"/>
                </a:solidFill>
                <a:latin typeface="+mj-lt"/>
              </a:rPr>
              <a:t>	+ </a:t>
            </a:r>
            <a:r>
              <a:rPr lang="en-US" sz="1900" dirty="0" err="1">
                <a:solidFill>
                  <a:schemeClr val="tx1"/>
                </a:solidFill>
                <a:latin typeface="+mj-lt"/>
              </a:rPr>
              <a:t>Chữ</a:t>
            </a:r>
            <a:r>
              <a:rPr lang="en-US" sz="1900" dirty="0">
                <a:solidFill>
                  <a:schemeClr val="tx1"/>
                </a:solidFill>
                <a:latin typeface="+mj-lt"/>
              </a:rPr>
              <a:t> </a:t>
            </a:r>
            <a:r>
              <a:rPr lang="en-US" sz="1900" b="1" dirty="0">
                <a:solidFill>
                  <a:schemeClr val="tx1"/>
                </a:solidFill>
                <a:latin typeface="+mj-lt"/>
              </a:rPr>
              <a:t>T</a:t>
            </a:r>
            <a:r>
              <a:rPr lang="en-US" sz="1900" dirty="0">
                <a:solidFill>
                  <a:schemeClr val="tx1"/>
                </a:solidFill>
                <a:latin typeface="+mj-lt"/>
              </a:rPr>
              <a:t>: </a:t>
            </a:r>
            <a:r>
              <a:rPr lang="en-US" sz="1900" dirty="0" err="1">
                <a:solidFill>
                  <a:schemeClr val="tx1"/>
                </a:solidFill>
                <a:latin typeface="+mj-lt"/>
              </a:rPr>
              <a:t>Áp</a:t>
            </a:r>
            <a:r>
              <a:rPr lang="en-US" sz="1900" dirty="0">
                <a:solidFill>
                  <a:schemeClr val="tx1"/>
                </a:solidFill>
                <a:latin typeface="+mj-lt"/>
              </a:rPr>
              <a:t> </a:t>
            </a:r>
            <a:r>
              <a:rPr lang="en-US" sz="1900" dirty="0" err="1">
                <a:solidFill>
                  <a:schemeClr val="tx1"/>
                </a:solidFill>
                <a:latin typeface="+mj-lt"/>
              </a:rPr>
              <a:t>dụng</a:t>
            </a:r>
            <a:r>
              <a:rPr lang="en-US" sz="1900" dirty="0">
                <a:solidFill>
                  <a:schemeClr val="tx1"/>
                </a:solidFill>
                <a:latin typeface="+mj-lt"/>
              </a:rPr>
              <a:t> </a:t>
            </a:r>
            <a:r>
              <a:rPr lang="en-US" sz="1900" dirty="0" err="1">
                <a:solidFill>
                  <a:schemeClr val="tx1"/>
                </a:solidFill>
                <a:latin typeface="+mj-lt"/>
              </a:rPr>
              <a:t>đối</a:t>
            </a:r>
            <a:r>
              <a:rPr lang="en-US" sz="1900" dirty="0">
                <a:solidFill>
                  <a:schemeClr val="tx1"/>
                </a:solidFill>
                <a:latin typeface="+mj-lt"/>
              </a:rPr>
              <a:t> </a:t>
            </a:r>
            <a:r>
              <a:rPr lang="en-US" sz="1900" dirty="0" err="1">
                <a:solidFill>
                  <a:schemeClr val="tx1"/>
                </a:solidFill>
                <a:latin typeface="+mj-lt"/>
              </a:rPr>
              <a:t>với</a:t>
            </a:r>
            <a:r>
              <a:rPr lang="en-US" sz="1900" dirty="0">
                <a:solidFill>
                  <a:schemeClr val="tx1"/>
                </a:solidFill>
                <a:latin typeface="+mj-lt"/>
              </a:rPr>
              <a:t> </a:t>
            </a:r>
            <a:r>
              <a:rPr lang="en-US" sz="1900" dirty="0" err="1">
                <a:solidFill>
                  <a:schemeClr val="tx1"/>
                </a:solidFill>
                <a:latin typeface="+mj-lt"/>
              </a:rPr>
              <a:t>hóa</a:t>
            </a:r>
            <a:r>
              <a:rPr lang="en-US" sz="1900" dirty="0">
                <a:solidFill>
                  <a:schemeClr val="tx1"/>
                </a:solidFill>
                <a:latin typeface="+mj-lt"/>
              </a:rPr>
              <a:t> </a:t>
            </a:r>
            <a:r>
              <a:rPr lang="en-US" sz="1900" dirty="0" err="1">
                <a:solidFill>
                  <a:schemeClr val="tx1"/>
                </a:solidFill>
                <a:latin typeface="+mj-lt"/>
              </a:rPr>
              <a:t>đơn</a:t>
            </a:r>
            <a:r>
              <a:rPr lang="en-US" sz="1900" dirty="0">
                <a:solidFill>
                  <a:schemeClr val="tx1"/>
                </a:solidFill>
                <a:latin typeface="+mj-lt"/>
              </a:rPr>
              <a:t> </a:t>
            </a:r>
            <a:r>
              <a:rPr lang="en-US" sz="1900" dirty="0" err="1">
                <a:solidFill>
                  <a:schemeClr val="tx1"/>
                </a:solidFill>
                <a:latin typeface="+mj-lt"/>
              </a:rPr>
              <a:t>điện</a:t>
            </a:r>
            <a:r>
              <a:rPr lang="en-US" sz="1900" dirty="0">
                <a:solidFill>
                  <a:schemeClr val="tx1"/>
                </a:solidFill>
                <a:latin typeface="+mj-lt"/>
              </a:rPr>
              <a:t> </a:t>
            </a:r>
            <a:r>
              <a:rPr lang="en-US" sz="1900" dirty="0" err="1">
                <a:solidFill>
                  <a:schemeClr val="tx1"/>
                </a:solidFill>
                <a:latin typeface="+mj-lt"/>
              </a:rPr>
              <a:t>tử</a:t>
            </a:r>
            <a:r>
              <a:rPr lang="en-US" sz="1900" dirty="0">
                <a:solidFill>
                  <a:schemeClr val="tx1"/>
                </a:solidFill>
                <a:latin typeface="+mj-lt"/>
              </a:rPr>
              <a:t> do </a:t>
            </a:r>
            <a:r>
              <a:rPr lang="en-US" sz="1900" dirty="0" err="1">
                <a:solidFill>
                  <a:schemeClr val="tx1"/>
                </a:solidFill>
                <a:latin typeface="+mj-lt"/>
              </a:rPr>
              <a:t>các</a:t>
            </a:r>
            <a:r>
              <a:rPr lang="en-US" sz="1900" dirty="0">
                <a:solidFill>
                  <a:schemeClr val="tx1"/>
                </a:solidFill>
                <a:latin typeface="+mj-lt"/>
              </a:rPr>
              <a:t> </a:t>
            </a:r>
            <a:r>
              <a:rPr lang="en-US" sz="1900" dirty="0" err="1">
                <a:solidFill>
                  <a:schemeClr val="tx1"/>
                </a:solidFill>
                <a:latin typeface="+mj-lt"/>
              </a:rPr>
              <a:t>doanh</a:t>
            </a:r>
            <a:r>
              <a:rPr lang="en-US" sz="1900" dirty="0">
                <a:solidFill>
                  <a:schemeClr val="tx1"/>
                </a:solidFill>
                <a:latin typeface="+mj-lt"/>
              </a:rPr>
              <a:t> </a:t>
            </a:r>
            <a:r>
              <a:rPr lang="en-US" sz="1900" dirty="0" err="1">
                <a:solidFill>
                  <a:schemeClr val="tx1"/>
                </a:solidFill>
                <a:latin typeface="+mj-lt"/>
              </a:rPr>
              <a:t>nghiệp</a:t>
            </a:r>
            <a:r>
              <a:rPr lang="en-US" sz="1900" dirty="0">
                <a:solidFill>
                  <a:schemeClr val="tx1"/>
                </a:solidFill>
                <a:latin typeface="+mj-lt"/>
              </a:rPr>
              <a:t>, </a:t>
            </a:r>
            <a:r>
              <a:rPr lang="en-US" sz="1900" dirty="0" err="1">
                <a:solidFill>
                  <a:schemeClr val="tx1"/>
                </a:solidFill>
                <a:latin typeface="+mj-lt"/>
              </a:rPr>
              <a:t>tô</a:t>
            </a:r>
            <a:r>
              <a:rPr lang="en-US" sz="1900" dirty="0">
                <a:solidFill>
                  <a:schemeClr val="tx1"/>
                </a:solidFill>
                <a:latin typeface="+mj-lt"/>
              </a:rPr>
              <a:t>̉ </a:t>
            </a:r>
            <a:r>
              <a:rPr lang="en-US" sz="1900" dirty="0" err="1">
                <a:solidFill>
                  <a:schemeClr val="tx1"/>
                </a:solidFill>
                <a:latin typeface="+mj-lt"/>
              </a:rPr>
              <a:t>chức</a:t>
            </a:r>
            <a:r>
              <a:rPr lang="en-US" sz="1900" dirty="0">
                <a:solidFill>
                  <a:schemeClr val="tx1"/>
                </a:solidFill>
                <a:latin typeface="+mj-lt"/>
              </a:rPr>
              <a:t>, </a:t>
            </a:r>
            <a:r>
              <a:rPr lang="en-US" sz="1900" dirty="0" err="1">
                <a:solidFill>
                  <a:schemeClr val="tx1"/>
                </a:solidFill>
                <a:latin typeface="+mj-lt"/>
              </a:rPr>
              <a:t>hộ</a:t>
            </a:r>
            <a:r>
              <a:rPr lang="en-US" sz="1900" dirty="0">
                <a:solidFill>
                  <a:schemeClr val="tx1"/>
                </a:solidFill>
                <a:latin typeface="+mj-lt"/>
              </a:rPr>
              <a:t>, cá </a:t>
            </a:r>
            <a:r>
              <a:rPr lang="en-US" sz="1900" dirty="0" err="1">
                <a:solidFill>
                  <a:schemeClr val="tx1"/>
                </a:solidFill>
                <a:latin typeface="+mj-lt"/>
              </a:rPr>
              <a:t>nhân</a:t>
            </a:r>
            <a:r>
              <a:rPr lang="en-US" sz="1900" dirty="0">
                <a:solidFill>
                  <a:schemeClr val="tx1"/>
                </a:solidFill>
                <a:latin typeface="+mj-lt"/>
              </a:rPr>
              <a:t> </a:t>
            </a:r>
            <a:r>
              <a:rPr lang="en-US" sz="1900" dirty="0" err="1">
                <a:solidFill>
                  <a:schemeClr val="tx1"/>
                </a:solidFill>
                <a:latin typeface="+mj-lt"/>
              </a:rPr>
              <a:t>kinh</a:t>
            </a:r>
            <a:r>
              <a:rPr lang="en-US" sz="1900" dirty="0">
                <a:solidFill>
                  <a:schemeClr val="tx1"/>
                </a:solidFill>
                <a:latin typeface="+mj-lt"/>
              </a:rPr>
              <a:t> </a:t>
            </a:r>
            <a:r>
              <a:rPr lang="en-US" sz="1900" dirty="0" err="1">
                <a:solidFill>
                  <a:schemeClr val="tx1"/>
                </a:solidFill>
                <a:latin typeface="+mj-lt"/>
              </a:rPr>
              <a:t>doanh</a:t>
            </a:r>
            <a:r>
              <a:rPr lang="en-US" sz="1900" dirty="0">
                <a:solidFill>
                  <a:schemeClr val="tx1"/>
                </a:solidFill>
                <a:latin typeface="+mj-lt"/>
              </a:rPr>
              <a:t> </a:t>
            </a:r>
            <a:r>
              <a:rPr lang="en-US" sz="1900" dirty="0" err="1">
                <a:solidFill>
                  <a:schemeClr val="tx1"/>
                </a:solidFill>
                <a:latin typeface="+mj-lt"/>
              </a:rPr>
              <a:t>đăng</a:t>
            </a:r>
            <a:r>
              <a:rPr lang="en-US" sz="1900" dirty="0">
                <a:solidFill>
                  <a:schemeClr val="tx1"/>
                </a:solidFill>
                <a:latin typeface="+mj-lt"/>
              </a:rPr>
              <a:t> </a:t>
            </a:r>
            <a:r>
              <a:rPr lang="en-US" sz="1900" dirty="0" err="1">
                <a:solidFill>
                  <a:schemeClr val="tx1"/>
                </a:solidFill>
                <a:latin typeface="+mj-lt"/>
              </a:rPr>
              <a:t>ky</a:t>
            </a:r>
            <a:r>
              <a:rPr lang="en-US" sz="1900" dirty="0">
                <a:solidFill>
                  <a:schemeClr val="tx1"/>
                </a:solidFill>
                <a:latin typeface="+mj-lt"/>
              </a:rPr>
              <a:t>́ </a:t>
            </a:r>
            <a:r>
              <a:rPr lang="en-US" sz="1900" dirty="0" err="1">
                <a:solidFill>
                  <a:schemeClr val="tx1"/>
                </a:solidFill>
                <a:latin typeface="+mj-lt"/>
              </a:rPr>
              <a:t>sư</a:t>
            </a:r>
            <a:r>
              <a:rPr lang="en-US" sz="1900" dirty="0">
                <a:solidFill>
                  <a:schemeClr val="tx1"/>
                </a:solidFill>
                <a:latin typeface="+mj-lt"/>
              </a:rPr>
              <a:t>̉ </a:t>
            </a:r>
            <a:r>
              <a:rPr lang="en-US" sz="1900" dirty="0" err="1">
                <a:solidFill>
                  <a:schemeClr val="tx1"/>
                </a:solidFill>
                <a:latin typeface="+mj-lt"/>
              </a:rPr>
              <a:t>dụng</a:t>
            </a:r>
            <a:r>
              <a:rPr lang="en-US" sz="1900" dirty="0">
                <a:solidFill>
                  <a:schemeClr val="tx1"/>
                </a:solidFill>
                <a:latin typeface="+mj-lt"/>
              </a:rPr>
              <a:t> </a:t>
            </a:r>
            <a:r>
              <a:rPr lang="en-US" sz="1900" dirty="0" err="1">
                <a:solidFill>
                  <a:schemeClr val="tx1"/>
                </a:solidFill>
                <a:latin typeface="+mj-lt"/>
              </a:rPr>
              <a:t>với</a:t>
            </a:r>
            <a:r>
              <a:rPr lang="en-US" sz="1900" dirty="0">
                <a:solidFill>
                  <a:schemeClr val="tx1"/>
                </a:solidFill>
                <a:latin typeface="+mj-lt"/>
              </a:rPr>
              <a:t> </a:t>
            </a:r>
            <a:r>
              <a:rPr lang="en-US" sz="1900" dirty="0" err="1">
                <a:solidFill>
                  <a:schemeClr val="tx1"/>
                </a:solidFill>
                <a:latin typeface="+mj-lt"/>
              </a:rPr>
              <a:t>cơ</a:t>
            </a:r>
            <a:r>
              <a:rPr lang="en-US" sz="1900" dirty="0">
                <a:solidFill>
                  <a:schemeClr val="tx1"/>
                </a:solidFill>
                <a:latin typeface="+mj-lt"/>
              </a:rPr>
              <a:t> </a:t>
            </a:r>
            <a:r>
              <a:rPr lang="en-US" sz="1900" dirty="0" err="1">
                <a:solidFill>
                  <a:schemeClr val="tx1"/>
                </a:solidFill>
                <a:latin typeface="+mj-lt"/>
              </a:rPr>
              <a:t>quan</a:t>
            </a:r>
            <a:r>
              <a:rPr lang="en-US" sz="1900" dirty="0">
                <a:solidFill>
                  <a:schemeClr val="tx1"/>
                </a:solidFill>
                <a:latin typeface="+mj-lt"/>
              </a:rPr>
              <a:t> </a:t>
            </a:r>
            <a:r>
              <a:rPr lang="en-US" sz="1900" dirty="0" err="1">
                <a:solidFill>
                  <a:schemeClr val="tx1"/>
                </a:solidFill>
                <a:latin typeface="+mj-lt"/>
              </a:rPr>
              <a:t>thuế</a:t>
            </a:r>
            <a:r>
              <a:rPr lang="en-US" sz="1900" dirty="0">
                <a:solidFill>
                  <a:schemeClr val="tx1"/>
                </a:solidFill>
                <a:latin typeface="+mj-lt"/>
              </a:rPr>
              <a:t>; </a:t>
            </a:r>
            <a:endParaRPr lang="vi-VN" sz="1900" dirty="0">
              <a:solidFill>
                <a:schemeClr val="tx1"/>
              </a:solidFill>
              <a:latin typeface="+mj-lt"/>
            </a:endParaRPr>
          </a:p>
          <a:p>
            <a:pPr marL="0" indent="0" algn="just">
              <a:spcBef>
                <a:spcPts val="0"/>
              </a:spcBef>
              <a:buNone/>
            </a:pPr>
            <a:r>
              <a:rPr lang="en-US" sz="1900" dirty="0">
                <a:solidFill>
                  <a:schemeClr val="tx1"/>
                </a:solidFill>
                <a:latin typeface="+mj-lt"/>
              </a:rPr>
              <a:t>	+ </a:t>
            </a:r>
            <a:r>
              <a:rPr lang="en-US" sz="1900" dirty="0" err="1">
                <a:solidFill>
                  <a:schemeClr val="tx1"/>
                </a:solidFill>
                <a:latin typeface="+mj-lt"/>
              </a:rPr>
              <a:t>Chữ</a:t>
            </a:r>
            <a:r>
              <a:rPr lang="en-US" sz="1900" dirty="0">
                <a:solidFill>
                  <a:schemeClr val="tx1"/>
                </a:solidFill>
                <a:latin typeface="+mj-lt"/>
              </a:rPr>
              <a:t> </a:t>
            </a:r>
            <a:r>
              <a:rPr lang="en-US" sz="1900" b="1" dirty="0">
                <a:solidFill>
                  <a:schemeClr val="tx1"/>
                </a:solidFill>
                <a:latin typeface="+mj-lt"/>
              </a:rPr>
              <a:t>D</a:t>
            </a:r>
            <a:r>
              <a:rPr lang="en-US" sz="1900" dirty="0">
                <a:solidFill>
                  <a:schemeClr val="tx1"/>
                </a:solidFill>
                <a:latin typeface="+mj-lt"/>
              </a:rPr>
              <a:t>: </a:t>
            </a:r>
            <a:r>
              <a:rPr lang="en-US" sz="1900" dirty="0" err="1">
                <a:solidFill>
                  <a:schemeClr val="tx1"/>
                </a:solidFill>
                <a:latin typeface="+mj-lt"/>
              </a:rPr>
              <a:t>Áp</a:t>
            </a:r>
            <a:r>
              <a:rPr lang="en-US" sz="1900" dirty="0">
                <a:solidFill>
                  <a:schemeClr val="tx1"/>
                </a:solidFill>
                <a:latin typeface="+mj-lt"/>
              </a:rPr>
              <a:t> </a:t>
            </a:r>
            <a:r>
              <a:rPr lang="en-US" sz="1900" dirty="0" err="1">
                <a:solidFill>
                  <a:schemeClr val="tx1"/>
                </a:solidFill>
                <a:latin typeface="+mj-lt"/>
              </a:rPr>
              <a:t>dụng</a:t>
            </a:r>
            <a:r>
              <a:rPr lang="en-US" sz="1900" dirty="0">
                <a:solidFill>
                  <a:schemeClr val="tx1"/>
                </a:solidFill>
                <a:latin typeface="+mj-lt"/>
              </a:rPr>
              <a:t> </a:t>
            </a:r>
            <a:r>
              <a:rPr lang="en-US" sz="1900" dirty="0" err="1">
                <a:solidFill>
                  <a:schemeClr val="tx1"/>
                </a:solidFill>
                <a:latin typeface="+mj-lt"/>
              </a:rPr>
              <a:t>đối</a:t>
            </a:r>
            <a:r>
              <a:rPr lang="en-US" sz="1900" dirty="0">
                <a:solidFill>
                  <a:schemeClr val="tx1"/>
                </a:solidFill>
                <a:latin typeface="+mj-lt"/>
              </a:rPr>
              <a:t> </a:t>
            </a:r>
            <a:r>
              <a:rPr lang="en-US" sz="1900" dirty="0" err="1">
                <a:solidFill>
                  <a:schemeClr val="tx1"/>
                </a:solidFill>
                <a:latin typeface="+mj-lt"/>
              </a:rPr>
              <a:t>với</a:t>
            </a:r>
            <a:r>
              <a:rPr lang="en-US" sz="1900" dirty="0">
                <a:solidFill>
                  <a:schemeClr val="tx1"/>
                </a:solidFill>
                <a:latin typeface="+mj-lt"/>
              </a:rPr>
              <a:t> </a:t>
            </a:r>
            <a:r>
              <a:rPr lang="en-US" sz="1900" dirty="0" err="1">
                <a:solidFill>
                  <a:schemeClr val="tx1"/>
                </a:solidFill>
                <a:latin typeface="+mj-lt"/>
              </a:rPr>
              <a:t>hóa</a:t>
            </a:r>
            <a:r>
              <a:rPr lang="en-US" sz="1900" dirty="0">
                <a:solidFill>
                  <a:schemeClr val="tx1"/>
                </a:solidFill>
                <a:latin typeface="+mj-lt"/>
              </a:rPr>
              <a:t> </a:t>
            </a:r>
            <a:r>
              <a:rPr lang="en-US" sz="1900" dirty="0" err="1">
                <a:solidFill>
                  <a:schemeClr val="tx1"/>
                </a:solidFill>
                <a:latin typeface="+mj-lt"/>
              </a:rPr>
              <a:t>đơn</a:t>
            </a:r>
            <a:r>
              <a:rPr lang="en-US" sz="1900" dirty="0">
                <a:solidFill>
                  <a:schemeClr val="tx1"/>
                </a:solidFill>
                <a:latin typeface="+mj-lt"/>
              </a:rPr>
              <a:t> </a:t>
            </a:r>
            <a:r>
              <a:rPr lang="en-US" sz="1900" dirty="0" err="1">
                <a:solidFill>
                  <a:schemeClr val="tx1"/>
                </a:solidFill>
                <a:latin typeface="+mj-lt"/>
              </a:rPr>
              <a:t>bán</a:t>
            </a:r>
            <a:r>
              <a:rPr lang="en-US" sz="1900" dirty="0">
                <a:solidFill>
                  <a:schemeClr val="tx1"/>
                </a:solidFill>
                <a:latin typeface="+mj-lt"/>
              </a:rPr>
              <a:t> </a:t>
            </a:r>
            <a:r>
              <a:rPr lang="en-US" sz="1900" dirty="0" err="1">
                <a:solidFill>
                  <a:schemeClr val="tx1"/>
                </a:solidFill>
                <a:latin typeface="+mj-lt"/>
              </a:rPr>
              <a:t>tài</a:t>
            </a:r>
            <a:r>
              <a:rPr lang="en-US" sz="1900" dirty="0">
                <a:solidFill>
                  <a:schemeClr val="tx1"/>
                </a:solidFill>
                <a:latin typeface="+mj-lt"/>
              </a:rPr>
              <a:t> </a:t>
            </a:r>
            <a:r>
              <a:rPr lang="en-US" sz="1900" dirty="0" err="1">
                <a:solidFill>
                  <a:schemeClr val="tx1"/>
                </a:solidFill>
                <a:latin typeface="+mj-lt"/>
              </a:rPr>
              <a:t>sản</a:t>
            </a:r>
            <a:r>
              <a:rPr lang="en-US" sz="1900" dirty="0">
                <a:solidFill>
                  <a:schemeClr val="tx1"/>
                </a:solidFill>
                <a:latin typeface="+mj-lt"/>
              </a:rPr>
              <a:t> </a:t>
            </a:r>
            <a:r>
              <a:rPr lang="en-US" sz="1900" dirty="0" err="1">
                <a:solidFill>
                  <a:schemeClr val="tx1"/>
                </a:solidFill>
                <a:latin typeface="+mj-lt"/>
              </a:rPr>
              <a:t>công</a:t>
            </a:r>
            <a:r>
              <a:rPr lang="en-US" sz="1900" dirty="0">
                <a:solidFill>
                  <a:schemeClr val="tx1"/>
                </a:solidFill>
                <a:latin typeface="+mj-lt"/>
              </a:rPr>
              <a:t> </a:t>
            </a:r>
            <a:r>
              <a:rPr lang="en-US" sz="1900" dirty="0" err="1">
                <a:solidFill>
                  <a:schemeClr val="tx1"/>
                </a:solidFill>
                <a:latin typeface="+mj-lt"/>
              </a:rPr>
              <a:t>và</a:t>
            </a:r>
            <a:r>
              <a:rPr lang="en-US" sz="1900" dirty="0">
                <a:solidFill>
                  <a:schemeClr val="tx1"/>
                </a:solidFill>
                <a:latin typeface="+mj-lt"/>
              </a:rPr>
              <a:t> </a:t>
            </a:r>
            <a:r>
              <a:rPr lang="en-US" sz="1900" dirty="0" err="1">
                <a:solidFill>
                  <a:schemeClr val="tx1"/>
                </a:solidFill>
                <a:latin typeface="+mj-lt"/>
              </a:rPr>
              <a:t>hóa</a:t>
            </a:r>
            <a:r>
              <a:rPr lang="en-US" sz="1900" dirty="0">
                <a:solidFill>
                  <a:schemeClr val="tx1"/>
                </a:solidFill>
                <a:latin typeface="+mj-lt"/>
              </a:rPr>
              <a:t> </a:t>
            </a:r>
            <a:r>
              <a:rPr lang="en-US" sz="1900" dirty="0" err="1">
                <a:solidFill>
                  <a:schemeClr val="tx1"/>
                </a:solidFill>
                <a:latin typeface="+mj-lt"/>
              </a:rPr>
              <a:t>đơn</a:t>
            </a:r>
            <a:r>
              <a:rPr lang="en-US" sz="1900" dirty="0">
                <a:solidFill>
                  <a:schemeClr val="tx1"/>
                </a:solidFill>
                <a:latin typeface="+mj-lt"/>
              </a:rPr>
              <a:t> </a:t>
            </a:r>
            <a:r>
              <a:rPr lang="en-US" sz="1900" dirty="0" err="1">
                <a:solidFill>
                  <a:schemeClr val="tx1"/>
                </a:solidFill>
                <a:latin typeface="+mj-lt"/>
              </a:rPr>
              <a:t>bán</a:t>
            </a:r>
            <a:r>
              <a:rPr lang="en-US" sz="1900" dirty="0">
                <a:solidFill>
                  <a:schemeClr val="tx1"/>
                </a:solidFill>
                <a:latin typeface="+mj-lt"/>
              </a:rPr>
              <a:t> </a:t>
            </a:r>
            <a:r>
              <a:rPr lang="en-US" sz="1900" dirty="0" err="1">
                <a:solidFill>
                  <a:schemeClr val="tx1"/>
                </a:solidFill>
                <a:latin typeface="+mj-lt"/>
              </a:rPr>
              <a:t>hàng</a:t>
            </a:r>
            <a:r>
              <a:rPr lang="en-US" sz="1900" dirty="0">
                <a:solidFill>
                  <a:schemeClr val="tx1"/>
                </a:solidFill>
                <a:latin typeface="+mj-lt"/>
              </a:rPr>
              <a:t> </a:t>
            </a:r>
            <a:r>
              <a:rPr lang="en-US" sz="1900" dirty="0" err="1">
                <a:solidFill>
                  <a:schemeClr val="tx1"/>
                </a:solidFill>
                <a:latin typeface="+mj-lt"/>
              </a:rPr>
              <a:t>dự</a:t>
            </a:r>
            <a:r>
              <a:rPr lang="en-US" sz="1900" dirty="0">
                <a:solidFill>
                  <a:schemeClr val="tx1"/>
                </a:solidFill>
                <a:latin typeface="+mj-lt"/>
              </a:rPr>
              <a:t> </a:t>
            </a:r>
            <a:r>
              <a:rPr lang="en-US" sz="1900" dirty="0" err="1">
                <a:solidFill>
                  <a:schemeClr val="tx1"/>
                </a:solidFill>
                <a:latin typeface="+mj-lt"/>
              </a:rPr>
              <a:t>trữ</a:t>
            </a:r>
            <a:r>
              <a:rPr lang="en-US" sz="1900" dirty="0">
                <a:solidFill>
                  <a:schemeClr val="tx1"/>
                </a:solidFill>
                <a:latin typeface="+mj-lt"/>
              </a:rPr>
              <a:t> </a:t>
            </a:r>
            <a:r>
              <a:rPr lang="en-US" sz="1900" dirty="0" err="1">
                <a:solidFill>
                  <a:schemeClr val="tx1"/>
                </a:solidFill>
                <a:latin typeface="+mj-lt"/>
              </a:rPr>
              <a:t>quốc</a:t>
            </a:r>
            <a:r>
              <a:rPr lang="en-US" sz="1900" dirty="0">
                <a:solidFill>
                  <a:schemeClr val="tx1"/>
                </a:solidFill>
                <a:latin typeface="+mj-lt"/>
              </a:rPr>
              <a:t> </a:t>
            </a:r>
            <a:r>
              <a:rPr lang="en-US" sz="1900" dirty="0" err="1">
                <a:solidFill>
                  <a:schemeClr val="tx1"/>
                </a:solidFill>
                <a:latin typeface="+mj-lt"/>
              </a:rPr>
              <a:t>gia</a:t>
            </a:r>
            <a:r>
              <a:rPr lang="en-US" sz="1900" dirty="0">
                <a:solidFill>
                  <a:schemeClr val="tx1"/>
                </a:solidFill>
                <a:latin typeface="+mj-lt"/>
              </a:rPr>
              <a:t> </a:t>
            </a:r>
            <a:r>
              <a:rPr lang="en-US" sz="1900" dirty="0" err="1">
                <a:solidFill>
                  <a:schemeClr val="tx1"/>
                </a:solidFill>
                <a:latin typeface="+mj-lt"/>
              </a:rPr>
              <a:t>hoặc</a:t>
            </a:r>
            <a:r>
              <a:rPr lang="en-US" sz="1900" dirty="0">
                <a:solidFill>
                  <a:schemeClr val="tx1"/>
                </a:solidFill>
                <a:latin typeface="+mj-lt"/>
              </a:rPr>
              <a:t> </a:t>
            </a:r>
            <a:r>
              <a:rPr lang="en-US" sz="1900" dirty="0" err="1">
                <a:solidFill>
                  <a:schemeClr val="tx1"/>
                </a:solidFill>
                <a:latin typeface="+mj-lt"/>
              </a:rPr>
              <a:t>hóa</a:t>
            </a:r>
            <a:r>
              <a:rPr lang="en-US" sz="1900" dirty="0">
                <a:solidFill>
                  <a:schemeClr val="tx1"/>
                </a:solidFill>
                <a:latin typeface="+mj-lt"/>
              </a:rPr>
              <a:t> </a:t>
            </a:r>
            <a:r>
              <a:rPr lang="en-US" sz="1900" dirty="0" err="1">
                <a:solidFill>
                  <a:schemeClr val="tx1"/>
                </a:solidFill>
                <a:latin typeface="+mj-lt"/>
              </a:rPr>
              <a:t>đơn</a:t>
            </a:r>
            <a:r>
              <a:rPr lang="en-US" sz="1900" dirty="0">
                <a:solidFill>
                  <a:schemeClr val="tx1"/>
                </a:solidFill>
                <a:latin typeface="+mj-lt"/>
              </a:rPr>
              <a:t> </a:t>
            </a:r>
            <a:r>
              <a:rPr lang="en-US" sz="1900" dirty="0" err="1">
                <a:solidFill>
                  <a:schemeClr val="tx1"/>
                </a:solidFill>
                <a:latin typeface="+mj-lt"/>
              </a:rPr>
              <a:t>điện</a:t>
            </a:r>
            <a:r>
              <a:rPr lang="en-US" sz="1900" dirty="0">
                <a:solidFill>
                  <a:schemeClr val="tx1"/>
                </a:solidFill>
                <a:latin typeface="+mj-lt"/>
              </a:rPr>
              <a:t> </a:t>
            </a:r>
            <a:r>
              <a:rPr lang="en-US" sz="1900" dirty="0" err="1">
                <a:solidFill>
                  <a:schemeClr val="tx1"/>
                </a:solidFill>
                <a:latin typeface="+mj-lt"/>
              </a:rPr>
              <a:t>tử</a:t>
            </a:r>
            <a:r>
              <a:rPr lang="en-US" sz="1900" dirty="0">
                <a:solidFill>
                  <a:schemeClr val="tx1"/>
                </a:solidFill>
                <a:latin typeface="+mj-lt"/>
              </a:rPr>
              <a:t> </a:t>
            </a:r>
            <a:r>
              <a:rPr lang="en-US" sz="1900" dirty="0" err="1">
                <a:solidFill>
                  <a:schemeClr val="tx1"/>
                </a:solidFill>
                <a:latin typeface="+mj-lt"/>
              </a:rPr>
              <a:t>đặc</a:t>
            </a:r>
            <a:r>
              <a:rPr lang="en-US" sz="1900" dirty="0">
                <a:solidFill>
                  <a:schemeClr val="tx1"/>
                </a:solidFill>
                <a:latin typeface="+mj-lt"/>
              </a:rPr>
              <a:t> </a:t>
            </a:r>
            <a:r>
              <a:rPr lang="en-US" sz="1900" dirty="0" err="1">
                <a:solidFill>
                  <a:schemeClr val="tx1"/>
                </a:solidFill>
                <a:latin typeface="+mj-lt"/>
              </a:rPr>
              <a:t>thù</a:t>
            </a:r>
            <a:r>
              <a:rPr lang="en-US" sz="1900" dirty="0">
                <a:solidFill>
                  <a:schemeClr val="tx1"/>
                </a:solidFill>
                <a:latin typeface="+mj-lt"/>
              </a:rPr>
              <a:t> </a:t>
            </a:r>
            <a:r>
              <a:rPr lang="en-US" sz="1900" dirty="0" err="1">
                <a:solidFill>
                  <a:schemeClr val="tx1"/>
                </a:solidFill>
                <a:latin typeface="+mj-lt"/>
              </a:rPr>
              <a:t>không</a:t>
            </a:r>
            <a:r>
              <a:rPr lang="en-US" sz="1900" dirty="0">
                <a:solidFill>
                  <a:schemeClr val="tx1"/>
                </a:solidFill>
                <a:latin typeface="+mj-lt"/>
              </a:rPr>
              <a:t> </a:t>
            </a:r>
            <a:r>
              <a:rPr lang="en-US" sz="1900" dirty="0" err="1">
                <a:solidFill>
                  <a:schemeClr val="tx1"/>
                </a:solidFill>
                <a:latin typeface="+mj-lt"/>
              </a:rPr>
              <a:t>nhất</a:t>
            </a:r>
            <a:r>
              <a:rPr lang="en-US" sz="1900" dirty="0">
                <a:solidFill>
                  <a:schemeClr val="tx1"/>
                </a:solidFill>
                <a:latin typeface="+mj-lt"/>
              </a:rPr>
              <a:t> </a:t>
            </a:r>
            <a:r>
              <a:rPr lang="en-US" sz="1900" dirty="0" err="1">
                <a:solidFill>
                  <a:schemeClr val="tx1"/>
                </a:solidFill>
                <a:latin typeface="+mj-lt"/>
              </a:rPr>
              <a:t>thiết</a:t>
            </a:r>
            <a:r>
              <a:rPr lang="en-US" sz="1900" dirty="0">
                <a:solidFill>
                  <a:schemeClr val="tx1"/>
                </a:solidFill>
                <a:latin typeface="+mj-lt"/>
              </a:rPr>
              <a:t> </a:t>
            </a:r>
            <a:r>
              <a:rPr lang="en-US" sz="1900" dirty="0" err="1">
                <a:solidFill>
                  <a:schemeClr val="tx1"/>
                </a:solidFill>
                <a:latin typeface="+mj-lt"/>
              </a:rPr>
              <a:t>phải</a:t>
            </a:r>
            <a:r>
              <a:rPr lang="en-US" sz="1900" dirty="0">
                <a:solidFill>
                  <a:schemeClr val="tx1"/>
                </a:solidFill>
                <a:latin typeface="+mj-lt"/>
              </a:rPr>
              <a:t> </a:t>
            </a:r>
            <a:r>
              <a:rPr lang="en-US" sz="1900" dirty="0" err="1">
                <a:solidFill>
                  <a:schemeClr val="tx1"/>
                </a:solidFill>
                <a:latin typeface="+mj-lt"/>
              </a:rPr>
              <a:t>có</a:t>
            </a:r>
            <a:r>
              <a:rPr lang="en-US" sz="1900" dirty="0">
                <a:solidFill>
                  <a:schemeClr val="tx1"/>
                </a:solidFill>
                <a:latin typeface="+mj-lt"/>
              </a:rPr>
              <a:t> </a:t>
            </a:r>
            <a:r>
              <a:rPr lang="en-US" sz="1900" dirty="0" err="1">
                <a:solidFill>
                  <a:schemeClr val="tx1"/>
                </a:solidFill>
                <a:latin typeface="+mj-lt"/>
              </a:rPr>
              <a:t>một</a:t>
            </a:r>
            <a:r>
              <a:rPr lang="en-US" sz="1900" dirty="0">
                <a:solidFill>
                  <a:schemeClr val="tx1"/>
                </a:solidFill>
                <a:latin typeface="+mj-lt"/>
              </a:rPr>
              <a:t> </a:t>
            </a:r>
            <a:r>
              <a:rPr lang="en-US" sz="1900" dirty="0" err="1">
                <a:solidFill>
                  <a:schemeClr val="tx1"/>
                </a:solidFill>
                <a:latin typeface="+mj-lt"/>
              </a:rPr>
              <a:t>số</a:t>
            </a:r>
            <a:r>
              <a:rPr lang="en-US" sz="1900" dirty="0">
                <a:solidFill>
                  <a:schemeClr val="tx1"/>
                </a:solidFill>
                <a:latin typeface="+mj-lt"/>
              </a:rPr>
              <a:t> </a:t>
            </a:r>
            <a:r>
              <a:rPr lang="en-US" sz="1900" dirty="0" err="1">
                <a:solidFill>
                  <a:schemeClr val="tx1"/>
                </a:solidFill>
                <a:latin typeface="+mj-lt"/>
              </a:rPr>
              <a:t>tiêu</a:t>
            </a:r>
            <a:r>
              <a:rPr lang="en-US" sz="1900" dirty="0">
                <a:solidFill>
                  <a:schemeClr val="tx1"/>
                </a:solidFill>
                <a:latin typeface="+mj-lt"/>
              </a:rPr>
              <a:t> </a:t>
            </a:r>
            <a:r>
              <a:rPr lang="en-US" sz="1900" dirty="0" err="1">
                <a:solidFill>
                  <a:schemeClr val="tx1"/>
                </a:solidFill>
                <a:latin typeface="+mj-lt"/>
              </a:rPr>
              <a:t>thức</a:t>
            </a:r>
            <a:r>
              <a:rPr lang="en-US" sz="1900" dirty="0">
                <a:solidFill>
                  <a:schemeClr val="tx1"/>
                </a:solidFill>
                <a:latin typeface="+mj-lt"/>
              </a:rPr>
              <a:t> do </a:t>
            </a:r>
            <a:r>
              <a:rPr lang="en-US" sz="1900" dirty="0" err="1">
                <a:solidFill>
                  <a:schemeClr val="tx1"/>
                </a:solidFill>
                <a:latin typeface="+mj-lt"/>
              </a:rPr>
              <a:t>các</a:t>
            </a:r>
            <a:r>
              <a:rPr lang="en-US" sz="1900" dirty="0">
                <a:solidFill>
                  <a:schemeClr val="tx1"/>
                </a:solidFill>
                <a:latin typeface="+mj-lt"/>
              </a:rPr>
              <a:t> </a:t>
            </a:r>
            <a:r>
              <a:rPr lang="en-US" sz="1900" dirty="0" err="1">
                <a:solidFill>
                  <a:schemeClr val="tx1"/>
                </a:solidFill>
                <a:latin typeface="+mj-lt"/>
              </a:rPr>
              <a:t>doanh</a:t>
            </a:r>
            <a:r>
              <a:rPr lang="en-US" sz="1900" dirty="0">
                <a:solidFill>
                  <a:schemeClr val="tx1"/>
                </a:solidFill>
                <a:latin typeface="+mj-lt"/>
              </a:rPr>
              <a:t> </a:t>
            </a:r>
            <a:r>
              <a:rPr lang="en-US" sz="1900" dirty="0" err="1">
                <a:solidFill>
                  <a:schemeClr val="tx1"/>
                </a:solidFill>
                <a:latin typeface="+mj-lt"/>
              </a:rPr>
              <a:t>nghiệp</a:t>
            </a:r>
            <a:r>
              <a:rPr lang="en-US" sz="1900" dirty="0">
                <a:solidFill>
                  <a:schemeClr val="tx1"/>
                </a:solidFill>
                <a:latin typeface="+mj-lt"/>
              </a:rPr>
              <a:t>, </a:t>
            </a:r>
            <a:r>
              <a:rPr lang="en-US" sz="1900" dirty="0" err="1">
                <a:solidFill>
                  <a:schemeClr val="tx1"/>
                </a:solidFill>
                <a:latin typeface="+mj-lt"/>
              </a:rPr>
              <a:t>tô</a:t>
            </a:r>
            <a:r>
              <a:rPr lang="en-US" sz="1900" dirty="0">
                <a:solidFill>
                  <a:schemeClr val="tx1"/>
                </a:solidFill>
                <a:latin typeface="+mj-lt"/>
              </a:rPr>
              <a:t>̉ </a:t>
            </a:r>
            <a:r>
              <a:rPr lang="en-US" sz="1900" dirty="0" err="1">
                <a:solidFill>
                  <a:schemeClr val="tx1"/>
                </a:solidFill>
                <a:latin typeface="+mj-lt"/>
              </a:rPr>
              <a:t>chức</a:t>
            </a:r>
            <a:r>
              <a:rPr lang="en-US" sz="1900" dirty="0">
                <a:solidFill>
                  <a:schemeClr val="tx1"/>
                </a:solidFill>
                <a:latin typeface="+mj-lt"/>
              </a:rPr>
              <a:t> </a:t>
            </a:r>
            <a:r>
              <a:rPr lang="en-US" sz="1900" dirty="0" err="1">
                <a:solidFill>
                  <a:schemeClr val="tx1"/>
                </a:solidFill>
                <a:latin typeface="+mj-lt"/>
              </a:rPr>
              <a:t>đăng</a:t>
            </a:r>
            <a:r>
              <a:rPr lang="en-US" sz="1900" dirty="0">
                <a:solidFill>
                  <a:schemeClr val="tx1"/>
                </a:solidFill>
                <a:latin typeface="+mj-lt"/>
              </a:rPr>
              <a:t> </a:t>
            </a:r>
            <a:r>
              <a:rPr lang="en-US" sz="1900" dirty="0" err="1">
                <a:solidFill>
                  <a:schemeClr val="tx1"/>
                </a:solidFill>
                <a:latin typeface="+mj-lt"/>
              </a:rPr>
              <a:t>ký</a:t>
            </a:r>
            <a:r>
              <a:rPr lang="en-US" sz="1900" dirty="0">
                <a:solidFill>
                  <a:schemeClr val="tx1"/>
                </a:solidFill>
                <a:latin typeface="+mj-lt"/>
              </a:rPr>
              <a:t> </a:t>
            </a:r>
            <a:r>
              <a:rPr lang="en-US" sz="1900" dirty="0" err="1">
                <a:solidFill>
                  <a:schemeClr val="tx1"/>
                </a:solidFill>
                <a:latin typeface="+mj-lt"/>
              </a:rPr>
              <a:t>sử</a:t>
            </a:r>
            <a:r>
              <a:rPr lang="en-US" sz="1900" dirty="0">
                <a:solidFill>
                  <a:schemeClr val="tx1"/>
                </a:solidFill>
                <a:latin typeface="+mj-lt"/>
              </a:rPr>
              <a:t> </a:t>
            </a:r>
            <a:r>
              <a:rPr lang="en-US" sz="1900" dirty="0" err="1">
                <a:solidFill>
                  <a:schemeClr val="tx1"/>
                </a:solidFill>
                <a:latin typeface="+mj-lt"/>
              </a:rPr>
              <a:t>dụng</a:t>
            </a:r>
            <a:r>
              <a:rPr lang="en-US" sz="1900" dirty="0">
                <a:solidFill>
                  <a:schemeClr val="tx1"/>
                </a:solidFill>
                <a:latin typeface="+mj-lt"/>
              </a:rPr>
              <a:t>;</a:t>
            </a:r>
            <a:endParaRPr lang="vi-VN" sz="1900" dirty="0">
              <a:solidFill>
                <a:schemeClr val="tx1"/>
              </a:solidFill>
              <a:latin typeface="+mj-lt"/>
            </a:endParaRPr>
          </a:p>
          <a:p>
            <a:pPr marL="0" indent="0" algn="just">
              <a:spcBef>
                <a:spcPts val="0"/>
              </a:spcBef>
              <a:buNone/>
            </a:pPr>
            <a:r>
              <a:rPr lang="en-US" sz="1900" dirty="0">
                <a:solidFill>
                  <a:schemeClr val="tx1"/>
                </a:solidFill>
                <a:latin typeface="+mj-lt"/>
              </a:rPr>
              <a:t>	+ </a:t>
            </a:r>
            <a:r>
              <a:rPr lang="en-US" sz="1900" dirty="0" err="1">
                <a:solidFill>
                  <a:schemeClr val="tx1"/>
                </a:solidFill>
                <a:latin typeface="+mj-lt"/>
              </a:rPr>
              <a:t>Chữ</a:t>
            </a:r>
            <a:r>
              <a:rPr lang="en-US" sz="1900" dirty="0">
                <a:solidFill>
                  <a:schemeClr val="tx1"/>
                </a:solidFill>
                <a:latin typeface="+mj-lt"/>
              </a:rPr>
              <a:t> </a:t>
            </a:r>
            <a:r>
              <a:rPr lang="en-US" sz="1900" b="1" dirty="0">
                <a:solidFill>
                  <a:schemeClr val="tx1"/>
                </a:solidFill>
                <a:latin typeface="+mj-lt"/>
              </a:rPr>
              <a:t>L</a:t>
            </a:r>
            <a:r>
              <a:rPr lang="en-US" sz="1900" dirty="0">
                <a:solidFill>
                  <a:schemeClr val="tx1"/>
                </a:solidFill>
                <a:latin typeface="+mj-lt"/>
              </a:rPr>
              <a:t>: </a:t>
            </a:r>
            <a:r>
              <a:rPr lang="en-US" sz="1900" dirty="0" err="1">
                <a:solidFill>
                  <a:schemeClr val="tx1"/>
                </a:solidFill>
                <a:latin typeface="+mj-lt"/>
              </a:rPr>
              <a:t>Áp</a:t>
            </a:r>
            <a:r>
              <a:rPr lang="en-US" sz="1900" dirty="0">
                <a:solidFill>
                  <a:schemeClr val="tx1"/>
                </a:solidFill>
                <a:latin typeface="+mj-lt"/>
              </a:rPr>
              <a:t> </a:t>
            </a:r>
            <a:r>
              <a:rPr lang="en-US" sz="1900" dirty="0" err="1">
                <a:solidFill>
                  <a:schemeClr val="tx1"/>
                </a:solidFill>
                <a:latin typeface="+mj-lt"/>
              </a:rPr>
              <a:t>dụng</a:t>
            </a:r>
            <a:r>
              <a:rPr lang="en-US" sz="1900" dirty="0">
                <a:solidFill>
                  <a:schemeClr val="tx1"/>
                </a:solidFill>
                <a:latin typeface="+mj-lt"/>
              </a:rPr>
              <a:t> </a:t>
            </a:r>
            <a:r>
              <a:rPr lang="en-US" sz="1900" dirty="0" err="1">
                <a:solidFill>
                  <a:schemeClr val="tx1"/>
                </a:solidFill>
                <a:latin typeface="+mj-lt"/>
              </a:rPr>
              <a:t>đối</a:t>
            </a:r>
            <a:r>
              <a:rPr lang="en-US" sz="1900" dirty="0">
                <a:solidFill>
                  <a:schemeClr val="tx1"/>
                </a:solidFill>
                <a:latin typeface="+mj-lt"/>
              </a:rPr>
              <a:t> </a:t>
            </a:r>
            <a:r>
              <a:rPr lang="en-US" sz="1900" dirty="0" err="1">
                <a:solidFill>
                  <a:schemeClr val="tx1"/>
                </a:solidFill>
                <a:latin typeface="+mj-lt"/>
              </a:rPr>
              <a:t>với</a:t>
            </a:r>
            <a:r>
              <a:rPr lang="en-US" sz="1900" dirty="0">
                <a:solidFill>
                  <a:schemeClr val="tx1"/>
                </a:solidFill>
                <a:latin typeface="+mj-lt"/>
              </a:rPr>
              <a:t> </a:t>
            </a:r>
            <a:r>
              <a:rPr lang="en-US" sz="1900" dirty="0" err="1">
                <a:solidFill>
                  <a:schemeClr val="tx1"/>
                </a:solidFill>
                <a:latin typeface="+mj-lt"/>
              </a:rPr>
              <a:t>hóa</a:t>
            </a:r>
            <a:r>
              <a:rPr lang="en-US" sz="1900" dirty="0">
                <a:solidFill>
                  <a:schemeClr val="tx1"/>
                </a:solidFill>
                <a:latin typeface="+mj-lt"/>
              </a:rPr>
              <a:t> </a:t>
            </a:r>
            <a:r>
              <a:rPr lang="en-US" sz="1900" dirty="0" err="1">
                <a:solidFill>
                  <a:schemeClr val="tx1"/>
                </a:solidFill>
                <a:latin typeface="+mj-lt"/>
              </a:rPr>
              <a:t>đơn</a:t>
            </a:r>
            <a:r>
              <a:rPr lang="en-US" sz="1900" dirty="0">
                <a:solidFill>
                  <a:schemeClr val="tx1"/>
                </a:solidFill>
                <a:latin typeface="+mj-lt"/>
              </a:rPr>
              <a:t> </a:t>
            </a:r>
            <a:r>
              <a:rPr lang="en-US" sz="1900" dirty="0" err="1">
                <a:solidFill>
                  <a:schemeClr val="tx1"/>
                </a:solidFill>
                <a:latin typeface="+mj-lt"/>
              </a:rPr>
              <a:t>điện</a:t>
            </a:r>
            <a:r>
              <a:rPr lang="en-US" sz="1900" dirty="0">
                <a:solidFill>
                  <a:schemeClr val="tx1"/>
                </a:solidFill>
                <a:latin typeface="+mj-lt"/>
              </a:rPr>
              <a:t> </a:t>
            </a:r>
            <a:r>
              <a:rPr lang="en-US" sz="1900" dirty="0" err="1">
                <a:solidFill>
                  <a:schemeClr val="tx1"/>
                </a:solidFill>
                <a:latin typeface="+mj-lt"/>
              </a:rPr>
              <a:t>tư</a:t>
            </a:r>
            <a:r>
              <a:rPr lang="en-US" sz="1900" dirty="0">
                <a:solidFill>
                  <a:schemeClr val="tx1"/>
                </a:solidFill>
                <a:latin typeface="+mj-lt"/>
              </a:rPr>
              <a:t>̉ </a:t>
            </a:r>
            <a:r>
              <a:rPr lang="en-US" sz="1900" dirty="0" err="1">
                <a:solidFill>
                  <a:schemeClr val="tx1"/>
                </a:solidFill>
                <a:latin typeface="+mj-lt"/>
              </a:rPr>
              <a:t>của</a:t>
            </a:r>
            <a:r>
              <a:rPr lang="en-US" sz="1900" dirty="0">
                <a:solidFill>
                  <a:schemeClr val="tx1"/>
                </a:solidFill>
                <a:latin typeface="+mj-lt"/>
              </a:rPr>
              <a:t> </a:t>
            </a:r>
            <a:r>
              <a:rPr lang="en-US" sz="1900" dirty="0" err="1">
                <a:solidFill>
                  <a:schemeClr val="tx1"/>
                </a:solidFill>
                <a:latin typeface="+mj-lt"/>
              </a:rPr>
              <a:t>cơ</a:t>
            </a:r>
            <a:r>
              <a:rPr lang="en-US" sz="1900" dirty="0">
                <a:solidFill>
                  <a:schemeClr val="tx1"/>
                </a:solidFill>
                <a:latin typeface="+mj-lt"/>
              </a:rPr>
              <a:t> </a:t>
            </a:r>
            <a:r>
              <a:rPr lang="en-US" sz="1900" dirty="0" err="1">
                <a:solidFill>
                  <a:schemeClr val="tx1"/>
                </a:solidFill>
                <a:latin typeface="+mj-lt"/>
              </a:rPr>
              <a:t>quan</a:t>
            </a:r>
            <a:r>
              <a:rPr lang="en-US" sz="1900" dirty="0">
                <a:solidFill>
                  <a:schemeClr val="tx1"/>
                </a:solidFill>
                <a:latin typeface="+mj-lt"/>
              </a:rPr>
              <a:t> </a:t>
            </a:r>
            <a:r>
              <a:rPr lang="en-US" sz="1900" dirty="0" err="1">
                <a:solidFill>
                  <a:schemeClr val="tx1"/>
                </a:solidFill>
                <a:latin typeface="+mj-lt"/>
              </a:rPr>
              <a:t>thuế</a:t>
            </a:r>
            <a:r>
              <a:rPr lang="en-US" sz="1900" dirty="0">
                <a:solidFill>
                  <a:schemeClr val="tx1"/>
                </a:solidFill>
                <a:latin typeface="+mj-lt"/>
              </a:rPr>
              <a:t> </a:t>
            </a:r>
            <a:r>
              <a:rPr lang="en-US" sz="1900" dirty="0" err="1">
                <a:solidFill>
                  <a:schemeClr val="tx1"/>
                </a:solidFill>
                <a:latin typeface="+mj-lt"/>
              </a:rPr>
              <a:t>cấp</a:t>
            </a:r>
            <a:r>
              <a:rPr lang="en-US" sz="1900" dirty="0">
                <a:solidFill>
                  <a:schemeClr val="tx1"/>
                </a:solidFill>
                <a:latin typeface="+mj-lt"/>
              </a:rPr>
              <a:t> </a:t>
            </a:r>
            <a:r>
              <a:rPr lang="en-US" sz="1900" dirty="0" err="1">
                <a:solidFill>
                  <a:schemeClr val="tx1"/>
                </a:solidFill>
                <a:latin typeface="+mj-lt"/>
              </a:rPr>
              <a:t>theo</a:t>
            </a:r>
            <a:r>
              <a:rPr lang="en-US" sz="1900" dirty="0">
                <a:solidFill>
                  <a:schemeClr val="tx1"/>
                </a:solidFill>
                <a:latin typeface="+mj-lt"/>
              </a:rPr>
              <a:t> </a:t>
            </a:r>
            <a:r>
              <a:rPr lang="en-US" sz="1900" dirty="0" err="1">
                <a:solidFill>
                  <a:schemeClr val="tx1"/>
                </a:solidFill>
                <a:latin typeface="+mj-lt"/>
              </a:rPr>
              <a:t>từng</a:t>
            </a:r>
            <a:r>
              <a:rPr lang="en-US" sz="1900" dirty="0">
                <a:solidFill>
                  <a:schemeClr val="tx1"/>
                </a:solidFill>
                <a:latin typeface="+mj-lt"/>
              </a:rPr>
              <a:t> </a:t>
            </a:r>
            <a:r>
              <a:rPr lang="en-US" sz="1900" dirty="0" err="1">
                <a:solidFill>
                  <a:schemeClr val="tx1"/>
                </a:solidFill>
                <a:latin typeface="+mj-lt"/>
              </a:rPr>
              <a:t>lần</a:t>
            </a:r>
            <a:r>
              <a:rPr lang="en-US" sz="1900" dirty="0">
                <a:solidFill>
                  <a:schemeClr val="tx1"/>
                </a:solidFill>
                <a:latin typeface="+mj-lt"/>
              </a:rPr>
              <a:t> </a:t>
            </a:r>
            <a:r>
              <a:rPr lang="en-US" sz="1900" dirty="0" err="1">
                <a:solidFill>
                  <a:schemeClr val="tx1"/>
                </a:solidFill>
                <a:latin typeface="+mj-lt"/>
              </a:rPr>
              <a:t>phát</a:t>
            </a:r>
            <a:r>
              <a:rPr lang="en-US" sz="1900" dirty="0">
                <a:solidFill>
                  <a:schemeClr val="tx1"/>
                </a:solidFill>
                <a:latin typeface="+mj-lt"/>
              </a:rPr>
              <a:t> </a:t>
            </a:r>
            <a:r>
              <a:rPr lang="en-US" sz="1900" dirty="0" err="1">
                <a:solidFill>
                  <a:schemeClr val="tx1"/>
                </a:solidFill>
                <a:latin typeface="+mj-lt"/>
              </a:rPr>
              <a:t>sinh</a:t>
            </a:r>
            <a:r>
              <a:rPr lang="en-US" sz="1900" dirty="0">
                <a:solidFill>
                  <a:schemeClr val="tx1"/>
                </a:solidFill>
                <a:latin typeface="+mj-lt"/>
              </a:rPr>
              <a:t>;</a:t>
            </a:r>
            <a:endParaRPr lang="vi-VN" sz="1900" dirty="0">
              <a:solidFill>
                <a:schemeClr val="tx1"/>
              </a:solidFill>
              <a:latin typeface="+mj-lt"/>
            </a:endParaRPr>
          </a:p>
          <a:p>
            <a:pPr marL="0" indent="0" algn="just">
              <a:spcBef>
                <a:spcPts val="0"/>
              </a:spcBef>
              <a:buNone/>
            </a:pPr>
            <a:r>
              <a:rPr lang="en-US" sz="1900" dirty="0">
                <a:solidFill>
                  <a:schemeClr val="tx1"/>
                </a:solidFill>
                <a:latin typeface="+mj-lt"/>
              </a:rPr>
              <a:t>	+ </a:t>
            </a:r>
            <a:r>
              <a:rPr lang="en-US" sz="1900" dirty="0" err="1">
                <a:solidFill>
                  <a:schemeClr val="tx1"/>
                </a:solidFill>
                <a:latin typeface="+mj-lt"/>
              </a:rPr>
              <a:t>Chữ</a:t>
            </a:r>
            <a:r>
              <a:rPr lang="en-US" sz="1900" dirty="0">
                <a:solidFill>
                  <a:schemeClr val="tx1"/>
                </a:solidFill>
                <a:latin typeface="+mj-lt"/>
              </a:rPr>
              <a:t> </a:t>
            </a:r>
            <a:r>
              <a:rPr lang="en-US" sz="1900" b="1" dirty="0">
                <a:solidFill>
                  <a:schemeClr val="tx1"/>
                </a:solidFill>
                <a:latin typeface="+mj-lt"/>
              </a:rPr>
              <a:t>M</a:t>
            </a:r>
            <a:r>
              <a:rPr lang="en-US" sz="1900" dirty="0">
                <a:solidFill>
                  <a:schemeClr val="tx1"/>
                </a:solidFill>
                <a:latin typeface="+mj-lt"/>
              </a:rPr>
              <a:t>: </a:t>
            </a:r>
            <a:r>
              <a:rPr lang="en-US" sz="1900" dirty="0" err="1">
                <a:solidFill>
                  <a:schemeClr val="tx1"/>
                </a:solidFill>
                <a:latin typeface="+mj-lt"/>
              </a:rPr>
              <a:t>Áp</a:t>
            </a:r>
            <a:r>
              <a:rPr lang="en-US" sz="1900" dirty="0">
                <a:solidFill>
                  <a:schemeClr val="tx1"/>
                </a:solidFill>
                <a:latin typeface="+mj-lt"/>
              </a:rPr>
              <a:t> </a:t>
            </a:r>
            <a:r>
              <a:rPr lang="en-US" sz="1900" dirty="0" err="1">
                <a:solidFill>
                  <a:schemeClr val="tx1"/>
                </a:solidFill>
                <a:latin typeface="+mj-lt"/>
              </a:rPr>
              <a:t>dụng</a:t>
            </a:r>
            <a:r>
              <a:rPr lang="en-US" sz="1900" dirty="0">
                <a:solidFill>
                  <a:schemeClr val="tx1"/>
                </a:solidFill>
                <a:latin typeface="+mj-lt"/>
              </a:rPr>
              <a:t> </a:t>
            </a:r>
            <a:r>
              <a:rPr lang="en-US" sz="1900" dirty="0" err="1">
                <a:solidFill>
                  <a:schemeClr val="tx1"/>
                </a:solidFill>
                <a:latin typeface="+mj-lt"/>
              </a:rPr>
              <a:t>đối</a:t>
            </a:r>
            <a:r>
              <a:rPr lang="en-US" sz="1900" dirty="0">
                <a:solidFill>
                  <a:schemeClr val="tx1"/>
                </a:solidFill>
                <a:latin typeface="+mj-lt"/>
              </a:rPr>
              <a:t> </a:t>
            </a:r>
            <a:r>
              <a:rPr lang="en-US" sz="1900" dirty="0" err="1">
                <a:solidFill>
                  <a:schemeClr val="tx1"/>
                </a:solidFill>
                <a:latin typeface="+mj-lt"/>
              </a:rPr>
              <a:t>với</a:t>
            </a:r>
            <a:r>
              <a:rPr lang="en-US" sz="1900" dirty="0">
                <a:solidFill>
                  <a:schemeClr val="tx1"/>
                </a:solidFill>
                <a:latin typeface="+mj-lt"/>
              </a:rPr>
              <a:t> </a:t>
            </a:r>
            <a:r>
              <a:rPr lang="en-US" sz="1900" dirty="0" err="1">
                <a:solidFill>
                  <a:schemeClr val="tx1"/>
                </a:solidFill>
                <a:latin typeface="+mj-lt"/>
              </a:rPr>
              <a:t>hóa</a:t>
            </a:r>
            <a:r>
              <a:rPr lang="en-US" sz="1900" dirty="0">
                <a:solidFill>
                  <a:schemeClr val="tx1"/>
                </a:solidFill>
                <a:latin typeface="+mj-lt"/>
              </a:rPr>
              <a:t> </a:t>
            </a:r>
            <a:r>
              <a:rPr lang="en-US" sz="1900" dirty="0" err="1">
                <a:solidFill>
                  <a:schemeClr val="tx1"/>
                </a:solidFill>
                <a:latin typeface="+mj-lt"/>
              </a:rPr>
              <a:t>đơn</a:t>
            </a:r>
            <a:r>
              <a:rPr lang="en-US" sz="1900" dirty="0">
                <a:solidFill>
                  <a:schemeClr val="tx1"/>
                </a:solidFill>
                <a:latin typeface="+mj-lt"/>
              </a:rPr>
              <a:t> </a:t>
            </a:r>
            <a:r>
              <a:rPr lang="en-US" sz="1900" dirty="0" err="1">
                <a:solidFill>
                  <a:schemeClr val="tx1"/>
                </a:solidFill>
                <a:latin typeface="+mj-lt"/>
              </a:rPr>
              <a:t>điện</a:t>
            </a:r>
            <a:r>
              <a:rPr lang="en-US" sz="1900" dirty="0">
                <a:solidFill>
                  <a:schemeClr val="tx1"/>
                </a:solidFill>
                <a:latin typeface="+mj-lt"/>
              </a:rPr>
              <a:t> </a:t>
            </a:r>
            <a:r>
              <a:rPr lang="en-US" sz="1900" dirty="0" err="1">
                <a:solidFill>
                  <a:schemeClr val="tx1"/>
                </a:solidFill>
                <a:latin typeface="+mj-lt"/>
              </a:rPr>
              <a:t>tư</a:t>
            </a:r>
            <a:r>
              <a:rPr lang="en-US" sz="1900" dirty="0">
                <a:solidFill>
                  <a:schemeClr val="tx1"/>
                </a:solidFill>
                <a:latin typeface="+mj-lt"/>
              </a:rPr>
              <a:t>̉ </a:t>
            </a:r>
            <a:r>
              <a:rPr lang="en-US" sz="1900" dirty="0" err="1">
                <a:solidFill>
                  <a:schemeClr val="tx1"/>
                </a:solidFill>
                <a:latin typeface="+mj-lt"/>
              </a:rPr>
              <a:t>được</a:t>
            </a:r>
            <a:r>
              <a:rPr lang="en-US" sz="1900" dirty="0">
                <a:solidFill>
                  <a:schemeClr val="tx1"/>
                </a:solidFill>
                <a:latin typeface="+mj-lt"/>
              </a:rPr>
              <a:t> </a:t>
            </a:r>
            <a:r>
              <a:rPr lang="en-US" sz="1900" dirty="0" err="1">
                <a:solidFill>
                  <a:schemeClr val="tx1"/>
                </a:solidFill>
                <a:latin typeface="+mj-lt"/>
              </a:rPr>
              <a:t>khởi</a:t>
            </a:r>
            <a:r>
              <a:rPr lang="en-US" sz="1900" dirty="0">
                <a:solidFill>
                  <a:schemeClr val="tx1"/>
                </a:solidFill>
                <a:latin typeface="+mj-lt"/>
              </a:rPr>
              <a:t> </a:t>
            </a:r>
            <a:r>
              <a:rPr lang="en-US" sz="1900" dirty="0" err="1">
                <a:solidFill>
                  <a:schemeClr val="tx1"/>
                </a:solidFill>
                <a:latin typeface="+mj-lt"/>
              </a:rPr>
              <a:t>tạo</a:t>
            </a:r>
            <a:r>
              <a:rPr lang="en-US" sz="1900" dirty="0">
                <a:solidFill>
                  <a:schemeClr val="tx1"/>
                </a:solidFill>
                <a:latin typeface="+mj-lt"/>
              </a:rPr>
              <a:t> </a:t>
            </a:r>
            <a:r>
              <a:rPr lang="en-US" sz="1900" dirty="0" err="1">
                <a:solidFill>
                  <a:schemeClr val="tx1"/>
                </a:solidFill>
                <a:latin typeface="+mj-lt"/>
              </a:rPr>
              <a:t>từ</a:t>
            </a:r>
            <a:r>
              <a:rPr lang="en-US" sz="1900" dirty="0">
                <a:solidFill>
                  <a:schemeClr val="tx1"/>
                </a:solidFill>
                <a:latin typeface="+mj-lt"/>
              </a:rPr>
              <a:t> </a:t>
            </a:r>
            <a:r>
              <a:rPr lang="en-US" sz="1900" dirty="0" err="1">
                <a:solidFill>
                  <a:schemeClr val="tx1"/>
                </a:solidFill>
                <a:latin typeface="+mj-lt"/>
              </a:rPr>
              <a:t>máy</a:t>
            </a:r>
            <a:r>
              <a:rPr lang="en-US" sz="1900" dirty="0">
                <a:solidFill>
                  <a:schemeClr val="tx1"/>
                </a:solidFill>
                <a:latin typeface="+mj-lt"/>
              </a:rPr>
              <a:t> </a:t>
            </a:r>
            <a:r>
              <a:rPr lang="en-US" sz="1900" dirty="0" err="1">
                <a:solidFill>
                  <a:schemeClr val="tx1"/>
                </a:solidFill>
                <a:latin typeface="+mj-lt"/>
              </a:rPr>
              <a:t>tính</a:t>
            </a:r>
            <a:r>
              <a:rPr lang="en-US" sz="1900" dirty="0">
                <a:solidFill>
                  <a:schemeClr val="tx1"/>
                </a:solidFill>
                <a:latin typeface="+mj-lt"/>
              </a:rPr>
              <a:t> </a:t>
            </a:r>
            <a:r>
              <a:rPr lang="en-US" sz="1900" dirty="0" err="1">
                <a:solidFill>
                  <a:schemeClr val="tx1"/>
                </a:solidFill>
                <a:latin typeface="+mj-lt"/>
              </a:rPr>
              <a:t>tiền</a:t>
            </a:r>
            <a:r>
              <a:rPr lang="en-US" sz="1900" dirty="0">
                <a:solidFill>
                  <a:schemeClr val="tx1"/>
                </a:solidFill>
                <a:latin typeface="+mj-lt"/>
              </a:rPr>
              <a:t>;</a:t>
            </a:r>
            <a:endParaRPr lang="vi-VN" sz="1900" dirty="0">
              <a:solidFill>
                <a:schemeClr val="tx1"/>
              </a:solidFill>
              <a:latin typeface="+mj-lt"/>
            </a:endParaRPr>
          </a:p>
          <a:p>
            <a:pPr marL="0" indent="0" algn="just">
              <a:spcBef>
                <a:spcPts val="0"/>
              </a:spcBef>
              <a:buNone/>
            </a:pPr>
            <a:r>
              <a:rPr lang="en-US" sz="1900" dirty="0">
                <a:solidFill>
                  <a:schemeClr val="tx1"/>
                </a:solidFill>
                <a:latin typeface="+mj-lt"/>
              </a:rPr>
              <a:t>	+ </a:t>
            </a:r>
            <a:r>
              <a:rPr lang="en-US" sz="1900" dirty="0" err="1">
                <a:solidFill>
                  <a:schemeClr val="tx1"/>
                </a:solidFill>
                <a:latin typeface="+mj-lt"/>
              </a:rPr>
              <a:t>Chữ</a:t>
            </a:r>
            <a:r>
              <a:rPr lang="en-US" sz="1900" dirty="0">
                <a:solidFill>
                  <a:schemeClr val="tx1"/>
                </a:solidFill>
                <a:latin typeface="+mj-lt"/>
              </a:rPr>
              <a:t> </a:t>
            </a:r>
            <a:r>
              <a:rPr lang="en-US" sz="1900" b="1" dirty="0">
                <a:solidFill>
                  <a:schemeClr val="tx1"/>
                </a:solidFill>
                <a:latin typeface="+mj-lt"/>
              </a:rPr>
              <a:t>N</a:t>
            </a:r>
            <a:r>
              <a:rPr lang="en-US" sz="1900" dirty="0">
                <a:solidFill>
                  <a:schemeClr val="tx1"/>
                </a:solidFill>
                <a:latin typeface="+mj-lt"/>
              </a:rPr>
              <a:t>: </a:t>
            </a:r>
            <a:r>
              <a:rPr lang="en-US" sz="1900" dirty="0" err="1">
                <a:solidFill>
                  <a:schemeClr val="tx1"/>
                </a:solidFill>
                <a:latin typeface="+mj-lt"/>
              </a:rPr>
              <a:t>Áp</a:t>
            </a:r>
            <a:r>
              <a:rPr lang="en-US" sz="1900" dirty="0">
                <a:solidFill>
                  <a:schemeClr val="tx1"/>
                </a:solidFill>
                <a:latin typeface="+mj-lt"/>
              </a:rPr>
              <a:t> </a:t>
            </a:r>
            <a:r>
              <a:rPr lang="en-US" sz="1900" dirty="0" err="1">
                <a:solidFill>
                  <a:schemeClr val="tx1"/>
                </a:solidFill>
                <a:latin typeface="+mj-lt"/>
              </a:rPr>
              <a:t>dụng</a:t>
            </a:r>
            <a:r>
              <a:rPr lang="en-US" sz="1900" dirty="0">
                <a:solidFill>
                  <a:schemeClr val="tx1"/>
                </a:solidFill>
                <a:latin typeface="+mj-lt"/>
              </a:rPr>
              <a:t> </a:t>
            </a:r>
            <a:r>
              <a:rPr lang="en-US" sz="1900" dirty="0" err="1">
                <a:solidFill>
                  <a:schemeClr val="tx1"/>
                </a:solidFill>
                <a:latin typeface="+mj-lt"/>
              </a:rPr>
              <a:t>đối</a:t>
            </a:r>
            <a:r>
              <a:rPr lang="en-US" sz="1900" dirty="0">
                <a:solidFill>
                  <a:schemeClr val="tx1"/>
                </a:solidFill>
                <a:latin typeface="+mj-lt"/>
              </a:rPr>
              <a:t> </a:t>
            </a:r>
            <a:r>
              <a:rPr lang="en-US" sz="1900" dirty="0" err="1">
                <a:solidFill>
                  <a:schemeClr val="tx1"/>
                </a:solidFill>
                <a:latin typeface="+mj-lt"/>
              </a:rPr>
              <a:t>với</a:t>
            </a:r>
            <a:r>
              <a:rPr lang="en-US" sz="1900" dirty="0">
                <a:solidFill>
                  <a:schemeClr val="tx1"/>
                </a:solidFill>
                <a:latin typeface="+mj-lt"/>
              </a:rPr>
              <a:t> </a:t>
            </a:r>
            <a:r>
              <a:rPr lang="en-US" sz="1900" dirty="0" err="1">
                <a:solidFill>
                  <a:schemeClr val="tx1"/>
                </a:solidFill>
                <a:latin typeface="+mj-lt"/>
              </a:rPr>
              <a:t>phiếu</a:t>
            </a:r>
            <a:r>
              <a:rPr lang="en-US" sz="1900" dirty="0">
                <a:solidFill>
                  <a:schemeClr val="tx1"/>
                </a:solidFill>
                <a:latin typeface="+mj-lt"/>
              </a:rPr>
              <a:t> </a:t>
            </a:r>
            <a:r>
              <a:rPr lang="en-US" sz="1900" dirty="0" err="1">
                <a:solidFill>
                  <a:schemeClr val="tx1"/>
                </a:solidFill>
                <a:latin typeface="+mj-lt"/>
              </a:rPr>
              <a:t>xuất</a:t>
            </a:r>
            <a:r>
              <a:rPr lang="en-US" sz="1900" dirty="0">
                <a:solidFill>
                  <a:schemeClr val="tx1"/>
                </a:solidFill>
                <a:latin typeface="+mj-lt"/>
              </a:rPr>
              <a:t> </a:t>
            </a:r>
            <a:r>
              <a:rPr lang="en-US" sz="1900" dirty="0" err="1">
                <a:solidFill>
                  <a:schemeClr val="tx1"/>
                </a:solidFill>
                <a:latin typeface="+mj-lt"/>
              </a:rPr>
              <a:t>kho</a:t>
            </a:r>
            <a:r>
              <a:rPr lang="en-US" sz="1900" dirty="0">
                <a:solidFill>
                  <a:schemeClr val="tx1"/>
                </a:solidFill>
                <a:latin typeface="+mj-lt"/>
              </a:rPr>
              <a:t> </a:t>
            </a:r>
            <a:r>
              <a:rPr lang="en-US" sz="1900" dirty="0" err="1">
                <a:solidFill>
                  <a:schemeClr val="tx1"/>
                </a:solidFill>
                <a:latin typeface="+mj-lt"/>
              </a:rPr>
              <a:t>kiêm</a:t>
            </a:r>
            <a:r>
              <a:rPr lang="en-US" sz="1900" dirty="0">
                <a:solidFill>
                  <a:schemeClr val="tx1"/>
                </a:solidFill>
                <a:latin typeface="+mj-lt"/>
              </a:rPr>
              <a:t> </a:t>
            </a:r>
            <a:r>
              <a:rPr lang="en-US" sz="1900" dirty="0" err="1">
                <a:solidFill>
                  <a:schemeClr val="tx1"/>
                </a:solidFill>
                <a:latin typeface="+mj-lt"/>
              </a:rPr>
              <a:t>vận</a:t>
            </a:r>
            <a:r>
              <a:rPr lang="en-US" sz="1900" dirty="0">
                <a:solidFill>
                  <a:schemeClr val="tx1"/>
                </a:solidFill>
                <a:latin typeface="+mj-lt"/>
              </a:rPr>
              <a:t> </a:t>
            </a:r>
            <a:r>
              <a:rPr lang="en-US" sz="1900" dirty="0" err="1">
                <a:solidFill>
                  <a:schemeClr val="tx1"/>
                </a:solidFill>
                <a:latin typeface="+mj-lt"/>
              </a:rPr>
              <a:t>chuyển</a:t>
            </a:r>
            <a:r>
              <a:rPr lang="en-US" sz="1900" dirty="0">
                <a:solidFill>
                  <a:schemeClr val="tx1"/>
                </a:solidFill>
                <a:latin typeface="+mj-lt"/>
              </a:rPr>
              <a:t> </a:t>
            </a:r>
            <a:r>
              <a:rPr lang="en-US" sz="1900" dirty="0" err="1">
                <a:solidFill>
                  <a:schemeClr val="tx1"/>
                </a:solidFill>
                <a:latin typeface="+mj-lt"/>
              </a:rPr>
              <a:t>nội</a:t>
            </a:r>
            <a:r>
              <a:rPr lang="en-US" sz="1900" dirty="0">
                <a:solidFill>
                  <a:schemeClr val="tx1"/>
                </a:solidFill>
                <a:latin typeface="+mj-lt"/>
              </a:rPr>
              <a:t> </a:t>
            </a:r>
            <a:r>
              <a:rPr lang="en-US" sz="1900" dirty="0" err="1">
                <a:solidFill>
                  <a:schemeClr val="tx1"/>
                </a:solidFill>
                <a:latin typeface="+mj-lt"/>
              </a:rPr>
              <a:t>bộ</a:t>
            </a:r>
            <a:r>
              <a:rPr lang="en-US" sz="1900" dirty="0">
                <a:solidFill>
                  <a:schemeClr val="tx1"/>
                </a:solidFill>
                <a:latin typeface="+mj-lt"/>
              </a:rPr>
              <a:t> </a:t>
            </a:r>
            <a:r>
              <a:rPr lang="en-US" sz="1900" dirty="0" err="1">
                <a:solidFill>
                  <a:schemeClr val="tx1"/>
                </a:solidFill>
                <a:latin typeface="+mj-lt"/>
              </a:rPr>
              <a:t>điện</a:t>
            </a:r>
            <a:r>
              <a:rPr lang="en-US" sz="1900" dirty="0">
                <a:solidFill>
                  <a:schemeClr val="tx1"/>
                </a:solidFill>
                <a:latin typeface="+mj-lt"/>
              </a:rPr>
              <a:t> </a:t>
            </a:r>
            <a:r>
              <a:rPr lang="en-US" sz="1900" dirty="0" err="1">
                <a:solidFill>
                  <a:schemeClr val="tx1"/>
                </a:solidFill>
                <a:latin typeface="+mj-lt"/>
              </a:rPr>
              <a:t>tử</a:t>
            </a:r>
            <a:r>
              <a:rPr lang="en-US" sz="1900" dirty="0">
                <a:solidFill>
                  <a:schemeClr val="tx1"/>
                </a:solidFill>
                <a:latin typeface="+mj-lt"/>
              </a:rPr>
              <a:t>;</a:t>
            </a:r>
            <a:endParaRPr lang="vi-VN" sz="1900" dirty="0">
              <a:solidFill>
                <a:schemeClr val="tx1"/>
              </a:solidFill>
              <a:latin typeface="+mj-lt"/>
            </a:endParaRPr>
          </a:p>
          <a:p>
            <a:pPr marL="0" indent="0" algn="just">
              <a:spcBef>
                <a:spcPts val="0"/>
              </a:spcBef>
              <a:buNone/>
            </a:pPr>
            <a:r>
              <a:rPr lang="en-US" sz="1900" dirty="0">
                <a:solidFill>
                  <a:schemeClr val="tx1"/>
                </a:solidFill>
                <a:latin typeface="+mj-lt"/>
              </a:rPr>
              <a:t>	+ </a:t>
            </a:r>
            <a:r>
              <a:rPr lang="en-US" sz="1900" dirty="0" err="1">
                <a:solidFill>
                  <a:schemeClr val="tx1"/>
                </a:solidFill>
                <a:latin typeface="+mj-lt"/>
              </a:rPr>
              <a:t>Chữ</a:t>
            </a:r>
            <a:r>
              <a:rPr lang="en-US" sz="1900" dirty="0">
                <a:solidFill>
                  <a:schemeClr val="tx1"/>
                </a:solidFill>
                <a:latin typeface="+mj-lt"/>
              </a:rPr>
              <a:t> </a:t>
            </a:r>
            <a:r>
              <a:rPr lang="en-US" sz="1900" b="1" dirty="0">
                <a:solidFill>
                  <a:schemeClr val="tx1"/>
                </a:solidFill>
                <a:latin typeface="+mj-lt"/>
              </a:rPr>
              <a:t>B</a:t>
            </a:r>
            <a:r>
              <a:rPr lang="en-US" sz="1900" dirty="0">
                <a:solidFill>
                  <a:schemeClr val="tx1"/>
                </a:solidFill>
                <a:latin typeface="+mj-lt"/>
              </a:rPr>
              <a:t>: </a:t>
            </a:r>
            <a:r>
              <a:rPr lang="en-US" sz="1900" dirty="0" err="1">
                <a:solidFill>
                  <a:schemeClr val="tx1"/>
                </a:solidFill>
                <a:latin typeface="+mj-lt"/>
              </a:rPr>
              <a:t>Áp</a:t>
            </a:r>
            <a:r>
              <a:rPr lang="en-US" sz="1900" dirty="0">
                <a:solidFill>
                  <a:schemeClr val="tx1"/>
                </a:solidFill>
                <a:latin typeface="+mj-lt"/>
              </a:rPr>
              <a:t> </a:t>
            </a:r>
            <a:r>
              <a:rPr lang="en-US" sz="1900" dirty="0" err="1">
                <a:solidFill>
                  <a:schemeClr val="tx1"/>
                </a:solidFill>
                <a:latin typeface="+mj-lt"/>
              </a:rPr>
              <a:t>dụng</a:t>
            </a:r>
            <a:r>
              <a:rPr lang="en-US" sz="1900" dirty="0">
                <a:solidFill>
                  <a:schemeClr val="tx1"/>
                </a:solidFill>
                <a:latin typeface="+mj-lt"/>
              </a:rPr>
              <a:t> </a:t>
            </a:r>
            <a:r>
              <a:rPr lang="en-US" sz="1900" dirty="0" err="1">
                <a:solidFill>
                  <a:schemeClr val="tx1"/>
                </a:solidFill>
                <a:latin typeface="+mj-lt"/>
              </a:rPr>
              <a:t>đối</a:t>
            </a:r>
            <a:r>
              <a:rPr lang="en-US" sz="1900" dirty="0">
                <a:solidFill>
                  <a:schemeClr val="tx1"/>
                </a:solidFill>
                <a:latin typeface="+mj-lt"/>
              </a:rPr>
              <a:t> </a:t>
            </a:r>
            <a:r>
              <a:rPr lang="en-US" sz="1900" dirty="0" err="1">
                <a:solidFill>
                  <a:schemeClr val="tx1"/>
                </a:solidFill>
                <a:latin typeface="+mj-lt"/>
              </a:rPr>
              <a:t>với</a:t>
            </a:r>
            <a:r>
              <a:rPr lang="en-US" sz="1900" dirty="0">
                <a:solidFill>
                  <a:schemeClr val="tx1"/>
                </a:solidFill>
                <a:latin typeface="+mj-lt"/>
              </a:rPr>
              <a:t> </a:t>
            </a:r>
            <a:r>
              <a:rPr lang="en-US" sz="1900" dirty="0" err="1">
                <a:solidFill>
                  <a:schemeClr val="tx1"/>
                </a:solidFill>
                <a:latin typeface="+mj-lt"/>
              </a:rPr>
              <a:t>phiếu</a:t>
            </a:r>
            <a:r>
              <a:rPr lang="en-US" sz="1900" dirty="0">
                <a:solidFill>
                  <a:schemeClr val="tx1"/>
                </a:solidFill>
                <a:latin typeface="+mj-lt"/>
              </a:rPr>
              <a:t> </a:t>
            </a:r>
            <a:r>
              <a:rPr lang="en-US" sz="1900" dirty="0" err="1">
                <a:solidFill>
                  <a:schemeClr val="tx1"/>
                </a:solidFill>
                <a:latin typeface="+mj-lt"/>
              </a:rPr>
              <a:t>xuất</a:t>
            </a:r>
            <a:r>
              <a:rPr lang="en-US" sz="1900" dirty="0">
                <a:solidFill>
                  <a:schemeClr val="tx1"/>
                </a:solidFill>
                <a:latin typeface="+mj-lt"/>
              </a:rPr>
              <a:t> </a:t>
            </a:r>
            <a:r>
              <a:rPr lang="en-US" sz="1900" dirty="0" err="1">
                <a:solidFill>
                  <a:schemeClr val="tx1"/>
                </a:solidFill>
                <a:latin typeface="+mj-lt"/>
              </a:rPr>
              <a:t>kho</a:t>
            </a:r>
            <a:r>
              <a:rPr lang="en-US" sz="1900" dirty="0">
                <a:solidFill>
                  <a:schemeClr val="tx1"/>
                </a:solidFill>
                <a:latin typeface="+mj-lt"/>
              </a:rPr>
              <a:t> </a:t>
            </a:r>
            <a:r>
              <a:rPr lang="en-US" sz="1900" dirty="0" err="1">
                <a:solidFill>
                  <a:schemeClr val="tx1"/>
                </a:solidFill>
                <a:latin typeface="+mj-lt"/>
              </a:rPr>
              <a:t>hàng</a:t>
            </a:r>
            <a:r>
              <a:rPr lang="en-US" sz="1900" dirty="0">
                <a:solidFill>
                  <a:schemeClr val="tx1"/>
                </a:solidFill>
                <a:latin typeface="+mj-lt"/>
              </a:rPr>
              <a:t> </a:t>
            </a:r>
            <a:r>
              <a:rPr lang="en-US" sz="1900" dirty="0" err="1">
                <a:solidFill>
                  <a:schemeClr val="tx1"/>
                </a:solidFill>
                <a:latin typeface="+mj-lt"/>
              </a:rPr>
              <a:t>gửi</a:t>
            </a:r>
            <a:r>
              <a:rPr lang="en-US" sz="1900" dirty="0">
                <a:solidFill>
                  <a:schemeClr val="tx1"/>
                </a:solidFill>
                <a:latin typeface="+mj-lt"/>
              </a:rPr>
              <a:t> </a:t>
            </a:r>
            <a:r>
              <a:rPr lang="en-US" sz="1900" dirty="0" err="1">
                <a:solidFill>
                  <a:schemeClr val="tx1"/>
                </a:solidFill>
                <a:latin typeface="+mj-lt"/>
              </a:rPr>
              <a:t>bán</a:t>
            </a:r>
            <a:r>
              <a:rPr lang="en-US" sz="1900" dirty="0">
                <a:solidFill>
                  <a:schemeClr val="tx1"/>
                </a:solidFill>
                <a:latin typeface="+mj-lt"/>
              </a:rPr>
              <a:t> </a:t>
            </a:r>
            <a:r>
              <a:rPr lang="en-US" sz="1900" dirty="0" err="1">
                <a:solidFill>
                  <a:schemeClr val="tx1"/>
                </a:solidFill>
                <a:latin typeface="+mj-lt"/>
              </a:rPr>
              <a:t>đại</a:t>
            </a:r>
            <a:r>
              <a:rPr lang="en-US" sz="1900" dirty="0">
                <a:solidFill>
                  <a:schemeClr val="tx1"/>
                </a:solidFill>
                <a:latin typeface="+mj-lt"/>
              </a:rPr>
              <a:t> </a:t>
            </a:r>
            <a:r>
              <a:rPr lang="en-US" sz="1900" dirty="0" err="1">
                <a:solidFill>
                  <a:schemeClr val="tx1"/>
                </a:solidFill>
                <a:latin typeface="+mj-lt"/>
              </a:rPr>
              <a:t>lý</a:t>
            </a:r>
            <a:r>
              <a:rPr lang="en-US" sz="1900" dirty="0">
                <a:solidFill>
                  <a:schemeClr val="tx1"/>
                </a:solidFill>
                <a:latin typeface="+mj-lt"/>
              </a:rPr>
              <a:t> </a:t>
            </a:r>
            <a:r>
              <a:rPr lang="en-US" sz="1900" dirty="0" err="1">
                <a:solidFill>
                  <a:schemeClr val="tx1"/>
                </a:solidFill>
                <a:latin typeface="+mj-lt"/>
              </a:rPr>
              <a:t>điện</a:t>
            </a:r>
            <a:r>
              <a:rPr lang="en-US" sz="1900" dirty="0">
                <a:solidFill>
                  <a:schemeClr val="tx1"/>
                </a:solidFill>
                <a:latin typeface="+mj-lt"/>
              </a:rPr>
              <a:t> </a:t>
            </a:r>
            <a:r>
              <a:rPr lang="en-US" sz="1900" dirty="0" err="1">
                <a:solidFill>
                  <a:schemeClr val="tx1"/>
                </a:solidFill>
                <a:latin typeface="+mj-lt"/>
              </a:rPr>
              <a:t>tử</a:t>
            </a:r>
            <a:r>
              <a:rPr lang="en-US" sz="1900" dirty="0">
                <a:solidFill>
                  <a:schemeClr val="tx1"/>
                </a:solidFill>
                <a:latin typeface="+mj-lt"/>
              </a:rPr>
              <a:t>;</a:t>
            </a:r>
            <a:endParaRPr lang="vi-VN" sz="1900" dirty="0">
              <a:solidFill>
                <a:schemeClr val="tx1"/>
              </a:solidFill>
              <a:latin typeface="+mj-lt"/>
            </a:endParaRPr>
          </a:p>
          <a:p>
            <a:pPr marL="0" indent="0" algn="just">
              <a:spcBef>
                <a:spcPts val="0"/>
              </a:spcBef>
              <a:buNone/>
            </a:pPr>
            <a:r>
              <a:rPr lang="en-US" sz="1900" dirty="0">
                <a:solidFill>
                  <a:schemeClr val="tx1"/>
                </a:solidFill>
                <a:latin typeface="+mj-lt"/>
              </a:rPr>
              <a:t>	+ </a:t>
            </a:r>
            <a:r>
              <a:rPr lang="en-US" sz="1900" dirty="0" err="1">
                <a:solidFill>
                  <a:schemeClr val="tx1"/>
                </a:solidFill>
                <a:latin typeface="+mj-lt"/>
              </a:rPr>
              <a:t>Chữ</a:t>
            </a:r>
            <a:r>
              <a:rPr lang="en-US" sz="1900" dirty="0">
                <a:solidFill>
                  <a:schemeClr val="tx1"/>
                </a:solidFill>
                <a:latin typeface="+mj-lt"/>
              </a:rPr>
              <a:t> </a:t>
            </a:r>
            <a:r>
              <a:rPr lang="en-US" sz="1900" b="1" dirty="0">
                <a:solidFill>
                  <a:schemeClr val="tx1"/>
                </a:solidFill>
                <a:latin typeface="+mj-lt"/>
              </a:rPr>
              <a:t>G</a:t>
            </a:r>
            <a:r>
              <a:rPr lang="en-US" sz="1900" dirty="0">
                <a:solidFill>
                  <a:schemeClr val="tx1"/>
                </a:solidFill>
                <a:latin typeface="+mj-lt"/>
              </a:rPr>
              <a:t>: </a:t>
            </a:r>
            <a:r>
              <a:rPr lang="en-US" sz="1900" dirty="0" err="1">
                <a:solidFill>
                  <a:schemeClr val="tx1"/>
                </a:solidFill>
                <a:latin typeface="+mj-lt"/>
              </a:rPr>
              <a:t>Áp</a:t>
            </a:r>
            <a:r>
              <a:rPr lang="en-US" sz="1900" dirty="0">
                <a:solidFill>
                  <a:schemeClr val="tx1"/>
                </a:solidFill>
                <a:latin typeface="+mj-lt"/>
              </a:rPr>
              <a:t> </a:t>
            </a:r>
            <a:r>
              <a:rPr lang="en-US" sz="1900" dirty="0" err="1">
                <a:solidFill>
                  <a:schemeClr val="tx1"/>
                </a:solidFill>
                <a:latin typeface="+mj-lt"/>
              </a:rPr>
              <a:t>dụng</a:t>
            </a:r>
            <a:r>
              <a:rPr lang="en-US" sz="1900" dirty="0">
                <a:solidFill>
                  <a:schemeClr val="tx1"/>
                </a:solidFill>
                <a:latin typeface="+mj-lt"/>
              </a:rPr>
              <a:t> </a:t>
            </a:r>
            <a:r>
              <a:rPr lang="en-US" sz="1900" dirty="0" err="1">
                <a:solidFill>
                  <a:schemeClr val="tx1"/>
                </a:solidFill>
                <a:latin typeface="+mj-lt"/>
              </a:rPr>
              <a:t>đối</a:t>
            </a:r>
            <a:r>
              <a:rPr lang="en-US" sz="1900" dirty="0">
                <a:solidFill>
                  <a:schemeClr val="tx1"/>
                </a:solidFill>
                <a:latin typeface="+mj-lt"/>
              </a:rPr>
              <a:t> </a:t>
            </a:r>
            <a:r>
              <a:rPr lang="en-US" sz="1900" dirty="0" err="1">
                <a:solidFill>
                  <a:schemeClr val="tx1"/>
                </a:solidFill>
                <a:latin typeface="+mj-lt"/>
              </a:rPr>
              <a:t>với</a:t>
            </a:r>
            <a:r>
              <a:rPr lang="en-US" sz="1900" dirty="0">
                <a:solidFill>
                  <a:schemeClr val="tx1"/>
                </a:solidFill>
                <a:latin typeface="+mj-lt"/>
              </a:rPr>
              <a:t> tem, </a:t>
            </a:r>
            <a:r>
              <a:rPr lang="en-US" sz="1900" dirty="0" err="1">
                <a:solidFill>
                  <a:schemeClr val="tx1"/>
                </a:solidFill>
                <a:latin typeface="+mj-lt"/>
              </a:rPr>
              <a:t>vé</a:t>
            </a:r>
            <a:r>
              <a:rPr lang="en-US" sz="1900" dirty="0">
                <a:solidFill>
                  <a:schemeClr val="tx1"/>
                </a:solidFill>
                <a:latin typeface="+mj-lt"/>
              </a:rPr>
              <a:t>, </a:t>
            </a:r>
            <a:r>
              <a:rPr lang="en-US" sz="1900" dirty="0" err="1">
                <a:solidFill>
                  <a:schemeClr val="tx1"/>
                </a:solidFill>
                <a:latin typeface="+mj-lt"/>
              </a:rPr>
              <a:t>thẻ</a:t>
            </a:r>
            <a:r>
              <a:rPr lang="en-US" sz="1900" dirty="0">
                <a:solidFill>
                  <a:schemeClr val="tx1"/>
                </a:solidFill>
                <a:latin typeface="+mj-lt"/>
              </a:rPr>
              <a:t> </a:t>
            </a:r>
            <a:r>
              <a:rPr lang="en-US" sz="1900" dirty="0" err="1">
                <a:solidFill>
                  <a:schemeClr val="tx1"/>
                </a:solidFill>
                <a:latin typeface="+mj-lt"/>
              </a:rPr>
              <a:t>điện</a:t>
            </a:r>
            <a:r>
              <a:rPr lang="en-US" sz="1900" dirty="0">
                <a:solidFill>
                  <a:schemeClr val="tx1"/>
                </a:solidFill>
                <a:latin typeface="+mj-lt"/>
              </a:rPr>
              <a:t> </a:t>
            </a:r>
            <a:r>
              <a:rPr lang="en-US" sz="1900" dirty="0" err="1">
                <a:solidFill>
                  <a:schemeClr val="tx1"/>
                </a:solidFill>
                <a:latin typeface="+mj-lt"/>
              </a:rPr>
              <a:t>tử</a:t>
            </a:r>
            <a:r>
              <a:rPr lang="en-US" sz="1900" dirty="0">
                <a:solidFill>
                  <a:schemeClr val="tx1"/>
                </a:solidFill>
                <a:latin typeface="+mj-lt"/>
              </a:rPr>
              <a:t> </a:t>
            </a:r>
            <a:r>
              <a:rPr lang="en-US" sz="1900" dirty="0" err="1">
                <a:solidFill>
                  <a:schemeClr val="tx1"/>
                </a:solidFill>
                <a:latin typeface="+mj-lt"/>
              </a:rPr>
              <a:t>là</a:t>
            </a:r>
            <a:r>
              <a:rPr lang="en-US" sz="1900" dirty="0">
                <a:solidFill>
                  <a:schemeClr val="tx1"/>
                </a:solidFill>
                <a:latin typeface="+mj-lt"/>
              </a:rPr>
              <a:t> </a:t>
            </a:r>
            <a:r>
              <a:rPr lang="en-US" sz="1900" dirty="0" err="1">
                <a:solidFill>
                  <a:schemeClr val="tx1"/>
                </a:solidFill>
                <a:latin typeface="+mj-lt"/>
              </a:rPr>
              <a:t>hóa</a:t>
            </a:r>
            <a:r>
              <a:rPr lang="en-US" sz="1900" dirty="0">
                <a:solidFill>
                  <a:schemeClr val="tx1"/>
                </a:solidFill>
                <a:latin typeface="+mj-lt"/>
              </a:rPr>
              <a:t> </a:t>
            </a:r>
            <a:r>
              <a:rPr lang="en-US" sz="1900" dirty="0" err="1">
                <a:solidFill>
                  <a:schemeClr val="tx1"/>
                </a:solidFill>
                <a:latin typeface="+mj-lt"/>
              </a:rPr>
              <a:t>đơn</a:t>
            </a:r>
            <a:r>
              <a:rPr lang="en-US" sz="1900" dirty="0">
                <a:solidFill>
                  <a:schemeClr val="tx1"/>
                </a:solidFill>
                <a:latin typeface="+mj-lt"/>
              </a:rPr>
              <a:t> </a:t>
            </a:r>
            <a:r>
              <a:rPr lang="en-US" sz="1900" dirty="0" err="1">
                <a:solidFill>
                  <a:schemeClr val="tx1"/>
                </a:solidFill>
                <a:latin typeface="+mj-lt"/>
              </a:rPr>
              <a:t>giá</a:t>
            </a:r>
            <a:r>
              <a:rPr lang="en-US" sz="1900" dirty="0">
                <a:solidFill>
                  <a:schemeClr val="tx1"/>
                </a:solidFill>
                <a:latin typeface="+mj-lt"/>
              </a:rPr>
              <a:t> </a:t>
            </a:r>
            <a:r>
              <a:rPr lang="en-US" sz="1900" dirty="0" err="1">
                <a:solidFill>
                  <a:schemeClr val="tx1"/>
                </a:solidFill>
                <a:latin typeface="+mj-lt"/>
              </a:rPr>
              <a:t>trị</a:t>
            </a:r>
            <a:r>
              <a:rPr lang="en-US" sz="1900" dirty="0">
                <a:solidFill>
                  <a:schemeClr val="tx1"/>
                </a:solidFill>
                <a:latin typeface="+mj-lt"/>
              </a:rPr>
              <a:t> </a:t>
            </a:r>
            <a:r>
              <a:rPr lang="en-US" sz="1900" dirty="0" err="1">
                <a:solidFill>
                  <a:schemeClr val="tx1"/>
                </a:solidFill>
                <a:latin typeface="+mj-lt"/>
              </a:rPr>
              <a:t>gia</a:t>
            </a:r>
            <a:r>
              <a:rPr lang="en-US" sz="1900" dirty="0">
                <a:solidFill>
                  <a:schemeClr val="tx1"/>
                </a:solidFill>
                <a:latin typeface="+mj-lt"/>
              </a:rPr>
              <a:t> </a:t>
            </a:r>
            <a:r>
              <a:rPr lang="en-US" sz="1900" dirty="0" err="1">
                <a:solidFill>
                  <a:schemeClr val="tx1"/>
                </a:solidFill>
                <a:latin typeface="+mj-lt"/>
              </a:rPr>
              <a:t>tăng</a:t>
            </a:r>
            <a:r>
              <a:rPr lang="en-US" sz="1900" dirty="0">
                <a:solidFill>
                  <a:schemeClr val="tx1"/>
                </a:solidFill>
                <a:latin typeface="+mj-lt"/>
              </a:rPr>
              <a:t>;</a:t>
            </a:r>
            <a:endParaRPr lang="vi-VN" sz="1900" dirty="0">
              <a:solidFill>
                <a:schemeClr val="tx1"/>
              </a:solidFill>
              <a:latin typeface="+mj-lt"/>
            </a:endParaRPr>
          </a:p>
          <a:p>
            <a:pPr marL="0" indent="0" algn="just">
              <a:spcBef>
                <a:spcPts val="0"/>
              </a:spcBef>
              <a:buNone/>
            </a:pPr>
            <a:r>
              <a:rPr lang="en-US" sz="1900" dirty="0">
                <a:solidFill>
                  <a:schemeClr val="tx1"/>
                </a:solidFill>
                <a:latin typeface="+mj-lt"/>
              </a:rPr>
              <a:t>	+ </a:t>
            </a:r>
            <a:r>
              <a:rPr lang="en-US" sz="1900" dirty="0" err="1">
                <a:solidFill>
                  <a:schemeClr val="tx1"/>
                </a:solidFill>
                <a:latin typeface="+mj-lt"/>
              </a:rPr>
              <a:t>Chữ</a:t>
            </a:r>
            <a:r>
              <a:rPr lang="en-US" sz="1900" dirty="0">
                <a:solidFill>
                  <a:schemeClr val="tx1"/>
                </a:solidFill>
                <a:latin typeface="+mj-lt"/>
              </a:rPr>
              <a:t> </a:t>
            </a:r>
            <a:r>
              <a:rPr lang="en-US" sz="1900" b="1" dirty="0">
                <a:solidFill>
                  <a:schemeClr val="tx1"/>
                </a:solidFill>
                <a:latin typeface="+mj-lt"/>
              </a:rPr>
              <a:t>H</a:t>
            </a:r>
            <a:r>
              <a:rPr lang="en-US" sz="1900" dirty="0">
                <a:solidFill>
                  <a:schemeClr val="tx1"/>
                </a:solidFill>
                <a:latin typeface="+mj-lt"/>
              </a:rPr>
              <a:t>: </a:t>
            </a:r>
            <a:r>
              <a:rPr lang="en-US" sz="1900" dirty="0" err="1">
                <a:solidFill>
                  <a:schemeClr val="tx1"/>
                </a:solidFill>
                <a:latin typeface="+mj-lt"/>
              </a:rPr>
              <a:t>Áp</a:t>
            </a:r>
            <a:r>
              <a:rPr lang="en-US" sz="1900" dirty="0">
                <a:solidFill>
                  <a:schemeClr val="tx1"/>
                </a:solidFill>
                <a:latin typeface="+mj-lt"/>
              </a:rPr>
              <a:t> </a:t>
            </a:r>
            <a:r>
              <a:rPr lang="en-US" sz="1900" dirty="0" err="1">
                <a:solidFill>
                  <a:schemeClr val="tx1"/>
                </a:solidFill>
                <a:latin typeface="+mj-lt"/>
              </a:rPr>
              <a:t>dụng</a:t>
            </a:r>
            <a:r>
              <a:rPr lang="en-US" sz="1900" dirty="0">
                <a:solidFill>
                  <a:schemeClr val="tx1"/>
                </a:solidFill>
                <a:latin typeface="+mj-lt"/>
              </a:rPr>
              <a:t> </a:t>
            </a:r>
            <a:r>
              <a:rPr lang="en-US" sz="1900" dirty="0" err="1">
                <a:solidFill>
                  <a:schemeClr val="tx1"/>
                </a:solidFill>
                <a:latin typeface="+mj-lt"/>
              </a:rPr>
              <a:t>đối</a:t>
            </a:r>
            <a:r>
              <a:rPr lang="en-US" sz="1900" dirty="0">
                <a:solidFill>
                  <a:schemeClr val="tx1"/>
                </a:solidFill>
                <a:latin typeface="+mj-lt"/>
              </a:rPr>
              <a:t> </a:t>
            </a:r>
            <a:r>
              <a:rPr lang="en-US" sz="1900" dirty="0" err="1">
                <a:solidFill>
                  <a:schemeClr val="tx1"/>
                </a:solidFill>
                <a:latin typeface="+mj-lt"/>
              </a:rPr>
              <a:t>với</a:t>
            </a:r>
            <a:r>
              <a:rPr lang="en-US" sz="1900" dirty="0">
                <a:solidFill>
                  <a:schemeClr val="tx1"/>
                </a:solidFill>
                <a:latin typeface="+mj-lt"/>
              </a:rPr>
              <a:t> tem, </a:t>
            </a:r>
            <a:r>
              <a:rPr lang="en-US" sz="1900" dirty="0" err="1">
                <a:solidFill>
                  <a:schemeClr val="tx1"/>
                </a:solidFill>
                <a:latin typeface="+mj-lt"/>
              </a:rPr>
              <a:t>vé</a:t>
            </a:r>
            <a:r>
              <a:rPr lang="en-US" sz="1900" dirty="0">
                <a:solidFill>
                  <a:schemeClr val="tx1"/>
                </a:solidFill>
                <a:latin typeface="+mj-lt"/>
              </a:rPr>
              <a:t>, </a:t>
            </a:r>
            <a:r>
              <a:rPr lang="en-US" sz="1900" dirty="0" err="1">
                <a:solidFill>
                  <a:schemeClr val="tx1"/>
                </a:solidFill>
                <a:latin typeface="+mj-lt"/>
              </a:rPr>
              <a:t>thẻ</a:t>
            </a:r>
            <a:r>
              <a:rPr lang="en-US" sz="1900" dirty="0">
                <a:solidFill>
                  <a:schemeClr val="tx1"/>
                </a:solidFill>
                <a:latin typeface="+mj-lt"/>
              </a:rPr>
              <a:t> </a:t>
            </a:r>
            <a:r>
              <a:rPr lang="en-US" sz="1900" dirty="0" err="1">
                <a:solidFill>
                  <a:schemeClr val="tx1"/>
                </a:solidFill>
                <a:latin typeface="+mj-lt"/>
              </a:rPr>
              <a:t>điện</a:t>
            </a:r>
            <a:r>
              <a:rPr lang="en-US" sz="1900" dirty="0">
                <a:solidFill>
                  <a:schemeClr val="tx1"/>
                </a:solidFill>
                <a:latin typeface="+mj-lt"/>
              </a:rPr>
              <a:t> </a:t>
            </a:r>
            <a:r>
              <a:rPr lang="en-US" sz="1900" dirty="0" err="1">
                <a:solidFill>
                  <a:schemeClr val="tx1"/>
                </a:solidFill>
                <a:latin typeface="+mj-lt"/>
              </a:rPr>
              <a:t>tử</a:t>
            </a:r>
            <a:r>
              <a:rPr lang="en-US" sz="1900" dirty="0">
                <a:solidFill>
                  <a:schemeClr val="tx1"/>
                </a:solidFill>
                <a:latin typeface="+mj-lt"/>
              </a:rPr>
              <a:t> </a:t>
            </a:r>
            <a:r>
              <a:rPr lang="en-US" sz="1900" dirty="0" err="1">
                <a:solidFill>
                  <a:schemeClr val="tx1"/>
                </a:solidFill>
                <a:latin typeface="+mj-lt"/>
              </a:rPr>
              <a:t>là</a:t>
            </a:r>
            <a:r>
              <a:rPr lang="en-US" sz="1900" dirty="0">
                <a:solidFill>
                  <a:schemeClr val="tx1"/>
                </a:solidFill>
                <a:latin typeface="+mj-lt"/>
              </a:rPr>
              <a:t> </a:t>
            </a:r>
            <a:r>
              <a:rPr lang="en-US" sz="1900" dirty="0" err="1">
                <a:solidFill>
                  <a:schemeClr val="tx1"/>
                </a:solidFill>
                <a:latin typeface="+mj-lt"/>
              </a:rPr>
              <a:t>hóa</a:t>
            </a:r>
            <a:r>
              <a:rPr lang="en-US" sz="1900" dirty="0">
                <a:solidFill>
                  <a:schemeClr val="tx1"/>
                </a:solidFill>
                <a:latin typeface="+mj-lt"/>
              </a:rPr>
              <a:t> </a:t>
            </a:r>
            <a:r>
              <a:rPr lang="en-US" sz="1900" dirty="0" err="1">
                <a:solidFill>
                  <a:schemeClr val="tx1"/>
                </a:solidFill>
                <a:latin typeface="+mj-lt"/>
              </a:rPr>
              <a:t>đơn</a:t>
            </a:r>
            <a:r>
              <a:rPr lang="en-US" sz="1900" dirty="0">
                <a:solidFill>
                  <a:schemeClr val="tx1"/>
                </a:solidFill>
                <a:latin typeface="+mj-lt"/>
              </a:rPr>
              <a:t> </a:t>
            </a:r>
            <a:r>
              <a:rPr lang="en-US" sz="1900" dirty="0" err="1">
                <a:solidFill>
                  <a:schemeClr val="tx1"/>
                </a:solidFill>
                <a:latin typeface="+mj-lt"/>
              </a:rPr>
              <a:t>bán</a:t>
            </a:r>
            <a:r>
              <a:rPr lang="en-US" sz="1900" dirty="0">
                <a:solidFill>
                  <a:schemeClr val="tx1"/>
                </a:solidFill>
                <a:latin typeface="+mj-lt"/>
              </a:rPr>
              <a:t> </a:t>
            </a:r>
            <a:r>
              <a:rPr lang="en-US" sz="1900" dirty="0" err="1">
                <a:solidFill>
                  <a:schemeClr val="tx1"/>
                </a:solidFill>
                <a:latin typeface="+mj-lt"/>
              </a:rPr>
              <a:t>hàng</a:t>
            </a:r>
            <a:r>
              <a:rPr lang="en-US" sz="1900" dirty="0">
                <a:solidFill>
                  <a:schemeClr val="tx1"/>
                </a:solidFill>
                <a:latin typeface="+mj-lt"/>
              </a:rPr>
              <a:t>.</a:t>
            </a:r>
            <a:endParaRPr lang="vi-VN" sz="1900" dirty="0">
              <a:solidFill>
                <a:schemeClr val="tx1"/>
              </a:solidFill>
              <a:latin typeface="+mj-lt"/>
            </a:endParaRPr>
          </a:p>
        </p:txBody>
      </p:sp>
      <p:sp>
        <p:nvSpPr>
          <p:cNvPr id="6" name="Title 1"/>
          <p:cNvSpPr txBox="1">
            <a:spLocks/>
          </p:cNvSpPr>
          <p:nvPr/>
        </p:nvSpPr>
        <p:spPr>
          <a:xfrm>
            <a:off x="1164703" y="149954"/>
            <a:ext cx="8772534"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5. NỘI DUNG HĐĐT</a:t>
            </a:r>
            <a:endParaRPr lang="vi-VN" sz="2000" b="1" dirty="0">
              <a:solidFill>
                <a:schemeClr val="tx1"/>
              </a:solidFill>
              <a:latin typeface="Times New Roman" panose="02020603050405020304" pitchFamily="18" charset="0"/>
              <a:cs typeface="Times New Roman" panose="02020603050405020304" pitchFamily="18" charset="0"/>
            </a:endParaRPr>
          </a:p>
        </p:txBody>
      </p:sp>
      <p:sp>
        <p:nvSpPr>
          <p:cNvPr id="8" name="Title 1"/>
          <p:cNvSpPr txBox="1">
            <a:spLocks/>
          </p:cNvSpPr>
          <p:nvPr/>
        </p:nvSpPr>
        <p:spPr>
          <a:xfrm>
            <a:off x="795346" y="791308"/>
            <a:ext cx="9511248" cy="726831"/>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1800" b="1" dirty="0">
                <a:solidFill>
                  <a:srgbClr val="C00000"/>
                </a:solidFill>
                <a:cs typeface="Times New Roman" panose="02020603050405020304" pitchFamily="18" charset="0"/>
              </a:rPr>
              <a:t>5. NỘI DUNG HÓA ĐƠN</a:t>
            </a:r>
            <a:br>
              <a:rPr lang="en-US" sz="1800" b="1" dirty="0">
                <a:solidFill>
                  <a:srgbClr val="C00000"/>
                </a:solidFill>
                <a:cs typeface="Times New Roman" panose="02020603050405020304" pitchFamily="18" charset="0"/>
              </a:rPr>
            </a:br>
            <a:r>
              <a:rPr lang="vi-VN" sz="1800" b="1" dirty="0">
                <a:solidFill>
                  <a:srgbClr val="C00000"/>
                </a:solidFill>
                <a:cs typeface="Times New Roman" panose="02020603050405020304" pitchFamily="18" charset="0"/>
              </a:rPr>
              <a:t> K</a:t>
            </a:r>
            <a:r>
              <a:rPr lang="en-US" sz="1800" b="1" dirty="0">
                <a:solidFill>
                  <a:srgbClr val="C00000"/>
                </a:solidFill>
                <a:cs typeface="Times New Roman" panose="02020603050405020304" pitchFamily="18" charset="0"/>
              </a:rPr>
              <a:t>Ý HIỆU MẪU SỐ HÓA ĐƠN, KÝ HIỆU HÓA ĐƠN – HÓA ĐƠN ĐIỆN TỬ (TIẾP THEO)</a:t>
            </a:r>
            <a:r>
              <a:rPr lang="en-US" sz="1800" b="1" dirty="0">
                <a:solidFill>
                  <a:srgbClr val="C00000"/>
                </a:solidFill>
              </a:rPr>
              <a:t/>
            </a:r>
            <a:br>
              <a:rPr lang="en-US" sz="1800" b="1" dirty="0">
                <a:solidFill>
                  <a:srgbClr val="C00000"/>
                </a:solidFill>
              </a:rPr>
            </a:br>
            <a:endParaRPr lang="vi-VN" sz="1800" b="1" dirty="0">
              <a:solidFill>
                <a:srgbClr val="C00000"/>
              </a:solidFill>
            </a:endParaRPr>
          </a:p>
        </p:txBody>
      </p:sp>
      <p:pic>
        <p:nvPicPr>
          <p:cNvPr id="9" name="Picture 8"/>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9396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795345" y="1936263"/>
            <a:ext cx="9276117" cy="4515337"/>
          </a:xfrm>
        </p:spPr>
        <p:txBody>
          <a:bodyPr anchor="ctr" anchorCtr="0">
            <a:normAutofit/>
          </a:bodyPr>
          <a:lstStyle/>
          <a:p>
            <a:pPr marL="0" indent="0" algn="just">
              <a:buNone/>
            </a:pPr>
            <a:r>
              <a:rPr lang="en-US" sz="2000" b="1" dirty="0">
                <a:solidFill>
                  <a:schemeClr val="tx1"/>
                </a:solidFill>
                <a:latin typeface="+mj-lt"/>
              </a:rPr>
              <a:t>b) </a:t>
            </a:r>
            <a:r>
              <a:rPr lang="en-US" sz="2000" b="1" dirty="0" err="1">
                <a:solidFill>
                  <a:schemeClr val="tx1"/>
                </a:solidFill>
                <a:latin typeface="+mj-lt"/>
              </a:rPr>
              <a:t>Ký</a:t>
            </a:r>
            <a:r>
              <a:rPr lang="en-US" sz="2000" b="1" dirty="0">
                <a:solidFill>
                  <a:schemeClr val="tx1"/>
                </a:solidFill>
                <a:latin typeface="+mj-lt"/>
              </a:rPr>
              <a:t> </a:t>
            </a:r>
            <a:r>
              <a:rPr lang="en-US" sz="2000" b="1" dirty="0" err="1">
                <a:solidFill>
                  <a:schemeClr val="tx1"/>
                </a:solidFill>
                <a:latin typeface="+mj-lt"/>
              </a:rPr>
              <a:t>hiệu</a:t>
            </a:r>
            <a:r>
              <a:rPr lang="en-US" sz="2000" b="1" dirty="0">
                <a:solidFill>
                  <a:schemeClr val="tx1"/>
                </a:solidFill>
                <a:latin typeface="+mj-lt"/>
              </a:rPr>
              <a:t> </a:t>
            </a:r>
            <a:r>
              <a:rPr lang="en-US" sz="2000" b="1" dirty="0" err="1">
                <a:solidFill>
                  <a:schemeClr val="tx1"/>
                </a:solidFill>
                <a:latin typeface="+mj-lt"/>
              </a:rPr>
              <a:t>hóa</a:t>
            </a:r>
            <a:r>
              <a:rPr lang="en-US" sz="2000" b="1" dirty="0">
                <a:solidFill>
                  <a:schemeClr val="tx1"/>
                </a:solidFill>
                <a:latin typeface="+mj-lt"/>
              </a:rPr>
              <a:t> </a:t>
            </a:r>
            <a:r>
              <a:rPr lang="en-US" sz="2000" b="1" dirty="0" err="1">
                <a:solidFill>
                  <a:schemeClr val="tx1"/>
                </a:solidFill>
                <a:latin typeface="+mj-lt"/>
              </a:rPr>
              <a:t>đơn</a:t>
            </a:r>
            <a:r>
              <a:rPr lang="en-US" sz="2000" b="1" dirty="0">
                <a:solidFill>
                  <a:schemeClr val="tx1"/>
                </a:solidFill>
                <a:latin typeface="+mj-lt"/>
              </a:rPr>
              <a:t> (</a:t>
            </a:r>
            <a:r>
              <a:rPr lang="en-US" sz="2000" b="1" dirty="0" err="1">
                <a:solidFill>
                  <a:schemeClr val="tx1"/>
                </a:solidFill>
                <a:latin typeface="+mj-lt"/>
              </a:rPr>
              <a:t>tiếp</a:t>
            </a:r>
            <a:r>
              <a:rPr lang="en-US" sz="2000" b="1" dirty="0">
                <a:solidFill>
                  <a:schemeClr val="tx1"/>
                </a:solidFill>
                <a:latin typeface="+mj-lt"/>
              </a:rPr>
              <a:t>)</a:t>
            </a:r>
          </a:p>
          <a:p>
            <a:pPr marL="0" indent="0" algn="just">
              <a:buNone/>
            </a:pPr>
            <a:r>
              <a:rPr lang="en-US" sz="2000" dirty="0">
                <a:solidFill>
                  <a:schemeClr val="tx1"/>
                </a:solidFill>
                <a:latin typeface="+mj-lt"/>
              </a:rPr>
              <a:t>- Hai </a:t>
            </a:r>
            <a:r>
              <a:rPr lang="en-US" sz="2000" dirty="0" err="1">
                <a:solidFill>
                  <a:schemeClr val="tx1"/>
                </a:solidFill>
                <a:latin typeface="+mj-lt"/>
              </a:rPr>
              <a:t>ký</a:t>
            </a:r>
            <a:r>
              <a:rPr lang="en-US" sz="2000" dirty="0">
                <a:solidFill>
                  <a:schemeClr val="tx1"/>
                </a:solidFill>
                <a:latin typeface="+mj-lt"/>
              </a:rPr>
              <a:t> </a:t>
            </a:r>
            <a:r>
              <a:rPr lang="en-US" sz="2000" dirty="0" err="1">
                <a:solidFill>
                  <a:schemeClr val="tx1"/>
                </a:solidFill>
                <a:latin typeface="+mj-lt"/>
              </a:rPr>
              <a:t>tự</a:t>
            </a:r>
            <a:r>
              <a:rPr lang="en-US" sz="2000" dirty="0">
                <a:solidFill>
                  <a:schemeClr val="tx1"/>
                </a:solidFill>
                <a:latin typeface="+mj-lt"/>
              </a:rPr>
              <a:t> </a:t>
            </a:r>
            <a:r>
              <a:rPr lang="en-US" sz="2000" dirty="0" err="1">
                <a:solidFill>
                  <a:schemeClr val="tx1"/>
                </a:solidFill>
                <a:latin typeface="+mj-lt"/>
              </a:rPr>
              <a:t>cuối</a:t>
            </a:r>
            <a:r>
              <a:rPr lang="en-US" sz="2000" dirty="0">
                <a:solidFill>
                  <a:schemeClr val="tx1"/>
                </a:solidFill>
                <a:latin typeface="+mj-lt"/>
              </a:rPr>
              <a:t> </a:t>
            </a:r>
            <a:r>
              <a:rPr lang="en-US" sz="2000" dirty="0" err="1">
                <a:solidFill>
                  <a:schemeClr val="tx1"/>
                </a:solidFill>
                <a:latin typeface="+mj-lt"/>
              </a:rPr>
              <a:t>là</a:t>
            </a:r>
            <a:r>
              <a:rPr lang="en-US" sz="2000" dirty="0">
                <a:solidFill>
                  <a:schemeClr val="tx1"/>
                </a:solidFill>
                <a:latin typeface="+mj-lt"/>
              </a:rPr>
              <a:t> </a:t>
            </a:r>
            <a:r>
              <a:rPr lang="en-US" sz="2000" dirty="0" err="1">
                <a:solidFill>
                  <a:schemeClr val="tx1"/>
                </a:solidFill>
                <a:latin typeface="+mj-lt"/>
              </a:rPr>
              <a:t>chữ</a:t>
            </a:r>
            <a:r>
              <a:rPr lang="en-US" sz="2000" dirty="0">
                <a:solidFill>
                  <a:schemeClr val="tx1"/>
                </a:solidFill>
                <a:latin typeface="+mj-lt"/>
              </a:rPr>
              <a:t> </a:t>
            </a:r>
            <a:r>
              <a:rPr lang="en-US" sz="2000" dirty="0" err="1">
                <a:solidFill>
                  <a:schemeClr val="tx1"/>
                </a:solidFill>
                <a:latin typeface="+mj-lt"/>
              </a:rPr>
              <a:t>viết</a:t>
            </a:r>
            <a:r>
              <a:rPr lang="en-US" sz="2000" dirty="0">
                <a:solidFill>
                  <a:schemeClr val="tx1"/>
                </a:solidFill>
                <a:latin typeface="+mj-lt"/>
              </a:rPr>
              <a:t> do </a:t>
            </a:r>
            <a:r>
              <a:rPr lang="en-US" sz="2000" dirty="0" err="1">
                <a:solidFill>
                  <a:schemeClr val="tx1"/>
                </a:solidFill>
                <a:latin typeface="+mj-lt"/>
              </a:rPr>
              <a:t>người</a:t>
            </a:r>
            <a:r>
              <a:rPr lang="en-US" sz="2000" dirty="0">
                <a:solidFill>
                  <a:schemeClr val="tx1"/>
                </a:solidFill>
                <a:latin typeface="+mj-lt"/>
              </a:rPr>
              <a:t> </a:t>
            </a:r>
            <a:r>
              <a:rPr lang="en-US" sz="2000" dirty="0" err="1">
                <a:solidFill>
                  <a:schemeClr val="tx1"/>
                </a:solidFill>
                <a:latin typeface="+mj-lt"/>
              </a:rPr>
              <a:t>bán</a:t>
            </a:r>
            <a:r>
              <a:rPr lang="en-US" sz="2000" dirty="0">
                <a:solidFill>
                  <a:schemeClr val="tx1"/>
                </a:solidFill>
                <a:latin typeface="+mj-lt"/>
              </a:rPr>
              <a:t> </a:t>
            </a:r>
            <a:r>
              <a:rPr lang="en-US" sz="2000" dirty="0" err="1">
                <a:solidFill>
                  <a:schemeClr val="tx1"/>
                </a:solidFill>
                <a:latin typeface="+mj-lt"/>
              </a:rPr>
              <a:t>tư</a:t>
            </a:r>
            <a:r>
              <a:rPr lang="en-US" sz="2000" dirty="0">
                <a:solidFill>
                  <a:schemeClr val="tx1"/>
                </a:solidFill>
                <a:latin typeface="+mj-lt"/>
              </a:rPr>
              <a:t>̣ </a:t>
            </a:r>
            <a:r>
              <a:rPr lang="en-US" sz="2000" dirty="0" err="1">
                <a:solidFill>
                  <a:schemeClr val="tx1"/>
                </a:solidFill>
                <a:latin typeface="+mj-lt"/>
              </a:rPr>
              <a:t>xác</a:t>
            </a:r>
            <a:r>
              <a:rPr lang="en-US" sz="2000" dirty="0">
                <a:solidFill>
                  <a:schemeClr val="tx1"/>
                </a:solidFill>
                <a:latin typeface="+mj-lt"/>
              </a:rPr>
              <a:t> </a:t>
            </a:r>
            <a:r>
              <a:rPr lang="en-US" sz="2000" dirty="0" err="1">
                <a:solidFill>
                  <a:schemeClr val="tx1"/>
                </a:solidFill>
                <a:latin typeface="+mj-lt"/>
              </a:rPr>
              <a:t>định</a:t>
            </a:r>
            <a:r>
              <a:rPr lang="en-US" sz="2000" dirty="0">
                <a:solidFill>
                  <a:schemeClr val="tx1"/>
                </a:solidFill>
                <a:latin typeface="+mj-lt"/>
              </a:rPr>
              <a:t> </a:t>
            </a:r>
            <a:r>
              <a:rPr lang="en-US" sz="2000" dirty="0" err="1">
                <a:solidFill>
                  <a:schemeClr val="tx1"/>
                </a:solidFill>
                <a:latin typeface="+mj-lt"/>
              </a:rPr>
              <a:t>căn</a:t>
            </a:r>
            <a:r>
              <a:rPr lang="en-US" sz="2000" dirty="0">
                <a:solidFill>
                  <a:schemeClr val="tx1"/>
                </a:solidFill>
                <a:latin typeface="+mj-lt"/>
              </a:rPr>
              <a:t> </a:t>
            </a:r>
            <a:r>
              <a:rPr lang="en-US" sz="2000" dirty="0" err="1">
                <a:solidFill>
                  <a:schemeClr val="tx1"/>
                </a:solidFill>
                <a:latin typeface="+mj-lt"/>
              </a:rPr>
              <a:t>cư</a:t>
            </a:r>
            <a:r>
              <a:rPr lang="en-US" sz="2000" dirty="0">
                <a:solidFill>
                  <a:schemeClr val="tx1"/>
                </a:solidFill>
                <a:latin typeface="+mj-lt"/>
              </a:rPr>
              <a:t>́ </a:t>
            </a:r>
            <a:r>
              <a:rPr lang="en-US" sz="2000" dirty="0" err="1">
                <a:solidFill>
                  <a:schemeClr val="tx1"/>
                </a:solidFill>
                <a:latin typeface="+mj-lt"/>
              </a:rPr>
              <a:t>theo</a:t>
            </a:r>
            <a:r>
              <a:rPr lang="en-US" sz="2000" dirty="0">
                <a:solidFill>
                  <a:schemeClr val="tx1"/>
                </a:solidFill>
                <a:latin typeface="+mj-lt"/>
              </a:rPr>
              <a:t> </a:t>
            </a:r>
            <a:r>
              <a:rPr lang="en-US" sz="2000" dirty="0" err="1">
                <a:solidFill>
                  <a:schemeClr val="tx1"/>
                </a:solidFill>
                <a:latin typeface="+mj-lt"/>
              </a:rPr>
              <a:t>nhu</a:t>
            </a:r>
            <a:r>
              <a:rPr lang="en-US" sz="2000" dirty="0">
                <a:solidFill>
                  <a:schemeClr val="tx1"/>
                </a:solidFill>
                <a:latin typeface="+mj-lt"/>
              </a:rPr>
              <a:t> </a:t>
            </a:r>
            <a:r>
              <a:rPr lang="en-US" sz="2000" dirty="0" err="1">
                <a:solidFill>
                  <a:schemeClr val="tx1"/>
                </a:solidFill>
                <a:latin typeface="+mj-lt"/>
              </a:rPr>
              <a:t>cầu</a:t>
            </a:r>
            <a:r>
              <a:rPr lang="en-US" sz="2000" dirty="0">
                <a:solidFill>
                  <a:schemeClr val="tx1"/>
                </a:solidFill>
                <a:latin typeface="+mj-lt"/>
              </a:rPr>
              <a:t> </a:t>
            </a:r>
            <a:r>
              <a:rPr lang="en-US" sz="2000" dirty="0" err="1">
                <a:solidFill>
                  <a:schemeClr val="tx1"/>
                </a:solidFill>
                <a:latin typeface="+mj-lt"/>
              </a:rPr>
              <a:t>quản</a:t>
            </a:r>
            <a:r>
              <a:rPr lang="en-US" sz="2000" dirty="0">
                <a:solidFill>
                  <a:schemeClr val="tx1"/>
                </a:solidFill>
                <a:latin typeface="+mj-lt"/>
              </a:rPr>
              <a:t> </a:t>
            </a:r>
            <a:r>
              <a:rPr lang="en-US" sz="2000" dirty="0" err="1">
                <a:solidFill>
                  <a:schemeClr val="tx1"/>
                </a:solidFill>
                <a:latin typeface="+mj-lt"/>
              </a:rPr>
              <a:t>ly</a:t>
            </a:r>
            <a:r>
              <a:rPr lang="en-US" sz="2000" dirty="0">
                <a:solidFill>
                  <a:schemeClr val="tx1"/>
                </a:solidFill>
                <a:latin typeface="+mj-lt"/>
              </a:rPr>
              <a:t>́. </a:t>
            </a:r>
            <a:r>
              <a:rPr lang="en-US" sz="2000" dirty="0" err="1">
                <a:solidFill>
                  <a:schemeClr val="tx1"/>
                </a:solidFill>
                <a:latin typeface="+mj-lt"/>
              </a:rPr>
              <a:t>Trường</a:t>
            </a:r>
            <a:r>
              <a:rPr lang="en-US" sz="2000" dirty="0">
                <a:solidFill>
                  <a:schemeClr val="tx1"/>
                </a:solidFill>
                <a:latin typeface="+mj-lt"/>
              </a:rPr>
              <a:t> </a:t>
            </a:r>
            <a:r>
              <a:rPr lang="en-US" sz="2000" dirty="0" err="1">
                <a:solidFill>
                  <a:schemeClr val="tx1"/>
                </a:solidFill>
                <a:latin typeface="+mj-lt"/>
              </a:rPr>
              <a:t>hợp</a:t>
            </a:r>
            <a:r>
              <a:rPr lang="en-US" sz="2000" dirty="0">
                <a:solidFill>
                  <a:schemeClr val="tx1"/>
                </a:solidFill>
                <a:latin typeface="+mj-lt"/>
              </a:rPr>
              <a:t> </a:t>
            </a:r>
            <a:r>
              <a:rPr lang="en-US" sz="2000" dirty="0" err="1">
                <a:solidFill>
                  <a:schemeClr val="tx1"/>
                </a:solidFill>
                <a:latin typeface="+mj-lt"/>
              </a:rPr>
              <a:t>người</a:t>
            </a:r>
            <a:r>
              <a:rPr lang="en-US" sz="2000" dirty="0">
                <a:solidFill>
                  <a:schemeClr val="tx1"/>
                </a:solidFill>
                <a:latin typeface="+mj-lt"/>
              </a:rPr>
              <a:t> </a:t>
            </a:r>
            <a:r>
              <a:rPr lang="en-US" sz="2000" dirty="0" err="1">
                <a:solidFill>
                  <a:schemeClr val="tx1"/>
                </a:solidFill>
                <a:latin typeface="+mj-lt"/>
              </a:rPr>
              <a:t>bán</a:t>
            </a:r>
            <a:r>
              <a:rPr lang="en-US" sz="2000" dirty="0">
                <a:solidFill>
                  <a:schemeClr val="tx1"/>
                </a:solidFill>
                <a:latin typeface="+mj-lt"/>
              </a:rPr>
              <a:t> </a:t>
            </a:r>
            <a:r>
              <a:rPr lang="en-US" sz="2000" dirty="0" err="1">
                <a:solidFill>
                  <a:schemeClr val="tx1"/>
                </a:solidFill>
                <a:latin typeface="+mj-lt"/>
              </a:rPr>
              <a:t>sử</a:t>
            </a:r>
            <a:r>
              <a:rPr lang="en-US" sz="2000" dirty="0">
                <a:solidFill>
                  <a:schemeClr val="tx1"/>
                </a:solidFill>
                <a:latin typeface="+mj-lt"/>
              </a:rPr>
              <a:t> </a:t>
            </a:r>
            <a:r>
              <a:rPr lang="en-US" sz="2000" dirty="0" err="1">
                <a:solidFill>
                  <a:schemeClr val="tx1"/>
                </a:solidFill>
                <a:latin typeface="+mj-lt"/>
              </a:rPr>
              <a:t>dụng</a:t>
            </a:r>
            <a:r>
              <a:rPr lang="en-US" sz="2000" dirty="0">
                <a:solidFill>
                  <a:schemeClr val="tx1"/>
                </a:solidFill>
                <a:latin typeface="+mj-lt"/>
              </a:rPr>
              <a:t> </a:t>
            </a:r>
            <a:r>
              <a:rPr lang="en-US" sz="2000" dirty="0" err="1">
                <a:solidFill>
                  <a:schemeClr val="tx1"/>
                </a:solidFill>
                <a:latin typeface="+mj-lt"/>
              </a:rPr>
              <a:t>nhiều</a:t>
            </a:r>
            <a:r>
              <a:rPr lang="en-US" sz="2000" dirty="0">
                <a:solidFill>
                  <a:schemeClr val="tx1"/>
                </a:solidFill>
                <a:latin typeface="+mj-lt"/>
              </a:rPr>
              <a:t> </a:t>
            </a:r>
            <a:r>
              <a:rPr lang="en-US" sz="2000" dirty="0" err="1">
                <a:solidFill>
                  <a:schemeClr val="tx1"/>
                </a:solidFill>
                <a:latin typeface="+mj-lt"/>
              </a:rPr>
              <a:t>mẫu</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trong</a:t>
            </a:r>
            <a:r>
              <a:rPr lang="en-US" sz="2000" dirty="0">
                <a:solidFill>
                  <a:schemeClr val="tx1"/>
                </a:solidFill>
                <a:latin typeface="+mj-lt"/>
              </a:rPr>
              <a:t> </a:t>
            </a:r>
            <a:r>
              <a:rPr lang="en-US" sz="2000" dirty="0" err="1">
                <a:solidFill>
                  <a:schemeClr val="tx1"/>
                </a:solidFill>
                <a:latin typeface="+mj-lt"/>
              </a:rPr>
              <a:t>cùng</a:t>
            </a:r>
            <a:r>
              <a:rPr lang="en-US" sz="2000" dirty="0">
                <a:solidFill>
                  <a:schemeClr val="tx1"/>
                </a:solidFill>
                <a:latin typeface="+mj-lt"/>
              </a:rPr>
              <a:t> </a:t>
            </a:r>
            <a:r>
              <a:rPr lang="en-US" sz="2000" dirty="0" err="1">
                <a:solidFill>
                  <a:schemeClr val="tx1"/>
                </a:solidFill>
                <a:latin typeface="+mj-lt"/>
              </a:rPr>
              <a:t>một</a:t>
            </a:r>
            <a:r>
              <a:rPr lang="en-US" sz="2000" dirty="0">
                <a:solidFill>
                  <a:schemeClr val="tx1"/>
                </a:solidFill>
                <a:latin typeface="+mj-lt"/>
              </a:rPr>
              <a:t> </a:t>
            </a:r>
            <a:r>
              <a:rPr lang="en-US" sz="2000" dirty="0" err="1">
                <a:solidFill>
                  <a:schemeClr val="tx1"/>
                </a:solidFill>
                <a:latin typeface="+mj-lt"/>
              </a:rPr>
              <a:t>loại</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thì</a:t>
            </a:r>
            <a:r>
              <a:rPr lang="en-US" sz="2000" dirty="0">
                <a:solidFill>
                  <a:schemeClr val="tx1"/>
                </a:solidFill>
                <a:latin typeface="+mj-lt"/>
              </a:rPr>
              <a:t> </a:t>
            </a:r>
            <a:r>
              <a:rPr lang="en-US" sz="2000" dirty="0" err="1">
                <a:solidFill>
                  <a:schemeClr val="tx1"/>
                </a:solidFill>
                <a:latin typeface="+mj-lt"/>
              </a:rPr>
              <a:t>sử</a:t>
            </a:r>
            <a:r>
              <a:rPr lang="en-US" sz="2000" dirty="0">
                <a:solidFill>
                  <a:schemeClr val="tx1"/>
                </a:solidFill>
                <a:latin typeface="+mj-lt"/>
              </a:rPr>
              <a:t> </a:t>
            </a:r>
            <a:r>
              <a:rPr lang="en-US" sz="2000" dirty="0" err="1">
                <a:solidFill>
                  <a:schemeClr val="tx1"/>
                </a:solidFill>
                <a:latin typeface="+mj-lt"/>
              </a:rPr>
              <a:t>dụng</a:t>
            </a:r>
            <a:r>
              <a:rPr lang="en-US" sz="2000" dirty="0">
                <a:solidFill>
                  <a:schemeClr val="tx1"/>
                </a:solidFill>
                <a:latin typeface="+mj-lt"/>
              </a:rPr>
              <a:t> </a:t>
            </a:r>
            <a:r>
              <a:rPr lang="en-US" sz="2000" dirty="0" err="1">
                <a:solidFill>
                  <a:schemeClr val="tx1"/>
                </a:solidFill>
                <a:latin typeface="+mj-lt"/>
              </a:rPr>
              <a:t>hai</a:t>
            </a:r>
            <a:r>
              <a:rPr lang="en-US" sz="2000" dirty="0">
                <a:solidFill>
                  <a:schemeClr val="tx1"/>
                </a:solidFill>
                <a:latin typeface="+mj-lt"/>
              </a:rPr>
              <a:t> </a:t>
            </a:r>
            <a:r>
              <a:rPr lang="en-US" sz="2000" dirty="0" err="1">
                <a:solidFill>
                  <a:schemeClr val="tx1"/>
                </a:solidFill>
                <a:latin typeface="+mj-lt"/>
              </a:rPr>
              <a:t>ký</a:t>
            </a:r>
            <a:r>
              <a:rPr lang="en-US" sz="2000" dirty="0">
                <a:solidFill>
                  <a:schemeClr val="tx1"/>
                </a:solidFill>
                <a:latin typeface="+mj-lt"/>
              </a:rPr>
              <a:t> </a:t>
            </a:r>
            <a:r>
              <a:rPr lang="en-US" sz="2000" dirty="0" err="1">
                <a:solidFill>
                  <a:schemeClr val="tx1"/>
                </a:solidFill>
                <a:latin typeface="+mj-lt"/>
              </a:rPr>
              <a:t>tự</a:t>
            </a:r>
            <a:r>
              <a:rPr lang="en-US" sz="2000" dirty="0">
                <a:solidFill>
                  <a:schemeClr val="tx1"/>
                </a:solidFill>
                <a:latin typeface="+mj-lt"/>
              </a:rPr>
              <a:t> </a:t>
            </a:r>
            <a:r>
              <a:rPr lang="en-US" sz="2000" dirty="0" err="1">
                <a:solidFill>
                  <a:schemeClr val="tx1"/>
                </a:solidFill>
                <a:latin typeface="+mj-lt"/>
              </a:rPr>
              <a:t>cuối</a:t>
            </a:r>
            <a:r>
              <a:rPr lang="en-US" sz="2000" dirty="0">
                <a:solidFill>
                  <a:schemeClr val="tx1"/>
                </a:solidFill>
                <a:latin typeface="+mj-lt"/>
              </a:rPr>
              <a:t> </a:t>
            </a:r>
            <a:r>
              <a:rPr lang="en-US" sz="2000" dirty="0" err="1">
                <a:solidFill>
                  <a:schemeClr val="tx1"/>
                </a:solidFill>
                <a:latin typeface="+mj-lt"/>
              </a:rPr>
              <a:t>nêu</a:t>
            </a:r>
            <a:r>
              <a:rPr lang="en-US" sz="2000" dirty="0">
                <a:solidFill>
                  <a:schemeClr val="tx1"/>
                </a:solidFill>
                <a:latin typeface="+mj-lt"/>
              </a:rPr>
              <a:t> </a:t>
            </a:r>
            <a:r>
              <a:rPr lang="en-US" sz="2000" dirty="0" err="1">
                <a:solidFill>
                  <a:schemeClr val="tx1"/>
                </a:solidFill>
                <a:latin typeface="+mj-lt"/>
              </a:rPr>
              <a:t>trên</a:t>
            </a:r>
            <a:r>
              <a:rPr lang="en-US" sz="2000" dirty="0">
                <a:solidFill>
                  <a:schemeClr val="tx1"/>
                </a:solidFill>
                <a:latin typeface="+mj-lt"/>
              </a:rPr>
              <a:t> </a:t>
            </a:r>
            <a:r>
              <a:rPr lang="en-US" sz="2000" dirty="0" err="1">
                <a:solidFill>
                  <a:schemeClr val="tx1"/>
                </a:solidFill>
                <a:latin typeface="+mj-lt"/>
              </a:rPr>
              <a:t>để</a:t>
            </a:r>
            <a:r>
              <a:rPr lang="en-US" sz="2000" dirty="0">
                <a:solidFill>
                  <a:schemeClr val="tx1"/>
                </a:solidFill>
                <a:latin typeface="+mj-lt"/>
              </a:rPr>
              <a:t> </a:t>
            </a:r>
            <a:r>
              <a:rPr lang="en-US" sz="2000" dirty="0" err="1">
                <a:solidFill>
                  <a:schemeClr val="tx1"/>
                </a:solidFill>
                <a:latin typeface="+mj-lt"/>
              </a:rPr>
              <a:t>phân</a:t>
            </a:r>
            <a:r>
              <a:rPr lang="en-US" sz="2000" dirty="0">
                <a:solidFill>
                  <a:schemeClr val="tx1"/>
                </a:solidFill>
                <a:latin typeface="+mj-lt"/>
              </a:rPr>
              <a:t> </a:t>
            </a:r>
            <a:r>
              <a:rPr lang="en-US" sz="2000" dirty="0" err="1">
                <a:solidFill>
                  <a:schemeClr val="tx1"/>
                </a:solidFill>
                <a:latin typeface="+mj-lt"/>
              </a:rPr>
              <a:t>biệt</a:t>
            </a:r>
            <a:r>
              <a:rPr lang="en-US" sz="2000" dirty="0">
                <a:solidFill>
                  <a:schemeClr val="tx1"/>
                </a:solidFill>
                <a:latin typeface="+mj-lt"/>
              </a:rPr>
              <a:t> </a:t>
            </a:r>
            <a:r>
              <a:rPr lang="en-US" sz="2000" dirty="0" err="1">
                <a:solidFill>
                  <a:schemeClr val="tx1"/>
                </a:solidFill>
                <a:latin typeface="+mj-lt"/>
              </a:rPr>
              <a:t>các</a:t>
            </a:r>
            <a:r>
              <a:rPr lang="en-US" sz="2000" dirty="0">
                <a:solidFill>
                  <a:schemeClr val="tx1"/>
                </a:solidFill>
                <a:latin typeface="+mj-lt"/>
              </a:rPr>
              <a:t> </a:t>
            </a:r>
            <a:r>
              <a:rPr lang="en-US" sz="2000" dirty="0" err="1">
                <a:solidFill>
                  <a:schemeClr val="tx1"/>
                </a:solidFill>
                <a:latin typeface="+mj-lt"/>
              </a:rPr>
              <a:t>mẫu</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khác</a:t>
            </a:r>
            <a:r>
              <a:rPr lang="en-US" sz="2000" dirty="0">
                <a:solidFill>
                  <a:schemeClr val="tx1"/>
                </a:solidFill>
                <a:latin typeface="+mj-lt"/>
              </a:rPr>
              <a:t> </a:t>
            </a:r>
            <a:r>
              <a:rPr lang="en-US" sz="2000" dirty="0" err="1">
                <a:solidFill>
                  <a:schemeClr val="tx1"/>
                </a:solidFill>
                <a:latin typeface="+mj-lt"/>
              </a:rPr>
              <a:t>nhau</a:t>
            </a:r>
            <a:r>
              <a:rPr lang="en-US" sz="2000" dirty="0">
                <a:solidFill>
                  <a:schemeClr val="tx1"/>
                </a:solidFill>
                <a:latin typeface="+mj-lt"/>
              </a:rPr>
              <a:t> </a:t>
            </a:r>
            <a:r>
              <a:rPr lang="en-US" sz="2000" dirty="0" err="1">
                <a:solidFill>
                  <a:schemeClr val="tx1"/>
                </a:solidFill>
                <a:latin typeface="+mj-lt"/>
              </a:rPr>
              <a:t>trong</a:t>
            </a:r>
            <a:r>
              <a:rPr lang="en-US" sz="2000" dirty="0">
                <a:solidFill>
                  <a:schemeClr val="tx1"/>
                </a:solidFill>
                <a:latin typeface="+mj-lt"/>
              </a:rPr>
              <a:t> </a:t>
            </a:r>
            <a:r>
              <a:rPr lang="en-US" sz="2000" dirty="0" err="1">
                <a:solidFill>
                  <a:schemeClr val="tx1"/>
                </a:solidFill>
                <a:latin typeface="+mj-lt"/>
              </a:rPr>
              <a:t>cùng</a:t>
            </a:r>
            <a:r>
              <a:rPr lang="en-US" sz="2000" dirty="0">
                <a:solidFill>
                  <a:schemeClr val="tx1"/>
                </a:solidFill>
                <a:latin typeface="+mj-lt"/>
              </a:rPr>
              <a:t> </a:t>
            </a:r>
            <a:r>
              <a:rPr lang="en-US" sz="2000" dirty="0" err="1">
                <a:solidFill>
                  <a:schemeClr val="tx1"/>
                </a:solidFill>
                <a:latin typeface="+mj-lt"/>
              </a:rPr>
              <a:t>một</a:t>
            </a:r>
            <a:r>
              <a:rPr lang="en-US" sz="2000" dirty="0">
                <a:solidFill>
                  <a:schemeClr val="tx1"/>
                </a:solidFill>
                <a:latin typeface="+mj-lt"/>
              </a:rPr>
              <a:t> </a:t>
            </a:r>
            <a:r>
              <a:rPr lang="en-US" sz="2000" dirty="0" err="1">
                <a:solidFill>
                  <a:schemeClr val="tx1"/>
                </a:solidFill>
                <a:latin typeface="+mj-lt"/>
              </a:rPr>
              <a:t>loại</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Trường</a:t>
            </a:r>
            <a:r>
              <a:rPr lang="en-US" sz="2000" dirty="0">
                <a:solidFill>
                  <a:schemeClr val="tx1"/>
                </a:solidFill>
                <a:latin typeface="+mj-lt"/>
              </a:rPr>
              <a:t> </a:t>
            </a:r>
            <a:r>
              <a:rPr lang="en-US" sz="2000" dirty="0" err="1">
                <a:solidFill>
                  <a:schemeClr val="tx1"/>
                </a:solidFill>
                <a:latin typeface="+mj-lt"/>
              </a:rPr>
              <a:t>hợp</a:t>
            </a:r>
            <a:r>
              <a:rPr lang="en-US" sz="2000" dirty="0">
                <a:solidFill>
                  <a:schemeClr val="tx1"/>
                </a:solidFill>
                <a:latin typeface="+mj-lt"/>
              </a:rPr>
              <a:t> </a:t>
            </a:r>
            <a:r>
              <a:rPr lang="en-US" sz="2000" dirty="0" err="1">
                <a:solidFill>
                  <a:schemeClr val="tx1"/>
                </a:solidFill>
                <a:latin typeface="+mj-lt"/>
              </a:rPr>
              <a:t>không</a:t>
            </a:r>
            <a:r>
              <a:rPr lang="en-US" sz="2000" dirty="0">
                <a:solidFill>
                  <a:schemeClr val="tx1"/>
                </a:solidFill>
                <a:latin typeface="+mj-lt"/>
              </a:rPr>
              <a: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nhu</a:t>
            </a:r>
            <a:r>
              <a:rPr lang="en-US" sz="2000" dirty="0">
                <a:solidFill>
                  <a:schemeClr val="tx1"/>
                </a:solidFill>
                <a:latin typeface="+mj-lt"/>
              </a:rPr>
              <a:t> </a:t>
            </a:r>
            <a:r>
              <a:rPr lang="en-US" sz="2000" dirty="0" err="1">
                <a:solidFill>
                  <a:schemeClr val="tx1"/>
                </a:solidFill>
                <a:latin typeface="+mj-lt"/>
              </a:rPr>
              <a:t>cầu</a:t>
            </a:r>
            <a:r>
              <a:rPr lang="en-US" sz="2000" dirty="0">
                <a:solidFill>
                  <a:schemeClr val="tx1"/>
                </a:solidFill>
                <a:latin typeface="+mj-lt"/>
              </a:rPr>
              <a:t> </a:t>
            </a:r>
            <a:r>
              <a:rPr lang="en-US" sz="2000" dirty="0" err="1">
                <a:solidFill>
                  <a:schemeClr val="tx1"/>
                </a:solidFill>
                <a:latin typeface="+mj-lt"/>
              </a:rPr>
              <a:t>quản</a:t>
            </a:r>
            <a:r>
              <a:rPr lang="en-US" sz="2000" dirty="0">
                <a:solidFill>
                  <a:schemeClr val="tx1"/>
                </a:solidFill>
                <a:latin typeface="+mj-lt"/>
              </a:rPr>
              <a:t> </a:t>
            </a:r>
            <a:r>
              <a:rPr lang="en-US" sz="2000" dirty="0" err="1">
                <a:solidFill>
                  <a:schemeClr val="tx1"/>
                </a:solidFill>
                <a:latin typeface="+mj-lt"/>
              </a:rPr>
              <a:t>lý</a:t>
            </a:r>
            <a:r>
              <a:rPr lang="en-US" sz="2000" dirty="0">
                <a:solidFill>
                  <a:schemeClr val="tx1"/>
                </a:solidFill>
                <a:latin typeface="+mj-lt"/>
              </a:rPr>
              <a:t> </a:t>
            </a:r>
            <a:r>
              <a:rPr lang="en-US" sz="2000" dirty="0" err="1">
                <a:solidFill>
                  <a:schemeClr val="tx1"/>
                </a:solidFill>
                <a:latin typeface="+mj-lt"/>
              </a:rPr>
              <a:t>thì</a:t>
            </a:r>
            <a:r>
              <a:rPr lang="en-US" sz="2000" dirty="0">
                <a:solidFill>
                  <a:schemeClr val="tx1"/>
                </a:solidFill>
                <a:latin typeface="+mj-lt"/>
              </a:rPr>
              <a:t> </a:t>
            </a:r>
            <a:r>
              <a:rPr lang="en-US" sz="2000" dirty="0" err="1">
                <a:solidFill>
                  <a:schemeClr val="tx1"/>
                </a:solidFill>
                <a:latin typeface="+mj-lt"/>
              </a:rPr>
              <a:t>để</a:t>
            </a:r>
            <a:r>
              <a:rPr lang="en-US" sz="2000" dirty="0">
                <a:solidFill>
                  <a:schemeClr val="tx1"/>
                </a:solidFill>
                <a:latin typeface="+mj-lt"/>
              </a:rPr>
              <a:t> </a:t>
            </a:r>
            <a:r>
              <a:rPr lang="en-US" sz="2000" dirty="0" err="1">
                <a:solidFill>
                  <a:schemeClr val="tx1"/>
                </a:solidFill>
                <a:latin typeface="+mj-lt"/>
              </a:rPr>
              <a:t>là</a:t>
            </a:r>
            <a:r>
              <a:rPr lang="en-US" sz="2000" dirty="0">
                <a:solidFill>
                  <a:schemeClr val="tx1"/>
                </a:solidFill>
                <a:latin typeface="+mj-lt"/>
              </a:rPr>
              <a:t> YY;</a:t>
            </a:r>
            <a:endParaRPr lang="vi-VN" sz="2000" dirty="0">
              <a:solidFill>
                <a:schemeClr val="tx1"/>
              </a:solidFill>
              <a:latin typeface="+mj-lt"/>
            </a:endParaRPr>
          </a:p>
          <a:p>
            <a:pPr>
              <a:buFontTx/>
              <a:buChar char="-"/>
            </a:pPr>
            <a:r>
              <a:rPr lang="en-US" sz="2000" dirty="0">
                <a:solidFill>
                  <a:schemeClr val="tx1"/>
                </a:solidFill>
                <a:latin typeface="+mj-lt"/>
              </a:rPr>
              <a:t>- </a:t>
            </a:r>
            <a:r>
              <a:rPr lang="en-US" sz="2000" dirty="0" err="1">
                <a:solidFill>
                  <a:schemeClr val="tx1"/>
                </a:solidFill>
                <a:latin typeface="+mj-lt"/>
              </a:rPr>
              <a:t>Tại</a:t>
            </a:r>
            <a:r>
              <a:rPr lang="en-US" sz="2000" dirty="0">
                <a:solidFill>
                  <a:schemeClr val="tx1"/>
                </a:solidFill>
                <a:latin typeface="+mj-lt"/>
              </a:rPr>
              <a:t> </a:t>
            </a:r>
            <a:r>
              <a:rPr lang="en-US" sz="2000" dirty="0" err="1">
                <a:solidFill>
                  <a:schemeClr val="tx1"/>
                </a:solidFill>
                <a:latin typeface="+mj-lt"/>
              </a:rPr>
              <a:t>bản</a:t>
            </a:r>
            <a:r>
              <a:rPr lang="en-US" sz="2000" dirty="0">
                <a:solidFill>
                  <a:schemeClr val="tx1"/>
                </a:solidFill>
                <a:latin typeface="+mj-lt"/>
              </a:rPr>
              <a:t> </a:t>
            </a:r>
            <a:r>
              <a:rPr lang="en-US" sz="2000" dirty="0" err="1">
                <a:solidFill>
                  <a:schemeClr val="tx1"/>
                </a:solidFill>
                <a:latin typeface="+mj-lt"/>
              </a:rPr>
              <a:t>thể</a:t>
            </a:r>
            <a:r>
              <a:rPr lang="en-US" sz="2000" dirty="0">
                <a:solidFill>
                  <a:schemeClr val="tx1"/>
                </a:solidFill>
                <a:latin typeface="+mj-lt"/>
              </a:rPr>
              <a:t> </a:t>
            </a:r>
            <a:r>
              <a:rPr lang="en-US" sz="2000" dirty="0" err="1">
                <a:solidFill>
                  <a:schemeClr val="tx1"/>
                </a:solidFill>
                <a:latin typeface="+mj-lt"/>
              </a:rPr>
              <a:t>hiện</a:t>
            </a:r>
            <a:r>
              <a:rPr lang="en-US" sz="2000" dirty="0">
                <a:solidFill>
                  <a:schemeClr val="tx1"/>
                </a:solidFill>
                <a:latin typeface="+mj-lt"/>
              </a:rPr>
              <a:t>, </a:t>
            </a:r>
            <a:r>
              <a:rPr lang="en-US" sz="2000" dirty="0" err="1">
                <a:solidFill>
                  <a:schemeClr val="tx1"/>
                </a:solidFill>
                <a:latin typeface="+mj-lt"/>
              </a:rPr>
              <a:t>ký</a:t>
            </a:r>
            <a:r>
              <a:rPr lang="en-US" sz="2000" dirty="0">
                <a:solidFill>
                  <a:schemeClr val="tx1"/>
                </a:solidFill>
                <a:latin typeface="+mj-lt"/>
              </a:rPr>
              <a:t> </a:t>
            </a:r>
            <a:r>
              <a:rPr lang="en-US" sz="2000" dirty="0" err="1">
                <a:solidFill>
                  <a:schemeClr val="tx1"/>
                </a:solidFill>
                <a:latin typeface="+mj-lt"/>
              </a:rPr>
              <a:t>hiệu</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và</a:t>
            </a:r>
            <a:r>
              <a:rPr lang="en-US" sz="2000" dirty="0">
                <a:solidFill>
                  <a:schemeClr val="tx1"/>
                </a:solidFill>
                <a:latin typeface="+mj-lt"/>
              </a:rPr>
              <a:t> </a:t>
            </a:r>
            <a:r>
              <a:rPr lang="en-US" sz="2000" dirty="0" err="1">
                <a:solidFill>
                  <a:schemeClr val="tx1"/>
                </a:solidFill>
                <a:latin typeface="+mj-lt"/>
              </a:rPr>
              <a:t>ký</a:t>
            </a:r>
            <a:r>
              <a:rPr lang="en-US" sz="2000" dirty="0">
                <a:solidFill>
                  <a:schemeClr val="tx1"/>
                </a:solidFill>
                <a:latin typeface="+mj-lt"/>
              </a:rPr>
              <a:t> </a:t>
            </a:r>
            <a:r>
              <a:rPr lang="en-US" sz="2000" dirty="0" err="1">
                <a:solidFill>
                  <a:schemeClr val="tx1"/>
                </a:solidFill>
                <a:latin typeface="+mj-lt"/>
              </a:rPr>
              <a:t>hiệu</a:t>
            </a:r>
            <a:r>
              <a:rPr lang="en-US" sz="2000" dirty="0">
                <a:solidFill>
                  <a:schemeClr val="tx1"/>
                </a:solidFill>
                <a:latin typeface="+mj-lt"/>
              </a:rPr>
              <a:t> </a:t>
            </a:r>
            <a:r>
              <a:rPr lang="en-US" sz="2000" dirty="0" err="1">
                <a:solidFill>
                  <a:schemeClr val="tx1"/>
                </a:solidFill>
                <a:latin typeface="+mj-lt"/>
              </a:rPr>
              <a:t>mẫu</a:t>
            </a:r>
            <a:r>
              <a:rPr lang="en-US" sz="2000" dirty="0">
                <a:solidFill>
                  <a:schemeClr val="tx1"/>
                </a:solidFill>
                <a:latin typeface="+mj-lt"/>
              </a:rPr>
              <a:t> </a:t>
            </a:r>
            <a:r>
              <a:rPr lang="en-US" sz="2000" dirty="0" err="1">
                <a:solidFill>
                  <a:schemeClr val="tx1"/>
                </a:solidFill>
                <a:latin typeface="+mj-lt"/>
              </a:rPr>
              <a:t>số</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điện</a:t>
            </a:r>
            <a:r>
              <a:rPr lang="en-US" sz="2000" dirty="0">
                <a:solidFill>
                  <a:schemeClr val="tx1"/>
                </a:solidFill>
                <a:latin typeface="+mj-lt"/>
              </a:rPr>
              <a:t> </a:t>
            </a:r>
            <a:r>
              <a:rPr lang="en-US" sz="2000" dirty="0" err="1">
                <a:solidFill>
                  <a:schemeClr val="tx1"/>
                </a:solidFill>
                <a:latin typeface="+mj-lt"/>
              </a:rPr>
              <a:t>tử</a:t>
            </a:r>
            <a:r>
              <a:rPr lang="en-US" sz="2000" dirty="0">
                <a:solidFill>
                  <a:schemeClr val="tx1"/>
                </a:solidFill>
                <a:latin typeface="+mj-lt"/>
              </a:rPr>
              <a:t> </a:t>
            </a:r>
            <a:r>
              <a:rPr lang="en-US" sz="2000" dirty="0" err="1">
                <a:solidFill>
                  <a:schemeClr val="tx1"/>
                </a:solidFill>
                <a:latin typeface="+mj-lt"/>
              </a:rPr>
              <a:t>được</a:t>
            </a:r>
            <a:r>
              <a:rPr lang="en-US" sz="2000" dirty="0">
                <a:solidFill>
                  <a:schemeClr val="tx1"/>
                </a:solidFill>
                <a:latin typeface="+mj-lt"/>
              </a:rPr>
              <a:t> </a:t>
            </a:r>
            <a:r>
              <a:rPr lang="en-US" sz="2000" dirty="0" err="1">
                <a:solidFill>
                  <a:schemeClr val="tx1"/>
                </a:solidFill>
                <a:latin typeface="+mj-lt"/>
              </a:rPr>
              <a:t>thể</a:t>
            </a:r>
            <a:r>
              <a:rPr lang="en-US" sz="2000" dirty="0">
                <a:solidFill>
                  <a:schemeClr val="tx1"/>
                </a:solidFill>
                <a:latin typeface="+mj-lt"/>
              </a:rPr>
              <a:t> </a:t>
            </a:r>
            <a:r>
              <a:rPr lang="en-US" sz="2000" dirty="0" err="1">
                <a:solidFill>
                  <a:schemeClr val="tx1"/>
                </a:solidFill>
                <a:latin typeface="+mj-lt"/>
              </a:rPr>
              <a:t>hiện</a:t>
            </a:r>
            <a:r>
              <a:rPr lang="en-US" sz="2000" dirty="0">
                <a:solidFill>
                  <a:schemeClr val="tx1"/>
                </a:solidFill>
                <a:latin typeface="+mj-lt"/>
              </a:rPr>
              <a:t> ở </a:t>
            </a:r>
            <a:r>
              <a:rPr lang="en-US" sz="2000" dirty="0" err="1">
                <a:solidFill>
                  <a:schemeClr val="tx1"/>
                </a:solidFill>
                <a:latin typeface="+mj-lt"/>
              </a:rPr>
              <a:t>phía</a:t>
            </a:r>
            <a:r>
              <a:rPr lang="en-US" sz="2000" dirty="0">
                <a:solidFill>
                  <a:schemeClr val="tx1"/>
                </a:solidFill>
                <a:latin typeface="+mj-lt"/>
              </a:rPr>
              <a:t> </a:t>
            </a:r>
            <a:r>
              <a:rPr lang="en-US" sz="2000" dirty="0" err="1">
                <a:solidFill>
                  <a:schemeClr val="tx1"/>
                </a:solidFill>
                <a:latin typeface="+mj-lt"/>
              </a:rPr>
              <a:t>trên</a:t>
            </a:r>
            <a:r>
              <a:rPr lang="en-US" sz="2000" dirty="0">
                <a:solidFill>
                  <a:schemeClr val="tx1"/>
                </a:solidFill>
                <a:latin typeface="+mj-lt"/>
              </a:rPr>
              <a:t> </a:t>
            </a:r>
            <a:r>
              <a:rPr lang="en-US" sz="2000" dirty="0" err="1">
                <a:solidFill>
                  <a:schemeClr val="tx1"/>
                </a:solidFill>
                <a:latin typeface="+mj-lt"/>
              </a:rPr>
              <a:t>bên</a:t>
            </a:r>
            <a:r>
              <a:rPr lang="en-US" sz="2000" dirty="0">
                <a:solidFill>
                  <a:schemeClr val="tx1"/>
                </a:solidFill>
                <a:latin typeface="+mj-lt"/>
              </a:rPr>
              <a:t> </a:t>
            </a:r>
            <a:r>
              <a:rPr lang="en-US" sz="2000" dirty="0" err="1">
                <a:solidFill>
                  <a:schemeClr val="tx1"/>
                </a:solidFill>
                <a:latin typeface="+mj-lt"/>
              </a:rPr>
              <a:t>phải</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a:t>
            </a:r>
            <a:r>
              <a:rPr lang="en-US" sz="2000" dirty="0" err="1">
                <a:solidFill>
                  <a:schemeClr val="tx1"/>
                </a:solidFill>
                <a:latin typeface="+mj-lt"/>
              </a:rPr>
              <a:t>hóa</a:t>
            </a:r>
            <a:r>
              <a:rPr lang="en-US" sz="2000" dirty="0">
                <a:solidFill>
                  <a:schemeClr val="tx1"/>
                </a:solidFill>
                <a:latin typeface="+mj-lt"/>
              </a:rPr>
              <a:t> </a:t>
            </a:r>
            <a:r>
              <a:rPr lang="en-US" sz="2000" dirty="0" err="1">
                <a:solidFill>
                  <a:schemeClr val="tx1"/>
                </a:solidFill>
                <a:latin typeface="+mj-lt"/>
              </a:rPr>
              <a:t>đơn</a:t>
            </a:r>
            <a:r>
              <a:rPr lang="en-US" sz="2000" dirty="0">
                <a:solidFill>
                  <a:schemeClr val="tx1"/>
                </a:solidFill>
                <a:latin typeface="+mj-lt"/>
              </a:rPr>
              <a:t> (</a:t>
            </a:r>
            <a:r>
              <a:rPr lang="en-US" sz="2000" dirty="0" err="1">
                <a:solidFill>
                  <a:schemeClr val="tx1"/>
                </a:solidFill>
                <a:latin typeface="+mj-lt"/>
              </a:rPr>
              <a:t>hoặc</a:t>
            </a:r>
            <a:r>
              <a:rPr lang="en-US" sz="2000" dirty="0">
                <a:solidFill>
                  <a:schemeClr val="tx1"/>
                </a:solidFill>
                <a:latin typeface="+mj-lt"/>
              </a:rPr>
              <a:t> ở </a:t>
            </a:r>
            <a:r>
              <a:rPr lang="en-US" sz="2000" dirty="0" err="1">
                <a:solidFill>
                  <a:schemeClr val="tx1"/>
                </a:solidFill>
                <a:latin typeface="+mj-lt"/>
              </a:rPr>
              <a:t>vị</a:t>
            </a:r>
            <a:r>
              <a:rPr lang="en-US" sz="2000" dirty="0">
                <a:solidFill>
                  <a:schemeClr val="tx1"/>
                </a:solidFill>
                <a:latin typeface="+mj-lt"/>
              </a:rPr>
              <a:t> </a:t>
            </a:r>
            <a:r>
              <a:rPr lang="en-US" sz="2000" dirty="0" err="1">
                <a:solidFill>
                  <a:schemeClr val="tx1"/>
                </a:solidFill>
                <a:latin typeface="+mj-lt"/>
              </a:rPr>
              <a:t>trí</a:t>
            </a:r>
            <a:r>
              <a:rPr lang="en-US" sz="2000" dirty="0">
                <a:solidFill>
                  <a:schemeClr val="tx1"/>
                </a:solidFill>
                <a:latin typeface="+mj-lt"/>
              </a:rPr>
              <a:t> </a:t>
            </a:r>
            <a:r>
              <a:rPr lang="en-US" sz="2000" dirty="0" err="1">
                <a:solidFill>
                  <a:schemeClr val="tx1"/>
                </a:solidFill>
                <a:latin typeface="+mj-lt"/>
              </a:rPr>
              <a:t>dễ</a:t>
            </a:r>
            <a:r>
              <a:rPr lang="en-US" sz="2000" dirty="0">
                <a:solidFill>
                  <a:schemeClr val="tx1"/>
                </a:solidFill>
                <a:latin typeface="+mj-lt"/>
              </a:rPr>
              <a:t> </a:t>
            </a:r>
            <a:r>
              <a:rPr lang="en-US" sz="2000" dirty="0" err="1">
                <a:solidFill>
                  <a:schemeClr val="tx1"/>
                </a:solidFill>
                <a:latin typeface="+mj-lt"/>
              </a:rPr>
              <a:t>nhận</a:t>
            </a:r>
            <a:r>
              <a:rPr lang="en-US" sz="2000" dirty="0">
                <a:solidFill>
                  <a:schemeClr val="tx1"/>
                </a:solidFill>
                <a:latin typeface="+mj-lt"/>
              </a:rPr>
              <a:t> </a:t>
            </a:r>
            <a:r>
              <a:rPr lang="en-US" sz="2000" dirty="0" err="1">
                <a:solidFill>
                  <a:schemeClr val="tx1"/>
                </a:solidFill>
                <a:latin typeface="+mj-lt"/>
              </a:rPr>
              <a:t>biết</a:t>
            </a:r>
            <a:r>
              <a:rPr lang="en-US" sz="2000" dirty="0">
                <a:solidFill>
                  <a:schemeClr val="tx1"/>
                </a:solidFill>
                <a:latin typeface="+mj-lt"/>
              </a:rPr>
              <a:t>);</a:t>
            </a:r>
            <a:r>
              <a:rPr lang="en-US" sz="2000" dirty="0">
                <a:solidFill>
                  <a:schemeClr val="tx1"/>
                </a:solidFill>
                <a:latin typeface="Cambria" panose="02040503050406030204" pitchFamily="18" charset="0"/>
              </a:rPr>
              <a:t> VÍ DỤ:</a:t>
            </a:r>
          </a:p>
          <a:p>
            <a:pPr marL="0" indent="0" algn="ctr">
              <a:buNone/>
            </a:pPr>
            <a:r>
              <a:rPr lang="en-US" sz="4400" b="1" dirty="0">
                <a:solidFill>
                  <a:schemeClr val="tx1"/>
                </a:solidFill>
                <a:latin typeface="Cambria" panose="02040503050406030204" pitchFamily="18" charset="0"/>
              </a:rPr>
              <a:t>1C22TAA</a:t>
            </a:r>
          </a:p>
          <a:p>
            <a:pPr marL="0" indent="0">
              <a:buNone/>
            </a:pPr>
            <a:r>
              <a:rPr lang="en-US" sz="2000" dirty="0" err="1">
                <a:solidFill>
                  <a:schemeClr val="tx1"/>
                </a:solidFill>
                <a:latin typeface="Cambria" panose="02040503050406030204" pitchFamily="18" charset="0"/>
              </a:rPr>
              <a:t>Hóa</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đơn</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giá</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trị</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gia</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tăng</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có</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mã</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của</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cơ</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quan</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thuế</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được</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lập</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năm</a:t>
            </a:r>
            <a:r>
              <a:rPr lang="en-US" sz="2000" dirty="0">
                <a:solidFill>
                  <a:schemeClr val="tx1"/>
                </a:solidFill>
                <a:latin typeface="Cambria" panose="02040503050406030204" pitchFamily="18" charset="0"/>
              </a:rPr>
              <a:t> 2022 </a:t>
            </a:r>
            <a:r>
              <a:rPr lang="en-US" sz="2000" dirty="0" err="1">
                <a:solidFill>
                  <a:schemeClr val="tx1"/>
                </a:solidFill>
                <a:latin typeface="Cambria" panose="02040503050406030204" pitchFamily="18" charset="0"/>
              </a:rPr>
              <a:t>và</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là</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hóa</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đơn</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điện</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tử</a:t>
            </a:r>
            <a:r>
              <a:rPr lang="en-US" sz="2000" dirty="0">
                <a:solidFill>
                  <a:schemeClr val="tx1"/>
                </a:solidFill>
                <a:latin typeface="Cambria" panose="02040503050406030204" pitchFamily="18" charset="0"/>
              </a:rPr>
              <a:t> do </a:t>
            </a:r>
            <a:r>
              <a:rPr lang="en-US" sz="2000" dirty="0" err="1">
                <a:solidFill>
                  <a:schemeClr val="tx1"/>
                </a:solidFill>
                <a:latin typeface="Cambria" panose="02040503050406030204" pitchFamily="18" charset="0"/>
              </a:rPr>
              <a:t>doanh</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nghiệp</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tổ</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chức</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đăng</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ký</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sử</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dụng</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với</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cơ</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quan</a:t>
            </a:r>
            <a:r>
              <a:rPr lang="en-US" sz="2000" dirty="0">
                <a:solidFill>
                  <a:schemeClr val="tx1"/>
                </a:solidFill>
                <a:latin typeface="Cambria" panose="02040503050406030204" pitchFamily="18" charset="0"/>
              </a:rPr>
              <a:t> </a:t>
            </a:r>
            <a:r>
              <a:rPr lang="en-US" sz="2000" dirty="0" err="1">
                <a:solidFill>
                  <a:schemeClr val="tx1"/>
                </a:solidFill>
                <a:latin typeface="Cambria" panose="02040503050406030204" pitchFamily="18" charset="0"/>
              </a:rPr>
              <a:t>thuế</a:t>
            </a:r>
            <a:endParaRPr lang="vi-VN" sz="2000" dirty="0">
              <a:solidFill>
                <a:schemeClr val="tx1"/>
              </a:solidFill>
              <a:latin typeface="Cambria" panose="02040503050406030204" pitchFamily="18" charset="0"/>
            </a:endParaRPr>
          </a:p>
          <a:p>
            <a:pPr marL="0" indent="0" algn="just">
              <a:buNone/>
            </a:pPr>
            <a:endParaRPr lang="vi-VN" sz="2000" dirty="0">
              <a:solidFill>
                <a:schemeClr val="tx1"/>
              </a:solidFill>
              <a:latin typeface="+mj-lt"/>
            </a:endParaRPr>
          </a:p>
        </p:txBody>
      </p:sp>
      <p:sp>
        <p:nvSpPr>
          <p:cNvPr id="7" name="Title 1"/>
          <p:cNvSpPr txBox="1">
            <a:spLocks/>
          </p:cNvSpPr>
          <p:nvPr/>
        </p:nvSpPr>
        <p:spPr>
          <a:xfrm>
            <a:off x="795346" y="1000370"/>
            <a:ext cx="9511248" cy="726831"/>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1800" b="1" dirty="0">
                <a:solidFill>
                  <a:srgbClr val="C00000"/>
                </a:solidFill>
                <a:cs typeface="Times New Roman" panose="02020603050405020304" pitchFamily="18" charset="0"/>
              </a:rPr>
              <a:t>5. NỘI DUNG HÓA ĐƠN</a:t>
            </a:r>
            <a:br>
              <a:rPr lang="en-US" sz="1800" b="1" dirty="0">
                <a:solidFill>
                  <a:srgbClr val="C00000"/>
                </a:solidFill>
                <a:cs typeface="Times New Roman" panose="02020603050405020304" pitchFamily="18" charset="0"/>
              </a:rPr>
            </a:br>
            <a:r>
              <a:rPr lang="vi-VN" sz="1800" b="1" dirty="0">
                <a:solidFill>
                  <a:srgbClr val="C00000"/>
                </a:solidFill>
                <a:cs typeface="Times New Roman" panose="02020603050405020304" pitchFamily="18" charset="0"/>
              </a:rPr>
              <a:t> K</a:t>
            </a:r>
            <a:r>
              <a:rPr lang="en-US" sz="1800" b="1" dirty="0">
                <a:solidFill>
                  <a:srgbClr val="C00000"/>
                </a:solidFill>
                <a:cs typeface="Times New Roman" panose="02020603050405020304" pitchFamily="18" charset="0"/>
              </a:rPr>
              <a:t>Ý HIỆU MẪU SỐ HÓA ĐƠN, KÝ HIỆU HÓA ĐƠN – HÓA ĐƠN ĐIỆN TỬ (TIẾP THEO)</a:t>
            </a:r>
            <a:r>
              <a:rPr lang="en-US" sz="1800" b="1" dirty="0">
                <a:solidFill>
                  <a:srgbClr val="C00000"/>
                </a:solidFill>
              </a:rPr>
              <a:t/>
            </a:r>
            <a:br>
              <a:rPr lang="en-US" sz="1800" b="1" dirty="0">
                <a:solidFill>
                  <a:srgbClr val="C00000"/>
                </a:solidFill>
              </a:rPr>
            </a:br>
            <a:endParaRPr lang="vi-VN" sz="1800" b="1" dirty="0">
              <a:solidFill>
                <a:srgbClr val="C00000"/>
              </a:solidFill>
            </a:endParaRPr>
          </a:p>
        </p:txBody>
      </p:sp>
      <p:sp>
        <p:nvSpPr>
          <p:cNvPr id="8" name="Title 1"/>
          <p:cNvSpPr txBox="1">
            <a:spLocks/>
          </p:cNvSpPr>
          <p:nvPr/>
        </p:nvSpPr>
        <p:spPr>
          <a:xfrm>
            <a:off x="954718" y="195378"/>
            <a:ext cx="8772534"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5. NỘI DUNG HĐĐT</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2956401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795346" y="895839"/>
            <a:ext cx="9054048" cy="5555761"/>
          </a:xfrm>
        </p:spPr>
        <p:txBody>
          <a:bodyPr anchor="ctr" anchorCtr="0">
            <a:normAutofit/>
          </a:bodyPr>
          <a:lstStyle/>
          <a:p>
            <a:pPr marL="0" indent="0">
              <a:buNone/>
            </a:pPr>
            <a:r>
              <a:rPr lang="en-US" sz="2200" b="1" dirty="0">
                <a:solidFill>
                  <a:schemeClr val="tx1"/>
                </a:solidFill>
                <a:latin typeface="Cambria" panose="02040503050406030204" pitchFamily="18" charset="0"/>
              </a:rPr>
              <a:t>b) </a:t>
            </a:r>
            <a:r>
              <a:rPr lang="en-US" sz="2200" b="1" dirty="0" err="1">
                <a:solidFill>
                  <a:schemeClr val="tx1"/>
                </a:solidFill>
                <a:latin typeface="+mj-lt"/>
              </a:rPr>
              <a:t>Ký</a:t>
            </a:r>
            <a:r>
              <a:rPr lang="en-US" sz="2200" b="1" dirty="0">
                <a:solidFill>
                  <a:schemeClr val="tx1"/>
                </a:solidFill>
                <a:latin typeface="+mj-lt"/>
              </a:rPr>
              <a:t> </a:t>
            </a:r>
            <a:r>
              <a:rPr lang="en-US" sz="2200" b="1" dirty="0" err="1">
                <a:solidFill>
                  <a:schemeClr val="tx1"/>
                </a:solidFill>
                <a:latin typeface="+mj-lt"/>
              </a:rPr>
              <a:t>hiệu</a:t>
            </a:r>
            <a:r>
              <a:rPr lang="en-US" sz="2200" b="1" dirty="0">
                <a:solidFill>
                  <a:schemeClr val="tx1"/>
                </a:solidFill>
                <a:latin typeface="+mj-lt"/>
              </a:rPr>
              <a:t> </a:t>
            </a:r>
            <a:r>
              <a:rPr lang="en-US" sz="2200" b="1" dirty="0" err="1">
                <a:solidFill>
                  <a:schemeClr val="tx1"/>
                </a:solidFill>
                <a:latin typeface="+mj-lt"/>
              </a:rPr>
              <a:t>hóa</a:t>
            </a:r>
            <a:r>
              <a:rPr lang="en-US" sz="2200" b="1" dirty="0">
                <a:solidFill>
                  <a:schemeClr val="tx1"/>
                </a:solidFill>
                <a:latin typeface="+mj-lt"/>
              </a:rPr>
              <a:t> </a:t>
            </a:r>
            <a:r>
              <a:rPr lang="en-US" sz="2200" b="1" dirty="0" err="1">
                <a:solidFill>
                  <a:schemeClr val="tx1"/>
                </a:solidFill>
                <a:latin typeface="+mj-lt"/>
              </a:rPr>
              <a:t>đơn</a:t>
            </a:r>
            <a:r>
              <a:rPr lang="en-US" sz="2200" b="1" dirty="0">
                <a:solidFill>
                  <a:schemeClr val="tx1"/>
                </a:solidFill>
                <a:latin typeface="+mj-lt"/>
              </a:rPr>
              <a:t> (</a:t>
            </a:r>
            <a:r>
              <a:rPr lang="en-US" sz="2200" b="1" dirty="0" err="1">
                <a:solidFill>
                  <a:schemeClr val="tx1"/>
                </a:solidFill>
                <a:latin typeface="+mj-lt"/>
              </a:rPr>
              <a:t>tiếp</a:t>
            </a:r>
            <a:r>
              <a:rPr lang="en-US" sz="2200" b="1" dirty="0">
                <a:solidFill>
                  <a:schemeClr val="tx1"/>
                </a:solidFill>
                <a:latin typeface="+mj-lt"/>
              </a:rPr>
              <a:t>)</a:t>
            </a:r>
          </a:p>
          <a:p>
            <a:pPr>
              <a:buFontTx/>
              <a:buChar char="-"/>
            </a:pPr>
            <a:r>
              <a:rPr lang="en-US" sz="1900" dirty="0">
                <a:solidFill>
                  <a:schemeClr val="tx1"/>
                </a:solidFill>
                <a:latin typeface="+mj-lt"/>
              </a:rPr>
              <a:t>VÍ DỤ:</a:t>
            </a:r>
          </a:p>
          <a:p>
            <a:pPr marL="0" indent="0" algn="ctr">
              <a:buNone/>
            </a:pPr>
            <a:r>
              <a:rPr lang="en-US" sz="4000" b="1" dirty="0">
                <a:solidFill>
                  <a:schemeClr val="tx1"/>
                </a:solidFill>
                <a:latin typeface="+mj-lt"/>
              </a:rPr>
              <a:t>2C22TBB</a:t>
            </a:r>
          </a:p>
          <a:p>
            <a:pPr marL="0" indent="0">
              <a:buNone/>
            </a:pPr>
            <a:endParaRPr lang="en-US" sz="1900" dirty="0">
              <a:solidFill>
                <a:schemeClr val="tx1"/>
              </a:solidFill>
              <a:latin typeface="+mj-lt"/>
            </a:endParaRPr>
          </a:p>
          <a:p>
            <a:pPr marL="0" indent="0">
              <a:buNone/>
            </a:pPr>
            <a:r>
              <a:rPr lang="en-US" sz="1900" dirty="0" err="1">
                <a:solidFill>
                  <a:schemeClr val="tx1"/>
                </a:solidFill>
                <a:latin typeface="+mj-lt"/>
              </a:rPr>
              <a:t>Hóa</a:t>
            </a:r>
            <a:r>
              <a:rPr lang="en-US" sz="1900" dirty="0">
                <a:solidFill>
                  <a:schemeClr val="tx1"/>
                </a:solidFill>
                <a:latin typeface="+mj-lt"/>
              </a:rPr>
              <a:t> </a:t>
            </a:r>
            <a:r>
              <a:rPr lang="en-US" sz="1900" dirty="0" err="1">
                <a:solidFill>
                  <a:schemeClr val="tx1"/>
                </a:solidFill>
                <a:latin typeface="+mj-lt"/>
              </a:rPr>
              <a:t>đơn</a:t>
            </a:r>
            <a:r>
              <a:rPr lang="en-US" sz="1900" dirty="0">
                <a:solidFill>
                  <a:schemeClr val="tx1"/>
                </a:solidFill>
                <a:latin typeface="+mj-lt"/>
              </a:rPr>
              <a:t> </a:t>
            </a:r>
            <a:r>
              <a:rPr lang="en-US" sz="1900" dirty="0" err="1">
                <a:solidFill>
                  <a:schemeClr val="tx1"/>
                </a:solidFill>
                <a:latin typeface="+mj-lt"/>
              </a:rPr>
              <a:t>bán</a:t>
            </a:r>
            <a:r>
              <a:rPr lang="en-US" sz="1900" dirty="0">
                <a:solidFill>
                  <a:schemeClr val="tx1"/>
                </a:solidFill>
                <a:latin typeface="+mj-lt"/>
              </a:rPr>
              <a:t> </a:t>
            </a:r>
            <a:r>
              <a:rPr lang="en-US" sz="1900" dirty="0" err="1">
                <a:solidFill>
                  <a:schemeClr val="tx1"/>
                </a:solidFill>
                <a:latin typeface="+mj-lt"/>
              </a:rPr>
              <a:t>hàng</a:t>
            </a:r>
            <a:r>
              <a:rPr lang="en-US" sz="1900" dirty="0">
                <a:solidFill>
                  <a:schemeClr val="tx1"/>
                </a:solidFill>
                <a:latin typeface="+mj-lt"/>
              </a:rPr>
              <a:t> </a:t>
            </a:r>
            <a:r>
              <a:rPr lang="en-US" sz="1900" dirty="0" err="1">
                <a:solidFill>
                  <a:schemeClr val="tx1"/>
                </a:solidFill>
                <a:latin typeface="+mj-lt"/>
              </a:rPr>
              <a:t>có</a:t>
            </a:r>
            <a:r>
              <a:rPr lang="en-US" sz="1900" dirty="0">
                <a:solidFill>
                  <a:schemeClr val="tx1"/>
                </a:solidFill>
                <a:latin typeface="+mj-lt"/>
              </a:rPr>
              <a:t> </a:t>
            </a:r>
            <a:r>
              <a:rPr lang="en-US" sz="1900" dirty="0" err="1">
                <a:solidFill>
                  <a:schemeClr val="tx1"/>
                </a:solidFill>
                <a:latin typeface="+mj-lt"/>
              </a:rPr>
              <a:t>mã</a:t>
            </a:r>
            <a:r>
              <a:rPr lang="en-US" sz="1900" dirty="0">
                <a:solidFill>
                  <a:schemeClr val="tx1"/>
                </a:solidFill>
                <a:latin typeface="+mj-lt"/>
              </a:rPr>
              <a:t> </a:t>
            </a:r>
            <a:r>
              <a:rPr lang="en-US" sz="1900" dirty="0" err="1">
                <a:solidFill>
                  <a:schemeClr val="tx1"/>
                </a:solidFill>
                <a:latin typeface="+mj-lt"/>
              </a:rPr>
              <a:t>của</a:t>
            </a:r>
            <a:r>
              <a:rPr lang="en-US" sz="1900" dirty="0">
                <a:solidFill>
                  <a:schemeClr val="tx1"/>
                </a:solidFill>
                <a:latin typeface="+mj-lt"/>
              </a:rPr>
              <a:t> </a:t>
            </a:r>
            <a:r>
              <a:rPr lang="en-US" sz="1900" dirty="0" err="1">
                <a:solidFill>
                  <a:schemeClr val="tx1"/>
                </a:solidFill>
                <a:latin typeface="+mj-lt"/>
              </a:rPr>
              <a:t>cơ</a:t>
            </a:r>
            <a:r>
              <a:rPr lang="en-US" sz="1900" dirty="0">
                <a:solidFill>
                  <a:schemeClr val="tx1"/>
                </a:solidFill>
                <a:latin typeface="+mj-lt"/>
              </a:rPr>
              <a:t> </a:t>
            </a:r>
            <a:r>
              <a:rPr lang="en-US" sz="1900" dirty="0" err="1">
                <a:solidFill>
                  <a:schemeClr val="tx1"/>
                </a:solidFill>
                <a:latin typeface="+mj-lt"/>
              </a:rPr>
              <a:t>quan</a:t>
            </a:r>
            <a:r>
              <a:rPr lang="en-US" sz="1900" dirty="0">
                <a:solidFill>
                  <a:schemeClr val="tx1"/>
                </a:solidFill>
                <a:latin typeface="+mj-lt"/>
              </a:rPr>
              <a:t> </a:t>
            </a:r>
            <a:r>
              <a:rPr lang="en-US" sz="1900" dirty="0" err="1">
                <a:solidFill>
                  <a:schemeClr val="tx1"/>
                </a:solidFill>
                <a:latin typeface="+mj-lt"/>
              </a:rPr>
              <a:t>thuế</a:t>
            </a:r>
            <a:r>
              <a:rPr lang="en-US" sz="1900" dirty="0">
                <a:solidFill>
                  <a:schemeClr val="tx1"/>
                </a:solidFill>
                <a:latin typeface="+mj-lt"/>
              </a:rPr>
              <a:t> </a:t>
            </a:r>
            <a:r>
              <a:rPr lang="en-US" sz="1900" dirty="0" err="1">
                <a:solidFill>
                  <a:schemeClr val="tx1"/>
                </a:solidFill>
                <a:latin typeface="+mj-lt"/>
              </a:rPr>
              <a:t>được</a:t>
            </a:r>
            <a:r>
              <a:rPr lang="en-US" sz="1900" dirty="0">
                <a:solidFill>
                  <a:schemeClr val="tx1"/>
                </a:solidFill>
                <a:latin typeface="+mj-lt"/>
              </a:rPr>
              <a:t> </a:t>
            </a:r>
            <a:r>
              <a:rPr lang="en-US" sz="1900" dirty="0" err="1">
                <a:solidFill>
                  <a:schemeClr val="tx1"/>
                </a:solidFill>
                <a:latin typeface="+mj-lt"/>
              </a:rPr>
              <a:t>lập</a:t>
            </a:r>
            <a:r>
              <a:rPr lang="en-US" sz="1900" dirty="0">
                <a:solidFill>
                  <a:schemeClr val="tx1"/>
                </a:solidFill>
                <a:latin typeface="+mj-lt"/>
              </a:rPr>
              <a:t> </a:t>
            </a:r>
            <a:r>
              <a:rPr lang="en-US" sz="1900" dirty="0" err="1">
                <a:solidFill>
                  <a:schemeClr val="tx1"/>
                </a:solidFill>
                <a:latin typeface="+mj-lt"/>
              </a:rPr>
              <a:t>năm</a:t>
            </a:r>
            <a:r>
              <a:rPr lang="en-US" sz="1900" dirty="0">
                <a:solidFill>
                  <a:schemeClr val="tx1"/>
                </a:solidFill>
                <a:latin typeface="+mj-lt"/>
              </a:rPr>
              <a:t> 2022 </a:t>
            </a:r>
            <a:r>
              <a:rPr lang="en-US" sz="1900" dirty="0" err="1">
                <a:solidFill>
                  <a:schemeClr val="tx1"/>
                </a:solidFill>
                <a:latin typeface="+mj-lt"/>
              </a:rPr>
              <a:t>và</a:t>
            </a:r>
            <a:r>
              <a:rPr lang="en-US" sz="1900" dirty="0">
                <a:solidFill>
                  <a:schemeClr val="tx1"/>
                </a:solidFill>
                <a:latin typeface="+mj-lt"/>
              </a:rPr>
              <a:t> </a:t>
            </a:r>
            <a:r>
              <a:rPr lang="en-US" sz="1900" dirty="0" err="1">
                <a:solidFill>
                  <a:schemeClr val="tx1"/>
                </a:solidFill>
                <a:latin typeface="+mj-lt"/>
              </a:rPr>
              <a:t>là</a:t>
            </a:r>
            <a:r>
              <a:rPr lang="en-US" sz="1900" dirty="0">
                <a:solidFill>
                  <a:schemeClr val="tx1"/>
                </a:solidFill>
                <a:latin typeface="+mj-lt"/>
              </a:rPr>
              <a:t> </a:t>
            </a:r>
            <a:r>
              <a:rPr lang="en-US" sz="1900" dirty="0" err="1">
                <a:solidFill>
                  <a:schemeClr val="tx1"/>
                </a:solidFill>
                <a:latin typeface="+mj-lt"/>
              </a:rPr>
              <a:t>hóa</a:t>
            </a:r>
            <a:r>
              <a:rPr lang="en-US" sz="1900" dirty="0">
                <a:solidFill>
                  <a:schemeClr val="tx1"/>
                </a:solidFill>
                <a:latin typeface="+mj-lt"/>
              </a:rPr>
              <a:t> </a:t>
            </a:r>
            <a:r>
              <a:rPr lang="en-US" sz="1900" dirty="0" err="1">
                <a:solidFill>
                  <a:schemeClr val="tx1"/>
                </a:solidFill>
                <a:latin typeface="+mj-lt"/>
              </a:rPr>
              <a:t>đơn</a:t>
            </a:r>
            <a:r>
              <a:rPr lang="en-US" sz="1900" dirty="0">
                <a:solidFill>
                  <a:schemeClr val="tx1"/>
                </a:solidFill>
                <a:latin typeface="+mj-lt"/>
              </a:rPr>
              <a:t> </a:t>
            </a:r>
            <a:r>
              <a:rPr lang="en-US" sz="1900" dirty="0" err="1">
                <a:solidFill>
                  <a:schemeClr val="tx1"/>
                </a:solidFill>
                <a:latin typeface="+mj-lt"/>
              </a:rPr>
              <a:t>điện</a:t>
            </a:r>
            <a:r>
              <a:rPr lang="en-US" sz="1900" dirty="0">
                <a:solidFill>
                  <a:schemeClr val="tx1"/>
                </a:solidFill>
                <a:latin typeface="+mj-lt"/>
              </a:rPr>
              <a:t> </a:t>
            </a:r>
            <a:r>
              <a:rPr lang="en-US" sz="1900" dirty="0" err="1">
                <a:solidFill>
                  <a:schemeClr val="tx1"/>
                </a:solidFill>
                <a:latin typeface="+mj-lt"/>
              </a:rPr>
              <a:t>tử</a:t>
            </a:r>
            <a:r>
              <a:rPr lang="en-US" sz="1900" dirty="0">
                <a:solidFill>
                  <a:schemeClr val="tx1"/>
                </a:solidFill>
                <a:latin typeface="+mj-lt"/>
              </a:rPr>
              <a:t> do </a:t>
            </a:r>
            <a:r>
              <a:rPr lang="en-US" sz="1900" dirty="0" err="1">
                <a:solidFill>
                  <a:schemeClr val="tx1"/>
                </a:solidFill>
                <a:latin typeface="+mj-lt"/>
              </a:rPr>
              <a:t>doanh</a:t>
            </a:r>
            <a:r>
              <a:rPr lang="en-US" sz="1900" dirty="0">
                <a:solidFill>
                  <a:schemeClr val="tx1"/>
                </a:solidFill>
                <a:latin typeface="+mj-lt"/>
              </a:rPr>
              <a:t> </a:t>
            </a:r>
            <a:r>
              <a:rPr lang="en-US" sz="1900" dirty="0" err="1">
                <a:solidFill>
                  <a:schemeClr val="tx1"/>
                </a:solidFill>
                <a:latin typeface="+mj-lt"/>
              </a:rPr>
              <a:t>nghiệp</a:t>
            </a:r>
            <a:r>
              <a:rPr lang="en-US" sz="1900" dirty="0">
                <a:solidFill>
                  <a:schemeClr val="tx1"/>
                </a:solidFill>
                <a:latin typeface="+mj-lt"/>
              </a:rPr>
              <a:t>, </a:t>
            </a:r>
            <a:r>
              <a:rPr lang="en-US" sz="1900" dirty="0" err="1">
                <a:solidFill>
                  <a:schemeClr val="tx1"/>
                </a:solidFill>
                <a:latin typeface="+mj-lt"/>
              </a:rPr>
              <a:t>tổ</a:t>
            </a:r>
            <a:r>
              <a:rPr lang="en-US" sz="1900" dirty="0">
                <a:solidFill>
                  <a:schemeClr val="tx1"/>
                </a:solidFill>
                <a:latin typeface="+mj-lt"/>
              </a:rPr>
              <a:t> </a:t>
            </a:r>
            <a:r>
              <a:rPr lang="en-US" sz="1900" dirty="0" err="1">
                <a:solidFill>
                  <a:schemeClr val="tx1"/>
                </a:solidFill>
                <a:latin typeface="+mj-lt"/>
              </a:rPr>
              <a:t>chức</a:t>
            </a:r>
            <a:r>
              <a:rPr lang="en-US" sz="1900" dirty="0">
                <a:solidFill>
                  <a:schemeClr val="tx1"/>
                </a:solidFill>
                <a:latin typeface="+mj-lt"/>
              </a:rPr>
              <a:t>, </a:t>
            </a:r>
            <a:r>
              <a:rPr lang="en-US" sz="1900" dirty="0" err="1">
                <a:solidFill>
                  <a:schemeClr val="tx1"/>
                </a:solidFill>
                <a:latin typeface="+mj-lt"/>
              </a:rPr>
              <a:t>hộ</a:t>
            </a:r>
            <a:r>
              <a:rPr lang="en-US" sz="1900" dirty="0">
                <a:solidFill>
                  <a:schemeClr val="tx1"/>
                </a:solidFill>
                <a:latin typeface="+mj-lt"/>
              </a:rPr>
              <a:t> </a:t>
            </a:r>
            <a:r>
              <a:rPr lang="en-US" sz="1900" dirty="0" err="1">
                <a:solidFill>
                  <a:schemeClr val="tx1"/>
                </a:solidFill>
                <a:latin typeface="+mj-lt"/>
              </a:rPr>
              <a:t>cá</a:t>
            </a:r>
            <a:r>
              <a:rPr lang="en-US" sz="1900" dirty="0">
                <a:solidFill>
                  <a:schemeClr val="tx1"/>
                </a:solidFill>
                <a:latin typeface="+mj-lt"/>
              </a:rPr>
              <a:t> </a:t>
            </a:r>
            <a:r>
              <a:rPr lang="en-US" sz="1900" dirty="0" err="1">
                <a:solidFill>
                  <a:schemeClr val="tx1"/>
                </a:solidFill>
                <a:latin typeface="+mj-lt"/>
              </a:rPr>
              <a:t>nhân</a:t>
            </a:r>
            <a:r>
              <a:rPr lang="en-US" sz="1900" dirty="0">
                <a:solidFill>
                  <a:schemeClr val="tx1"/>
                </a:solidFill>
                <a:latin typeface="+mj-lt"/>
              </a:rPr>
              <a:t> </a:t>
            </a:r>
            <a:r>
              <a:rPr lang="en-US" sz="1900" dirty="0" err="1">
                <a:solidFill>
                  <a:schemeClr val="tx1"/>
                </a:solidFill>
                <a:latin typeface="+mj-lt"/>
              </a:rPr>
              <a:t>kinh</a:t>
            </a:r>
            <a:r>
              <a:rPr lang="en-US" sz="1900" dirty="0">
                <a:solidFill>
                  <a:schemeClr val="tx1"/>
                </a:solidFill>
                <a:latin typeface="+mj-lt"/>
              </a:rPr>
              <a:t> </a:t>
            </a:r>
            <a:r>
              <a:rPr lang="en-US" sz="1900" dirty="0" err="1">
                <a:solidFill>
                  <a:schemeClr val="tx1"/>
                </a:solidFill>
                <a:latin typeface="+mj-lt"/>
              </a:rPr>
              <a:t>doanh</a:t>
            </a:r>
            <a:r>
              <a:rPr lang="en-US" sz="1900" dirty="0">
                <a:solidFill>
                  <a:schemeClr val="tx1"/>
                </a:solidFill>
                <a:latin typeface="+mj-lt"/>
              </a:rPr>
              <a:t> </a:t>
            </a:r>
            <a:r>
              <a:rPr lang="en-US" sz="1900" dirty="0" err="1">
                <a:solidFill>
                  <a:schemeClr val="tx1"/>
                </a:solidFill>
                <a:latin typeface="+mj-lt"/>
              </a:rPr>
              <a:t>ký</a:t>
            </a:r>
            <a:r>
              <a:rPr lang="en-US" sz="1900" dirty="0">
                <a:solidFill>
                  <a:schemeClr val="tx1"/>
                </a:solidFill>
                <a:latin typeface="+mj-lt"/>
              </a:rPr>
              <a:t> </a:t>
            </a:r>
            <a:r>
              <a:rPr lang="en-US" sz="1900" dirty="0" err="1">
                <a:solidFill>
                  <a:schemeClr val="tx1"/>
                </a:solidFill>
                <a:latin typeface="+mj-lt"/>
              </a:rPr>
              <a:t>sử</a:t>
            </a:r>
            <a:r>
              <a:rPr lang="en-US" sz="1900" dirty="0">
                <a:solidFill>
                  <a:schemeClr val="tx1"/>
                </a:solidFill>
                <a:latin typeface="+mj-lt"/>
              </a:rPr>
              <a:t> </a:t>
            </a:r>
            <a:r>
              <a:rPr lang="en-US" sz="1900" dirty="0" err="1">
                <a:solidFill>
                  <a:schemeClr val="tx1"/>
                </a:solidFill>
                <a:latin typeface="+mj-lt"/>
              </a:rPr>
              <a:t>dụng</a:t>
            </a:r>
            <a:r>
              <a:rPr lang="en-US" sz="1900" dirty="0">
                <a:solidFill>
                  <a:schemeClr val="tx1"/>
                </a:solidFill>
                <a:latin typeface="+mj-lt"/>
              </a:rPr>
              <a:t> </a:t>
            </a:r>
            <a:r>
              <a:rPr lang="en-US" sz="1900" dirty="0" err="1">
                <a:solidFill>
                  <a:schemeClr val="tx1"/>
                </a:solidFill>
                <a:latin typeface="+mj-lt"/>
              </a:rPr>
              <a:t>với</a:t>
            </a:r>
            <a:r>
              <a:rPr lang="en-US" sz="1900" dirty="0">
                <a:solidFill>
                  <a:schemeClr val="tx1"/>
                </a:solidFill>
                <a:latin typeface="+mj-lt"/>
              </a:rPr>
              <a:t> </a:t>
            </a:r>
            <a:r>
              <a:rPr lang="en-US" sz="1900" dirty="0" err="1">
                <a:solidFill>
                  <a:schemeClr val="tx1"/>
                </a:solidFill>
                <a:latin typeface="+mj-lt"/>
              </a:rPr>
              <a:t>cơ</a:t>
            </a:r>
            <a:r>
              <a:rPr lang="en-US" sz="1900" dirty="0">
                <a:solidFill>
                  <a:schemeClr val="tx1"/>
                </a:solidFill>
                <a:latin typeface="+mj-lt"/>
              </a:rPr>
              <a:t> </a:t>
            </a:r>
            <a:r>
              <a:rPr lang="en-US" sz="1900" dirty="0" err="1">
                <a:solidFill>
                  <a:schemeClr val="tx1"/>
                </a:solidFill>
                <a:latin typeface="+mj-lt"/>
              </a:rPr>
              <a:t>quan</a:t>
            </a:r>
            <a:r>
              <a:rPr lang="en-US" sz="1900" dirty="0">
                <a:solidFill>
                  <a:schemeClr val="tx1"/>
                </a:solidFill>
                <a:latin typeface="+mj-lt"/>
              </a:rPr>
              <a:t> </a:t>
            </a:r>
            <a:r>
              <a:rPr lang="en-US" sz="1900" dirty="0" err="1">
                <a:solidFill>
                  <a:schemeClr val="tx1"/>
                </a:solidFill>
                <a:latin typeface="+mj-lt"/>
              </a:rPr>
              <a:t>thuế</a:t>
            </a:r>
            <a:endParaRPr lang="vi-VN" sz="1900" dirty="0">
              <a:solidFill>
                <a:schemeClr val="tx1"/>
              </a:solidFill>
              <a:latin typeface="+mj-lt"/>
            </a:endParaRPr>
          </a:p>
        </p:txBody>
      </p:sp>
      <p:sp>
        <p:nvSpPr>
          <p:cNvPr id="7" name="Title 1"/>
          <p:cNvSpPr txBox="1">
            <a:spLocks/>
          </p:cNvSpPr>
          <p:nvPr/>
        </p:nvSpPr>
        <p:spPr>
          <a:xfrm>
            <a:off x="795346" y="791308"/>
            <a:ext cx="9511248" cy="726831"/>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1800" b="1" dirty="0">
                <a:solidFill>
                  <a:srgbClr val="C00000"/>
                </a:solidFill>
                <a:cs typeface="Times New Roman" panose="02020603050405020304" pitchFamily="18" charset="0"/>
              </a:rPr>
              <a:t>5. NỘI DUNG HÓA ĐƠN</a:t>
            </a:r>
            <a:br>
              <a:rPr lang="en-US" sz="1800" b="1" dirty="0">
                <a:solidFill>
                  <a:srgbClr val="C00000"/>
                </a:solidFill>
                <a:cs typeface="Times New Roman" panose="02020603050405020304" pitchFamily="18" charset="0"/>
              </a:rPr>
            </a:br>
            <a:r>
              <a:rPr lang="vi-VN" sz="1800" b="1" dirty="0">
                <a:solidFill>
                  <a:srgbClr val="C00000"/>
                </a:solidFill>
                <a:cs typeface="Times New Roman" panose="02020603050405020304" pitchFamily="18" charset="0"/>
              </a:rPr>
              <a:t> K</a:t>
            </a:r>
            <a:r>
              <a:rPr lang="en-US" sz="1800" b="1" dirty="0">
                <a:solidFill>
                  <a:srgbClr val="C00000"/>
                </a:solidFill>
                <a:cs typeface="Times New Roman" panose="02020603050405020304" pitchFamily="18" charset="0"/>
              </a:rPr>
              <a:t>Ý HIỆU MẪU SỐ HÓA ĐƠN, KÝ HIỆU HÓA ĐƠN – HÓA ĐƠN ĐIỆN TỬ (TIẾP THEO)</a:t>
            </a:r>
            <a:r>
              <a:rPr lang="en-US" sz="1800" b="1" dirty="0">
                <a:solidFill>
                  <a:srgbClr val="C00000"/>
                </a:solidFill>
              </a:rPr>
              <a:t/>
            </a:r>
            <a:br>
              <a:rPr lang="en-US" sz="1800" b="1" dirty="0">
                <a:solidFill>
                  <a:srgbClr val="C00000"/>
                </a:solidFill>
              </a:rPr>
            </a:br>
            <a:endParaRPr lang="vi-VN" sz="1800" b="1" dirty="0">
              <a:solidFill>
                <a:srgbClr val="C00000"/>
              </a:solidFill>
            </a:endParaRPr>
          </a:p>
        </p:txBody>
      </p:sp>
      <p:sp>
        <p:nvSpPr>
          <p:cNvPr id="8" name="Title 1"/>
          <p:cNvSpPr txBox="1">
            <a:spLocks/>
          </p:cNvSpPr>
          <p:nvPr/>
        </p:nvSpPr>
        <p:spPr>
          <a:xfrm>
            <a:off x="954718" y="149955"/>
            <a:ext cx="8772534"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5. NỘI DUNG HĐĐT</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17432685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84246" y="1273908"/>
            <a:ext cx="8596668" cy="726831"/>
          </a:xfrm>
        </p:spPr>
        <p:txBody>
          <a:bodyPr>
            <a:noAutofit/>
          </a:bodyPr>
          <a:lstStyle/>
          <a:p>
            <a:pPr algn="ctr"/>
            <a:r>
              <a:rPr lang="en-US" sz="3000" b="1" dirty="0">
                <a:solidFill>
                  <a:schemeClr val="accent5"/>
                </a:solidFill>
              </a:rPr>
              <a:t>6. CẤP HÓA ĐƠN ĐIỆN TỬ CÓ MÃ CỦA CQT THEO TỪNG LẦN PHÁT SINH</a:t>
            </a:r>
            <a:endParaRPr lang="vi-VN" sz="3000" b="1" dirty="0">
              <a:solidFill>
                <a:schemeClr val="accent5"/>
              </a:solidFill>
            </a:endParaRPr>
          </a:p>
        </p:txBody>
      </p:sp>
      <p:sp>
        <p:nvSpPr>
          <p:cNvPr id="3" name="Content Placeholder 2"/>
          <p:cNvSpPr>
            <a:spLocks noGrp="1"/>
          </p:cNvSpPr>
          <p:nvPr>
            <p:ph idx="1"/>
          </p:nvPr>
        </p:nvSpPr>
        <p:spPr>
          <a:xfrm>
            <a:off x="884246" y="2929274"/>
            <a:ext cx="8596668" cy="1956235"/>
          </a:xfrm>
        </p:spPr>
        <p:txBody>
          <a:bodyPr anchor="ctr" anchorCtr="0">
            <a:normAutofit fontScale="62500" lnSpcReduction="20000"/>
          </a:bodyPr>
          <a:lstStyle/>
          <a:p>
            <a:pPr marL="0" indent="0">
              <a:buNone/>
            </a:pPr>
            <a:endParaRPr lang="en-US" sz="2400" b="1" dirty="0">
              <a:solidFill>
                <a:schemeClr val="tx1"/>
              </a:solidFill>
              <a:latin typeface="Cambria" panose="02040503050406030204" pitchFamily="18" charset="0"/>
            </a:endParaRPr>
          </a:p>
          <a:p>
            <a:pPr marL="0" indent="0" algn="just">
              <a:buNone/>
            </a:pPr>
            <a:r>
              <a:rPr lang="en-US" sz="4200" dirty="0">
                <a:solidFill>
                  <a:schemeClr val="tx1"/>
                </a:solidFill>
                <a:latin typeface="+mj-lt"/>
              </a:rPr>
              <a:t>1. </a:t>
            </a:r>
            <a:r>
              <a:rPr lang="vi-VN" sz="4200" dirty="0">
                <a:solidFill>
                  <a:schemeClr val="tx1"/>
                </a:solidFill>
                <a:latin typeface="+mj-lt"/>
              </a:rPr>
              <a:t>Loại hóa đơn cấp theo từng lần phát sinh</a:t>
            </a:r>
          </a:p>
          <a:p>
            <a:pPr marL="0" indent="0" algn="just">
              <a:buNone/>
            </a:pPr>
            <a:r>
              <a:rPr lang="vi-VN" sz="4200" dirty="0">
                <a:solidFill>
                  <a:schemeClr val="tx1"/>
                </a:solidFill>
                <a:latin typeface="+mj-lt"/>
              </a:rPr>
              <a:t>2. Trình tự thủ tục </a:t>
            </a:r>
          </a:p>
          <a:p>
            <a:pPr marL="0" indent="0" algn="just">
              <a:buNone/>
            </a:pPr>
            <a:r>
              <a:rPr lang="vi-VN" sz="4200" dirty="0">
                <a:solidFill>
                  <a:schemeClr val="tx1"/>
                </a:solidFill>
                <a:latin typeface="+mj-lt"/>
              </a:rPr>
              <a:t>3. Xác định cơ quan thuế cấp hóa đơn điện tử có mã của cơ quan thuế theo từng lần phát sinh</a:t>
            </a:r>
          </a:p>
          <a:p>
            <a:pPr marL="0" indent="0">
              <a:buNone/>
            </a:pPr>
            <a:endParaRPr lang="vi-VN" sz="4200" b="1" dirty="0">
              <a:solidFill>
                <a:schemeClr val="tx1"/>
              </a:solidFill>
              <a:latin typeface="Cambria" panose="02040503050406030204" pitchFamily="18" charset="0"/>
            </a:endParaRPr>
          </a:p>
        </p:txBody>
      </p:sp>
      <p:sp>
        <p:nvSpPr>
          <p:cNvPr id="4" name="Title 1"/>
          <p:cNvSpPr txBox="1">
            <a:spLocks/>
          </p:cNvSpPr>
          <p:nvPr/>
        </p:nvSpPr>
        <p:spPr>
          <a:xfrm>
            <a:off x="954718" y="149954"/>
            <a:ext cx="11489609"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–6. HĐĐT CÓ MÃ CỦA CQT THEO TỪNG LẦN PHÁT SINH</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1121958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41160" y="648287"/>
            <a:ext cx="8596668" cy="642425"/>
          </a:xfrm>
        </p:spPr>
        <p:txBody>
          <a:bodyPr anchor="ctr" anchorCtr="0">
            <a:noAutofit/>
          </a:bodyPr>
          <a:lstStyle/>
          <a:p>
            <a:pPr algn="ctr"/>
            <a:r>
              <a:rPr lang="en-US" sz="2000" b="1" dirty="0">
                <a:solidFill>
                  <a:srgbClr val="C00000"/>
                </a:solidFill>
              </a:rPr>
              <a:t>6. HĐĐT CÓ MÃ CỦA CQT THEO TỪNG LẦN PHÁT SINH (TIẾP THEO)</a:t>
            </a:r>
            <a:endParaRPr lang="vi-VN" sz="2000" b="1" dirty="0">
              <a:solidFill>
                <a:srgbClr val="C00000"/>
              </a:solidFill>
            </a:endParaRPr>
          </a:p>
        </p:txBody>
      </p:sp>
      <p:sp>
        <p:nvSpPr>
          <p:cNvPr id="3" name="Content Placeholder 2"/>
          <p:cNvSpPr>
            <a:spLocks noGrp="1"/>
          </p:cNvSpPr>
          <p:nvPr>
            <p:ph idx="1"/>
          </p:nvPr>
        </p:nvSpPr>
        <p:spPr>
          <a:xfrm>
            <a:off x="677334" y="1252025"/>
            <a:ext cx="8596668" cy="5212275"/>
          </a:xfrm>
        </p:spPr>
        <p:txBody>
          <a:bodyPr vert="horz" anchor="ctr" anchorCtr="0">
            <a:noAutofit/>
          </a:bodyPr>
          <a:lstStyle/>
          <a:p>
            <a:pPr algn="just"/>
            <a:r>
              <a:rPr lang="vi-VN" b="1" i="1" dirty="0">
                <a:solidFill>
                  <a:schemeClr val="tx1"/>
                </a:solidFill>
                <a:latin typeface="+mj-lt"/>
              </a:rPr>
              <a:t> HĐĐT có mã của CQT theo từng lần phát sinh là hóa đơn bán hàng</a:t>
            </a:r>
            <a:endParaRPr lang="vi-VN" b="1" dirty="0">
              <a:solidFill>
                <a:schemeClr val="tx1"/>
              </a:solidFill>
              <a:latin typeface="+mj-lt"/>
            </a:endParaRPr>
          </a:p>
          <a:p>
            <a:pPr marL="0" indent="0" algn="just">
              <a:buNone/>
            </a:pPr>
            <a:r>
              <a:rPr lang="vi-VN" dirty="0">
                <a:solidFill>
                  <a:schemeClr val="tx1"/>
                </a:solidFill>
                <a:latin typeface="+mj-lt"/>
              </a:rPr>
              <a:t>- Hộ, cá nhân kinh doanh theo quy định tại khoản 4 Điều 91 Luật Quản lý thuế số 38/2019/QH14 không đáp ứng điều kiện phải sử dụng hóa đơn điện tử có mã của cơ quan thuế nhưng cần có hóa đơn để giao cho khách hàng;</a:t>
            </a:r>
          </a:p>
          <a:p>
            <a:pPr marL="0" indent="0" algn="just">
              <a:buNone/>
            </a:pPr>
            <a:r>
              <a:rPr lang="vi-VN" dirty="0">
                <a:solidFill>
                  <a:schemeClr val="tx1"/>
                </a:solidFill>
                <a:latin typeface="+mj-lt"/>
              </a:rPr>
              <a:t>- Tổ chức không kinh doanh nhưng có phát sinh giao dịch bán hàng hóa, cung cấp dịch vụ;</a:t>
            </a:r>
          </a:p>
          <a:p>
            <a:pPr marL="0" indent="0" algn="just">
              <a:buNone/>
            </a:pPr>
            <a:r>
              <a:rPr lang="vi-VN" dirty="0">
                <a:solidFill>
                  <a:schemeClr val="tx1"/>
                </a:solidFill>
                <a:latin typeface="+mj-lt"/>
              </a:rPr>
              <a:t>- Doanh nghiệp sau khi đã giải thể, phá sản, đã chấm dứt hiệu lực mã số thuế có phát sinh thanh lý tài sản cần có hóa đơn để giao cho người mua;</a:t>
            </a:r>
          </a:p>
          <a:p>
            <a:pPr marL="0" indent="0" algn="just">
              <a:buNone/>
            </a:pPr>
            <a:r>
              <a:rPr lang="vi-VN" dirty="0">
                <a:solidFill>
                  <a:schemeClr val="tx1"/>
                </a:solidFill>
                <a:latin typeface="+mj-lt"/>
              </a:rPr>
              <a:t>- Doanh nghiệp, tổ chức kinh tế, hộ, cá nhân kinh doanh thuộc diện nộp thuế giá trị gia tăng theo phương pháp trực tiếp thuộc các trường hợp sau:</a:t>
            </a:r>
          </a:p>
          <a:p>
            <a:pPr marL="0" indent="0" algn="just">
              <a:buNone/>
            </a:pPr>
            <a:r>
              <a:rPr lang="vi-VN" dirty="0">
                <a:solidFill>
                  <a:schemeClr val="tx1"/>
                </a:solidFill>
                <a:latin typeface="+mj-lt"/>
              </a:rPr>
              <a:t>+ Ngừng hoạt động kinh doanh nhưng chưa hoàn thành thủ tục chấm dứt hiệu lực mã số thuế có phát sinh thanh lý tài sản cần có hóa đơn để giao cho người mua;</a:t>
            </a:r>
          </a:p>
          <a:p>
            <a:pPr marL="0" indent="0" algn="just">
              <a:buNone/>
            </a:pPr>
            <a:r>
              <a:rPr lang="vi-VN" dirty="0">
                <a:solidFill>
                  <a:schemeClr val="tx1"/>
                </a:solidFill>
                <a:latin typeface="+mj-lt"/>
              </a:rPr>
              <a:t>+ Tạm ngừng hoạt động kinh doanh cần có hóa đơn giao cho khách hàng để thực hiện các hợp đồng đã ký trước ngày cơ quan thuế thông báo tạm ngừng kinh doanh;</a:t>
            </a:r>
          </a:p>
          <a:p>
            <a:pPr marL="0" indent="0" algn="just">
              <a:buNone/>
            </a:pPr>
            <a:r>
              <a:rPr lang="vi-VN" dirty="0">
                <a:solidFill>
                  <a:schemeClr val="tx1"/>
                </a:solidFill>
                <a:latin typeface="+mj-lt"/>
              </a:rPr>
              <a:t>+ Bị cơ quan thuế cưỡng chế bằng biện pháp ngừng sử dụng hóa đơn.</a:t>
            </a:r>
          </a:p>
        </p:txBody>
      </p:sp>
      <p:sp>
        <p:nvSpPr>
          <p:cNvPr id="6" name="Title 1"/>
          <p:cNvSpPr txBox="1">
            <a:spLocks/>
          </p:cNvSpPr>
          <p:nvPr/>
        </p:nvSpPr>
        <p:spPr>
          <a:xfrm>
            <a:off x="954718" y="78444"/>
            <a:ext cx="11091508"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900" b="1" dirty="0">
                <a:solidFill>
                  <a:schemeClr val="tx1"/>
                </a:solidFill>
                <a:latin typeface="Times New Roman" panose="02020603050405020304" pitchFamily="18" charset="0"/>
                <a:cs typeface="Times New Roman" panose="02020603050405020304" pitchFamily="18" charset="0"/>
              </a:rPr>
              <a:t>PHẦN 2: QUY ĐỊNH VỀ HÓA ĐƠN –6. HĐĐT CÓ MÃ CỦA CQT THEO TỪNG LẦN PHÁT SINH</a:t>
            </a:r>
            <a:endParaRPr lang="vi-VN" sz="1900" b="1" dirty="0">
              <a:solidFill>
                <a:schemeClr val="tx1"/>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38765675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677334" y="609600"/>
            <a:ext cx="8596668" cy="642425"/>
          </a:xfrm>
        </p:spPr>
        <p:txBody>
          <a:bodyPr anchor="ctr" anchorCtr="0">
            <a:noAutofit/>
          </a:bodyPr>
          <a:lstStyle/>
          <a:p>
            <a:pPr algn="ctr"/>
            <a:r>
              <a:rPr lang="en-US" sz="2000" b="1" dirty="0">
                <a:solidFill>
                  <a:srgbClr val="C00000"/>
                </a:solidFill>
              </a:rPr>
              <a:t>6. HĐĐT CÓ MÃ CỦA CQT THEO TỪNG LẦN PHÁT SINH (TIẾP THEO)</a:t>
            </a:r>
            <a:endParaRPr lang="vi-VN" sz="2000" b="1" dirty="0">
              <a:solidFill>
                <a:srgbClr val="C00000"/>
              </a:solidFill>
            </a:endParaRPr>
          </a:p>
        </p:txBody>
      </p:sp>
      <p:sp>
        <p:nvSpPr>
          <p:cNvPr id="3" name="Content Placeholder 2"/>
          <p:cNvSpPr>
            <a:spLocks noGrp="1"/>
          </p:cNvSpPr>
          <p:nvPr>
            <p:ph idx="1"/>
          </p:nvPr>
        </p:nvSpPr>
        <p:spPr>
          <a:xfrm>
            <a:off x="677334" y="1252025"/>
            <a:ext cx="8596668" cy="5212275"/>
          </a:xfrm>
        </p:spPr>
        <p:txBody>
          <a:bodyPr vert="horz" anchor="ctr" anchorCtr="0">
            <a:noAutofit/>
          </a:bodyPr>
          <a:lstStyle/>
          <a:p>
            <a:pPr algn="just"/>
            <a:r>
              <a:rPr lang="vi-VN" sz="2000" b="1" i="1" dirty="0">
                <a:solidFill>
                  <a:schemeClr val="tx1"/>
                </a:solidFill>
                <a:latin typeface="+mj-lt"/>
              </a:rPr>
              <a:t> HĐĐT có mã của CQT theo từng lần phát sinh là hóa đơn GTGT</a:t>
            </a:r>
            <a:endParaRPr lang="vi-VN" sz="2000" b="1" dirty="0">
              <a:solidFill>
                <a:schemeClr val="tx1"/>
              </a:solidFill>
              <a:latin typeface="+mj-lt"/>
            </a:endParaRPr>
          </a:p>
          <a:p>
            <a:pPr marL="0" indent="0" algn="just">
              <a:buNone/>
            </a:pPr>
            <a:r>
              <a:rPr lang="vi-VN" sz="2000" dirty="0">
                <a:solidFill>
                  <a:schemeClr val="tx1"/>
                </a:solidFill>
                <a:latin typeface="+mj-lt"/>
              </a:rPr>
              <a:t>- Doanh nghiệp, tổ chức kinh tế, tổ chức khác thuộc diện nộp thuế giá trị gia tăng theo phương pháp khấu trừ thuộc các trường hợp sau:</a:t>
            </a:r>
          </a:p>
          <a:p>
            <a:pPr marL="0" indent="0" algn="just">
              <a:buNone/>
            </a:pPr>
            <a:r>
              <a:rPr lang="vi-VN" sz="2000" dirty="0">
                <a:solidFill>
                  <a:schemeClr val="tx1"/>
                </a:solidFill>
                <a:latin typeface="+mj-lt"/>
              </a:rPr>
              <a:t>+ Ngừng hoạt động kinh doanh nhưng chưa hoàn thành thủ tục chấm dứt hiệu lực mã số thuế có phát sinh thanh lý tài sản cần có hóa đơn để giao cho người mua;</a:t>
            </a:r>
          </a:p>
          <a:p>
            <a:pPr marL="0" indent="0" algn="just">
              <a:buNone/>
            </a:pPr>
            <a:r>
              <a:rPr lang="vi-VN" sz="2000" dirty="0">
                <a:solidFill>
                  <a:schemeClr val="tx1"/>
                </a:solidFill>
                <a:latin typeface="+mj-lt"/>
              </a:rPr>
              <a:t>+ Tạm ngừng hoạt động kinh doanh cần có hóa đơn giao cho khách hàng để thực hiện các hợp đồng đã ký trước ngày cơ quan thuế thông báo tạm ngừng kinh doanh;</a:t>
            </a:r>
          </a:p>
          <a:p>
            <a:pPr marL="0" indent="0" algn="just">
              <a:buNone/>
            </a:pPr>
            <a:r>
              <a:rPr lang="vi-VN" sz="2000" dirty="0">
                <a:solidFill>
                  <a:schemeClr val="tx1"/>
                </a:solidFill>
                <a:latin typeface="+mj-lt"/>
              </a:rPr>
              <a:t>+ Bị cơ quan thuế cưỡng chế bằng biện pháp ngừng sử dụng hóa đơn.</a:t>
            </a:r>
          </a:p>
          <a:p>
            <a:pPr marL="0" indent="0" algn="just">
              <a:buNone/>
            </a:pPr>
            <a:r>
              <a:rPr lang="vi-VN" sz="2000" dirty="0">
                <a:solidFill>
                  <a:schemeClr val="tx1"/>
                </a:solidFill>
                <a:latin typeface="+mj-lt"/>
              </a:rPr>
              <a:t>- Tổ chức, cơ quan nhà nước không thuộc đối tượng nộp thuế giá trị gia tăng theo phương pháp khấu trừ có bán đấu giá tài sản, trường hợp giá trúng đấu giá là giá bán đã có thuế giá trị gia tăng được công bố rõ trong hồ sơ bán đấu giá do cơ quan có thẩm quyền phê duyệt thì được cấp hóa đơn giá trị gia tăng để giao cho người mua.</a:t>
            </a:r>
          </a:p>
        </p:txBody>
      </p:sp>
      <p:sp>
        <p:nvSpPr>
          <p:cNvPr id="6" name="Title 1"/>
          <p:cNvSpPr txBox="1">
            <a:spLocks/>
          </p:cNvSpPr>
          <p:nvPr/>
        </p:nvSpPr>
        <p:spPr>
          <a:xfrm>
            <a:off x="954718" y="118201"/>
            <a:ext cx="11489609"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900" b="1" dirty="0">
                <a:solidFill>
                  <a:schemeClr val="tx1"/>
                </a:solidFill>
                <a:latin typeface="Times New Roman" panose="02020603050405020304" pitchFamily="18" charset="0"/>
                <a:cs typeface="Times New Roman" panose="02020603050405020304" pitchFamily="18" charset="0"/>
              </a:rPr>
              <a:t>PHẦN 2: QUY ĐỊNH VỀ HÓA ĐƠN – 6. HĐĐT CÓ MÃ CỦA CQT THEO TỪNG LẦN PHÁT SINH</a:t>
            </a:r>
            <a:endParaRPr lang="vi-VN" sz="1900" b="1" dirty="0">
              <a:solidFill>
                <a:schemeClr val="tx1"/>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14878548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42425"/>
          </a:xfrm>
        </p:spPr>
        <p:txBody>
          <a:bodyPr anchor="ctr" anchorCtr="0">
            <a:noAutofit/>
          </a:bodyPr>
          <a:lstStyle/>
          <a:p>
            <a:pPr algn="ctr"/>
            <a:r>
              <a:rPr lang="vi-VN" sz="2400" b="1" dirty="0">
                <a:solidFill>
                  <a:srgbClr val="C00000"/>
                </a:solidFill>
              </a:rPr>
              <a:t>T</a:t>
            </a:r>
            <a:r>
              <a:rPr lang="en-US" sz="2400" b="1" dirty="0">
                <a:solidFill>
                  <a:srgbClr val="C00000"/>
                </a:solidFill>
              </a:rPr>
              <a:t>RÌNH TỰ THỦ TỤC</a:t>
            </a:r>
            <a:endParaRPr lang="vi-VN" sz="2400" b="1" dirty="0">
              <a:solidFill>
                <a:srgbClr val="C00000"/>
              </a:solidFill>
            </a:endParaRPr>
          </a:p>
        </p:txBody>
      </p:sp>
      <p:sp>
        <p:nvSpPr>
          <p:cNvPr id="3" name="Content Placeholder 2"/>
          <p:cNvSpPr>
            <a:spLocks noGrp="1"/>
          </p:cNvSpPr>
          <p:nvPr>
            <p:ph idx="1"/>
          </p:nvPr>
        </p:nvSpPr>
        <p:spPr>
          <a:xfrm>
            <a:off x="677334" y="1252025"/>
            <a:ext cx="8596668" cy="5212275"/>
          </a:xfrm>
        </p:spPr>
        <p:txBody>
          <a:bodyPr vert="horz" anchor="ctr" anchorCtr="0">
            <a:noAutofit/>
          </a:bodyPr>
          <a:lstStyle/>
          <a:p>
            <a:pPr marL="0" indent="0" algn="just">
              <a:buNone/>
            </a:pPr>
            <a:r>
              <a:rPr lang="vi-VN" sz="2000" dirty="0">
                <a:solidFill>
                  <a:schemeClr val="tx1"/>
                </a:solidFill>
                <a:latin typeface="+mj-lt"/>
              </a:rPr>
              <a:t>- Doanh nghiệp, tổ chức kinh tế, tổ chức khác, hộ, cá nhân kinh doanh thuộc trường hợp được cấp hóa đơn điện tử có mã của cơ quan thuế theo từng lần phát sinh gửi đơn đề nghị cấp hóa đơn điện tử có mã của cơ quan đến cơ quan thuế và truy cập vào hệ thống lập hóa đơn điện tử của cơ quan thuế để lập hóa đơn điện tử.</a:t>
            </a:r>
          </a:p>
          <a:p>
            <a:pPr marL="0" indent="0" algn="just">
              <a:buNone/>
            </a:pPr>
            <a:r>
              <a:rPr lang="vi-VN" sz="2000" dirty="0">
                <a:solidFill>
                  <a:schemeClr val="tx1"/>
                </a:solidFill>
                <a:latin typeface="+mj-lt"/>
              </a:rPr>
              <a:t>- </a:t>
            </a:r>
            <a:r>
              <a:rPr lang="en-US" sz="2000" dirty="0">
                <a:solidFill>
                  <a:schemeClr val="tx1"/>
                </a:solidFill>
                <a:latin typeface="+mj-lt"/>
              </a:rPr>
              <a:t>D</a:t>
            </a:r>
            <a:r>
              <a:rPr lang="vi-VN" sz="2000" dirty="0">
                <a:solidFill>
                  <a:schemeClr val="tx1"/>
                </a:solidFill>
                <a:latin typeface="+mj-lt"/>
              </a:rPr>
              <a:t>oanh nghiệp, tổ chức, cá nhân </a:t>
            </a:r>
            <a:r>
              <a:rPr lang="en-US" sz="2000" dirty="0" err="1">
                <a:solidFill>
                  <a:schemeClr val="tx1"/>
                </a:solidFill>
                <a:latin typeface="+mj-lt"/>
              </a:rPr>
              <a:t>phải</a:t>
            </a:r>
            <a:r>
              <a:rPr lang="en-US" sz="2000" dirty="0">
                <a:solidFill>
                  <a:schemeClr val="tx1"/>
                </a:solidFill>
                <a:latin typeface="+mj-lt"/>
              </a:rPr>
              <a:t> </a:t>
            </a:r>
            <a:r>
              <a:rPr lang="en-US" sz="2000" dirty="0" err="1">
                <a:solidFill>
                  <a:schemeClr val="tx1"/>
                </a:solidFill>
                <a:latin typeface="+mj-lt"/>
              </a:rPr>
              <a:t>kê</a:t>
            </a:r>
            <a:r>
              <a:rPr lang="vi-VN" sz="2000" dirty="0">
                <a:solidFill>
                  <a:schemeClr val="tx1"/>
                </a:solidFill>
                <a:latin typeface="+mj-lt"/>
              </a:rPr>
              <a:t> khai, nộp thuế đầy đủ theo quy định của pháp luật thuế</a:t>
            </a:r>
            <a:r>
              <a:rPr lang="en-US" sz="2000" dirty="0">
                <a:solidFill>
                  <a:schemeClr val="tx1"/>
                </a:solidFill>
                <a:latin typeface="+mj-lt"/>
              </a:rPr>
              <a:t> </a:t>
            </a:r>
            <a:r>
              <a:rPr lang="en-US" sz="2000" dirty="0" err="1">
                <a:solidFill>
                  <a:schemeClr val="tx1"/>
                </a:solidFill>
                <a:latin typeface="+mj-lt"/>
              </a:rPr>
              <a:t>trước</a:t>
            </a:r>
            <a:r>
              <a:rPr lang="en-US" sz="2000" dirty="0">
                <a:solidFill>
                  <a:schemeClr val="tx1"/>
                </a:solidFill>
                <a:latin typeface="+mj-lt"/>
              </a:rPr>
              <a:t> </a:t>
            </a:r>
            <a:r>
              <a:rPr lang="en-US" sz="2000" dirty="0" err="1">
                <a:solidFill>
                  <a:schemeClr val="tx1"/>
                </a:solidFill>
                <a:latin typeface="+mj-lt"/>
              </a:rPr>
              <a:t>khi</a:t>
            </a:r>
            <a:r>
              <a:rPr lang="en-US" sz="2000" dirty="0">
                <a:solidFill>
                  <a:schemeClr val="tx1"/>
                </a:solidFill>
                <a:latin typeface="+mj-lt"/>
              </a:rPr>
              <a:t> </a:t>
            </a:r>
            <a:r>
              <a:rPr lang="en-US" sz="2000" dirty="0" err="1">
                <a:solidFill>
                  <a:schemeClr val="tx1"/>
                </a:solidFill>
                <a:latin typeface="+mj-lt"/>
              </a:rPr>
              <a:t>nhận</a:t>
            </a:r>
            <a:r>
              <a:rPr lang="en-US" sz="2000" dirty="0">
                <a:solidFill>
                  <a:schemeClr val="tx1"/>
                </a:solidFill>
                <a:latin typeface="+mj-lt"/>
              </a:rPr>
              <a:t> HĐĐT </a:t>
            </a:r>
            <a:r>
              <a:rPr lang="en-US" sz="2000" dirty="0" err="1">
                <a:solidFill>
                  <a:schemeClr val="tx1"/>
                </a:solidFill>
                <a:latin typeface="+mj-lt"/>
              </a:rPr>
              <a:t>có</a:t>
            </a:r>
            <a:r>
              <a:rPr lang="en-US" sz="2000" dirty="0">
                <a:solidFill>
                  <a:schemeClr val="tx1"/>
                </a:solidFill>
                <a:latin typeface="+mj-lt"/>
              </a:rPr>
              <a:t> </a:t>
            </a:r>
            <a:r>
              <a:rPr lang="en-US" sz="2000" dirty="0" err="1">
                <a:solidFill>
                  <a:schemeClr val="tx1"/>
                </a:solidFill>
                <a:latin typeface="+mj-lt"/>
              </a:rPr>
              <a:t>mã</a:t>
            </a:r>
            <a:r>
              <a:rPr lang="en-US" sz="2000" dirty="0">
                <a:solidFill>
                  <a:schemeClr val="tx1"/>
                </a:solidFill>
                <a:latin typeface="+mj-lt"/>
              </a:rPr>
              <a:t> </a:t>
            </a:r>
            <a:r>
              <a:rPr lang="en-US" sz="2000" dirty="0" err="1">
                <a:solidFill>
                  <a:schemeClr val="tx1"/>
                </a:solidFill>
                <a:latin typeface="+mj-lt"/>
              </a:rPr>
              <a:t>của</a:t>
            </a:r>
            <a:r>
              <a:rPr lang="en-US" sz="2000" dirty="0">
                <a:solidFill>
                  <a:schemeClr val="tx1"/>
                </a:solidFill>
                <a:latin typeface="+mj-lt"/>
              </a:rPr>
              <a:t> CQT.</a:t>
            </a:r>
            <a:endParaRPr lang="vi-VN" dirty="0">
              <a:solidFill>
                <a:schemeClr val="tx1"/>
              </a:solidFill>
              <a:latin typeface="Cambria" panose="02040503050406030204" pitchFamily="18" charset="0"/>
            </a:endParaRPr>
          </a:p>
        </p:txBody>
      </p:sp>
      <p:sp>
        <p:nvSpPr>
          <p:cNvPr id="4" name="Title 1"/>
          <p:cNvSpPr txBox="1">
            <a:spLocks/>
          </p:cNvSpPr>
          <p:nvPr/>
        </p:nvSpPr>
        <p:spPr>
          <a:xfrm>
            <a:off x="954718" y="118201"/>
            <a:ext cx="11489609"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900" b="1" dirty="0">
                <a:solidFill>
                  <a:schemeClr val="tx1"/>
                </a:solidFill>
                <a:latin typeface="Times New Roman" panose="02020603050405020304" pitchFamily="18" charset="0"/>
                <a:cs typeface="Times New Roman" panose="02020603050405020304" pitchFamily="18" charset="0"/>
              </a:rPr>
              <a:t>PHẦN 2: QUY ĐỊNH VỀ HÓA ĐƠN – 6. HĐĐT CÓ MÃ CỦA CQT THEO TỪNG LẦN PHÁT SINH</a:t>
            </a:r>
            <a:endParaRPr lang="vi-VN" sz="19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8358812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609666" cy="642425"/>
          </a:xfrm>
        </p:spPr>
        <p:txBody>
          <a:bodyPr anchor="ctr" anchorCtr="0">
            <a:noAutofit/>
          </a:bodyPr>
          <a:lstStyle/>
          <a:p>
            <a:pPr algn="ctr"/>
            <a:r>
              <a:rPr lang="en-US" sz="2000" b="1" dirty="0">
                <a:solidFill>
                  <a:srgbClr val="C00000"/>
                </a:solidFill>
              </a:rPr>
              <a:t>XÁC ĐỊNH CQT CẤP HĐĐT CỦA CQT THEO TỪNG LẦN PHÁT SINH</a:t>
            </a:r>
            <a:endParaRPr lang="vi-VN" sz="2000" b="1" dirty="0">
              <a:solidFill>
                <a:srgbClr val="C00000"/>
              </a:solidFill>
            </a:endParaRPr>
          </a:p>
        </p:txBody>
      </p:sp>
      <p:sp>
        <p:nvSpPr>
          <p:cNvPr id="3" name="Content Placeholder 2"/>
          <p:cNvSpPr>
            <a:spLocks noGrp="1"/>
          </p:cNvSpPr>
          <p:nvPr>
            <p:ph idx="1"/>
          </p:nvPr>
        </p:nvSpPr>
        <p:spPr>
          <a:xfrm>
            <a:off x="677334" y="1252025"/>
            <a:ext cx="8596668" cy="5212275"/>
          </a:xfrm>
        </p:spPr>
        <p:txBody>
          <a:bodyPr vert="horz" anchor="ctr" anchorCtr="0">
            <a:noAutofit/>
          </a:bodyPr>
          <a:lstStyle/>
          <a:p>
            <a:pPr algn="just"/>
            <a:r>
              <a:rPr lang="vi-VN" sz="2000" b="1" i="1" dirty="0">
                <a:solidFill>
                  <a:schemeClr val="tx1"/>
                </a:solidFill>
                <a:latin typeface="+mj-lt"/>
              </a:rPr>
              <a:t> Đối với tổ chức, doanh nghiệp</a:t>
            </a:r>
            <a:endParaRPr lang="vi-VN" sz="2000" dirty="0">
              <a:solidFill>
                <a:schemeClr val="tx1"/>
              </a:solidFill>
              <a:latin typeface="+mj-lt"/>
            </a:endParaRPr>
          </a:p>
          <a:p>
            <a:pPr marL="0" indent="0" algn="just">
              <a:buNone/>
            </a:pPr>
            <a:r>
              <a:rPr lang="vi-VN" sz="2000" dirty="0">
                <a:solidFill>
                  <a:schemeClr val="tx1"/>
                </a:solidFill>
                <a:latin typeface="+mj-lt"/>
              </a:rPr>
              <a:t>Cơ quan thuế quản lý địa bàn nơi tổ chức, doanh nghiệp đăng ký thuế, đăng ký kinh doanh hoặc nơi tổ chức đóng trụ sở hoặc nơi được ghi trong quyết định thành lập hoặc nơi phát sinh việc bán hàng hóa, cung ứng dịch vụ.</a:t>
            </a:r>
          </a:p>
          <a:p>
            <a:pPr marL="0" indent="0" algn="just">
              <a:buNone/>
            </a:pPr>
            <a:endParaRPr lang="vi-VN" sz="2000" dirty="0">
              <a:solidFill>
                <a:schemeClr val="tx1"/>
              </a:solidFill>
              <a:latin typeface="+mj-lt"/>
            </a:endParaRPr>
          </a:p>
          <a:p>
            <a:pPr algn="just"/>
            <a:r>
              <a:rPr lang="vi-VN" sz="2000" b="1" i="1" dirty="0">
                <a:solidFill>
                  <a:schemeClr val="tx1"/>
                </a:solidFill>
                <a:latin typeface="+mj-lt"/>
              </a:rPr>
              <a:t> Đối với hộ, cá nhân kinh doanh</a:t>
            </a:r>
            <a:endParaRPr lang="vi-VN" sz="2000" dirty="0">
              <a:solidFill>
                <a:schemeClr val="tx1"/>
              </a:solidFill>
              <a:latin typeface="+mj-lt"/>
            </a:endParaRPr>
          </a:p>
          <a:p>
            <a:pPr marL="0" indent="0" algn="just">
              <a:buNone/>
            </a:pPr>
            <a:r>
              <a:rPr lang="vi-VN" sz="2000" dirty="0">
                <a:solidFill>
                  <a:schemeClr val="tx1"/>
                </a:solidFill>
                <a:latin typeface="+mj-lt"/>
              </a:rPr>
              <a:t>- Đối với hộ, cá nhân kinh doanh có địa điểm kinh doanh cố định: Hộ, cá nhân kinh doanh nộp hồ sơ đề nghị cấp hóa đơn điện tử có mã của cơ quan thuế theo từng lần phát sinh tại Chi cục Thuế quản lý nơi hộ, cá nhân kinh doanh tiến hành hoạt động kinh doanh.</a:t>
            </a:r>
          </a:p>
          <a:p>
            <a:pPr marL="0" indent="0" algn="just">
              <a:buNone/>
            </a:pPr>
            <a:r>
              <a:rPr lang="vi-VN" sz="2000" dirty="0">
                <a:solidFill>
                  <a:schemeClr val="tx1"/>
                </a:solidFill>
                <a:latin typeface="+mj-lt"/>
              </a:rPr>
              <a:t>- Đối với hộ, cá nhân kinh doanh không có địa điểm kinh doanh cố định: Hộ, cá nhân kinh doanh nộp hồ sơ đề nghị cấp hóa đơn điện tử có mã của cơ quan thuế theo từng lần phát sinh tại Chi cục Thuế nơi cá nhân cư trú hoặc nơi hộ, cá nhân đăng ký kinh doanh.</a:t>
            </a:r>
          </a:p>
        </p:txBody>
      </p:sp>
      <p:sp>
        <p:nvSpPr>
          <p:cNvPr id="4" name="Title 1"/>
          <p:cNvSpPr txBox="1">
            <a:spLocks/>
          </p:cNvSpPr>
          <p:nvPr/>
        </p:nvSpPr>
        <p:spPr>
          <a:xfrm>
            <a:off x="1064743" y="133542"/>
            <a:ext cx="11489609"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900" b="1" dirty="0">
                <a:solidFill>
                  <a:schemeClr val="tx1"/>
                </a:solidFill>
                <a:latin typeface="Times New Roman" panose="02020603050405020304" pitchFamily="18" charset="0"/>
                <a:cs typeface="Times New Roman" panose="02020603050405020304" pitchFamily="18" charset="0"/>
              </a:rPr>
              <a:t>PHẦN 2: QUY ĐỊNH VỀ HÓA ĐƠN – 6. HĐĐT CÓ MÃ CỦA CQT THEO TỪNG LẦN PHÁT SINH</a:t>
            </a:r>
            <a:endParaRPr lang="vi-VN" sz="19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32203902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5346" y="1539584"/>
            <a:ext cx="8596668" cy="726831"/>
          </a:xfrm>
        </p:spPr>
        <p:txBody>
          <a:bodyPr>
            <a:normAutofit/>
          </a:bodyPr>
          <a:lstStyle/>
          <a:p>
            <a:pPr algn="ctr"/>
            <a:r>
              <a:rPr lang="en-US" sz="3200" b="1" dirty="0">
                <a:solidFill>
                  <a:schemeClr val="accent5"/>
                </a:solidFill>
              </a:rPr>
              <a:t>7. NGỪNG SỬ DỤNG HĐĐT</a:t>
            </a:r>
            <a:endParaRPr lang="vi-VN" sz="3200" dirty="0">
              <a:solidFill>
                <a:schemeClr val="accent5"/>
              </a:solidFill>
            </a:endParaRPr>
          </a:p>
        </p:txBody>
      </p:sp>
      <p:sp>
        <p:nvSpPr>
          <p:cNvPr id="3" name="Content Placeholder 2"/>
          <p:cNvSpPr>
            <a:spLocks noGrp="1"/>
          </p:cNvSpPr>
          <p:nvPr>
            <p:ph idx="1"/>
          </p:nvPr>
        </p:nvSpPr>
        <p:spPr>
          <a:xfrm>
            <a:off x="795346" y="2347642"/>
            <a:ext cx="8596668" cy="3551646"/>
          </a:xfrm>
        </p:spPr>
        <p:txBody>
          <a:bodyPr anchor="ctr" anchorCtr="0">
            <a:normAutofit/>
          </a:bodyPr>
          <a:lstStyle/>
          <a:p>
            <a:pPr marL="0" indent="0">
              <a:buNone/>
            </a:pPr>
            <a:endParaRPr lang="en-US" sz="2400" dirty="0">
              <a:solidFill>
                <a:schemeClr val="tx1"/>
              </a:solidFill>
              <a:latin typeface="+mj-lt"/>
            </a:endParaRPr>
          </a:p>
          <a:p>
            <a:pPr marL="0" indent="0" algn="just">
              <a:buNone/>
            </a:pPr>
            <a:r>
              <a:rPr lang="vi-VN" sz="2400" dirty="0">
                <a:solidFill>
                  <a:schemeClr val="tx1"/>
                </a:solidFill>
                <a:latin typeface="+mj-lt"/>
              </a:rPr>
              <a:t>1. Các trường hợp ngừng sử dụng hóa đơn điện tử</a:t>
            </a:r>
          </a:p>
          <a:p>
            <a:pPr marL="0" indent="0" algn="just">
              <a:buNone/>
            </a:pPr>
            <a:r>
              <a:rPr lang="vi-VN" sz="2400" dirty="0">
                <a:solidFill>
                  <a:schemeClr val="tx1"/>
                </a:solidFill>
                <a:latin typeface="+mj-lt"/>
              </a:rPr>
              <a:t>2. Trình tự thực hiện ngừng sử dụng hóa đơn điện tử</a:t>
            </a:r>
          </a:p>
          <a:p>
            <a:pPr marL="0" indent="0" algn="just">
              <a:buNone/>
            </a:pPr>
            <a:r>
              <a:rPr lang="en-US" sz="2400" dirty="0">
                <a:solidFill>
                  <a:schemeClr val="tx1"/>
                </a:solidFill>
                <a:latin typeface="+mj-lt"/>
              </a:rPr>
              <a:t>3</a:t>
            </a:r>
            <a:r>
              <a:rPr lang="vi-VN" sz="2400" dirty="0">
                <a:solidFill>
                  <a:schemeClr val="tx1"/>
                </a:solidFill>
                <a:latin typeface="+mj-lt"/>
              </a:rPr>
              <a:t>. Tiếp tục sử dụng hóa đơn điện tử </a:t>
            </a:r>
          </a:p>
          <a:p>
            <a:pPr marL="0" indent="0" algn="just">
              <a:buNone/>
            </a:pPr>
            <a:r>
              <a:rPr lang="vi-VN" sz="2400" dirty="0">
                <a:solidFill>
                  <a:schemeClr val="tx1"/>
                </a:solidFill>
                <a:latin typeface="+mj-lt"/>
              </a:rPr>
              <a:t>4. Sử dụng hóa đơn điện tử cấp theo từng lần phát sinh </a:t>
            </a:r>
          </a:p>
          <a:p>
            <a:pPr marL="0" indent="0">
              <a:buNone/>
            </a:pPr>
            <a:endParaRPr lang="en-US" sz="2400" b="1" dirty="0">
              <a:solidFill>
                <a:schemeClr val="tx1"/>
              </a:solidFill>
              <a:latin typeface="Cambria" panose="02040503050406030204" pitchFamily="18" charset="0"/>
            </a:endParaRPr>
          </a:p>
        </p:txBody>
      </p:sp>
      <p:sp>
        <p:nvSpPr>
          <p:cNvPr id="4" name="Title 1"/>
          <p:cNvSpPr txBox="1">
            <a:spLocks/>
          </p:cNvSpPr>
          <p:nvPr/>
        </p:nvSpPr>
        <p:spPr>
          <a:xfrm>
            <a:off x="954718" y="218682"/>
            <a:ext cx="11489609"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–7. NGỪNG SỬ DỤNG HĐĐT</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6080399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516835"/>
            <a:ext cx="8596668" cy="404990"/>
          </a:xfrm>
        </p:spPr>
        <p:txBody>
          <a:bodyPr anchor="ctr" anchorCtr="0">
            <a:noAutofit/>
          </a:bodyPr>
          <a:lstStyle/>
          <a:p>
            <a:pPr algn="ctr"/>
            <a:r>
              <a:rPr lang="en-US" sz="2400" b="1" dirty="0">
                <a:solidFill>
                  <a:schemeClr val="tx1"/>
                </a:solidFill>
                <a:latin typeface="Cambria" panose="02040503050406030204" pitchFamily="18" charset="0"/>
              </a:rPr>
              <a:t/>
            </a:r>
            <a:br>
              <a:rPr lang="en-US" sz="2400" b="1" dirty="0">
                <a:solidFill>
                  <a:schemeClr val="tx1"/>
                </a:solidFill>
                <a:latin typeface="Cambria" panose="02040503050406030204" pitchFamily="18" charset="0"/>
              </a:rPr>
            </a:br>
            <a:r>
              <a:rPr lang="en-US" sz="2400" b="1" dirty="0">
                <a:solidFill>
                  <a:srgbClr val="C00000"/>
                </a:solidFill>
              </a:rPr>
              <a:t>7 TRƯỜNG HỢP NGỪNG SỬ DỤNG HĐĐT </a:t>
            </a:r>
            <a:endParaRPr lang="vi-VN" sz="2400" b="1" dirty="0">
              <a:solidFill>
                <a:srgbClr val="C00000"/>
              </a:solidFill>
            </a:endParaRPr>
          </a:p>
        </p:txBody>
      </p:sp>
      <p:sp>
        <p:nvSpPr>
          <p:cNvPr id="3" name="Content Placeholder 2"/>
          <p:cNvSpPr>
            <a:spLocks noGrp="1"/>
          </p:cNvSpPr>
          <p:nvPr>
            <p:ph idx="1"/>
          </p:nvPr>
        </p:nvSpPr>
        <p:spPr>
          <a:xfrm>
            <a:off x="677334" y="1099625"/>
            <a:ext cx="9198186" cy="5212275"/>
          </a:xfrm>
        </p:spPr>
        <p:txBody>
          <a:bodyPr vert="horz" anchor="ctr" anchorCtr="0">
            <a:noAutofit/>
          </a:bodyPr>
          <a:lstStyle/>
          <a:p>
            <a:pPr marL="0" indent="0" algn="just">
              <a:buNone/>
            </a:pPr>
            <a:r>
              <a:rPr lang="vi-VN" sz="1700" dirty="0">
                <a:solidFill>
                  <a:schemeClr val="tx1"/>
                </a:solidFill>
                <a:latin typeface="+mj-lt"/>
              </a:rPr>
              <a:t>a) Doanh nghiệp, tổ chức kinh tế, tổ chức khác, hộ, cá nhân kinh doanh chấm dứt hiệu lực mã số thuế;</a:t>
            </a:r>
          </a:p>
          <a:p>
            <a:pPr marL="0" indent="0" algn="just">
              <a:buNone/>
            </a:pPr>
            <a:r>
              <a:rPr lang="vi-VN" sz="1700" dirty="0">
                <a:solidFill>
                  <a:schemeClr val="tx1"/>
                </a:solidFill>
                <a:latin typeface="+mj-lt"/>
              </a:rPr>
              <a:t>b) Doanh nghiệp, tổ chức kinh tế, tổ chức khác, hộ, cá nhân kinh doanh thuộc trường hợp cơ quan thuế xác minh và thông báo không hoạt động tại địa chỉ đã đăng ký;</a:t>
            </a:r>
          </a:p>
          <a:p>
            <a:pPr marL="0" indent="0" algn="just">
              <a:buNone/>
            </a:pPr>
            <a:r>
              <a:rPr lang="vi-VN" sz="1700" dirty="0">
                <a:solidFill>
                  <a:schemeClr val="tx1"/>
                </a:solidFill>
                <a:latin typeface="+mj-lt"/>
              </a:rPr>
              <a:t>c) Doanh nghiệp, tổ chức kinh tế, tổ chức khác, hộ, cá nhân kinh doanh thông báo với cơ quan quản lý nhà nước có thẩm quyền tạm ngừng kinh doanh;</a:t>
            </a:r>
          </a:p>
          <a:p>
            <a:pPr marL="0" indent="0" algn="just">
              <a:buNone/>
            </a:pPr>
            <a:r>
              <a:rPr lang="vi-VN" sz="1700" dirty="0">
                <a:solidFill>
                  <a:schemeClr val="tx1"/>
                </a:solidFill>
                <a:latin typeface="+mj-lt"/>
              </a:rPr>
              <a:t>d) Doanh nghiệp, tổ chức kinh tế, tổ chức khác, hộ, cá nhân kinh doanh có thông báo của cơ quan thuế về việc ngừng sử dụng hóa đơn điện tử để thực hiện cưỡng chế nợ thuế;</a:t>
            </a:r>
          </a:p>
          <a:p>
            <a:pPr marL="0" indent="0" algn="just">
              <a:buNone/>
            </a:pPr>
            <a:r>
              <a:rPr lang="vi-VN" sz="1700" dirty="0">
                <a:solidFill>
                  <a:schemeClr val="tx1"/>
                </a:solidFill>
                <a:latin typeface="+mj-lt"/>
              </a:rPr>
              <a:t>đ) Trường hợp có hành vi sử dụng hóa đơn điện tử để bán hàng nhập lậu, hàng cấm, hàng giả, hàng xâm phạm quyền sở hữu trí tuệ bị cơ quan chức năng phát hiện và thông báo cho cơ quan thuế;</a:t>
            </a:r>
          </a:p>
          <a:p>
            <a:pPr marL="0" indent="0" algn="just">
              <a:buNone/>
            </a:pPr>
            <a:r>
              <a:rPr lang="vi-VN" sz="1700" dirty="0">
                <a:solidFill>
                  <a:schemeClr val="tx1"/>
                </a:solidFill>
                <a:latin typeface="+mj-lt"/>
              </a:rPr>
              <a:t>e) Trường hợp có hành vi lập hóa đơn điện tử phục vụ mục đích bán khống hàng hóa, cung cấp dịch vụ để chiếm đoạt tiền của tổ chức, cá nhân bị cơ quan chức năng phát hiện và thông báo cho cơ quan thuế;</a:t>
            </a:r>
          </a:p>
          <a:p>
            <a:pPr marL="0" indent="0" algn="just">
              <a:buNone/>
            </a:pPr>
            <a:r>
              <a:rPr lang="vi-VN" sz="1700" dirty="0">
                <a:solidFill>
                  <a:schemeClr val="tx1"/>
                </a:solidFill>
                <a:latin typeface="+mj-lt"/>
              </a:rPr>
              <a:t>g) Trường hợp cơ quan đăng ký kinh doanh, cơ quan nhà nước có thẩm quyền yêu cầu doanh nghiệp tạm ngừng kinh doanh ngành, nghề kinh doanh có điều kiện khi phát hiện doanh nghiệp không có đủ điều kiện kinh doanh theo quy định của pháp luật.</a:t>
            </a:r>
          </a:p>
        </p:txBody>
      </p:sp>
      <p:sp>
        <p:nvSpPr>
          <p:cNvPr id="6" name="Title 1"/>
          <p:cNvSpPr txBox="1">
            <a:spLocks/>
          </p:cNvSpPr>
          <p:nvPr/>
        </p:nvSpPr>
        <p:spPr>
          <a:xfrm>
            <a:off x="954718" y="119468"/>
            <a:ext cx="11489609"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7. NGỪNG SỬ DỤNG HĐĐT</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1526379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490025"/>
          </a:xfrm>
        </p:spPr>
        <p:txBody>
          <a:bodyPr anchor="ctr" anchorCtr="0">
            <a:noAutofit/>
          </a:bodyPr>
          <a:lstStyle/>
          <a:p>
            <a:pPr algn="ctr"/>
            <a:r>
              <a:rPr lang="vi-VN" sz="2400" b="1" dirty="0">
                <a:solidFill>
                  <a:srgbClr val="C00000"/>
                </a:solidFill>
              </a:rPr>
              <a:t>T</a:t>
            </a:r>
            <a:r>
              <a:rPr lang="en-US" sz="2400" b="1" dirty="0">
                <a:solidFill>
                  <a:srgbClr val="C00000"/>
                </a:solidFill>
              </a:rPr>
              <a:t>RÌNH TỰ THỰC HIỆN</a:t>
            </a:r>
            <a:endParaRPr lang="vi-VN" sz="2400" b="1" dirty="0">
              <a:solidFill>
                <a:srgbClr val="C00000"/>
              </a:solidFill>
            </a:endParaRPr>
          </a:p>
        </p:txBody>
      </p:sp>
      <p:sp>
        <p:nvSpPr>
          <p:cNvPr id="3" name="Content Placeholder 2"/>
          <p:cNvSpPr>
            <a:spLocks noGrp="1"/>
          </p:cNvSpPr>
          <p:nvPr>
            <p:ph idx="1"/>
          </p:nvPr>
        </p:nvSpPr>
        <p:spPr>
          <a:xfrm>
            <a:off x="677334" y="1099625"/>
            <a:ext cx="9198186" cy="5212275"/>
          </a:xfrm>
        </p:spPr>
        <p:txBody>
          <a:bodyPr vert="horz" anchor="ctr" anchorCtr="0">
            <a:noAutofit/>
          </a:bodyPr>
          <a:lstStyle/>
          <a:p>
            <a:pPr marL="0" indent="0" algn="just">
              <a:buNone/>
            </a:pPr>
            <a:r>
              <a:rPr lang="vi-VN" sz="1700" dirty="0">
                <a:solidFill>
                  <a:schemeClr val="tx1"/>
                </a:solidFill>
                <a:latin typeface="+mj-lt"/>
              </a:rPr>
              <a:t>a) Cơ quan thuế quản lý trực tiếp gửi thông báo đến người nộp thuế thuộc trường hợp tại điểm đ, e, g khoản 1 Điều 16 Nghị định 123/2020/NĐ-CP</a:t>
            </a:r>
            <a:r>
              <a:rPr lang="vi-VN" sz="1700" b="1" dirty="0">
                <a:solidFill>
                  <a:schemeClr val="tx1"/>
                </a:solidFill>
                <a:latin typeface="+mj-lt"/>
              </a:rPr>
              <a:t> </a:t>
            </a:r>
            <a:r>
              <a:rPr lang="vi-VN" sz="1700" dirty="0">
                <a:solidFill>
                  <a:schemeClr val="tx1"/>
                </a:solidFill>
                <a:latin typeface="+mj-lt"/>
              </a:rPr>
              <a:t>đề nghị người nộp thuế giải trình hoặc bổ sung thông tin, tài liệu liên quan đến việc sử dụng hóa đơn điện tử.</a:t>
            </a:r>
          </a:p>
          <a:p>
            <a:pPr marL="0" indent="0" algn="just">
              <a:buNone/>
            </a:pPr>
            <a:r>
              <a:rPr lang="vi-VN" sz="1700" dirty="0">
                <a:solidFill>
                  <a:schemeClr val="tx1"/>
                </a:solidFill>
                <a:latin typeface="+mj-lt"/>
              </a:rPr>
              <a:t>b) Người nộp thuế giải trình hoặc bổ sung thông tin, tài liệu không quá 02 ngày làm việc kể từ ngày cơ quan thuế ra thông báo. Người nộp thuế có thể đến cơ quan thuế giải trình trực tiếp hoặc bổ sung thông tin, tài liệu hoặc bằng văn bản.</a:t>
            </a:r>
          </a:p>
          <a:p>
            <a:pPr marL="0" indent="0" algn="just">
              <a:buNone/>
            </a:pPr>
            <a:r>
              <a:rPr lang="vi-VN" sz="1700" dirty="0">
                <a:solidFill>
                  <a:schemeClr val="tx1"/>
                </a:solidFill>
                <a:latin typeface="+mj-lt"/>
              </a:rPr>
              <a:t>c) Người nộp thuế tiếp tục sử dụng hóa đơn điện tử hoặc giải trình bổ sung, cụ thể:</a:t>
            </a:r>
          </a:p>
          <a:p>
            <a:pPr marL="0" indent="0" algn="just">
              <a:buNone/>
            </a:pPr>
            <a:r>
              <a:rPr lang="vi-VN" sz="1700" dirty="0">
                <a:solidFill>
                  <a:schemeClr val="tx1"/>
                </a:solidFill>
                <a:latin typeface="+mj-lt"/>
              </a:rPr>
              <a:t>c.1) Trường hợp người nộp thuế đã giải trình hoặc bổ sung thông tin, tài liệu đầy đủ và chứng minh được việc sử dụng hóa đơn điện tử theo đúng quy định pháp luật thì người nộp thuế tiếp tục sử dụng hóa đơn điện tử.</a:t>
            </a:r>
          </a:p>
          <a:p>
            <a:pPr marL="0" indent="0" algn="just">
              <a:buNone/>
            </a:pPr>
            <a:r>
              <a:rPr lang="vi-VN" sz="1700" dirty="0">
                <a:solidFill>
                  <a:schemeClr val="tx1"/>
                </a:solidFill>
                <a:latin typeface="+mj-lt"/>
              </a:rPr>
              <a:t>c.2) Trường hợp người nộp thuế đã giải trình hoặc bổ sung thông tin, tài liệu mà không chứng minh được việc sử dụng hóa đơn điện tử theo đúng quy định pháp luật thì cơ quan thuế tiếp tục thông báo yêu cầu người nộp thuế bổ sung thông tin, tài liệu. Thời hạn bổ sung là 02 ngày làm việc kể từ ngày cơ quan thuế ra thông báo.</a:t>
            </a:r>
          </a:p>
          <a:p>
            <a:pPr marL="0" indent="0" algn="just">
              <a:buNone/>
            </a:pPr>
            <a:r>
              <a:rPr lang="vi-VN" sz="1700" dirty="0">
                <a:solidFill>
                  <a:schemeClr val="tx1"/>
                </a:solidFill>
                <a:latin typeface="+mj-lt"/>
              </a:rPr>
              <a:t>d) Hết thời hạn theo thông báo mà người nộp thuế không giải trình, bổ sung thông tin, tài liệu thì cơ quan thuế ra thông báo đề nghị người nộp thuế ngừng sử dụng hóa đơn điện tử và xử lý theo quy định.</a:t>
            </a:r>
          </a:p>
        </p:txBody>
      </p:sp>
      <p:sp>
        <p:nvSpPr>
          <p:cNvPr id="4" name="Title 1"/>
          <p:cNvSpPr txBox="1">
            <a:spLocks/>
          </p:cNvSpPr>
          <p:nvPr/>
        </p:nvSpPr>
        <p:spPr>
          <a:xfrm>
            <a:off x="954718" y="211500"/>
            <a:ext cx="11489609"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7. NGỪNG SỬ DỤNG HĐĐT</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33845442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7963" y="1219480"/>
            <a:ext cx="8596668" cy="726831"/>
          </a:xfrm>
        </p:spPr>
        <p:txBody>
          <a:bodyPr>
            <a:normAutofit/>
          </a:bodyPr>
          <a:lstStyle/>
          <a:p>
            <a:pPr algn="ctr"/>
            <a:r>
              <a:rPr lang="en-US" sz="3000" b="1" dirty="0">
                <a:solidFill>
                  <a:schemeClr val="accent5"/>
                </a:solidFill>
              </a:rPr>
              <a:t>8. </a:t>
            </a:r>
            <a:r>
              <a:rPr lang="vi-VN" sz="3000" b="1" dirty="0">
                <a:solidFill>
                  <a:schemeClr val="accent5"/>
                </a:solidFill>
              </a:rPr>
              <a:t>L</a:t>
            </a:r>
            <a:r>
              <a:rPr lang="en-US" sz="3000" b="1" dirty="0">
                <a:solidFill>
                  <a:schemeClr val="accent5"/>
                </a:solidFill>
              </a:rPr>
              <a:t>ẬP HÓA ĐƠN ĐIỆN TỬ</a:t>
            </a:r>
            <a:endParaRPr lang="vi-VN" sz="3000" dirty="0">
              <a:solidFill>
                <a:schemeClr val="accent5"/>
              </a:solidFill>
            </a:endParaRPr>
          </a:p>
        </p:txBody>
      </p:sp>
      <p:sp>
        <p:nvSpPr>
          <p:cNvPr id="3" name="Content Placeholder 2"/>
          <p:cNvSpPr>
            <a:spLocks noGrp="1"/>
          </p:cNvSpPr>
          <p:nvPr>
            <p:ph idx="1"/>
          </p:nvPr>
        </p:nvSpPr>
        <p:spPr>
          <a:xfrm>
            <a:off x="795346" y="2207623"/>
            <a:ext cx="8596668" cy="4243977"/>
          </a:xfrm>
        </p:spPr>
        <p:txBody>
          <a:bodyPr anchor="ctr" anchorCtr="0">
            <a:normAutofit/>
          </a:bodyPr>
          <a:lstStyle/>
          <a:p>
            <a:pPr marL="0" indent="0" algn="just">
              <a:buNone/>
            </a:pPr>
            <a:r>
              <a:rPr lang="vi-VN" sz="2400" b="1" dirty="0">
                <a:solidFill>
                  <a:schemeClr val="tx1"/>
                </a:solidFill>
                <a:latin typeface="+mj-lt"/>
              </a:rPr>
              <a:t> Lập hóa đơn điện tử có mã của cơ quan thuế</a:t>
            </a:r>
          </a:p>
          <a:p>
            <a:pPr algn="just"/>
            <a:r>
              <a:rPr lang="vi-VN" sz="2000" b="1" i="1" dirty="0">
                <a:solidFill>
                  <a:schemeClr val="tx1"/>
                </a:solidFill>
                <a:latin typeface="+mj-lt"/>
              </a:rPr>
              <a:t>	 Trường hợp lập hóa đơn điện tử có mã của cơ quan thuế</a:t>
            </a:r>
          </a:p>
          <a:p>
            <a:pPr algn="just"/>
            <a:r>
              <a:rPr lang="vi-VN" sz="2000" b="1" i="1" dirty="0">
                <a:solidFill>
                  <a:schemeClr val="tx1"/>
                </a:solidFill>
                <a:latin typeface="+mj-lt"/>
              </a:rPr>
              <a:t>	 Quy định về cấp mã hóa đơn</a:t>
            </a:r>
          </a:p>
          <a:p>
            <a:pPr marL="0" indent="0" algn="just">
              <a:buNone/>
            </a:pPr>
            <a:r>
              <a:rPr lang="vi-VN" sz="2400" b="1" dirty="0">
                <a:solidFill>
                  <a:schemeClr val="tx1"/>
                </a:solidFill>
                <a:latin typeface="+mj-lt"/>
              </a:rPr>
              <a:t>Lập hóa đơn điện tử không có mã của cơ quan thuế </a:t>
            </a:r>
            <a:endParaRPr lang="vi-VN" sz="2400" dirty="0">
              <a:solidFill>
                <a:schemeClr val="tx1"/>
              </a:solidFill>
              <a:latin typeface="+mj-lt"/>
            </a:endParaRPr>
          </a:p>
          <a:p>
            <a:pPr marL="0" indent="0">
              <a:buNone/>
            </a:pPr>
            <a:endParaRPr lang="en-US" sz="2400" b="1" dirty="0">
              <a:solidFill>
                <a:schemeClr val="tx1"/>
              </a:solidFill>
              <a:latin typeface="+mj-lt"/>
            </a:endParaRPr>
          </a:p>
        </p:txBody>
      </p:sp>
      <p:sp>
        <p:nvSpPr>
          <p:cNvPr id="4" name="Title 1"/>
          <p:cNvSpPr txBox="1">
            <a:spLocks/>
          </p:cNvSpPr>
          <p:nvPr/>
        </p:nvSpPr>
        <p:spPr>
          <a:xfrm>
            <a:off x="1207489" y="149954"/>
            <a:ext cx="1098451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8. LẬP HĐĐT</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29432610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538447"/>
            <a:ext cx="8596668" cy="642425"/>
          </a:xfrm>
        </p:spPr>
        <p:txBody>
          <a:bodyPr anchor="ctr" anchorCtr="0">
            <a:noAutofit/>
          </a:bodyPr>
          <a:lstStyle/>
          <a:p>
            <a:pPr algn="ctr"/>
            <a:r>
              <a:rPr lang="vi-VN" sz="2400" b="1" dirty="0">
                <a:solidFill>
                  <a:srgbClr val="C00000"/>
                </a:solidFill>
              </a:rPr>
              <a:t>L</a:t>
            </a:r>
            <a:r>
              <a:rPr lang="en-US" sz="2400" b="1" dirty="0">
                <a:solidFill>
                  <a:srgbClr val="C00000"/>
                </a:solidFill>
              </a:rPr>
              <a:t>ẬP HĐĐT CÓ MÃ CỦA CQT</a:t>
            </a:r>
            <a:endParaRPr lang="vi-VN" sz="2400" b="1" dirty="0">
              <a:solidFill>
                <a:srgbClr val="C00000"/>
              </a:solidFill>
            </a:endParaRPr>
          </a:p>
        </p:txBody>
      </p:sp>
      <p:sp>
        <p:nvSpPr>
          <p:cNvPr id="3" name="Content Placeholder 2"/>
          <p:cNvSpPr>
            <a:spLocks noGrp="1"/>
          </p:cNvSpPr>
          <p:nvPr>
            <p:ph idx="1"/>
          </p:nvPr>
        </p:nvSpPr>
        <p:spPr>
          <a:xfrm>
            <a:off x="677334" y="1099625"/>
            <a:ext cx="9198186" cy="5212275"/>
          </a:xfrm>
        </p:spPr>
        <p:txBody>
          <a:bodyPr vert="horz" anchor="ctr" anchorCtr="0">
            <a:noAutofit/>
          </a:bodyPr>
          <a:lstStyle/>
          <a:p>
            <a:pPr algn="just"/>
            <a:r>
              <a:rPr lang="vi-VN" sz="2000" b="1" i="1" dirty="0">
                <a:solidFill>
                  <a:schemeClr val="tx1"/>
                </a:solidFill>
                <a:latin typeface="+mj-lt"/>
              </a:rPr>
              <a:t>Trường hợp lập hóa đơn điện tử có mã của cơ quan thuế</a:t>
            </a:r>
            <a:endParaRPr lang="vi-VN" sz="2000" dirty="0">
              <a:solidFill>
                <a:schemeClr val="tx1"/>
              </a:solidFill>
              <a:latin typeface="+mj-lt"/>
            </a:endParaRPr>
          </a:p>
          <a:p>
            <a:pPr algn="just">
              <a:buFontTx/>
              <a:buChar char="-"/>
            </a:pPr>
            <a:r>
              <a:rPr lang="vi-VN" sz="2000" dirty="0">
                <a:solidFill>
                  <a:schemeClr val="tx1"/>
                </a:solidFill>
                <a:latin typeface="+mj-lt"/>
              </a:rPr>
              <a:t>Doanh nghiệp, tổ chức kinh tế, tổ chức khác, hộ, cá nhân kinh doanh thuộc đối tượng nêu tại điểm 1.1 Mục B này (khoản 1 Điều 14 Nghị định số 123/2020/NĐ-CP) </a:t>
            </a:r>
            <a:endParaRPr lang="en-US" sz="2000" dirty="0">
              <a:solidFill>
                <a:schemeClr val="tx1"/>
              </a:solidFill>
              <a:latin typeface="+mj-lt"/>
            </a:endParaRPr>
          </a:p>
          <a:p>
            <a:pPr algn="just">
              <a:buFontTx/>
              <a:buChar char="-"/>
            </a:pPr>
            <a:r>
              <a:rPr lang="vi-VN" sz="2000" dirty="0">
                <a:solidFill>
                  <a:schemeClr val="tx1"/>
                </a:solidFill>
                <a:latin typeface="+mj-lt"/>
              </a:rPr>
              <a:t>	+ Lập hóa đơn bán hàng hóa, cung cấp dịch vụ.</a:t>
            </a:r>
          </a:p>
          <a:p>
            <a:pPr marL="0" indent="0" algn="just">
              <a:buNone/>
            </a:pPr>
            <a:r>
              <a:rPr lang="vi-VN" sz="2000" dirty="0">
                <a:solidFill>
                  <a:schemeClr val="tx1"/>
                </a:solidFill>
                <a:latin typeface="+mj-lt"/>
              </a:rPr>
              <a:t>	+ Ký số trên các hóa đơn đã lập và gửi hóa đơn để cơ quan thuế cấp mã.</a:t>
            </a:r>
          </a:p>
          <a:p>
            <a:pPr marL="0" indent="0" algn="just">
              <a:buNone/>
            </a:pPr>
            <a:r>
              <a:rPr lang="vi-VN" sz="2000" dirty="0">
                <a:solidFill>
                  <a:schemeClr val="tx1"/>
                </a:solidFill>
                <a:latin typeface="+mj-lt"/>
              </a:rPr>
              <a:t>- Doanh nghiệp, tổ chức kinh tế, tổ chức khác, hộ, cá nhân kinh doanh sử dụng hóa đơn điện tử có mã của cơ quan thuế thông qua tổ chức cung cấp dịch vụ hóa đơn điện tử thì truy cập vào trang thông tin điện tử của tổ chức cung cấp dịch vụ hóa đơn điện tử hoặc sử dụng phần mềm hóa đơn điện tử của đơn vị để thực hiện:</a:t>
            </a:r>
          </a:p>
          <a:p>
            <a:pPr marL="0" indent="0" algn="just">
              <a:buNone/>
            </a:pPr>
            <a:r>
              <a:rPr lang="vi-VN" sz="2000" dirty="0">
                <a:solidFill>
                  <a:schemeClr val="tx1"/>
                </a:solidFill>
                <a:latin typeface="+mj-lt"/>
              </a:rPr>
              <a:t>	+ Lập hóa đơn bán hàng hóa, cung cấp dịch vụ.</a:t>
            </a:r>
          </a:p>
          <a:p>
            <a:pPr marL="0" indent="0" algn="just">
              <a:buNone/>
            </a:pPr>
            <a:r>
              <a:rPr lang="vi-VN" sz="2000" dirty="0">
                <a:solidFill>
                  <a:schemeClr val="tx1"/>
                </a:solidFill>
                <a:latin typeface="+mj-lt"/>
              </a:rPr>
              <a:t>	+ Ký số trên các hóa đơn đã lập và gửi hóa đơn qua tổ chức cung cấp dịch vụ hóa đơn điện tử để cơ quan thuế cấp mã.</a:t>
            </a:r>
          </a:p>
        </p:txBody>
      </p:sp>
      <p:sp>
        <p:nvSpPr>
          <p:cNvPr id="4" name="Title 1"/>
          <p:cNvSpPr txBox="1">
            <a:spLocks/>
          </p:cNvSpPr>
          <p:nvPr/>
        </p:nvSpPr>
        <p:spPr>
          <a:xfrm>
            <a:off x="1116048" y="149954"/>
            <a:ext cx="11489609"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8. LẬP HĐĐT</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9693645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252025"/>
            <a:ext cx="8596668" cy="5212275"/>
          </a:xfrm>
        </p:spPr>
        <p:txBody>
          <a:bodyPr vert="horz" anchor="ctr" anchorCtr="0">
            <a:noAutofit/>
          </a:bodyPr>
          <a:lstStyle/>
          <a:p>
            <a:pPr algn="just"/>
            <a:r>
              <a:rPr lang="vi-VN" sz="1900" b="1" i="1" dirty="0">
                <a:solidFill>
                  <a:schemeClr val="tx1"/>
                </a:solidFill>
                <a:latin typeface="+mj-lt"/>
              </a:rPr>
              <a:t>Quy định về cấp mã hóa đơn.</a:t>
            </a:r>
            <a:endParaRPr lang="vi-VN" sz="1900" dirty="0">
              <a:solidFill>
                <a:schemeClr val="tx1"/>
              </a:solidFill>
              <a:latin typeface="+mj-lt"/>
            </a:endParaRPr>
          </a:p>
          <a:p>
            <a:pPr marL="0" indent="0" algn="just">
              <a:buNone/>
            </a:pPr>
            <a:r>
              <a:rPr lang="vi-VN" sz="1900" dirty="0">
                <a:solidFill>
                  <a:schemeClr val="tx1"/>
                </a:solidFill>
                <a:latin typeface="+mj-lt"/>
              </a:rPr>
              <a:t>- Hóa đơn được cơ quan thuế cấp mã phải đảm bảo:</a:t>
            </a:r>
          </a:p>
          <a:p>
            <a:pPr marL="0" indent="0" algn="just">
              <a:buNone/>
            </a:pPr>
            <a:r>
              <a:rPr lang="vi-VN" sz="1900" dirty="0">
                <a:solidFill>
                  <a:schemeClr val="tx1"/>
                </a:solidFill>
                <a:latin typeface="+mj-lt"/>
              </a:rPr>
              <a:t>	+ Đầy đủ nội dung về hóa đơn điện tử theo quy định tại Điều 10 Nghị định số 123/2020/NĐ-CP .</a:t>
            </a:r>
          </a:p>
          <a:p>
            <a:pPr marL="0" indent="0" algn="just">
              <a:buNone/>
            </a:pPr>
            <a:r>
              <a:rPr lang="vi-VN" sz="1900" dirty="0">
                <a:solidFill>
                  <a:schemeClr val="tx1"/>
                </a:solidFill>
                <a:latin typeface="+mj-lt"/>
              </a:rPr>
              <a:t>	+ Đúng định dạng về hóa đơn điện tử theo quy định tại Điều 12 Nghị định số 123/2020/NĐ-CP.</a:t>
            </a:r>
          </a:p>
          <a:p>
            <a:pPr marL="0" indent="0" algn="just">
              <a:buNone/>
            </a:pPr>
            <a:r>
              <a:rPr lang="vi-VN" sz="1900" dirty="0">
                <a:solidFill>
                  <a:schemeClr val="tx1"/>
                </a:solidFill>
                <a:latin typeface="+mj-lt"/>
              </a:rPr>
              <a:t>	+ Đúng thông tin đăng ký theo quy định tại Điều 15 Nghị định số 123/2020/NĐ-CP.</a:t>
            </a:r>
          </a:p>
          <a:p>
            <a:pPr marL="0" indent="0" algn="just">
              <a:buNone/>
            </a:pPr>
            <a:r>
              <a:rPr lang="vi-VN" sz="1900" dirty="0">
                <a:solidFill>
                  <a:schemeClr val="tx1"/>
                </a:solidFill>
                <a:latin typeface="+mj-lt"/>
              </a:rPr>
              <a:t>	+ Không thuộc trường hợp ngừng sử dụng hóa đơn điện tử có mã của cơ quan thuế theo quy định tại khoản 1 Điều 16 Nghị định số 123/2020/NĐ-CP.</a:t>
            </a:r>
          </a:p>
          <a:p>
            <a:pPr marL="0" indent="0" algn="just">
              <a:buNone/>
            </a:pPr>
            <a:r>
              <a:rPr lang="vi-VN" sz="1900" dirty="0">
                <a:solidFill>
                  <a:schemeClr val="tx1"/>
                </a:solidFill>
                <a:latin typeface="+mj-lt"/>
              </a:rPr>
              <a:t>- Hệ thống cấp mã hóa đơn của Tổng cục Thuế tự động thực hiện cấp mã hóa đơn và gửi trả kết quả cấp mã hóa đơn cho người gửi.</a:t>
            </a:r>
          </a:p>
          <a:p>
            <a:pPr marL="0" indent="0" algn="just">
              <a:buNone/>
            </a:pPr>
            <a:endParaRPr lang="vi-VN" sz="1900" dirty="0">
              <a:solidFill>
                <a:schemeClr val="tx1"/>
              </a:solidFill>
              <a:latin typeface="Cambria" panose="02040503050406030204" pitchFamily="18" charset="0"/>
            </a:endParaRPr>
          </a:p>
        </p:txBody>
      </p:sp>
      <p:sp>
        <p:nvSpPr>
          <p:cNvPr id="4" name="Title 1"/>
          <p:cNvSpPr txBox="1">
            <a:spLocks/>
          </p:cNvSpPr>
          <p:nvPr/>
        </p:nvSpPr>
        <p:spPr>
          <a:xfrm>
            <a:off x="1155236" y="149954"/>
            <a:ext cx="11489609"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8. LẬP HĐĐT</a:t>
            </a:r>
            <a:endParaRPr lang="vi-VN" sz="2000" b="1" dirty="0">
              <a:solidFill>
                <a:schemeClr val="tx1"/>
              </a:solidFill>
              <a:latin typeface="Times New Roman" panose="02020603050405020304" pitchFamily="18" charset="0"/>
              <a:cs typeface="Times New Roman" panose="02020603050405020304" pitchFamily="18" charset="0"/>
            </a:endParaRPr>
          </a:p>
        </p:txBody>
      </p:sp>
      <p:sp>
        <p:nvSpPr>
          <p:cNvPr id="5" name="Title 1"/>
          <p:cNvSpPr>
            <a:spLocks noGrp="1"/>
          </p:cNvSpPr>
          <p:nvPr>
            <p:ph type="title"/>
          </p:nvPr>
        </p:nvSpPr>
        <p:spPr>
          <a:xfrm>
            <a:off x="677334" y="538447"/>
            <a:ext cx="8596668" cy="642425"/>
          </a:xfrm>
        </p:spPr>
        <p:txBody>
          <a:bodyPr anchor="ctr" anchorCtr="0">
            <a:noAutofit/>
          </a:bodyPr>
          <a:lstStyle/>
          <a:p>
            <a:pPr algn="ctr"/>
            <a:r>
              <a:rPr lang="vi-VN" sz="2400" b="1" dirty="0">
                <a:solidFill>
                  <a:srgbClr val="C00000"/>
                </a:solidFill>
              </a:rPr>
              <a:t>L</a:t>
            </a:r>
            <a:r>
              <a:rPr lang="en-US" sz="2400" b="1" dirty="0">
                <a:solidFill>
                  <a:srgbClr val="C00000"/>
                </a:solidFill>
              </a:rPr>
              <a:t>ẬP HĐĐT CÓ MÃ CỦA CQT (TIẾP THEO)</a:t>
            </a:r>
            <a:endParaRPr lang="vi-VN" sz="2400" b="1" dirty="0">
              <a:solidFill>
                <a:srgbClr val="C00000"/>
              </a:solidFill>
            </a:endParaRPr>
          </a:p>
        </p:txBody>
      </p:sp>
      <p:pic>
        <p:nvPicPr>
          <p:cNvPr id="6" name="Picture 5"/>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39565615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1099625"/>
            <a:ext cx="8596668" cy="642425"/>
          </a:xfrm>
        </p:spPr>
        <p:txBody>
          <a:bodyPr anchor="ctr" anchorCtr="0">
            <a:noAutofit/>
          </a:bodyPr>
          <a:lstStyle/>
          <a:p>
            <a:pPr algn="ctr"/>
            <a:r>
              <a:rPr lang="vi-VN" sz="2400" b="1" dirty="0">
                <a:solidFill>
                  <a:srgbClr val="C00000"/>
                </a:solidFill>
              </a:rPr>
              <a:t>L</a:t>
            </a:r>
            <a:r>
              <a:rPr lang="en-US" sz="2400" b="1" dirty="0">
                <a:solidFill>
                  <a:srgbClr val="C00000"/>
                </a:solidFill>
              </a:rPr>
              <a:t>ẬP HĐĐT KHÔNG CÓ MÃ CỦA CQT </a:t>
            </a:r>
            <a:r>
              <a:rPr lang="en-US" sz="2400" b="1" dirty="0">
                <a:solidFill>
                  <a:schemeClr val="tx1"/>
                </a:solidFill>
                <a:latin typeface="Cambria" panose="02040503050406030204" pitchFamily="18" charset="0"/>
              </a:rPr>
              <a:t/>
            </a:r>
            <a:br>
              <a:rPr lang="en-US" sz="2400" b="1" dirty="0">
                <a:solidFill>
                  <a:schemeClr val="tx1"/>
                </a:solidFill>
                <a:latin typeface="Cambria" panose="02040503050406030204" pitchFamily="18" charset="0"/>
              </a:rPr>
            </a:br>
            <a:endParaRPr lang="vi-VN" sz="2400" b="1" dirty="0">
              <a:solidFill>
                <a:schemeClr val="tx1"/>
              </a:solidFill>
              <a:latin typeface="Cambria" panose="02040503050406030204" pitchFamily="18" charset="0"/>
            </a:endParaRPr>
          </a:p>
        </p:txBody>
      </p:sp>
      <p:sp>
        <p:nvSpPr>
          <p:cNvPr id="3" name="Content Placeholder 2"/>
          <p:cNvSpPr>
            <a:spLocks noGrp="1"/>
          </p:cNvSpPr>
          <p:nvPr>
            <p:ph idx="1"/>
          </p:nvPr>
        </p:nvSpPr>
        <p:spPr>
          <a:xfrm>
            <a:off x="677334" y="1742050"/>
            <a:ext cx="8596668" cy="3486487"/>
          </a:xfrm>
        </p:spPr>
        <p:txBody>
          <a:bodyPr vert="horz" anchor="ctr" anchorCtr="0">
            <a:noAutofit/>
          </a:bodyPr>
          <a:lstStyle/>
          <a:p>
            <a:pPr marL="0" indent="0" algn="just">
              <a:buNone/>
            </a:pPr>
            <a:r>
              <a:rPr lang="vi-VN" sz="2000" dirty="0">
                <a:solidFill>
                  <a:schemeClr val="tx1"/>
                </a:solidFill>
                <a:latin typeface="+mj-lt"/>
              </a:rPr>
              <a:t>- Doanh nghiệp, tổ chức kinh tế được sử dụng hóa đơn điện tử không có mã của cơ quan thuế khi bán hàng hóa, cung cấp dịch vụ sau khi nhận được thông báo chấp nhận của cơ quan thuế.</a:t>
            </a:r>
          </a:p>
          <a:p>
            <a:pPr marL="0" indent="0" algn="just">
              <a:buNone/>
            </a:pPr>
            <a:r>
              <a:rPr lang="vi-VN" sz="2000" dirty="0">
                <a:solidFill>
                  <a:schemeClr val="tx1"/>
                </a:solidFill>
                <a:latin typeface="+mj-lt"/>
              </a:rPr>
              <a:t>- Doanh nghiệp, tổ chức kinh tế sử dụng phần mềm để lập hóa đơn điện tử khi bán hàng hóa, cung cấp dịch vụ, ký số trên hóa đơn điện tử và gửi cho người mua bằng phương thức điện tử theo thỏa thuận giữa người bán và người mua, đảm bảo phù hợp với quy định của pháp luật về giao dịch điện tử.</a:t>
            </a:r>
          </a:p>
          <a:p>
            <a:pPr marL="0" indent="0" algn="just">
              <a:buNone/>
            </a:pPr>
            <a:endParaRPr lang="vi-VN" sz="1900" dirty="0">
              <a:solidFill>
                <a:schemeClr val="tx1"/>
              </a:solidFill>
              <a:latin typeface="Cambria" panose="02040503050406030204" pitchFamily="18" charset="0"/>
            </a:endParaRPr>
          </a:p>
        </p:txBody>
      </p:sp>
      <p:sp>
        <p:nvSpPr>
          <p:cNvPr id="4" name="Title 1"/>
          <p:cNvSpPr txBox="1">
            <a:spLocks/>
          </p:cNvSpPr>
          <p:nvPr/>
        </p:nvSpPr>
        <p:spPr>
          <a:xfrm>
            <a:off x="954719" y="208368"/>
            <a:ext cx="1123728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8. LẬP HĐĐT</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20767681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5346" y="724542"/>
            <a:ext cx="8596668" cy="726831"/>
          </a:xfrm>
        </p:spPr>
        <p:txBody>
          <a:bodyPr>
            <a:normAutofit fontScale="90000"/>
          </a:bodyPr>
          <a:lstStyle/>
          <a:p>
            <a:pPr algn="ctr"/>
            <a:r>
              <a:rPr lang="en-US" sz="3300" b="1" dirty="0">
                <a:solidFill>
                  <a:schemeClr val="accent5"/>
                </a:solidFill>
              </a:rPr>
              <a:t>9. XỬ LÝ HĐĐT CÓ SAI SÓT</a:t>
            </a:r>
            <a:r>
              <a:rPr lang="en-US" b="1" dirty="0">
                <a:solidFill>
                  <a:schemeClr val="accent5"/>
                </a:solidFill>
                <a:latin typeface="Cambria" panose="02040503050406030204" pitchFamily="18" charset="0"/>
              </a:rPr>
              <a:t/>
            </a:r>
            <a:br>
              <a:rPr lang="en-US" b="1" dirty="0">
                <a:solidFill>
                  <a:schemeClr val="accent5"/>
                </a:solidFill>
                <a:latin typeface="Cambria" panose="02040503050406030204" pitchFamily="18" charset="0"/>
              </a:rPr>
            </a:br>
            <a:endParaRPr lang="vi-VN" b="1" dirty="0">
              <a:solidFill>
                <a:schemeClr val="accent5"/>
              </a:solidFill>
              <a:latin typeface="Cambria" panose="02040503050406030204" pitchFamily="18" charset="0"/>
            </a:endParaRPr>
          </a:p>
        </p:txBody>
      </p:sp>
      <p:sp>
        <p:nvSpPr>
          <p:cNvPr id="3" name="Content Placeholder 2"/>
          <p:cNvSpPr>
            <a:spLocks noGrp="1"/>
          </p:cNvSpPr>
          <p:nvPr>
            <p:ph idx="1"/>
          </p:nvPr>
        </p:nvSpPr>
        <p:spPr>
          <a:xfrm>
            <a:off x="795346" y="1556222"/>
            <a:ext cx="8596668" cy="4895378"/>
          </a:xfrm>
        </p:spPr>
        <p:txBody>
          <a:bodyPr anchor="ctr" anchorCtr="0">
            <a:normAutofit/>
          </a:bodyPr>
          <a:lstStyle/>
          <a:p>
            <a:pPr marL="0" indent="0" algn="ctr">
              <a:buNone/>
            </a:pPr>
            <a:r>
              <a:rPr lang="vi-VN" sz="2000" b="1" dirty="0">
                <a:solidFill>
                  <a:srgbClr val="C00000"/>
                </a:solidFill>
                <a:latin typeface="+mj-lt"/>
              </a:rPr>
              <a:t>Trường hợp người bán phát hiện</a:t>
            </a:r>
            <a:r>
              <a:rPr lang="en-US" sz="2000" b="1" dirty="0">
                <a:solidFill>
                  <a:srgbClr val="C00000"/>
                </a:solidFill>
                <a:latin typeface="+mj-lt"/>
              </a:rPr>
              <a:t> – HĐĐT </a:t>
            </a:r>
            <a:r>
              <a:rPr lang="en-US" sz="2000" b="1" dirty="0" err="1">
                <a:solidFill>
                  <a:srgbClr val="C00000"/>
                </a:solidFill>
                <a:latin typeface="+mj-lt"/>
              </a:rPr>
              <a:t>có</a:t>
            </a:r>
            <a:r>
              <a:rPr lang="en-US" sz="2000" b="1" dirty="0">
                <a:solidFill>
                  <a:srgbClr val="C00000"/>
                </a:solidFill>
                <a:latin typeface="+mj-lt"/>
              </a:rPr>
              <a:t> </a:t>
            </a:r>
            <a:r>
              <a:rPr lang="en-US" sz="2000" b="1" dirty="0" err="1">
                <a:solidFill>
                  <a:srgbClr val="C00000"/>
                </a:solidFill>
                <a:latin typeface="+mj-lt"/>
              </a:rPr>
              <a:t>mã</a:t>
            </a:r>
            <a:r>
              <a:rPr lang="en-US" sz="2000" b="1" dirty="0">
                <a:solidFill>
                  <a:srgbClr val="C00000"/>
                </a:solidFill>
                <a:latin typeface="+mj-lt"/>
              </a:rPr>
              <a:t> </a:t>
            </a:r>
            <a:r>
              <a:rPr lang="en-US" sz="2000" b="1" dirty="0" err="1">
                <a:solidFill>
                  <a:srgbClr val="C00000"/>
                </a:solidFill>
                <a:latin typeface="+mj-lt"/>
              </a:rPr>
              <a:t>của</a:t>
            </a:r>
            <a:r>
              <a:rPr lang="en-US" sz="2000" b="1" dirty="0">
                <a:solidFill>
                  <a:srgbClr val="C00000"/>
                </a:solidFill>
                <a:latin typeface="+mj-lt"/>
              </a:rPr>
              <a:t> CQT </a:t>
            </a:r>
            <a:r>
              <a:rPr lang="vi-VN" sz="2000" b="1" dirty="0">
                <a:solidFill>
                  <a:srgbClr val="C00000"/>
                </a:solidFill>
                <a:latin typeface="+mj-lt"/>
              </a:rPr>
              <a:t>chưa gửi cho người mua có sai sót</a:t>
            </a:r>
            <a:endParaRPr lang="vi-VN" sz="2000" dirty="0">
              <a:solidFill>
                <a:srgbClr val="C00000"/>
              </a:solidFill>
              <a:latin typeface="+mj-lt"/>
            </a:endParaRPr>
          </a:p>
          <a:p>
            <a:pPr marL="0" indent="0" algn="just">
              <a:buNone/>
            </a:pPr>
            <a:r>
              <a:rPr lang="vi-VN" sz="2000" dirty="0">
                <a:solidFill>
                  <a:schemeClr val="tx1"/>
                </a:solidFill>
                <a:latin typeface="+mj-lt"/>
              </a:rPr>
              <a:t>Trường hợp người bán phát hiện hóa đơn điện tử đã được cấp mã của cơ quan thuế chưa gửi cho người mua có sai sót</a:t>
            </a:r>
            <a:r>
              <a:rPr lang="vi-VN" sz="2000" b="1" dirty="0">
                <a:solidFill>
                  <a:schemeClr val="tx1"/>
                </a:solidFill>
                <a:latin typeface="+mj-lt"/>
              </a:rPr>
              <a:t> </a:t>
            </a:r>
            <a:r>
              <a:rPr lang="vi-VN" sz="2000" dirty="0">
                <a:solidFill>
                  <a:schemeClr val="tx1"/>
                </a:solidFill>
                <a:latin typeface="+mj-lt"/>
              </a:rPr>
              <a:t>thì: </a:t>
            </a:r>
          </a:p>
          <a:p>
            <a:pPr marL="0" indent="0" algn="just">
              <a:buNone/>
            </a:pPr>
            <a:r>
              <a:rPr lang="vi-VN" sz="2000" dirty="0">
                <a:solidFill>
                  <a:schemeClr val="tx1"/>
                </a:solidFill>
                <a:latin typeface="+mj-lt"/>
              </a:rPr>
              <a:t>- Người bán thực hiện thông báo với cơ quan thuế theo Mẫu số 04/SS-HĐĐT Phụ lục IA ban hành kèm theo Nghị định số 123/2020/NĐ-CP về việc hủy hóa đơn điện tử có mã đã lập có sai sót </a:t>
            </a:r>
          </a:p>
          <a:p>
            <a:pPr marL="0" indent="0" algn="just">
              <a:buNone/>
            </a:pPr>
            <a:r>
              <a:rPr lang="vi-VN" sz="2000" dirty="0">
                <a:solidFill>
                  <a:schemeClr val="tx1"/>
                </a:solidFill>
                <a:latin typeface="+mj-lt"/>
              </a:rPr>
              <a:t>- Lập hóa đơn điện tử mới, ký số gửi cơ quan thuế để cấp mã hóa đơn mới thay thế hóa đơn đã lập để gửi cho người mua. </a:t>
            </a:r>
          </a:p>
          <a:p>
            <a:pPr marL="0" indent="0" algn="just">
              <a:buNone/>
            </a:pPr>
            <a:r>
              <a:rPr lang="vi-VN" sz="2000" dirty="0">
                <a:solidFill>
                  <a:schemeClr val="tx1"/>
                </a:solidFill>
                <a:latin typeface="+mj-lt"/>
              </a:rPr>
              <a:t>- Cơ quan thuế thực hiện hủy hóa đơn điện tử đã được cấp mã có sai sót lưu trên hệ thống của cơ quan thuế.</a:t>
            </a:r>
          </a:p>
        </p:txBody>
      </p:sp>
      <p:sp>
        <p:nvSpPr>
          <p:cNvPr id="4" name="Title 1"/>
          <p:cNvSpPr txBox="1">
            <a:spLocks/>
          </p:cNvSpPr>
          <p:nvPr/>
        </p:nvSpPr>
        <p:spPr>
          <a:xfrm>
            <a:off x="954718" y="116572"/>
            <a:ext cx="11489609"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9. XỬ LÝ HĐĐT CÓ SAI SÓT</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32490402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1451373"/>
            <a:ext cx="8596668" cy="1028561"/>
          </a:xfrm>
        </p:spPr>
        <p:txBody>
          <a:bodyPr anchor="ctr" anchorCtr="0">
            <a:noAutofit/>
          </a:bodyPr>
          <a:lstStyle/>
          <a:p>
            <a:pPr algn="ctr"/>
            <a:r>
              <a:rPr lang="vi-VN" sz="2200" b="1" dirty="0">
                <a:solidFill>
                  <a:srgbClr val="C00000"/>
                </a:solidFill>
                <a:latin typeface="Cambria" panose="02040503050406030204" pitchFamily="18" charset="0"/>
              </a:rPr>
              <a:t>Trường hợp </a:t>
            </a:r>
            <a:r>
              <a:rPr lang="en-US" sz="2200" b="1" dirty="0">
                <a:solidFill>
                  <a:srgbClr val="C00000"/>
                </a:solidFill>
                <a:latin typeface="Cambria" panose="02040503050406030204" pitchFamily="18" charset="0"/>
              </a:rPr>
              <a:t>HĐĐT </a:t>
            </a:r>
            <a:r>
              <a:rPr lang="en-US" sz="2200" b="1" dirty="0" err="1">
                <a:solidFill>
                  <a:srgbClr val="C00000"/>
                </a:solidFill>
                <a:latin typeface="Cambria" panose="02040503050406030204" pitchFamily="18" charset="0"/>
              </a:rPr>
              <a:t>có</a:t>
            </a:r>
            <a:r>
              <a:rPr lang="en-US" sz="2200" b="1" dirty="0">
                <a:solidFill>
                  <a:srgbClr val="C00000"/>
                </a:solidFill>
                <a:latin typeface="Cambria" panose="02040503050406030204" pitchFamily="18" charset="0"/>
              </a:rPr>
              <a:t> </a:t>
            </a:r>
            <a:r>
              <a:rPr lang="en-US" sz="2200" b="1" dirty="0" err="1">
                <a:solidFill>
                  <a:srgbClr val="C00000"/>
                </a:solidFill>
                <a:latin typeface="Cambria" panose="02040503050406030204" pitchFamily="18" charset="0"/>
              </a:rPr>
              <a:t>sai</a:t>
            </a:r>
            <a:r>
              <a:rPr lang="en-US" sz="2200" b="1" dirty="0">
                <a:solidFill>
                  <a:srgbClr val="C00000"/>
                </a:solidFill>
                <a:latin typeface="Cambria" panose="02040503050406030204" pitchFamily="18" charset="0"/>
              </a:rPr>
              <a:t> </a:t>
            </a:r>
            <a:r>
              <a:rPr lang="en-US" sz="2200" b="1" dirty="0" err="1">
                <a:solidFill>
                  <a:srgbClr val="C00000"/>
                </a:solidFill>
                <a:latin typeface="Cambria" panose="02040503050406030204" pitchFamily="18" charset="0"/>
              </a:rPr>
              <a:t>sót</a:t>
            </a:r>
            <a:r>
              <a:rPr lang="en-US" sz="2200" b="1" dirty="0">
                <a:solidFill>
                  <a:srgbClr val="C00000"/>
                </a:solidFill>
                <a:latin typeface="Cambria" panose="02040503050406030204" pitchFamily="18" charset="0"/>
              </a:rPr>
              <a:t> </a:t>
            </a:r>
            <a:r>
              <a:rPr lang="en-US" sz="2200" b="1" dirty="0" err="1">
                <a:solidFill>
                  <a:srgbClr val="C00000"/>
                </a:solidFill>
                <a:latin typeface="Cambria" panose="02040503050406030204" pitchFamily="18" charset="0"/>
              </a:rPr>
              <a:t>đã</a:t>
            </a:r>
            <a:r>
              <a:rPr lang="en-US" sz="2200" b="1" dirty="0">
                <a:solidFill>
                  <a:srgbClr val="C00000"/>
                </a:solidFill>
                <a:latin typeface="Cambria" panose="02040503050406030204" pitchFamily="18" charset="0"/>
              </a:rPr>
              <a:t> </a:t>
            </a:r>
            <a:r>
              <a:rPr lang="en-US" sz="2200" b="1" dirty="0" err="1">
                <a:solidFill>
                  <a:srgbClr val="C00000"/>
                </a:solidFill>
                <a:latin typeface="Cambria" panose="02040503050406030204" pitchFamily="18" charset="0"/>
              </a:rPr>
              <a:t>gửi</a:t>
            </a:r>
            <a:r>
              <a:rPr lang="en-US" sz="2200" b="1" dirty="0">
                <a:solidFill>
                  <a:srgbClr val="C00000"/>
                </a:solidFill>
                <a:latin typeface="Cambria" panose="02040503050406030204" pitchFamily="18" charset="0"/>
              </a:rPr>
              <a:t> </a:t>
            </a:r>
            <a:r>
              <a:rPr lang="en-US" sz="2200" b="1" dirty="0" err="1">
                <a:solidFill>
                  <a:srgbClr val="C00000"/>
                </a:solidFill>
                <a:latin typeface="Cambria" panose="02040503050406030204" pitchFamily="18" charset="0"/>
              </a:rPr>
              <a:t>cho</a:t>
            </a:r>
            <a:r>
              <a:rPr lang="en-US" sz="2200" b="1" dirty="0">
                <a:solidFill>
                  <a:srgbClr val="C00000"/>
                </a:solidFill>
                <a:latin typeface="Cambria" panose="02040503050406030204" pitchFamily="18" charset="0"/>
              </a:rPr>
              <a:t> </a:t>
            </a:r>
            <a:r>
              <a:rPr lang="en-US" sz="2200" b="1" dirty="0" err="1">
                <a:solidFill>
                  <a:srgbClr val="C00000"/>
                </a:solidFill>
                <a:latin typeface="Cambria" panose="02040503050406030204" pitchFamily="18" charset="0"/>
              </a:rPr>
              <a:t>người</a:t>
            </a:r>
            <a:r>
              <a:rPr lang="en-US" sz="2200" b="1" dirty="0">
                <a:solidFill>
                  <a:srgbClr val="C00000"/>
                </a:solidFill>
                <a:latin typeface="Cambria" panose="02040503050406030204" pitchFamily="18" charset="0"/>
              </a:rPr>
              <a:t> </a:t>
            </a:r>
            <a:r>
              <a:rPr lang="en-US" sz="2200" b="1" dirty="0" err="1">
                <a:solidFill>
                  <a:srgbClr val="C00000"/>
                </a:solidFill>
                <a:latin typeface="Cambria" panose="02040503050406030204" pitchFamily="18" charset="0"/>
              </a:rPr>
              <a:t>mua</a:t>
            </a:r>
            <a:r>
              <a:rPr lang="en-US" sz="2200" b="1" dirty="0">
                <a:solidFill>
                  <a:srgbClr val="C00000"/>
                </a:solidFill>
                <a:latin typeface="Cambria" panose="02040503050406030204" pitchFamily="18" charset="0"/>
              </a:rPr>
              <a:t> (HĐĐT </a:t>
            </a:r>
            <a:r>
              <a:rPr lang="vi-VN" sz="2200" b="1" dirty="0">
                <a:solidFill>
                  <a:srgbClr val="C00000"/>
                </a:solidFill>
                <a:latin typeface="Cambria" panose="02040503050406030204" pitchFamily="18" charset="0"/>
              </a:rPr>
              <a:t>có mã của </a:t>
            </a:r>
            <a:r>
              <a:rPr lang="en-US" sz="2200" b="1" dirty="0">
                <a:solidFill>
                  <a:srgbClr val="C00000"/>
                </a:solidFill>
                <a:latin typeface="Cambria" panose="02040503050406030204" pitchFamily="18" charset="0"/>
              </a:rPr>
              <a:t>CQT </a:t>
            </a:r>
            <a:r>
              <a:rPr lang="vi-VN" sz="2200" b="1" dirty="0">
                <a:solidFill>
                  <a:srgbClr val="C00000"/>
                </a:solidFill>
                <a:latin typeface="Cambria" panose="02040503050406030204" pitchFamily="18" charset="0"/>
              </a:rPr>
              <a:t>hoặc </a:t>
            </a:r>
            <a:r>
              <a:rPr lang="en-US" sz="2200" b="1" dirty="0">
                <a:solidFill>
                  <a:srgbClr val="C00000"/>
                </a:solidFill>
                <a:latin typeface="Cambria" panose="02040503050406030204" pitchFamily="18" charset="0"/>
              </a:rPr>
              <a:t>HĐĐT </a:t>
            </a:r>
            <a:r>
              <a:rPr lang="vi-VN" sz="2200" b="1" dirty="0">
                <a:solidFill>
                  <a:srgbClr val="C00000"/>
                </a:solidFill>
                <a:latin typeface="Cambria" panose="02040503050406030204" pitchFamily="18" charset="0"/>
              </a:rPr>
              <a:t>không có mã của </a:t>
            </a:r>
            <a:r>
              <a:rPr lang="en-US" sz="2200" b="1" dirty="0">
                <a:solidFill>
                  <a:srgbClr val="C00000"/>
                </a:solidFill>
                <a:latin typeface="Cambria" panose="02040503050406030204" pitchFamily="18" charset="0"/>
              </a:rPr>
              <a:t>CQT)</a:t>
            </a:r>
            <a:endParaRPr lang="vi-VN" sz="2200" b="1" dirty="0">
              <a:solidFill>
                <a:srgbClr val="C00000"/>
              </a:solidFill>
              <a:latin typeface="Cambria" panose="02040503050406030204" pitchFamily="18" charset="0"/>
            </a:endParaRPr>
          </a:p>
        </p:txBody>
      </p:sp>
      <p:sp>
        <p:nvSpPr>
          <p:cNvPr id="3" name="Content Placeholder 2"/>
          <p:cNvSpPr>
            <a:spLocks noGrp="1"/>
          </p:cNvSpPr>
          <p:nvPr>
            <p:ph idx="1"/>
          </p:nvPr>
        </p:nvSpPr>
        <p:spPr>
          <a:xfrm>
            <a:off x="795346" y="2512425"/>
            <a:ext cx="8596668" cy="4041307"/>
          </a:xfrm>
        </p:spPr>
        <p:txBody>
          <a:bodyPr vert="horz" anchor="ctr" anchorCtr="0">
            <a:noAutofit/>
          </a:bodyPr>
          <a:lstStyle/>
          <a:p>
            <a:pPr marL="0" indent="0" algn="just">
              <a:buNone/>
            </a:pPr>
            <a:r>
              <a:rPr lang="vi-VN" sz="2000" dirty="0">
                <a:solidFill>
                  <a:schemeClr val="tx1"/>
                </a:solidFill>
                <a:latin typeface="+mj-lt"/>
              </a:rPr>
              <a:t>a) Trường hợp có sai sót về </a:t>
            </a:r>
            <a:r>
              <a:rPr lang="vi-VN" sz="2000" b="1" dirty="0">
                <a:solidFill>
                  <a:schemeClr val="tx1"/>
                </a:solidFill>
                <a:latin typeface="+mj-lt"/>
              </a:rPr>
              <a:t>tên, địa chỉ của người mua nhưng không sai mã số thuế, các nội dung khác không sai sót</a:t>
            </a:r>
            <a:r>
              <a:rPr lang="vi-VN" sz="2000" dirty="0">
                <a:solidFill>
                  <a:schemeClr val="tx1"/>
                </a:solidFill>
                <a:latin typeface="+mj-lt"/>
              </a:rPr>
              <a:t>:</a:t>
            </a:r>
          </a:p>
          <a:p>
            <a:pPr marL="0" indent="0" algn="just">
              <a:buNone/>
            </a:pPr>
            <a:r>
              <a:rPr lang="vi-VN" sz="2000" dirty="0">
                <a:solidFill>
                  <a:schemeClr val="tx1"/>
                </a:solidFill>
                <a:latin typeface="+mj-lt"/>
              </a:rPr>
              <a:t>- Người bán thông báo cho người mua về việc hóa đơn có sai sót và </a:t>
            </a:r>
            <a:r>
              <a:rPr lang="vi-VN" sz="2000" u="sng" dirty="0">
                <a:solidFill>
                  <a:schemeClr val="tx1"/>
                </a:solidFill>
                <a:latin typeface="+mj-lt"/>
              </a:rPr>
              <a:t>không phải lập lại</a:t>
            </a:r>
            <a:r>
              <a:rPr lang="vi-VN" sz="2000" dirty="0">
                <a:solidFill>
                  <a:schemeClr val="tx1"/>
                </a:solidFill>
                <a:latin typeface="+mj-lt"/>
              </a:rPr>
              <a:t> hóa đơn. </a:t>
            </a:r>
          </a:p>
          <a:p>
            <a:pPr marL="0" indent="0" algn="just">
              <a:buNone/>
            </a:pPr>
            <a:r>
              <a:rPr lang="vi-VN" sz="2000" dirty="0">
                <a:solidFill>
                  <a:schemeClr val="tx1"/>
                </a:solidFill>
                <a:latin typeface="+mj-lt"/>
              </a:rPr>
              <a:t>- Người bán thực hiện thông báo với cơ quan thuế về hóa đơn điện tử có sai sót theo Mẫu số 04/SS-HĐĐT Phụ lục IA ban hành kèm theo Nghị định số 123/2020/NĐ-CP, trừ trường hợp hóa đơn điện tử không có mã của cơ quan thuế có sai sót nêu trên chưa gửi dữ liệu hóa đơn cho cơ quan thuế.</a:t>
            </a:r>
          </a:p>
          <a:p>
            <a:pPr marL="0" indent="0">
              <a:buNone/>
            </a:pPr>
            <a:endParaRPr lang="vi-VN" sz="1900" dirty="0">
              <a:solidFill>
                <a:schemeClr val="tx1"/>
              </a:solidFill>
              <a:latin typeface="+mj-lt"/>
            </a:endParaRPr>
          </a:p>
        </p:txBody>
      </p:sp>
      <p:sp>
        <p:nvSpPr>
          <p:cNvPr id="4" name="Title 1"/>
          <p:cNvSpPr txBox="1">
            <a:spLocks/>
          </p:cNvSpPr>
          <p:nvPr/>
        </p:nvSpPr>
        <p:spPr>
          <a:xfrm>
            <a:off x="954718" y="148810"/>
            <a:ext cx="11489609"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9. XỬ LÝ HĐĐT CÓ SAI SÓT</a:t>
            </a:r>
            <a:endParaRPr lang="vi-VN" sz="2000" b="1" dirty="0">
              <a:solidFill>
                <a:schemeClr val="tx1"/>
              </a:solidFill>
              <a:latin typeface="Times New Roman" panose="02020603050405020304" pitchFamily="18" charset="0"/>
              <a:cs typeface="Times New Roman" panose="02020603050405020304" pitchFamily="18" charset="0"/>
            </a:endParaRPr>
          </a:p>
        </p:txBody>
      </p:sp>
      <p:sp>
        <p:nvSpPr>
          <p:cNvPr id="5" name="Title 1"/>
          <p:cNvSpPr txBox="1">
            <a:spLocks/>
          </p:cNvSpPr>
          <p:nvPr/>
        </p:nvSpPr>
        <p:spPr>
          <a:xfrm>
            <a:off x="795346" y="724542"/>
            <a:ext cx="8596668" cy="726831"/>
          </a:xfrm>
          <a:prstGeom prst="rect">
            <a:avLst/>
          </a:prstGeom>
        </p:spPr>
        <p:txBody>
          <a:bodyPr vert="horz" lIns="91440" tIns="45720" rIns="91440" bIns="45720" rtlCol="0" anchor="t">
            <a:normAutofit fontScale="67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dirty="0">
                <a:solidFill>
                  <a:schemeClr val="accent5"/>
                </a:solidFill>
              </a:rPr>
              <a:t>9. XỬ LÝ HĐĐT CÓ SAI SÓT (TIẾP THEO)</a:t>
            </a:r>
            <a:r>
              <a:rPr lang="en-US" b="1" dirty="0">
                <a:solidFill>
                  <a:schemeClr val="accent5"/>
                </a:solidFill>
                <a:latin typeface="Cambria" panose="02040503050406030204" pitchFamily="18" charset="0"/>
              </a:rPr>
              <a:t/>
            </a:r>
            <a:br>
              <a:rPr lang="en-US" b="1" dirty="0">
                <a:solidFill>
                  <a:schemeClr val="accent5"/>
                </a:solidFill>
                <a:latin typeface="Cambria" panose="02040503050406030204" pitchFamily="18" charset="0"/>
              </a:rPr>
            </a:br>
            <a:endParaRPr lang="vi-VN" b="1" dirty="0">
              <a:solidFill>
                <a:schemeClr val="accent5"/>
              </a:solidFill>
              <a:latin typeface="Cambria" panose="02040503050406030204" pitchFamily="18" charset="0"/>
            </a:endParaRPr>
          </a:p>
        </p:txBody>
      </p:sp>
      <p:pic>
        <p:nvPicPr>
          <p:cNvPr id="6" name="Picture 5"/>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9910203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795346" y="1645920"/>
            <a:ext cx="8596668" cy="4699639"/>
          </a:xfrm>
        </p:spPr>
        <p:txBody>
          <a:bodyPr vert="horz" anchor="ctr" anchorCtr="0">
            <a:noAutofit/>
          </a:bodyPr>
          <a:lstStyle/>
          <a:p>
            <a:pPr marL="0" indent="0" algn="just">
              <a:buNone/>
            </a:pPr>
            <a:r>
              <a:rPr lang="vi-VN" sz="2000" dirty="0">
                <a:solidFill>
                  <a:schemeClr val="tx1"/>
                </a:solidFill>
                <a:latin typeface="+mj-lt"/>
              </a:rPr>
              <a:t>b) Trường hợp có sai: </a:t>
            </a:r>
            <a:r>
              <a:rPr lang="vi-VN" sz="2000" b="1" dirty="0">
                <a:solidFill>
                  <a:schemeClr val="tx1"/>
                </a:solidFill>
                <a:latin typeface="+mj-lt"/>
              </a:rPr>
              <a:t>mã số thuế; sai sót về số tiền ghi trên hóa đơn, sai về thuế suất, tiền thuế hoặc hàng hóa ghi trên hóa đơn không đúng quy cách, chất lượng </a:t>
            </a:r>
            <a:r>
              <a:rPr lang="vi-VN" sz="2000" dirty="0">
                <a:solidFill>
                  <a:schemeClr val="tx1"/>
                </a:solidFill>
                <a:latin typeface="+mj-lt"/>
              </a:rPr>
              <a:t>thì có thể </a:t>
            </a:r>
            <a:r>
              <a:rPr lang="vi-VN" sz="2000" b="1" u="sng" dirty="0">
                <a:solidFill>
                  <a:schemeClr val="tx1"/>
                </a:solidFill>
                <a:latin typeface="+mj-lt"/>
              </a:rPr>
              <a:t>lựa chọn </a:t>
            </a:r>
            <a:r>
              <a:rPr lang="vi-VN" sz="2000" dirty="0">
                <a:solidFill>
                  <a:schemeClr val="tx1"/>
                </a:solidFill>
                <a:latin typeface="+mj-lt"/>
              </a:rPr>
              <a:t>một trong hai cách sử dụng hóa đơn điện tử như sau:</a:t>
            </a:r>
          </a:p>
          <a:p>
            <a:pPr marL="0" indent="0" algn="just">
              <a:buNone/>
            </a:pPr>
            <a:r>
              <a:rPr lang="vi-VN" sz="2000" dirty="0">
                <a:solidFill>
                  <a:schemeClr val="tx1"/>
                </a:solidFill>
                <a:latin typeface="+mj-lt"/>
              </a:rPr>
              <a:t>	</a:t>
            </a:r>
            <a:r>
              <a:rPr lang="vi-VN" sz="2000" b="1" i="1" dirty="0">
                <a:solidFill>
                  <a:schemeClr val="tx1"/>
                </a:solidFill>
                <a:latin typeface="+mj-lt"/>
              </a:rPr>
              <a:t>b1)</a:t>
            </a:r>
            <a:r>
              <a:rPr lang="vi-VN" sz="2000" i="1" dirty="0">
                <a:solidFill>
                  <a:schemeClr val="tx1"/>
                </a:solidFill>
                <a:latin typeface="+mj-lt"/>
              </a:rPr>
              <a:t> Người bán lập hóa đơn điện tử điều chỉnh hóa đơn đã lập có sai sót. Trường hợp người bán và người mua có thỏa thuận về việc lập văn bản thỏa thuận trước khi lập hóa đơn điều chỉnh cho hóa đơn đã lập có sai sót thì người bán và người mua lập văn bản thỏa thuận ghi rõ sai sót, sau đó người bán lập hóa đơn điện tử điều chỉnh hóa đơn đã lập có sai sót.</a:t>
            </a:r>
          </a:p>
          <a:p>
            <a:pPr marL="0" indent="0" algn="just">
              <a:buNone/>
            </a:pPr>
            <a:r>
              <a:rPr lang="vi-VN" sz="2000" i="1" dirty="0">
                <a:solidFill>
                  <a:schemeClr val="tx1"/>
                </a:solidFill>
                <a:latin typeface="+mj-lt"/>
              </a:rPr>
              <a:t>	Hóa đơn điện tử điều chỉnh hóa đơn điện tử đã lập có sai sót phải có dòng chữ “Điều chỉnh cho hóa đơn Mẫu số... ký hiệu... số... ngày... tháng... năm”.</a:t>
            </a:r>
          </a:p>
          <a:p>
            <a:pPr marL="0" indent="0">
              <a:buNone/>
            </a:pPr>
            <a:endParaRPr lang="vi-VN" sz="2400" b="1" i="1" dirty="0">
              <a:solidFill>
                <a:schemeClr val="tx1"/>
              </a:solidFill>
              <a:latin typeface="Cambria" panose="02040503050406030204" pitchFamily="18" charset="0"/>
            </a:endParaRPr>
          </a:p>
        </p:txBody>
      </p:sp>
      <p:sp>
        <p:nvSpPr>
          <p:cNvPr id="4" name="Title 1"/>
          <p:cNvSpPr txBox="1">
            <a:spLocks/>
          </p:cNvSpPr>
          <p:nvPr/>
        </p:nvSpPr>
        <p:spPr>
          <a:xfrm>
            <a:off x="1063797" y="165333"/>
            <a:ext cx="11489609"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9. XỬ LÝ HĐĐT CÓ SAI SÓT</a:t>
            </a:r>
            <a:endParaRPr lang="vi-VN" sz="2000" b="1" dirty="0">
              <a:solidFill>
                <a:schemeClr val="tx1"/>
              </a:solidFill>
              <a:latin typeface="Times New Roman" panose="02020603050405020304" pitchFamily="18" charset="0"/>
              <a:cs typeface="Times New Roman" panose="02020603050405020304" pitchFamily="18" charset="0"/>
            </a:endParaRPr>
          </a:p>
        </p:txBody>
      </p:sp>
      <p:sp>
        <p:nvSpPr>
          <p:cNvPr id="5" name="Title 1"/>
          <p:cNvSpPr txBox="1">
            <a:spLocks/>
          </p:cNvSpPr>
          <p:nvPr/>
        </p:nvSpPr>
        <p:spPr>
          <a:xfrm>
            <a:off x="795346" y="724542"/>
            <a:ext cx="8596668" cy="607869"/>
          </a:xfrm>
          <a:prstGeom prst="rect">
            <a:avLst/>
          </a:prstGeom>
        </p:spPr>
        <p:txBody>
          <a:bodyPr vert="horz" lIns="91440" tIns="45720" rIns="91440" bIns="45720" rtlCol="0" anchor="t">
            <a:normAutofit fontScale="5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dirty="0">
                <a:solidFill>
                  <a:schemeClr val="accent5"/>
                </a:solidFill>
              </a:rPr>
              <a:t>9. XỬ LÝ HĐĐT CÓ SAI SÓT (TIẾP THEO)</a:t>
            </a:r>
            <a:r>
              <a:rPr lang="en-US" b="1" dirty="0">
                <a:solidFill>
                  <a:schemeClr val="accent5"/>
                </a:solidFill>
                <a:latin typeface="Cambria" panose="02040503050406030204" pitchFamily="18" charset="0"/>
              </a:rPr>
              <a:t/>
            </a:r>
            <a:br>
              <a:rPr lang="en-US" b="1" dirty="0">
                <a:solidFill>
                  <a:schemeClr val="accent5"/>
                </a:solidFill>
                <a:latin typeface="Cambria" panose="02040503050406030204" pitchFamily="18" charset="0"/>
              </a:rPr>
            </a:br>
            <a:endParaRPr lang="vi-VN" b="1" dirty="0">
              <a:solidFill>
                <a:schemeClr val="accent5"/>
              </a:solidFill>
              <a:latin typeface="Cambria" panose="02040503050406030204" pitchFamily="18" charset="0"/>
            </a:endParaRPr>
          </a:p>
        </p:txBody>
      </p:sp>
      <p:pic>
        <p:nvPicPr>
          <p:cNvPr id="6" name="Picture 5"/>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42484212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252025"/>
            <a:ext cx="8596668" cy="4789337"/>
          </a:xfrm>
        </p:spPr>
        <p:txBody>
          <a:bodyPr vert="horz" anchor="ctr" anchorCtr="0">
            <a:noAutofit/>
          </a:bodyPr>
          <a:lstStyle/>
          <a:p>
            <a:pPr marL="0" indent="0" algn="just">
              <a:buNone/>
            </a:pPr>
            <a:r>
              <a:rPr lang="vi-VN" sz="1900" b="1" i="1" dirty="0">
                <a:solidFill>
                  <a:schemeClr val="tx1"/>
                </a:solidFill>
                <a:latin typeface="Cambria" panose="02040503050406030204" pitchFamily="18" charset="0"/>
              </a:rPr>
              <a:t>b2)</a:t>
            </a:r>
            <a:r>
              <a:rPr lang="vi-VN" sz="1900" i="1" dirty="0">
                <a:solidFill>
                  <a:schemeClr val="tx1"/>
                </a:solidFill>
                <a:latin typeface="Cambria" panose="02040503050406030204" pitchFamily="18" charset="0"/>
              </a:rPr>
              <a:t> Người bán lập hóa đơn điện tử mới thay thế cho hóa đơn điện tử có sai sót trừ trường hợp người bán và người mua có thỏa thuận về việc lập văn bản thỏa thuận trước khi lập hóa đơn thay thế cho hóa đơn đã lập có sai sót thì người bán và người mua lập văn bản thỏa thuận ghi rõ sai sót, sau đó người bán lập hóa đơn điện tử thay thế hóa đơn đã lập có sai sót.</a:t>
            </a:r>
          </a:p>
          <a:p>
            <a:pPr marL="0" indent="0" algn="just">
              <a:buNone/>
            </a:pPr>
            <a:r>
              <a:rPr lang="vi-VN" sz="1900" i="1" dirty="0">
                <a:solidFill>
                  <a:schemeClr val="tx1"/>
                </a:solidFill>
                <a:latin typeface="Cambria" panose="02040503050406030204" pitchFamily="18" charset="0"/>
              </a:rPr>
              <a:t>Hóa đơn điện tử mới thay thế hóa đơn điện từ đã lập có sai sót phải có dòng chữ “Thay thế cho hóa đơn Mẫu số... ký hiệu... số... ngày... tháng... năm”.</a:t>
            </a:r>
          </a:p>
          <a:p>
            <a:pPr marL="0" indent="0" algn="just">
              <a:buNone/>
            </a:pPr>
            <a:r>
              <a:rPr lang="vi-VN" sz="1900" i="1" dirty="0">
                <a:solidFill>
                  <a:schemeClr val="tx1"/>
                </a:solidFill>
                <a:latin typeface="Cambria" panose="02040503050406030204" pitchFamily="18" charset="0"/>
              </a:rPr>
              <a:t>Người bán ký số trên hóa đơn điện tử mới điều chỉnh hoặc thay thế cho hóa đơn điện tử đã lập có sai sót sau đó người bán gửi cho người mua (đối với trường hợp sử dụng hóa đơn điện tử không có mã của cơ quan thuế) hoặc gửi cơ quan thuế để cơ quan thuế cấp mã cho hóa đơn điện tử mới để gửi cho người mua (đối với trường hợp sử dụng hóa đơn điện tử có mã của cơ quan thuế).</a:t>
            </a:r>
          </a:p>
          <a:p>
            <a:pPr marL="0" indent="0">
              <a:buNone/>
            </a:pPr>
            <a:endParaRPr lang="vi-VN" sz="2400" b="1" i="1" dirty="0">
              <a:solidFill>
                <a:schemeClr val="tx1"/>
              </a:solidFill>
              <a:latin typeface="Cambria" panose="02040503050406030204" pitchFamily="18" charset="0"/>
            </a:endParaRPr>
          </a:p>
        </p:txBody>
      </p:sp>
      <p:sp>
        <p:nvSpPr>
          <p:cNvPr id="4" name="Title 1"/>
          <p:cNvSpPr txBox="1">
            <a:spLocks/>
          </p:cNvSpPr>
          <p:nvPr/>
        </p:nvSpPr>
        <p:spPr>
          <a:xfrm>
            <a:off x="1104499" y="149954"/>
            <a:ext cx="11489609"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9. XỬ LÝ HĐĐT CÓ SAI SÓT</a:t>
            </a:r>
            <a:endParaRPr lang="vi-VN" sz="2000" b="1" dirty="0">
              <a:solidFill>
                <a:schemeClr val="tx1"/>
              </a:solidFill>
              <a:latin typeface="Times New Roman" panose="02020603050405020304" pitchFamily="18" charset="0"/>
              <a:cs typeface="Times New Roman" panose="02020603050405020304" pitchFamily="18" charset="0"/>
            </a:endParaRPr>
          </a:p>
        </p:txBody>
      </p:sp>
      <p:sp>
        <p:nvSpPr>
          <p:cNvPr id="5" name="Title 1"/>
          <p:cNvSpPr txBox="1">
            <a:spLocks/>
          </p:cNvSpPr>
          <p:nvPr/>
        </p:nvSpPr>
        <p:spPr>
          <a:xfrm>
            <a:off x="795346" y="724542"/>
            <a:ext cx="8596668" cy="607869"/>
          </a:xfrm>
          <a:prstGeom prst="rect">
            <a:avLst/>
          </a:prstGeom>
        </p:spPr>
        <p:txBody>
          <a:bodyPr vert="horz" lIns="91440" tIns="45720" rIns="91440" bIns="45720" rtlCol="0" anchor="t">
            <a:normAutofit fontScale="5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dirty="0">
                <a:solidFill>
                  <a:schemeClr val="accent5"/>
                </a:solidFill>
              </a:rPr>
              <a:t>9. XỬ LÝ HĐĐT CÓ SAI SÓT (TIẾP THEO)</a:t>
            </a:r>
            <a:r>
              <a:rPr lang="en-US" b="1" dirty="0">
                <a:solidFill>
                  <a:schemeClr val="accent5"/>
                </a:solidFill>
                <a:latin typeface="Cambria" panose="02040503050406030204" pitchFamily="18" charset="0"/>
              </a:rPr>
              <a:t/>
            </a:r>
            <a:br>
              <a:rPr lang="en-US" b="1" dirty="0">
                <a:solidFill>
                  <a:schemeClr val="accent5"/>
                </a:solidFill>
                <a:latin typeface="Cambria" panose="02040503050406030204" pitchFamily="18" charset="0"/>
              </a:rPr>
            </a:br>
            <a:endParaRPr lang="vi-VN" b="1" dirty="0">
              <a:solidFill>
                <a:schemeClr val="accent5"/>
              </a:solidFill>
              <a:latin typeface="Cambria" panose="02040503050406030204" pitchFamily="18" charset="0"/>
            </a:endParaRPr>
          </a:p>
        </p:txBody>
      </p:sp>
      <p:pic>
        <p:nvPicPr>
          <p:cNvPr id="6" name="Picture 5"/>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29614979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2073774"/>
            <a:ext cx="8596668" cy="2842784"/>
          </a:xfrm>
        </p:spPr>
        <p:txBody>
          <a:bodyPr vert="horz" anchor="ctr" anchorCtr="0">
            <a:noAutofit/>
          </a:bodyPr>
          <a:lstStyle/>
          <a:p>
            <a:pPr marL="0" indent="0" algn="just">
              <a:buNone/>
            </a:pPr>
            <a:r>
              <a:rPr lang="vi-VN" sz="1900" dirty="0">
                <a:solidFill>
                  <a:schemeClr val="tx1"/>
                </a:solidFill>
                <a:latin typeface="Cambria" panose="02040503050406030204" pitchFamily="18" charset="0"/>
              </a:rPr>
              <a:t>c) Đối với ngành hàng không thì </a:t>
            </a:r>
            <a:r>
              <a:rPr lang="vi-VN" sz="1900" b="1" dirty="0">
                <a:solidFill>
                  <a:schemeClr val="tx1"/>
                </a:solidFill>
                <a:latin typeface="Cambria" panose="02040503050406030204" pitchFamily="18" charset="0"/>
              </a:rPr>
              <a:t>hóa đơn đổi, hoàn chứng từ vận chuyển </a:t>
            </a:r>
            <a:r>
              <a:rPr lang="vi-VN" sz="1900" dirty="0">
                <a:solidFill>
                  <a:schemeClr val="tx1"/>
                </a:solidFill>
                <a:latin typeface="Cambria" panose="02040503050406030204" pitchFamily="18" charset="0"/>
              </a:rPr>
              <a:t>hàng không </a:t>
            </a:r>
            <a:r>
              <a:rPr lang="vi-VN" sz="1900" b="1" dirty="0">
                <a:solidFill>
                  <a:schemeClr val="tx1"/>
                </a:solidFill>
                <a:latin typeface="Cambria" panose="02040503050406030204" pitchFamily="18" charset="0"/>
              </a:rPr>
              <a:t>được coi là hóa đơn điều chỉnh </a:t>
            </a:r>
            <a:r>
              <a:rPr lang="vi-VN" sz="1900" dirty="0">
                <a:solidFill>
                  <a:schemeClr val="tx1"/>
                </a:solidFill>
                <a:latin typeface="Cambria" panose="02040503050406030204" pitchFamily="18" charset="0"/>
              </a:rPr>
              <a:t>mà không cần có thông tin “Điều chỉnh tăng/giảm cho hóa đơn Mẫu số... ký hiệu... ngày... tháng... năm”. Doanh nghiệp vận chuyển hàng không được phép xuất hóa đơn của mình cho các trường hợp hoàn, đổi chứng từ vận chuyển do đại lý xuất.</a:t>
            </a:r>
          </a:p>
          <a:p>
            <a:pPr marL="0" indent="0">
              <a:buNone/>
            </a:pPr>
            <a:endParaRPr lang="vi-VN" sz="2400" b="1" i="1" dirty="0">
              <a:solidFill>
                <a:schemeClr val="tx1"/>
              </a:solidFill>
              <a:latin typeface="Cambria" panose="02040503050406030204" pitchFamily="18" charset="0"/>
            </a:endParaRPr>
          </a:p>
        </p:txBody>
      </p:sp>
      <p:sp>
        <p:nvSpPr>
          <p:cNvPr id="4" name="Title 1"/>
          <p:cNvSpPr txBox="1">
            <a:spLocks/>
          </p:cNvSpPr>
          <p:nvPr/>
        </p:nvSpPr>
        <p:spPr>
          <a:xfrm>
            <a:off x="954718" y="197175"/>
            <a:ext cx="11489609"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9. XỬ LÝ HĐĐT CÓ SAI SÓT</a:t>
            </a:r>
            <a:endParaRPr lang="vi-VN" sz="2000" b="1" dirty="0">
              <a:solidFill>
                <a:schemeClr val="tx1"/>
              </a:solidFill>
              <a:latin typeface="Times New Roman" panose="02020603050405020304" pitchFamily="18" charset="0"/>
              <a:cs typeface="Times New Roman" panose="02020603050405020304" pitchFamily="18" charset="0"/>
            </a:endParaRPr>
          </a:p>
        </p:txBody>
      </p:sp>
      <p:sp>
        <p:nvSpPr>
          <p:cNvPr id="5" name="Title 1"/>
          <p:cNvSpPr txBox="1">
            <a:spLocks/>
          </p:cNvSpPr>
          <p:nvPr/>
        </p:nvSpPr>
        <p:spPr>
          <a:xfrm>
            <a:off x="769220" y="1077239"/>
            <a:ext cx="8596668" cy="607869"/>
          </a:xfrm>
          <a:prstGeom prst="rect">
            <a:avLst/>
          </a:prstGeom>
        </p:spPr>
        <p:txBody>
          <a:bodyPr vert="horz" lIns="91440" tIns="45720" rIns="91440" bIns="45720" rtlCol="0" anchor="t">
            <a:normAutofit fontScale="5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dirty="0">
                <a:solidFill>
                  <a:schemeClr val="accent5"/>
                </a:solidFill>
              </a:rPr>
              <a:t>9. XỬ LÝ HĐĐT CÓ SAI SÓT (TIẾP THEO)</a:t>
            </a:r>
            <a:r>
              <a:rPr lang="en-US" b="1" dirty="0">
                <a:solidFill>
                  <a:schemeClr val="accent5"/>
                </a:solidFill>
                <a:latin typeface="Cambria" panose="02040503050406030204" pitchFamily="18" charset="0"/>
              </a:rPr>
              <a:t/>
            </a:r>
            <a:br>
              <a:rPr lang="en-US" b="1" dirty="0">
                <a:solidFill>
                  <a:schemeClr val="accent5"/>
                </a:solidFill>
                <a:latin typeface="Cambria" panose="02040503050406030204" pitchFamily="18" charset="0"/>
              </a:rPr>
            </a:br>
            <a:endParaRPr lang="vi-VN" b="1" dirty="0">
              <a:solidFill>
                <a:schemeClr val="accent5"/>
              </a:solidFill>
              <a:latin typeface="Cambria" panose="02040503050406030204" pitchFamily="18" charset="0"/>
            </a:endParaRPr>
          </a:p>
        </p:txBody>
      </p:sp>
      <p:pic>
        <p:nvPicPr>
          <p:cNvPr id="6" name="Picture 5"/>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3133476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1262744"/>
            <a:ext cx="8596668" cy="642425"/>
          </a:xfrm>
        </p:spPr>
        <p:txBody>
          <a:bodyPr anchor="ctr" anchorCtr="0">
            <a:noAutofit/>
          </a:bodyPr>
          <a:lstStyle/>
          <a:p>
            <a:pPr algn="ctr"/>
            <a:r>
              <a:rPr lang="vi-VN" sz="2200" b="1" dirty="0">
                <a:solidFill>
                  <a:srgbClr val="C00000"/>
                </a:solidFill>
              </a:rPr>
              <a:t>Trường hợp cơ quan thuế phát hiện hóa đơn điện tử có sai sót</a:t>
            </a:r>
            <a:endParaRPr lang="vi-VN" sz="2200" dirty="0">
              <a:solidFill>
                <a:srgbClr val="C00000"/>
              </a:solidFill>
            </a:endParaRPr>
          </a:p>
        </p:txBody>
      </p:sp>
      <p:sp>
        <p:nvSpPr>
          <p:cNvPr id="3" name="Content Placeholder 2"/>
          <p:cNvSpPr>
            <a:spLocks noGrp="1"/>
          </p:cNvSpPr>
          <p:nvPr>
            <p:ph idx="1"/>
          </p:nvPr>
        </p:nvSpPr>
        <p:spPr>
          <a:xfrm>
            <a:off x="677334" y="2041393"/>
            <a:ext cx="8596668" cy="4073797"/>
          </a:xfrm>
        </p:spPr>
        <p:txBody>
          <a:bodyPr vert="horz" anchor="ctr" anchorCtr="0">
            <a:noAutofit/>
          </a:bodyPr>
          <a:lstStyle/>
          <a:p>
            <a:pPr marL="0" indent="0">
              <a:buNone/>
            </a:pPr>
            <a:endParaRPr lang="vi-VN" sz="1900" dirty="0">
              <a:solidFill>
                <a:schemeClr val="tx1"/>
              </a:solidFill>
              <a:latin typeface="Cambria" panose="02040503050406030204" pitchFamily="18" charset="0"/>
            </a:endParaRPr>
          </a:p>
          <a:p>
            <a:pPr marL="0" indent="0" algn="just">
              <a:buNone/>
            </a:pPr>
            <a:r>
              <a:rPr lang="vi-VN" sz="1900" dirty="0">
                <a:solidFill>
                  <a:schemeClr val="tx1"/>
                </a:solidFill>
                <a:latin typeface="+mj-lt"/>
              </a:rPr>
              <a:t>- Trường hợp cơ quan thuế phát hiện hóa đơn điện tử có mã của cơ quan thuế hoặc hóa đơn điện tử không có mã của cơ quan thuế đã lập có sai sót thì cơ quan thuế thông báo cho người bán theo Mẫu số 01/TB-RSĐT Phụ lục IB ban hành kèm theo Nghị định số 123/2020/NĐ-CP để người bán kiểm tra sai sót.</a:t>
            </a:r>
          </a:p>
          <a:p>
            <a:pPr marL="0" indent="0" algn="just">
              <a:buNone/>
            </a:pPr>
            <a:r>
              <a:rPr lang="vi-VN" sz="1900" dirty="0">
                <a:solidFill>
                  <a:schemeClr val="tx1"/>
                </a:solidFill>
                <a:latin typeface="+mj-lt"/>
              </a:rPr>
              <a:t>- Theo thời hạn thông báo ghi trên Mẫu số 01/TB-RSĐT Phụ lục IB, người bán thực hiện thông báo với cơ quan thuế theo Mẫu số 04/SS-HĐĐT tại Phụ lục IA ban hành kèm theo Nghị định số 123/2020/NĐ-CP về việc kiểm tra hóa đơn điện tử đã lập có sai sót.</a:t>
            </a:r>
          </a:p>
          <a:p>
            <a:pPr marL="0" indent="0" algn="just">
              <a:buNone/>
            </a:pPr>
            <a:r>
              <a:rPr lang="vi-VN" sz="1900" dirty="0">
                <a:solidFill>
                  <a:schemeClr val="tx1"/>
                </a:solidFill>
                <a:latin typeface="+mj-lt"/>
              </a:rPr>
              <a:t>- Hết thời hạn thông báo ghi trên Mẫu số 01/TB-RSĐT Phụ lục IB mà người bán không thông báo với cơ quan thuế thì cơ quan thuế tiếp tục thông báo lần 2 cho người bán theo Mẫu số 01/TB-RSĐT Phụ lục IB. Trường hợp quá thời hạn thông báo lần 2 ghi trên Mẫu số 01/TB-RSĐT Phụ lục IB mà người bán không có thông báo thì cơ quan thuế xem xét chuyển sang trường hợp kiểm tra về sử dụng hóa đơn điện tử.</a:t>
            </a:r>
          </a:p>
        </p:txBody>
      </p:sp>
      <p:sp>
        <p:nvSpPr>
          <p:cNvPr id="4" name="Title 1"/>
          <p:cNvSpPr txBox="1">
            <a:spLocks/>
          </p:cNvSpPr>
          <p:nvPr/>
        </p:nvSpPr>
        <p:spPr>
          <a:xfrm>
            <a:off x="954719" y="149954"/>
            <a:ext cx="1123728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9. XỬ LÝ HĐĐT CÓ SAI SÓT</a:t>
            </a:r>
            <a:endParaRPr lang="vi-VN" sz="2000" b="1" dirty="0">
              <a:solidFill>
                <a:schemeClr val="tx1"/>
              </a:solidFill>
              <a:latin typeface="Times New Roman" panose="02020603050405020304" pitchFamily="18" charset="0"/>
              <a:cs typeface="Times New Roman" panose="02020603050405020304" pitchFamily="18" charset="0"/>
            </a:endParaRPr>
          </a:p>
        </p:txBody>
      </p:sp>
      <p:sp>
        <p:nvSpPr>
          <p:cNvPr id="5" name="Title 1"/>
          <p:cNvSpPr txBox="1">
            <a:spLocks/>
          </p:cNvSpPr>
          <p:nvPr/>
        </p:nvSpPr>
        <p:spPr>
          <a:xfrm>
            <a:off x="795346" y="724542"/>
            <a:ext cx="8596668" cy="607869"/>
          </a:xfrm>
          <a:prstGeom prst="rect">
            <a:avLst/>
          </a:prstGeom>
        </p:spPr>
        <p:txBody>
          <a:bodyPr vert="horz" lIns="91440" tIns="45720" rIns="91440" bIns="45720" rtlCol="0" anchor="t">
            <a:normAutofit fontScale="5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dirty="0">
                <a:solidFill>
                  <a:schemeClr val="accent5"/>
                </a:solidFill>
              </a:rPr>
              <a:t>9. XỬ LÝ HĐĐT CÓ SAI SÓT (TIẾP THEO)</a:t>
            </a:r>
            <a:r>
              <a:rPr lang="en-US" b="1" dirty="0">
                <a:solidFill>
                  <a:schemeClr val="accent5"/>
                </a:solidFill>
                <a:latin typeface="Cambria" panose="02040503050406030204" pitchFamily="18" charset="0"/>
              </a:rPr>
              <a:t/>
            </a:r>
            <a:br>
              <a:rPr lang="en-US" b="1" dirty="0">
                <a:solidFill>
                  <a:schemeClr val="accent5"/>
                </a:solidFill>
                <a:latin typeface="Cambria" panose="02040503050406030204" pitchFamily="18" charset="0"/>
              </a:rPr>
            </a:br>
            <a:endParaRPr lang="vi-VN" b="1" dirty="0">
              <a:solidFill>
                <a:schemeClr val="accent5"/>
              </a:solidFill>
              <a:latin typeface="Cambria" panose="02040503050406030204" pitchFamily="18" charset="0"/>
            </a:endParaRPr>
          </a:p>
        </p:txBody>
      </p:sp>
      <p:pic>
        <p:nvPicPr>
          <p:cNvPr id="6" name="Picture 5"/>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32330609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437261"/>
            <a:ext cx="8596668" cy="4604102"/>
          </a:xfrm>
        </p:spPr>
        <p:txBody>
          <a:bodyPr vert="horz" anchor="ctr" anchorCtr="0">
            <a:normAutofit/>
          </a:bodyPr>
          <a:lstStyle/>
          <a:p>
            <a:pPr marL="0" indent="0" algn="ctr">
              <a:buNone/>
            </a:pPr>
            <a:r>
              <a:rPr lang="vi-VN" sz="2400" b="1" dirty="0">
                <a:solidFill>
                  <a:srgbClr val="C00000"/>
                </a:solidFill>
                <a:latin typeface="+mj-lt"/>
              </a:rPr>
              <a:t>Phản hồi của cơ quan thuế </a:t>
            </a:r>
            <a:endParaRPr lang="vi-VN" sz="2400" dirty="0">
              <a:solidFill>
                <a:srgbClr val="C00000"/>
              </a:solidFill>
              <a:latin typeface="+mj-lt"/>
            </a:endParaRPr>
          </a:p>
          <a:p>
            <a:pPr marL="0" indent="0" algn="just">
              <a:buNone/>
            </a:pPr>
            <a:r>
              <a:rPr lang="vi-VN" sz="2000" dirty="0">
                <a:solidFill>
                  <a:schemeClr val="tx1"/>
                </a:solidFill>
                <a:latin typeface="+mj-lt"/>
              </a:rPr>
              <a:t>Trong thời hạn 01 ngày làm việc, cơ quan thuế thông báo về việc tiếp nhận và kết quả xử lý theo Mẫu số 01/TB-HĐSS Phụ lục IB ban hành kèm theo Nghị định số 123/2020/NĐ-CP. Hóa đơn điện tử đã hủy không có giá trị sử dụng nhưng vẫn được lưu trữ để phục vụ tra cứu. </a:t>
            </a:r>
          </a:p>
          <a:p>
            <a:pPr marL="0" indent="0" algn="ctr">
              <a:buNone/>
            </a:pPr>
            <a:endParaRPr lang="vi-VN" sz="2000" dirty="0">
              <a:solidFill>
                <a:srgbClr val="C00000"/>
              </a:solidFill>
              <a:latin typeface="+mj-lt"/>
            </a:endParaRPr>
          </a:p>
          <a:p>
            <a:pPr marL="0" indent="0" algn="ctr">
              <a:buNone/>
            </a:pPr>
            <a:r>
              <a:rPr lang="vi-VN" sz="2400" b="1" dirty="0">
                <a:solidFill>
                  <a:srgbClr val="C00000"/>
                </a:solidFill>
                <a:latin typeface="+mj-lt"/>
              </a:rPr>
              <a:t>Xử lý hóa đơn điện tử, bảng tổng hợp dữ liệu hóa đơn điện tử đã gửi cơ quan thuế có sai sót trong một số trường hợp</a:t>
            </a:r>
            <a:endParaRPr lang="vi-VN" sz="2400" dirty="0">
              <a:solidFill>
                <a:srgbClr val="C00000"/>
              </a:solidFill>
              <a:latin typeface="+mj-lt"/>
            </a:endParaRPr>
          </a:p>
          <a:p>
            <a:pPr marL="0" indent="0" algn="just">
              <a:buNone/>
            </a:pPr>
            <a:r>
              <a:rPr lang="vi-VN" sz="2000" b="1" i="1" dirty="0">
                <a:solidFill>
                  <a:schemeClr val="tx1"/>
                </a:solidFill>
                <a:latin typeface="+mj-lt"/>
              </a:rPr>
              <a:t>a) Đối với hóa đơn điện tử</a:t>
            </a:r>
            <a:endParaRPr lang="vi-VN" sz="2000" dirty="0">
              <a:solidFill>
                <a:schemeClr val="tx1"/>
              </a:solidFill>
              <a:latin typeface="+mj-lt"/>
            </a:endParaRPr>
          </a:p>
          <a:p>
            <a:pPr marL="0" indent="0" algn="just">
              <a:buNone/>
            </a:pPr>
            <a:r>
              <a:rPr lang="vi-VN" sz="2000" b="1" i="1" dirty="0">
                <a:solidFill>
                  <a:schemeClr val="tx1"/>
                </a:solidFill>
                <a:latin typeface="+mj-lt"/>
              </a:rPr>
              <a:t>b) Đối với bảng tổng hợp dữ liệu hóa đơn điện tử</a:t>
            </a:r>
            <a:endParaRPr lang="vi-VN" sz="2000" dirty="0">
              <a:solidFill>
                <a:schemeClr val="tx1"/>
              </a:solidFill>
              <a:latin typeface="+mj-lt"/>
            </a:endParaRPr>
          </a:p>
          <a:p>
            <a:pPr marL="0" indent="0" algn="just">
              <a:buNone/>
            </a:pPr>
            <a:r>
              <a:rPr lang="vi-VN" sz="2000" i="1" dirty="0">
                <a:solidFill>
                  <a:schemeClr val="tx1"/>
                </a:solidFill>
                <a:latin typeface="+mj-lt"/>
              </a:rPr>
              <a:t>(Điều 7 Thông tư số 78/2021/TT-BTC)</a:t>
            </a:r>
            <a:endParaRPr lang="vi-VN" sz="2000" dirty="0">
              <a:solidFill>
                <a:schemeClr val="tx1"/>
              </a:solidFill>
              <a:latin typeface="+mj-lt"/>
            </a:endParaRPr>
          </a:p>
          <a:p>
            <a:pPr marL="0" indent="0">
              <a:buNone/>
            </a:pPr>
            <a:endParaRPr lang="vi-VN" dirty="0"/>
          </a:p>
          <a:p>
            <a:pPr marL="0" indent="0">
              <a:buNone/>
            </a:pPr>
            <a:endParaRPr lang="vi-VN" sz="2400" b="1" dirty="0">
              <a:solidFill>
                <a:schemeClr val="tx1"/>
              </a:solidFill>
              <a:latin typeface="Cambria" panose="02040503050406030204" pitchFamily="18" charset="0"/>
            </a:endParaRPr>
          </a:p>
        </p:txBody>
      </p:sp>
      <p:sp>
        <p:nvSpPr>
          <p:cNvPr id="4" name="Title 1"/>
          <p:cNvSpPr txBox="1">
            <a:spLocks/>
          </p:cNvSpPr>
          <p:nvPr/>
        </p:nvSpPr>
        <p:spPr>
          <a:xfrm>
            <a:off x="1102986" y="180718"/>
            <a:ext cx="8903164"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9. XỬ LÝ HĐĐT CÓ SAI SÓT</a:t>
            </a:r>
            <a:endParaRPr lang="vi-VN" sz="2000" b="1" dirty="0">
              <a:solidFill>
                <a:schemeClr val="tx1"/>
              </a:solidFill>
              <a:latin typeface="Times New Roman" panose="02020603050405020304" pitchFamily="18" charset="0"/>
              <a:cs typeface="Times New Roman" panose="02020603050405020304" pitchFamily="18" charset="0"/>
            </a:endParaRPr>
          </a:p>
        </p:txBody>
      </p:sp>
      <p:sp>
        <p:nvSpPr>
          <p:cNvPr id="5" name="Title 1"/>
          <p:cNvSpPr txBox="1">
            <a:spLocks/>
          </p:cNvSpPr>
          <p:nvPr/>
        </p:nvSpPr>
        <p:spPr>
          <a:xfrm>
            <a:off x="795346" y="724542"/>
            <a:ext cx="8596668" cy="607869"/>
          </a:xfrm>
          <a:prstGeom prst="rect">
            <a:avLst/>
          </a:prstGeom>
        </p:spPr>
        <p:txBody>
          <a:bodyPr vert="horz" lIns="91440" tIns="45720" rIns="91440" bIns="45720" rtlCol="0" anchor="t">
            <a:normAutofit fontScale="5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dirty="0">
                <a:solidFill>
                  <a:schemeClr val="accent5"/>
                </a:solidFill>
              </a:rPr>
              <a:t>9. XỬ LÝ HĐĐT CÓ SAI SÓT (TIẾP THEO)</a:t>
            </a:r>
            <a:r>
              <a:rPr lang="en-US" b="1" dirty="0">
                <a:solidFill>
                  <a:schemeClr val="accent5"/>
                </a:solidFill>
                <a:latin typeface="Cambria" panose="02040503050406030204" pitchFamily="18" charset="0"/>
              </a:rPr>
              <a:t/>
            </a:r>
            <a:br>
              <a:rPr lang="en-US" b="1" dirty="0">
                <a:solidFill>
                  <a:schemeClr val="accent5"/>
                </a:solidFill>
                <a:latin typeface="Cambria" panose="02040503050406030204" pitchFamily="18" charset="0"/>
              </a:rPr>
            </a:br>
            <a:endParaRPr lang="vi-VN" b="1" dirty="0">
              <a:solidFill>
                <a:schemeClr val="accent5"/>
              </a:solidFill>
              <a:latin typeface="Cambria" panose="02040503050406030204" pitchFamily="18" charset="0"/>
            </a:endParaRPr>
          </a:p>
        </p:txBody>
      </p:sp>
      <p:pic>
        <p:nvPicPr>
          <p:cNvPr id="6" name="Picture 5"/>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20920641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5346" y="1254034"/>
            <a:ext cx="8596668" cy="368636"/>
          </a:xfrm>
        </p:spPr>
        <p:txBody>
          <a:bodyPr>
            <a:noAutofit/>
          </a:bodyPr>
          <a:lstStyle/>
          <a:p>
            <a:pPr algn="ctr"/>
            <a:r>
              <a:rPr lang="en-US" sz="3000" b="1" dirty="0">
                <a:solidFill>
                  <a:schemeClr val="accent5"/>
                </a:solidFill>
              </a:rPr>
              <a:t>10. </a:t>
            </a:r>
            <a:r>
              <a:rPr lang="vi-VN" sz="3000" b="1" dirty="0">
                <a:solidFill>
                  <a:schemeClr val="accent5"/>
                </a:solidFill>
              </a:rPr>
              <a:t>X</a:t>
            </a:r>
            <a:r>
              <a:rPr lang="en-US" sz="3000" b="1" dirty="0">
                <a:solidFill>
                  <a:schemeClr val="accent5"/>
                </a:solidFill>
              </a:rPr>
              <a:t>Ử LÝ SỰ CỐ - HĐĐT CÓ MÃ CỦA CQT</a:t>
            </a:r>
            <a:endParaRPr lang="vi-VN" sz="3000" dirty="0">
              <a:solidFill>
                <a:schemeClr val="accent5"/>
              </a:solidFill>
            </a:endParaRPr>
          </a:p>
        </p:txBody>
      </p:sp>
      <p:sp>
        <p:nvSpPr>
          <p:cNvPr id="3" name="Content Placeholder 2"/>
          <p:cNvSpPr>
            <a:spLocks noGrp="1"/>
          </p:cNvSpPr>
          <p:nvPr>
            <p:ph idx="1"/>
          </p:nvPr>
        </p:nvSpPr>
        <p:spPr>
          <a:xfrm>
            <a:off x="795346" y="1898816"/>
            <a:ext cx="9354494" cy="4397481"/>
          </a:xfrm>
        </p:spPr>
        <p:txBody>
          <a:bodyPr anchor="ctr" anchorCtr="0">
            <a:normAutofit/>
          </a:bodyPr>
          <a:lstStyle/>
          <a:p>
            <a:pPr marL="0" indent="0">
              <a:buNone/>
            </a:pPr>
            <a:endParaRPr lang="en-US" sz="2000" b="1" dirty="0">
              <a:solidFill>
                <a:schemeClr val="tx1"/>
              </a:solidFill>
              <a:latin typeface="+mj-lt"/>
            </a:endParaRPr>
          </a:p>
          <a:p>
            <a:pPr marL="0" indent="0" algn="ctr">
              <a:buNone/>
            </a:pPr>
            <a:r>
              <a:rPr lang="vi-VN" sz="2000" b="1" dirty="0">
                <a:solidFill>
                  <a:srgbClr val="C00000"/>
                </a:solidFill>
                <a:latin typeface="+mj-lt"/>
              </a:rPr>
              <a:t>Trường hợp người bán gặp sự cố dẫn đến không sử dụng được hóa đơn điện tử có mã của cơ quan thuế</a:t>
            </a:r>
          </a:p>
          <a:p>
            <a:pPr marL="0" indent="0" algn="just">
              <a:buNone/>
            </a:pPr>
            <a:endParaRPr lang="vi-VN" sz="2000" dirty="0">
              <a:latin typeface="+mj-lt"/>
            </a:endParaRPr>
          </a:p>
          <a:p>
            <a:pPr marL="0" indent="0" algn="just">
              <a:buNone/>
            </a:pPr>
            <a:r>
              <a:rPr lang="vi-VN" sz="2000" dirty="0">
                <a:solidFill>
                  <a:schemeClr val="tx1"/>
                </a:solidFill>
                <a:latin typeface="+mj-lt"/>
              </a:rPr>
              <a:t>Trường hợp người bán hàng hóa, cung cấp dịch vụ sử dụng hóa đơn điện tử có mã của cơ quan thuế nhưng gặp sự cố dẫn đến không sử dụng được hóa đơn điện tử có mã của cơ quan thuế thì liên hệ với cơ quan thuế hoặc tổ chức cung cấp dịch vụ để hỗ trợ xử lý sự cố. Trong thời gian xử lý sự cố người bán hàng hóa, cung cấp dịch vụ có yêu cầu sử dụng hóa đơn điện tử có mã của cơ quan thuế thì đến cơ quan thuế để sử dụng hóa đơn điện tử có mã của cơ quan thuế.</a:t>
            </a:r>
            <a:endParaRPr lang="vi-VN" sz="2000" b="1" dirty="0">
              <a:solidFill>
                <a:schemeClr val="tx1"/>
              </a:solidFill>
              <a:latin typeface="+mj-lt"/>
            </a:endParaRPr>
          </a:p>
          <a:p>
            <a:pPr marL="0" indent="0" algn="just">
              <a:buNone/>
            </a:pPr>
            <a:endParaRPr lang="vi-VN" sz="2400" dirty="0">
              <a:solidFill>
                <a:schemeClr val="tx1"/>
              </a:solidFill>
              <a:latin typeface="Cambria" panose="02040503050406030204" pitchFamily="18" charset="0"/>
            </a:endParaRPr>
          </a:p>
        </p:txBody>
      </p:sp>
      <p:sp>
        <p:nvSpPr>
          <p:cNvPr id="4" name="Title 1"/>
          <p:cNvSpPr txBox="1">
            <a:spLocks/>
          </p:cNvSpPr>
          <p:nvPr/>
        </p:nvSpPr>
        <p:spPr>
          <a:xfrm>
            <a:off x="1116049" y="266367"/>
            <a:ext cx="1107595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10. XỬ LÝ SỰ CỐ</a:t>
            </a:r>
            <a:endParaRPr lang="vi-VN"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7290357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77359" y="1493314"/>
            <a:ext cx="8596668" cy="642425"/>
          </a:xfrm>
        </p:spPr>
        <p:txBody>
          <a:bodyPr anchor="ctr" anchorCtr="0">
            <a:noAutofit/>
          </a:bodyPr>
          <a:lstStyle/>
          <a:p>
            <a:pPr algn="ctr"/>
            <a:r>
              <a:rPr lang="vi-VN" sz="2200" b="1" dirty="0">
                <a:solidFill>
                  <a:srgbClr val="C00000"/>
                </a:solidFill>
              </a:rPr>
              <a:t>Trường hợp hệ thống cấp mã của cơ quan thuế gặp sự cố</a:t>
            </a:r>
            <a:endParaRPr lang="vi-VN" sz="2200" dirty="0">
              <a:solidFill>
                <a:srgbClr val="C00000"/>
              </a:solidFill>
            </a:endParaRPr>
          </a:p>
        </p:txBody>
      </p:sp>
      <p:sp>
        <p:nvSpPr>
          <p:cNvPr id="3" name="Content Placeholder 2"/>
          <p:cNvSpPr>
            <a:spLocks noGrp="1"/>
          </p:cNvSpPr>
          <p:nvPr>
            <p:ph idx="1"/>
          </p:nvPr>
        </p:nvSpPr>
        <p:spPr>
          <a:xfrm>
            <a:off x="677333" y="2438141"/>
            <a:ext cx="9341877" cy="4026159"/>
          </a:xfrm>
        </p:spPr>
        <p:txBody>
          <a:bodyPr vert="horz" anchor="ctr" anchorCtr="0">
            <a:noAutofit/>
          </a:bodyPr>
          <a:lstStyle/>
          <a:p>
            <a:pPr marL="0" indent="0" algn="just">
              <a:buNone/>
            </a:pPr>
            <a:r>
              <a:rPr lang="vi-VN" sz="1900" dirty="0">
                <a:solidFill>
                  <a:schemeClr val="tx1"/>
                </a:solidFill>
                <a:latin typeface="+mj-lt"/>
              </a:rPr>
              <a:t>- Trường hợp hệ thống cấp mã của cơ quan thuế gặp sự cố, Tổng cục Thuế thực hiện các giải pháp kỹ thuật chuyển sang hệ thống dự phòng và có trách nhiệm thông báo trên Cổng thông tin điện tử của Tổng cục Thuế về các sự cố nêu trên. Tổng cục Thuế lựa chọn một số tổ chức cung cấp dịch vụ về hóa đơn điện tử có đủ điều kiện để ủy quyền cấp mã hóa đơn điện tử trong trường hợp hệ thống của cơ quan thuế gặp sự cố.</a:t>
            </a:r>
          </a:p>
          <a:p>
            <a:pPr marL="0" indent="0" algn="just">
              <a:buNone/>
            </a:pPr>
            <a:r>
              <a:rPr lang="vi-VN" sz="1900" dirty="0">
                <a:solidFill>
                  <a:schemeClr val="tx1"/>
                </a:solidFill>
                <a:latin typeface="+mj-lt"/>
              </a:rPr>
              <a:t>- Trường hợp trong thời gian chưa khắc phục được sự cố của cơ quan thuế thì cơ quan thuế có giải pháp bán hóa đơn do cơ quan thuế đặt in cho một số tổ chức, cá nhân để sử dụng. Sau khi hệ thống cấp mã của cơ quan thuế được khắc phục, cơ quan thuế thông báo để các tổ chức, cá nhân tiếp tục sử dụng hóa đơn điện tử có mã của cơ quan thuế chậm nhất 02 ngày làm việc kể từ thời hạn ghi trên thông báo của cơ quan thuế, tổ chức, cá nhân gửi báo cáo tình hình sử dụng hóa đơn giấy đã mua của cơ quan thuế theo Mẫu số BC26/HĐG Phụ lục IA ban hành kèm theo Nghị định số 123/2020/NĐ-CP.</a:t>
            </a:r>
          </a:p>
          <a:p>
            <a:pPr marL="0" indent="0">
              <a:buNone/>
            </a:pPr>
            <a:endParaRPr lang="vi-VN" sz="1900" dirty="0">
              <a:solidFill>
                <a:schemeClr val="tx1"/>
              </a:solidFill>
              <a:latin typeface="Cambria" panose="02040503050406030204" pitchFamily="18" charset="0"/>
            </a:endParaRPr>
          </a:p>
        </p:txBody>
      </p:sp>
      <p:grpSp>
        <p:nvGrpSpPr>
          <p:cNvPr id="8" name="Group 7"/>
          <p:cNvGrpSpPr/>
          <p:nvPr/>
        </p:nvGrpSpPr>
        <p:grpSpPr>
          <a:xfrm>
            <a:off x="1" y="0"/>
            <a:ext cx="12192000" cy="1190912"/>
            <a:chOff x="1" y="0"/>
            <a:chExt cx="12192000" cy="1190912"/>
          </a:xfrm>
        </p:grpSpPr>
        <p:pic>
          <p:nvPicPr>
            <p:cNvPr id="4" name="Picture 3"/>
            <p:cNvPicPr>
              <a:picLocks noChangeAspect="1"/>
            </p:cNvPicPr>
            <p:nvPr/>
          </p:nvPicPr>
          <p:blipFill>
            <a:blip r:embed="rId2"/>
            <a:stretch>
              <a:fillRect/>
            </a:stretch>
          </p:blipFill>
          <p:spPr>
            <a:xfrm>
              <a:off x="1" y="0"/>
              <a:ext cx="954717" cy="791308"/>
            </a:xfrm>
            <a:prstGeom prst="rect">
              <a:avLst/>
            </a:prstGeom>
          </p:spPr>
        </p:pic>
        <p:sp>
          <p:nvSpPr>
            <p:cNvPr id="6" name="Title 1"/>
            <p:cNvSpPr txBox="1">
              <a:spLocks/>
            </p:cNvSpPr>
            <p:nvPr/>
          </p:nvSpPr>
          <p:spPr>
            <a:xfrm>
              <a:off x="1116049" y="266367"/>
              <a:ext cx="1107595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10. XỬ LÝ SỰ CỐ</a:t>
              </a:r>
              <a:endParaRPr lang="vi-VN" sz="2000" b="1" dirty="0">
                <a:solidFill>
                  <a:schemeClr val="tx1"/>
                </a:solidFill>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834535" y="822276"/>
              <a:ext cx="8596668" cy="368636"/>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000" b="1" dirty="0">
                  <a:solidFill>
                    <a:schemeClr val="accent5"/>
                  </a:solidFill>
                </a:rPr>
                <a:t>10. </a:t>
              </a:r>
              <a:r>
                <a:rPr lang="vi-VN" sz="3000" b="1" dirty="0">
                  <a:solidFill>
                    <a:schemeClr val="accent5"/>
                  </a:solidFill>
                </a:rPr>
                <a:t>X</a:t>
              </a:r>
              <a:r>
                <a:rPr lang="en-US" sz="3000" b="1" dirty="0">
                  <a:solidFill>
                    <a:schemeClr val="accent5"/>
                  </a:solidFill>
                </a:rPr>
                <a:t>Ử LÝ SỰ CỐ - HĐĐT CÓ MÃ CỦA CQT</a:t>
              </a:r>
              <a:endParaRPr lang="vi-VN" sz="3000" dirty="0">
                <a:solidFill>
                  <a:schemeClr val="accent5"/>
                </a:solidFill>
              </a:endParaRPr>
            </a:p>
          </p:txBody>
        </p:sp>
      </p:grpSp>
    </p:spTree>
    <p:extLst>
      <p:ext uri="{BB962C8B-B14F-4D97-AF65-F5344CB8AC3E}">
        <p14:creationId xmlns:p14="http://schemas.microsoft.com/office/powerpoint/2010/main" val="25315185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1857088"/>
            <a:ext cx="8596668" cy="642425"/>
          </a:xfrm>
        </p:spPr>
        <p:txBody>
          <a:bodyPr anchor="ctr" anchorCtr="0">
            <a:noAutofit/>
          </a:bodyPr>
          <a:lstStyle/>
          <a:p>
            <a:pPr algn="ctr"/>
            <a:r>
              <a:rPr lang="vi-VN" sz="2200" b="1" dirty="0">
                <a:solidFill>
                  <a:srgbClr val="C00000"/>
                </a:solidFill>
              </a:rPr>
              <a:t>Trường hợp do lỗi hệ thống hạ tầng kỹ thuật của tổ chức cung cấp dịch vụ hóa đơn điện tử</a:t>
            </a:r>
          </a:p>
        </p:txBody>
      </p:sp>
      <p:sp>
        <p:nvSpPr>
          <p:cNvPr id="3" name="Content Placeholder 2"/>
          <p:cNvSpPr>
            <a:spLocks noGrp="1"/>
          </p:cNvSpPr>
          <p:nvPr>
            <p:ph idx="1"/>
          </p:nvPr>
        </p:nvSpPr>
        <p:spPr>
          <a:xfrm>
            <a:off x="677334" y="2899117"/>
            <a:ext cx="8596668" cy="2706553"/>
          </a:xfrm>
        </p:spPr>
        <p:txBody>
          <a:bodyPr vert="horz" anchor="ctr" anchorCtr="0">
            <a:noAutofit/>
          </a:bodyPr>
          <a:lstStyle/>
          <a:p>
            <a:pPr marL="0" indent="0" algn="just">
              <a:buNone/>
            </a:pPr>
            <a:r>
              <a:rPr lang="vi-VN" sz="2000" dirty="0">
                <a:solidFill>
                  <a:schemeClr val="tx1"/>
                </a:solidFill>
                <a:latin typeface="+mj-lt"/>
              </a:rPr>
              <a:t>Trường hợp do lỗi hệ thống hạ tầng kỹ thuật của tổ chức cung cấp dịch vụ hóa đơn điện tử thì tổ chức cung cấp dịch vụ hóa đơn điện tử có trách nhiệm thông báo cho người bán được biết, phối hợp với Tổng cục Thuế để được hỗ trợ kịp thời. Tổ chức cung cấp dịch vụ hóa đơn điện tử phải khắc phục nhanh nhất sự cố, có biện pháp hỗ trợ người bán lập hóa đơn điện tử để gửi cơ quan thuế cấp mã trong thời gian ngắn nhất.</a:t>
            </a:r>
            <a:r>
              <a:rPr lang="vi-VN" sz="2000" i="1" dirty="0">
                <a:solidFill>
                  <a:schemeClr val="tx1"/>
                </a:solidFill>
                <a:latin typeface="+mj-lt"/>
              </a:rPr>
              <a:t> </a:t>
            </a:r>
            <a:endParaRPr lang="vi-VN" sz="2000" dirty="0">
              <a:solidFill>
                <a:schemeClr val="tx1"/>
              </a:solidFill>
              <a:latin typeface="+mj-lt"/>
            </a:endParaRPr>
          </a:p>
        </p:txBody>
      </p:sp>
      <p:grpSp>
        <p:nvGrpSpPr>
          <p:cNvPr id="4" name="Group 3"/>
          <p:cNvGrpSpPr/>
          <p:nvPr/>
        </p:nvGrpSpPr>
        <p:grpSpPr>
          <a:xfrm>
            <a:off x="1" y="0"/>
            <a:ext cx="12192000" cy="1190912"/>
            <a:chOff x="1" y="0"/>
            <a:chExt cx="12192000" cy="1190912"/>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Title 1"/>
            <p:cNvSpPr txBox="1">
              <a:spLocks/>
            </p:cNvSpPr>
            <p:nvPr/>
          </p:nvSpPr>
          <p:spPr>
            <a:xfrm>
              <a:off x="1116049" y="266367"/>
              <a:ext cx="1107595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10. XỬ LÝ SỰ CỐ</a:t>
              </a:r>
              <a:endParaRPr lang="vi-VN" sz="2000" b="1" dirty="0">
                <a:solidFill>
                  <a:schemeClr val="tx1"/>
                </a:solidFill>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834535" y="822276"/>
              <a:ext cx="8596668" cy="368636"/>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000" b="1" dirty="0">
                  <a:solidFill>
                    <a:schemeClr val="accent5"/>
                  </a:solidFill>
                </a:rPr>
                <a:t>10. </a:t>
              </a:r>
              <a:r>
                <a:rPr lang="vi-VN" sz="3000" b="1" dirty="0">
                  <a:solidFill>
                    <a:schemeClr val="accent5"/>
                  </a:solidFill>
                </a:rPr>
                <a:t>X</a:t>
              </a:r>
              <a:r>
                <a:rPr lang="en-US" sz="3000" b="1" dirty="0">
                  <a:solidFill>
                    <a:schemeClr val="accent5"/>
                  </a:solidFill>
                </a:rPr>
                <a:t>Ử LÝ SỰ CỐ - HĐĐT CÓ MÃ CỦA CQT</a:t>
              </a:r>
              <a:endParaRPr lang="vi-VN" sz="3000" dirty="0">
                <a:solidFill>
                  <a:schemeClr val="accent5"/>
                </a:solidFill>
              </a:endParaRPr>
            </a:p>
          </p:txBody>
        </p:sp>
      </p:grpSp>
    </p:spTree>
    <p:extLst>
      <p:ext uri="{BB962C8B-B14F-4D97-AF65-F5344CB8AC3E}">
        <p14:creationId xmlns:p14="http://schemas.microsoft.com/office/powerpoint/2010/main" val="22714258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774" y="1733005"/>
            <a:ext cx="8596668" cy="642425"/>
          </a:xfrm>
        </p:spPr>
        <p:txBody>
          <a:bodyPr anchor="ctr" anchorCtr="0">
            <a:noAutofit/>
          </a:bodyPr>
          <a:lstStyle/>
          <a:p>
            <a:pPr algn="ctr"/>
            <a:r>
              <a:rPr lang="vi-VN" sz="2000" b="1" dirty="0">
                <a:solidFill>
                  <a:srgbClr val="C00000"/>
                </a:solidFill>
              </a:rPr>
              <a:t>Trường hợp Cổng thông tin điện tử của Tổng cục Thuế gặp lỗi kỹ thuật chưa tiếp nhận được dữ liệu hóa đơn điện tử không có mã</a:t>
            </a:r>
          </a:p>
        </p:txBody>
      </p:sp>
      <p:sp>
        <p:nvSpPr>
          <p:cNvPr id="3" name="Content Placeholder 2"/>
          <p:cNvSpPr>
            <a:spLocks noGrp="1"/>
          </p:cNvSpPr>
          <p:nvPr>
            <p:ph idx="1"/>
          </p:nvPr>
        </p:nvSpPr>
        <p:spPr>
          <a:xfrm>
            <a:off x="677334" y="2886891"/>
            <a:ext cx="9699118" cy="3577409"/>
          </a:xfrm>
        </p:spPr>
        <p:txBody>
          <a:bodyPr vert="horz" anchor="ctr" anchorCtr="0">
            <a:noAutofit/>
          </a:bodyPr>
          <a:lstStyle/>
          <a:p>
            <a:pPr marL="0" indent="0" algn="just">
              <a:buNone/>
            </a:pPr>
            <a:r>
              <a:rPr lang="vi-VN" sz="2000" dirty="0">
                <a:solidFill>
                  <a:schemeClr val="tx1"/>
                </a:solidFill>
                <a:latin typeface="+mj-lt"/>
              </a:rPr>
              <a:t>- Trường hợp Cổng thông tin điện tử của Tổng cục Thuế gặp lỗi kỹ thuật chưa tiếp nhận được dữ liệu hóa đơn điện tử không có mã, Tổng cục Thuế có trách nhiệm thông báo trên Cổng thông tin điện tử của Tổng cục Thuế. Trong thời gian này tổ chức, doanh nghiệp, tổ chức cung cấp dịch vụ hóa đơn điện tử tạm thời chưa chuyển dữ liệu hóa đơn không có mã đến cơ quan thuế.</a:t>
            </a:r>
          </a:p>
          <a:p>
            <a:pPr marL="0" indent="0" algn="just">
              <a:buNone/>
            </a:pPr>
            <a:r>
              <a:rPr lang="vi-VN" sz="2000" dirty="0">
                <a:solidFill>
                  <a:schemeClr val="tx1"/>
                </a:solidFill>
                <a:latin typeface="+mj-lt"/>
              </a:rPr>
              <a:t>- Trong vòng 2 ngày làm việc kể từ ngày Tổng cục Thuế có thông báo Cổng thông tin điện tử của Tổng cục Thuế hoạt động trở lại bình thường, tổ chức, doanh nghiệp cung cấp dịch vụ hóa đơn điện tử chuyển dữ liệu hóa đơn đến cơ quan thuế. Việc gửi dữ liệu hóa đơn điện tử sau khi có thông báo Cổng thông tin điện tử của Tổng cục Thuế gặp lỗi kỹ thuật không được xác định là hành vi chậm gửi dữ liệu hóa đơn điện tử.</a:t>
            </a:r>
          </a:p>
          <a:p>
            <a:pPr marL="0" indent="0" algn="just">
              <a:buNone/>
            </a:pPr>
            <a:endParaRPr lang="vi-VN" sz="1900" dirty="0">
              <a:solidFill>
                <a:schemeClr val="tx1"/>
              </a:solidFill>
              <a:latin typeface="Cambria" panose="02040503050406030204" pitchFamily="18" charset="0"/>
            </a:endParaRPr>
          </a:p>
        </p:txBody>
      </p:sp>
      <p:grpSp>
        <p:nvGrpSpPr>
          <p:cNvPr id="5" name="Group 4"/>
          <p:cNvGrpSpPr/>
          <p:nvPr/>
        </p:nvGrpSpPr>
        <p:grpSpPr>
          <a:xfrm>
            <a:off x="1" y="0"/>
            <a:ext cx="12192000" cy="1190912"/>
            <a:chOff x="1" y="0"/>
            <a:chExt cx="12192000" cy="1190912"/>
          </a:xfrm>
        </p:grpSpPr>
        <p:pic>
          <p:nvPicPr>
            <p:cNvPr id="6" name="Picture 5"/>
            <p:cNvPicPr>
              <a:picLocks noChangeAspect="1"/>
            </p:cNvPicPr>
            <p:nvPr/>
          </p:nvPicPr>
          <p:blipFill>
            <a:blip r:embed="rId2"/>
            <a:stretch>
              <a:fillRect/>
            </a:stretch>
          </p:blipFill>
          <p:spPr>
            <a:xfrm>
              <a:off x="1" y="0"/>
              <a:ext cx="954717" cy="791308"/>
            </a:xfrm>
            <a:prstGeom prst="rect">
              <a:avLst/>
            </a:prstGeom>
          </p:spPr>
        </p:pic>
        <p:sp>
          <p:nvSpPr>
            <p:cNvPr id="7" name="Title 1"/>
            <p:cNvSpPr txBox="1">
              <a:spLocks/>
            </p:cNvSpPr>
            <p:nvPr/>
          </p:nvSpPr>
          <p:spPr>
            <a:xfrm>
              <a:off x="1116049" y="266367"/>
              <a:ext cx="1107595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10. XỬ LÝ SỰ CỐ</a:t>
              </a:r>
              <a:endParaRPr lang="vi-VN" sz="2000" b="1" dirty="0">
                <a:solidFill>
                  <a:schemeClr val="tx1"/>
                </a:solidFill>
                <a:latin typeface="Times New Roman" panose="02020603050405020304" pitchFamily="18" charset="0"/>
                <a:cs typeface="Times New Roman" panose="02020603050405020304" pitchFamily="18" charset="0"/>
              </a:endParaRPr>
            </a:p>
          </p:txBody>
        </p:sp>
        <p:sp>
          <p:nvSpPr>
            <p:cNvPr id="8" name="Title 1"/>
            <p:cNvSpPr txBox="1">
              <a:spLocks/>
            </p:cNvSpPr>
            <p:nvPr/>
          </p:nvSpPr>
          <p:spPr>
            <a:xfrm>
              <a:off x="834535" y="822276"/>
              <a:ext cx="8596668" cy="368636"/>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000" b="1" dirty="0">
                  <a:solidFill>
                    <a:schemeClr val="accent5"/>
                  </a:solidFill>
                </a:rPr>
                <a:t>10. </a:t>
              </a:r>
              <a:r>
                <a:rPr lang="vi-VN" sz="3000" b="1" dirty="0">
                  <a:solidFill>
                    <a:schemeClr val="accent5"/>
                  </a:solidFill>
                </a:rPr>
                <a:t>X</a:t>
              </a:r>
              <a:r>
                <a:rPr lang="en-US" sz="3000" b="1" dirty="0">
                  <a:solidFill>
                    <a:schemeClr val="accent5"/>
                  </a:solidFill>
                </a:rPr>
                <a:t>Ử LÝ SỰ CỐ - HĐĐT CÓ MÃ CỦA CQT</a:t>
              </a:r>
              <a:endParaRPr lang="vi-VN" sz="3000" dirty="0">
                <a:solidFill>
                  <a:schemeClr val="accent5"/>
                </a:solidFill>
              </a:endParaRPr>
            </a:p>
          </p:txBody>
        </p:sp>
      </p:grpSp>
    </p:spTree>
    <p:extLst>
      <p:ext uri="{BB962C8B-B14F-4D97-AF65-F5344CB8AC3E}">
        <p14:creationId xmlns:p14="http://schemas.microsoft.com/office/powerpoint/2010/main" val="15434935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5346" y="1026275"/>
            <a:ext cx="9580554" cy="726831"/>
          </a:xfrm>
        </p:spPr>
        <p:txBody>
          <a:bodyPr>
            <a:noAutofit/>
          </a:bodyPr>
          <a:lstStyle/>
          <a:p>
            <a:pPr algn="ctr"/>
            <a:r>
              <a:rPr lang="vi-VN" sz="2600" b="1" dirty="0">
                <a:solidFill>
                  <a:schemeClr val="accent5"/>
                </a:solidFill>
              </a:rPr>
              <a:t>11. T</a:t>
            </a:r>
            <a:r>
              <a:rPr lang="en-US" sz="2600" b="1" dirty="0">
                <a:solidFill>
                  <a:schemeClr val="accent5"/>
                </a:solidFill>
              </a:rPr>
              <a:t>RÁCH NHIỆM – NGƯỜI BÁN – HĐĐT CÓ MÃ CỦA CQT </a:t>
            </a:r>
            <a:endParaRPr lang="vi-VN" sz="2600" dirty="0">
              <a:solidFill>
                <a:schemeClr val="accent5"/>
              </a:solidFill>
            </a:endParaRPr>
          </a:p>
        </p:txBody>
      </p:sp>
      <p:sp>
        <p:nvSpPr>
          <p:cNvPr id="3" name="Content Placeholder 2"/>
          <p:cNvSpPr>
            <a:spLocks noGrp="1"/>
          </p:cNvSpPr>
          <p:nvPr>
            <p:ph idx="1"/>
          </p:nvPr>
        </p:nvSpPr>
        <p:spPr>
          <a:xfrm>
            <a:off x="795346" y="895839"/>
            <a:ext cx="8596668" cy="5555761"/>
          </a:xfrm>
        </p:spPr>
        <p:txBody>
          <a:bodyPr anchor="ctr" anchorCtr="0">
            <a:normAutofit/>
          </a:bodyPr>
          <a:lstStyle/>
          <a:p>
            <a:pPr marL="0" indent="0" algn="just">
              <a:buNone/>
            </a:pPr>
            <a:r>
              <a:rPr lang="vi-VN" sz="2000" dirty="0">
                <a:solidFill>
                  <a:schemeClr val="tx1"/>
                </a:solidFill>
                <a:latin typeface="Cambria" panose="02040503050406030204" pitchFamily="18" charset="0"/>
              </a:rPr>
              <a:t>- Quản lý tên và mật khẩu của các tài khoản đã được cơ quan thuế cấp.</a:t>
            </a:r>
          </a:p>
          <a:p>
            <a:pPr marL="0" indent="0" algn="just">
              <a:buNone/>
            </a:pPr>
            <a:r>
              <a:rPr lang="vi-VN" sz="2000" dirty="0">
                <a:solidFill>
                  <a:schemeClr val="tx1"/>
                </a:solidFill>
                <a:latin typeface="Cambria" panose="02040503050406030204" pitchFamily="18" charset="0"/>
              </a:rPr>
              <a:t>- Tạo lập hóa đơn điện tử về bán hàng hóa, cung cấp dịch vụ để gửi đến cơ quan thuế cấp mã và chịu trách nhiệm trước pháp luật vê tính hợp pháp, chính xác của hóa đơn điện tử.</a:t>
            </a:r>
          </a:p>
          <a:p>
            <a:pPr marL="0" indent="0" algn="just">
              <a:buNone/>
            </a:pPr>
            <a:r>
              <a:rPr lang="vi-VN" sz="2000" dirty="0">
                <a:solidFill>
                  <a:schemeClr val="tx1"/>
                </a:solidFill>
                <a:latin typeface="Cambria" panose="02040503050406030204" pitchFamily="18" charset="0"/>
              </a:rPr>
              <a:t>- Gửi hóa đơn điện tử có mã của cơ quan thuế đến người mua ngay sau khi nhận được hóa đơn điện tử có mã của cơ quan thuế.</a:t>
            </a:r>
          </a:p>
        </p:txBody>
      </p:sp>
      <p:grpSp>
        <p:nvGrpSpPr>
          <p:cNvPr id="4" name="Group 3"/>
          <p:cNvGrpSpPr/>
          <p:nvPr/>
        </p:nvGrpSpPr>
        <p:grpSpPr>
          <a:xfrm>
            <a:off x="1" y="0"/>
            <a:ext cx="12030669" cy="791308"/>
            <a:chOff x="1" y="0"/>
            <a:chExt cx="12030669"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Title 1"/>
            <p:cNvSpPr txBox="1">
              <a:spLocks/>
            </p:cNvSpPr>
            <p:nvPr/>
          </p:nvSpPr>
          <p:spPr>
            <a:xfrm>
              <a:off x="954718" y="169473"/>
              <a:ext cx="1107595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900" b="1" dirty="0">
                  <a:solidFill>
                    <a:schemeClr val="tx1"/>
                  </a:solidFill>
                  <a:latin typeface="Times New Roman" panose="02020603050405020304" pitchFamily="18" charset="0"/>
                  <a:cs typeface="Times New Roman" panose="02020603050405020304" pitchFamily="18" charset="0"/>
                </a:rPr>
                <a:t>PHẦN 2: QUY ĐỊNH VỀ HÓA ĐƠN – 11. TRÁCH NHIỆM NGƯỜI BÁN – HDĐT CÓ MÃ CỦA CQT</a:t>
              </a:r>
              <a:endParaRPr lang="vi-VN" sz="1900" b="1" dirty="0">
                <a:solidFill>
                  <a:schemeClr val="tx1"/>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2214110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7152" y="1276448"/>
            <a:ext cx="10901354" cy="726831"/>
          </a:xfrm>
        </p:spPr>
        <p:txBody>
          <a:bodyPr>
            <a:noAutofit/>
          </a:bodyPr>
          <a:lstStyle/>
          <a:p>
            <a:pPr algn="ctr"/>
            <a:r>
              <a:rPr lang="en-US" sz="2600" b="1" dirty="0">
                <a:solidFill>
                  <a:schemeClr val="accent5"/>
                </a:solidFill>
              </a:rPr>
              <a:t>12.TRÁCH NHIỆM – NGƯỜI BÁN – HĐĐT KHÔNG CÓ MÃ CỦA CQT</a:t>
            </a:r>
            <a:endParaRPr lang="vi-VN" sz="2600" dirty="0">
              <a:solidFill>
                <a:schemeClr val="accent5"/>
              </a:solidFill>
            </a:endParaRPr>
          </a:p>
        </p:txBody>
      </p:sp>
      <p:sp>
        <p:nvSpPr>
          <p:cNvPr id="3" name="Content Placeholder 2"/>
          <p:cNvSpPr>
            <a:spLocks noGrp="1"/>
          </p:cNvSpPr>
          <p:nvPr>
            <p:ph idx="1"/>
          </p:nvPr>
        </p:nvSpPr>
        <p:spPr>
          <a:xfrm>
            <a:off x="795345" y="2272938"/>
            <a:ext cx="9524311" cy="2821576"/>
          </a:xfrm>
        </p:spPr>
        <p:txBody>
          <a:bodyPr anchor="ctr" anchorCtr="0">
            <a:normAutofit/>
          </a:bodyPr>
          <a:lstStyle/>
          <a:p>
            <a:pPr marL="0" indent="0" algn="just">
              <a:buNone/>
            </a:pPr>
            <a:r>
              <a:rPr lang="vi-VN" sz="2400" dirty="0">
                <a:solidFill>
                  <a:schemeClr val="tx1"/>
                </a:solidFill>
                <a:latin typeface="+mj-lt"/>
              </a:rPr>
              <a:t>Quản lý tên và mật khẩu của các tài khoản đã được cơ quan thuế cấp.</a:t>
            </a:r>
          </a:p>
          <a:p>
            <a:pPr marL="0" indent="0" algn="just">
              <a:buNone/>
            </a:pPr>
            <a:r>
              <a:rPr lang="vi-VN" sz="2400" dirty="0">
                <a:solidFill>
                  <a:schemeClr val="tx1"/>
                </a:solidFill>
                <a:latin typeface="+mj-lt"/>
              </a:rPr>
              <a:t>Tạo lập hóa đơn điện tử về bán hàng hóa, cung cấp dịch vụ để gửi đến người mua, cơ quan thuế, tổ chức cung cấp dịch vụ hóa đơn điện tử và chịu trách nhiệm trước pháp luật về tính hợp pháp, chính xác của hóa đơn điện tử đã lập.</a:t>
            </a:r>
          </a:p>
        </p:txBody>
      </p:sp>
      <p:grpSp>
        <p:nvGrpSpPr>
          <p:cNvPr id="4" name="Group 3"/>
          <p:cNvGrpSpPr/>
          <p:nvPr/>
        </p:nvGrpSpPr>
        <p:grpSpPr>
          <a:xfrm>
            <a:off x="1" y="0"/>
            <a:ext cx="12030669" cy="791308"/>
            <a:chOff x="1" y="0"/>
            <a:chExt cx="12030669"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Title 1"/>
            <p:cNvSpPr txBox="1">
              <a:spLocks/>
            </p:cNvSpPr>
            <p:nvPr/>
          </p:nvSpPr>
          <p:spPr>
            <a:xfrm>
              <a:off x="954718" y="169473"/>
              <a:ext cx="1107595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12. TRÁCH NHIỆM NGƯỜI BÁN HĐĐT KHÔNG CÓ MÃ</a:t>
              </a:r>
              <a:endParaRPr lang="vi-VN" sz="2000" b="1" dirty="0">
                <a:solidFill>
                  <a:schemeClr val="tx1"/>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0432896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77359" y="1597776"/>
            <a:ext cx="8596668" cy="557596"/>
          </a:xfrm>
        </p:spPr>
        <p:txBody>
          <a:bodyPr>
            <a:noAutofit/>
          </a:bodyPr>
          <a:lstStyle/>
          <a:p>
            <a:pPr algn="ctr"/>
            <a:r>
              <a:rPr lang="en-US" sz="2000" b="1" dirty="0">
                <a:solidFill>
                  <a:srgbClr val="C00000"/>
                </a:solidFill>
              </a:rPr>
              <a:t>CHUYỂN DỮ LIỆU HĐĐT KHÔNG CÓ MÃ CỦA CQT</a:t>
            </a:r>
            <a:endParaRPr lang="vi-VN" sz="2000" b="1" dirty="0">
              <a:solidFill>
                <a:srgbClr val="C00000"/>
              </a:solidFill>
            </a:endParaRPr>
          </a:p>
        </p:txBody>
      </p:sp>
      <p:sp>
        <p:nvSpPr>
          <p:cNvPr id="3" name="Content Placeholder 2"/>
          <p:cNvSpPr>
            <a:spLocks noGrp="1"/>
          </p:cNvSpPr>
          <p:nvPr>
            <p:ph idx="1"/>
          </p:nvPr>
        </p:nvSpPr>
        <p:spPr>
          <a:xfrm>
            <a:off x="627017" y="2024744"/>
            <a:ext cx="9797143" cy="4637314"/>
          </a:xfrm>
        </p:spPr>
        <p:txBody>
          <a:bodyPr anchor="ctr" anchorCtr="0">
            <a:normAutofit/>
          </a:bodyPr>
          <a:lstStyle/>
          <a:p>
            <a:pPr marL="0" indent="0" algn="just">
              <a:buNone/>
            </a:pPr>
            <a:r>
              <a:rPr lang="vi-VN" sz="1900" i="1" dirty="0">
                <a:solidFill>
                  <a:schemeClr val="tx1"/>
                </a:solidFill>
                <a:latin typeface="+mj-lt"/>
              </a:rPr>
              <a:t>a) Phương thức và thời điểm chuyển dữ liệu hóa đơn điện tử</a:t>
            </a:r>
            <a:endParaRPr lang="vi-VN" sz="1900" dirty="0">
              <a:solidFill>
                <a:schemeClr val="tx1"/>
              </a:solidFill>
              <a:latin typeface="+mj-lt"/>
            </a:endParaRPr>
          </a:p>
          <a:p>
            <a:pPr marL="0" indent="0" algn="just">
              <a:buNone/>
            </a:pPr>
            <a:r>
              <a:rPr lang="vi-VN" sz="1900" dirty="0">
                <a:solidFill>
                  <a:schemeClr val="tx1"/>
                </a:solidFill>
                <a:latin typeface="+mj-lt"/>
              </a:rPr>
              <a:t>a.1) Phương thức chuyển dữ liệu hóa đơn điện tử theo Bảng tổng hợp dữ liệu hóa đơn điện tử theo Mẫu số 01/TH-HĐĐT Phụ lục IA ban hành kèm theo Nghị định số 123/2020/NĐ-CP cùng thời hạn nộp hồ sơ khai thuế giá trị gia tăng áp dụng đối với các trường hợp sau:</a:t>
            </a:r>
          </a:p>
          <a:p>
            <a:pPr algn="just"/>
            <a:r>
              <a:rPr lang="vi-VN" sz="1900" dirty="0">
                <a:solidFill>
                  <a:schemeClr val="tx1"/>
                </a:solidFill>
                <a:latin typeface="+mj-lt"/>
              </a:rPr>
              <a:t> Cung cấp dịch vụ thuộc lĩnh vực: bưu chính viễn thông, bảo hiểm, tài chính ngân hàng, vận tải hàng không, chứng khoán.</a:t>
            </a:r>
          </a:p>
          <a:p>
            <a:pPr algn="just"/>
            <a:r>
              <a:rPr lang="vi-VN" sz="1900" dirty="0">
                <a:solidFill>
                  <a:schemeClr val="tx1"/>
                </a:solidFill>
                <a:latin typeface="+mj-lt"/>
              </a:rPr>
              <a:t> Bán hàng hóa là điện, nước sạch nếu có thông tin về mã khách hàng hoặc mã số thuế của khách hàng.</a:t>
            </a:r>
          </a:p>
          <a:p>
            <a:pPr marL="0" indent="0" algn="just">
              <a:buNone/>
            </a:pPr>
            <a:r>
              <a:rPr lang="vi-VN" sz="1900" dirty="0">
                <a:solidFill>
                  <a:schemeClr val="tx1"/>
                </a:solidFill>
                <a:latin typeface="+mj-lt"/>
              </a:rPr>
              <a:t>- Người bán lập Bảng tổng hợp dữ liệu hóa đơn điện tử hàng hóa, cung cấp dịch vụ phát sinh trong tháng hoặc quý (tính từ ngày đầu của tháng, quý đến ngày cuối cùng của tháng hoặc quý).</a:t>
            </a:r>
          </a:p>
          <a:p>
            <a:pPr marL="0" indent="0" algn="just">
              <a:buNone/>
            </a:pPr>
            <a:r>
              <a:rPr lang="vi-VN" sz="1900" dirty="0">
                <a:solidFill>
                  <a:schemeClr val="tx1"/>
                </a:solidFill>
                <a:latin typeface="+mj-lt"/>
              </a:rPr>
              <a:t>- Trường hợp phát sinh số lượng hóa đơn lớn thì bảng tổng hợp sẽ được tách theo định dạng chuẩn dữ liệu của cơ quan thuế nhằm đảm bảo yêu cầu gửi nhận dữ liệu trên đường truyền.</a:t>
            </a:r>
          </a:p>
        </p:txBody>
      </p:sp>
      <p:grpSp>
        <p:nvGrpSpPr>
          <p:cNvPr id="4" name="Group 3"/>
          <p:cNvGrpSpPr/>
          <p:nvPr/>
        </p:nvGrpSpPr>
        <p:grpSpPr>
          <a:xfrm>
            <a:off x="1" y="0"/>
            <a:ext cx="12030669" cy="791308"/>
            <a:chOff x="1" y="0"/>
            <a:chExt cx="12030669"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Title 1"/>
            <p:cNvSpPr txBox="1">
              <a:spLocks/>
            </p:cNvSpPr>
            <p:nvPr/>
          </p:nvSpPr>
          <p:spPr>
            <a:xfrm>
              <a:off x="954718" y="169473"/>
              <a:ext cx="1107595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12. TRÁCH NHIỆM NGƯỜI BÁN HĐĐT KHÔNG CÓ MÃ</a:t>
              </a:r>
              <a:endParaRPr lang="vi-VN" sz="2000" b="1" dirty="0">
                <a:solidFill>
                  <a:schemeClr val="tx1"/>
                </a:solidFill>
                <a:cs typeface="Times New Roman" panose="02020603050405020304" pitchFamily="18" charset="0"/>
              </a:endParaRPr>
            </a:p>
            <a:p>
              <a:endParaRPr lang="vi-VN" sz="2000" b="1" dirty="0">
                <a:solidFill>
                  <a:schemeClr val="tx1"/>
                </a:solidFill>
                <a:latin typeface="Times New Roman" panose="02020603050405020304" pitchFamily="18" charset="0"/>
                <a:cs typeface="Times New Roman" panose="02020603050405020304" pitchFamily="18" charset="0"/>
              </a:endParaRPr>
            </a:p>
          </p:txBody>
        </p:sp>
      </p:grpSp>
      <p:sp>
        <p:nvSpPr>
          <p:cNvPr id="7" name="Title 1"/>
          <p:cNvSpPr txBox="1">
            <a:spLocks/>
          </p:cNvSpPr>
          <p:nvPr/>
        </p:nvSpPr>
        <p:spPr>
          <a:xfrm>
            <a:off x="477359" y="870944"/>
            <a:ext cx="10901354" cy="726831"/>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000" b="1" dirty="0">
                <a:solidFill>
                  <a:schemeClr val="accent5"/>
                </a:solidFill>
              </a:rPr>
              <a:t>12. TRÁCH NHIỆM – NGƯỜI BÁN – HĐĐT KHÔNG CÓ MÃ CỦA CQT (TIẾP THEO) </a:t>
            </a:r>
            <a:endParaRPr lang="vi-VN" sz="2000" dirty="0">
              <a:solidFill>
                <a:schemeClr val="accent5"/>
              </a:solidFill>
            </a:endParaRPr>
          </a:p>
        </p:txBody>
      </p:sp>
    </p:spTree>
    <p:extLst>
      <p:ext uri="{BB962C8B-B14F-4D97-AF65-F5344CB8AC3E}">
        <p14:creationId xmlns:p14="http://schemas.microsoft.com/office/powerpoint/2010/main" val="26330201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744546" y="2220687"/>
            <a:ext cx="9614300" cy="4040414"/>
          </a:xfrm>
        </p:spPr>
        <p:txBody>
          <a:bodyPr anchor="ctr" anchorCtr="0">
            <a:noAutofit/>
          </a:bodyPr>
          <a:lstStyle/>
          <a:p>
            <a:pPr marL="0" indent="0" algn="just">
              <a:buNone/>
            </a:pPr>
            <a:r>
              <a:rPr lang="vi-VN" sz="1900" dirty="0">
                <a:solidFill>
                  <a:schemeClr val="tx1"/>
                </a:solidFill>
                <a:latin typeface="+mj-lt"/>
              </a:rPr>
              <a:t>- Đối với hóa đơn gửi theo bảng tổng hợp thì người bán gửi thông tin hủy, điều chỉnh trực tiếp trên bảng tổng hợp của các kỳ tiếp theo mà không gửi thông báo hóa đơn điện tử có sai sót theo Mẫu số 04/SS-HĐĐT Phụ lục IA Nghị định số 123/2020/NĐ-CP đến cơ quan thuế.</a:t>
            </a:r>
          </a:p>
          <a:p>
            <a:pPr marL="0" indent="0" algn="just">
              <a:buNone/>
            </a:pPr>
            <a:r>
              <a:rPr lang="vi-VN" sz="1900" dirty="0">
                <a:solidFill>
                  <a:schemeClr val="tx1"/>
                </a:solidFill>
                <a:latin typeface="+mj-lt"/>
              </a:rPr>
              <a:t>- Các hóa đơn được lập cho tổng doanh thu của người mua là cá nhân không kinh doanh phát sinh trong ngày hoặc tháng theo bảng kê chi tiết thì người bán chỉ gửi dữ liệu hóa đơn điện tử (không kèm bảng kê chi tiết) đến cơ quan thuế.</a:t>
            </a:r>
          </a:p>
          <a:p>
            <a:pPr marL="0" indent="0" algn="just">
              <a:buNone/>
            </a:pPr>
            <a:r>
              <a:rPr lang="vi-VN" sz="1900" dirty="0">
                <a:solidFill>
                  <a:schemeClr val="tx1"/>
                </a:solidFill>
                <a:latin typeface="+mj-lt"/>
              </a:rPr>
              <a:t>- Riêng đối với trường hợp bán xăng dầu cho khách hàng thì người bán tổng hợp dữ liệu tất cả các hóa đơn bán xăng dầu trong ngày theo từng mặt hàng để thể hiện trên bảng tổng hợp dữ liệu hóa đơn điện tử và chuyển bảng tổng hợp dữ liệu hóa đơn điện tử này ngay trong ngày. </a:t>
            </a:r>
            <a:r>
              <a:rPr lang="en-US" sz="1900" dirty="0" err="1">
                <a:solidFill>
                  <a:schemeClr val="tx1"/>
                </a:solidFill>
                <a:latin typeface="+mj-lt"/>
              </a:rPr>
              <a:t>Trường</a:t>
            </a:r>
            <a:r>
              <a:rPr lang="en-US" sz="1900" dirty="0">
                <a:solidFill>
                  <a:schemeClr val="tx1"/>
                </a:solidFill>
                <a:latin typeface="+mj-lt"/>
              </a:rPr>
              <a:t> </a:t>
            </a:r>
            <a:r>
              <a:rPr lang="en-US" sz="1900" dirty="0" err="1">
                <a:solidFill>
                  <a:schemeClr val="tx1"/>
                </a:solidFill>
                <a:latin typeface="+mj-lt"/>
              </a:rPr>
              <a:t>hợp</a:t>
            </a:r>
            <a:r>
              <a:rPr lang="en-US" sz="1900" dirty="0">
                <a:solidFill>
                  <a:schemeClr val="tx1"/>
                </a:solidFill>
                <a:latin typeface="+mj-lt"/>
              </a:rPr>
              <a:t> </a:t>
            </a:r>
            <a:r>
              <a:rPr lang="en-US" sz="1900" dirty="0" err="1">
                <a:solidFill>
                  <a:schemeClr val="tx1"/>
                </a:solidFill>
                <a:latin typeface="+mj-lt"/>
              </a:rPr>
              <a:t>người</a:t>
            </a:r>
            <a:r>
              <a:rPr lang="en-US" sz="1900" dirty="0">
                <a:solidFill>
                  <a:schemeClr val="tx1"/>
                </a:solidFill>
                <a:latin typeface="+mj-lt"/>
              </a:rPr>
              <a:t> </a:t>
            </a:r>
            <a:r>
              <a:rPr lang="en-US" sz="1900" dirty="0" err="1">
                <a:solidFill>
                  <a:schemeClr val="tx1"/>
                </a:solidFill>
                <a:latin typeface="+mj-lt"/>
              </a:rPr>
              <a:t>bán</a:t>
            </a:r>
            <a:r>
              <a:rPr lang="en-US" sz="1900" dirty="0">
                <a:solidFill>
                  <a:schemeClr val="tx1"/>
                </a:solidFill>
                <a:latin typeface="+mj-lt"/>
              </a:rPr>
              <a:t> </a:t>
            </a:r>
            <a:r>
              <a:rPr lang="en-US" sz="1900" dirty="0" err="1">
                <a:solidFill>
                  <a:schemeClr val="tx1"/>
                </a:solidFill>
                <a:latin typeface="+mj-lt"/>
              </a:rPr>
              <a:t>và</a:t>
            </a:r>
            <a:r>
              <a:rPr lang="en-US" sz="1900" dirty="0">
                <a:solidFill>
                  <a:schemeClr val="tx1"/>
                </a:solidFill>
                <a:latin typeface="+mj-lt"/>
              </a:rPr>
              <a:t> </a:t>
            </a:r>
            <a:r>
              <a:rPr lang="en-US" sz="1900" dirty="0" err="1">
                <a:solidFill>
                  <a:schemeClr val="tx1"/>
                </a:solidFill>
                <a:latin typeface="+mj-lt"/>
              </a:rPr>
              <a:t>người</a:t>
            </a:r>
            <a:r>
              <a:rPr lang="en-US" sz="1900" dirty="0">
                <a:solidFill>
                  <a:schemeClr val="tx1"/>
                </a:solidFill>
                <a:latin typeface="+mj-lt"/>
              </a:rPr>
              <a:t> </a:t>
            </a:r>
            <a:r>
              <a:rPr lang="en-US" sz="1900" dirty="0" err="1">
                <a:solidFill>
                  <a:schemeClr val="tx1"/>
                </a:solidFill>
                <a:latin typeface="+mj-lt"/>
              </a:rPr>
              <a:t>mua</a:t>
            </a:r>
            <a:r>
              <a:rPr lang="en-US" sz="1900" dirty="0">
                <a:solidFill>
                  <a:schemeClr val="tx1"/>
                </a:solidFill>
                <a:latin typeface="+mj-lt"/>
              </a:rPr>
              <a:t> </a:t>
            </a:r>
            <a:r>
              <a:rPr lang="en-US" sz="1900" dirty="0" err="1">
                <a:solidFill>
                  <a:schemeClr val="tx1"/>
                </a:solidFill>
                <a:latin typeface="+mj-lt"/>
              </a:rPr>
              <a:t>có</a:t>
            </a:r>
            <a:r>
              <a:rPr lang="en-US" sz="1900" dirty="0">
                <a:solidFill>
                  <a:schemeClr val="tx1"/>
                </a:solidFill>
                <a:latin typeface="+mj-lt"/>
              </a:rPr>
              <a:t> </a:t>
            </a:r>
            <a:r>
              <a:rPr lang="en-US" sz="1900" dirty="0" err="1">
                <a:solidFill>
                  <a:schemeClr val="tx1"/>
                </a:solidFill>
                <a:latin typeface="+mj-lt"/>
              </a:rPr>
              <a:t>thỏa</a:t>
            </a:r>
            <a:r>
              <a:rPr lang="en-US" sz="1900" dirty="0">
                <a:solidFill>
                  <a:schemeClr val="tx1"/>
                </a:solidFill>
                <a:latin typeface="+mj-lt"/>
              </a:rPr>
              <a:t> </a:t>
            </a:r>
            <a:r>
              <a:rPr lang="en-US" sz="1900" dirty="0" err="1">
                <a:solidFill>
                  <a:schemeClr val="tx1"/>
                </a:solidFill>
                <a:latin typeface="+mj-lt"/>
              </a:rPr>
              <a:t>thuận</a:t>
            </a:r>
            <a:r>
              <a:rPr lang="en-US" sz="1900" dirty="0">
                <a:solidFill>
                  <a:schemeClr val="tx1"/>
                </a:solidFill>
                <a:latin typeface="+mj-lt"/>
              </a:rPr>
              <a:t> </a:t>
            </a:r>
            <a:r>
              <a:rPr lang="en-US" sz="1900" dirty="0" err="1">
                <a:solidFill>
                  <a:schemeClr val="tx1"/>
                </a:solidFill>
                <a:latin typeface="+mj-lt"/>
              </a:rPr>
              <a:t>để</a:t>
            </a:r>
            <a:r>
              <a:rPr lang="en-US" sz="1900" dirty="0">
                <a:solidFill>
                  <a:schemeClr val="tx1"/>
                </a:solidFill>
                <a:latin typeface="+mj-lt"/>
              </a:rPr>
              <a:t> </a:t>
            </a:r>
            <a:r>
              <a:rPr lang="en-US" sz="1900" dirty="0" err="1">
                <a:solidFill>
                  <a:schemeClr val="tx1"/>
                </a:solidFill>
                <a:latin typeface="+mj-lt"/>
              </a:rPr>
              <a:t>tạo</a:t>
            </a:r>
            <a:r>
              <a:rPr lang="en-US" sz="1900" dirty="0">
                <a:solidFill>
                  <a:schemeClr val="tx1"/>
                </a:solidFill>
                <a:latin typeface="+mj-lt"/>
              </a:rPr>
              <a:t> </a:t>
            </a:r>
            <a:r>
              <a:rPr lang="en-US" sz="1900" dirty="0" err="1">
                <a:solidFill>
                  <a:schemeClr val="tx1"/>
                </a:solidFill>
                <a:latin typeface="+mj-lt"/>
              </a:rPr>
              <a:t>thuận</a:t>
            </a:r>
            <a:r>
              <a:rPr lang="en-US" sz="1900" dirty="0">
                <a:solidFill>
                  <a:schemeClr val="tx1"/>
                </a:solidFill>
                <a:latin typeface="+mj-lt"/>
              </a:rPr>
              <a:t> </a:t>
            </a:r>
            <a:r>
              <a:rPr lang="en-US" sz="1900" dirty="0" err="1">
                <a:solidFill>
                  <a:schemeClr val="tx1"/>
                </a:solidFill>
                <a:latin typeface="+mj-lt"/>
              </a:rPr>
              <a:t>lợi</a:t>
            </a:r>
            <a:r>
              <a:rPr lang="en-US" sz="1900" dirty="0">
                <a:solidFill>
                  <a:schemeClr val="tx1"/>
                </a:solidFill>
                <a:latin typeface="+mj-lt"/>
              </a:rPr>
              <a:t> </a:t>
            </a:r>
            <a:r>
              <a:rPr lang="en-US" sz="1900" dirty="0" err="1">
                <a:solidFill>
                  <a:schemeClr val="tx1"/>
                </a:solidFill>
                <a:latin typeface="+mj-lt"/>
              </a:rPr>
              <a:t>cho</a:t>
            </a:r>
            <a:r>
              <a:rPr lang="en-US" sz="1900" dirty="0">
                <a:solidFill>
                  <a:schemeClr val="tx1"/>
                </a:solidFill>
                <a:latin typeface="+mj-lt"/>
              </a:rPr>
              <a:t> </a:t>
            </a:r>
            <a:r>
              <a:rPr lang="en-US" sz="1900" dirty="0" err="1">
                <a:solidFill>
                  <a:schemeClr val="tx1"/>
                </a:solidFill>
                <a:latin typeface="+mj-lt"/>
              </a:rPr>
              <a:t>việc</a:t>
            </a:r>
            <a:r>
              <a:rPr lang="en-US" sz="1900" dirty="0">
                <a:solidFill>
                  <a:schemeClr val="tx1"/>
                </a:solidFill>
                <a:latin typeface="+mj-lt"/>
              </a:rPr>
              <a:t> </a:t>
            </a:r>
            <a:r>
              <a:rPr lang="en-US" sz="1900" dirty="0" err="1">
                <a:solidFill>
                  <a:schemeClr val="tx1"/>
                </a:solidFill>
                <a:latin typeface="+mj-lt"/>
              </a:rPr>
              <a:t>lưu</a:t>
            </a:r>
            <a:r>
              <a:rPr lang="en-US" sz="1900" dirty="0">
                <a:solidFill>
                  <a:schemeClr val="tx1"/>
                </a:solidFill>
                <a:latin typeface="+mj-lt"/>
              </a:rPr>
              <a:t> </a:t>
            </a:r>
            <a:r>
              <a:rPr lang="en-US" sz="1900" dirty="0" err="1">
                <a:solidFill>
                  <a:schemeClr val="tx1"/>
                </a:solidFill>
                <a:latin typeface="+mj-lt"/>
              </a:rPr>
              <a:t>thông</a:t>
            </a:r>
            <a:r>
              <a:rPr lang="en-US" sz="1900" dirty="0">
                <a:solidFill>
                  <a:schemeClr val="tx1"/>
                </a:solidFill>
                <a:latin typeface="+mj-lt"/>
              </a:rPr>
              <a:t> </a:t>
            </a:r>
            <a:r>
              <a:rPr lang="en-US" sz="1900" dirty="0" err="1">
                <a:solidFill>
                  <a:schemeClr val="tx1"/>
                </a:solidFill>
                <a:latin typeface="+mj-lt"/>
              </a:rPr>
              <a:t>hàng</a:t>
            </a:r>
            <a:r>
              <a:rPr lang="en-US" sz="1900" dirty="0">
                <a:solidFill>
                  <a:schemeClr val="tx1"/>
                </a:solidFill>
                <a:latin typeface="+mj-lt"/>
              </a:rPr>
              <a:t> </a:t>
            </a:r>
            <a:r>
              <a:rPr lang="en-US" sz="1900" dirty="0" err="1">
                <a:solidFill>
                  <a:schemeClr val="tx1"/>
                </a:solidFill>
                <a:latin typeface="+mj-lt"/>
              </a:rPr>
              <a:t>hóa</a:t>
            </a:r>
            <a:r>
              <a:rPr lang="en-US" sz="1900" dirty="0">
                <a:solidFill>
                  <a:schemeClr val="tx1"/>
                </a:solidFill>
                <a:latin typeface="+mj-lt"/>
              </a:rPr>
              <a:t> </a:t>
            </a:r>
            <a:r>
              <a:rPr lang="en-US" sz="1900" dirty="0" err="1">
                <a:solidFill>
                  <a:schemeClr val="tx1"/>
                </a:solidFill>
                <a:latin typeface="+mj-lt"/>
              </a:rPr>
              <a:t>hoặc</a:t>
            </a:r>
            <a:r>
              <a:rPr lang="en-US" sz="1900" dirty="0">
                <a:solidFill>
                  <a:schemeClr val="tx1"/>
                </a:solidFill>
                <a:latin typeface="+mj-lt"/>
              </a:rPr>
              <a:t> </a:t>
            </a:r>
            <a:r>
              <a:rPr lang="en-US" sz="1900" dirty="0" err="1">
                <a:solidFill>
                  <a:schemeClr val="tx1"/>
                </a:solidFill>
                <a:latin typeface="+mj-lt"/>
              </a:rPr>
              <a:t>tra</a:t>
            </a:r>
            <a:r>
              <a:rPr lang="en-US" sz="1900" dirty="0">
                <a:solidFill>
                  <a:schemeClr val="tx1"/>
                </a:solidFill>
                <a:latin typeface="+mj-lt"/>
              </a:rPr>
              <a:t> </a:t>
            </a:r>
            <a:r>
              <a:rPr lang="en-US" sz="1900" dirty="0" err="1">
                <a:solidFill>
                  <a:schemeClr val="tx1"/>
                </a:solidFill>
                <a:latin typeface="+mj-lt"/>
              </a:rPr>
              <a:t>cứu</a:t>
            </a:r>
            <a:r>
              <a:rPr lang="en-US" sz="1900" dirty="0">
                <a:solidFill>
                  <a:schemeClr val="tx1"/>
                </a:solidFill>
                <a:latin typeface="+mj-lt"/>
              </a:rPr>
              <a:t> </a:t>
            </a:r>
            <a:r>
              <a:rPr lang="en-US" sz="1900" dirty="0" err="1">
                <a:solidFill>
                  <a:schemeClr val="tx1"/>
                </a:solidFill>
                <a:latin typeface="+mj-lt"/>
              </a:rPr>
              <a:t>dữ</a:t>
            </a:r>
            <a:r>
              <a:rPr lang="en-US" sz="1900" dirty="0">
                <a:solidFill>
                  <a:schemeClr val="tx1"/>
                </a:solidFill>
                <a:latin typeface="+mj-lt"/>
              </a:rPr>
              <a:t> </a:t>
            </a:r>
            <a:r>
              <a:rPr lang="en-US" sz="1900" dirty="0" err="1">
                <a:solidFill>
                  <a:schemeClr val="tx1"/>
                </a:solidFill>
                <a:latin typeface="+mj-lt"/>
              </a:rPr>
              <a:t>liệu</a:t>
            </a:r>
            <a:r>
              <a:rPr lang="en-US" sz="1900" dirty="0">
                <a:solidFill>
                  <a:schemeClr val="tx1"/>
                </a:solidFill>
                <a:latin typeface="+mj-lt"/>
              </a:rPr>
              <a:t> </a:t>
            </a:r>
            <a:r>
              <a:rPr lang="en-US" sz="1900" dirty="0" err="1">
                <a:solidFill>
                  <a:schemeClr val="tx1"/>
                </a:solidFill>
                <a:latin typeface="+mj-lt"/>
              </a:rPr>
              <a:t>thì</a:t>
            </a:r>
            <a:r>
              <a:rPr lang="en-US" sz="1900" dirty="0">
                <a:solidFill>
                  <a:schemeClr val="tx1"/>
                </a:solidFill>
                <a:latin typeface="+mj-lt"/>
              </a:rPr>
              <a:t> </a:t>
            </a:r>
            <a:r>
              <a:rPr lang="en-US" sz="1900" dirty="0" err="1">
                <a:solidFill>
                  <a:schemeClr val="tx1"/>
                </a:solidFill>
                <a:latin typeface="+mj-lt"/>
              </a:rPr>
              <a:t>người</a:t>
            </a:r>
            <a:r>
              <a:rPr lang="en-US" sz="1900" dirty="0">
                <a:solidFill>
                  <a:schemeClr val="tx1"/>
                </a:solidFill>
                <a:latin typeface="+mj-lt"/>
              </a:rPr>
              <a:t> </a:t>
            </a:r>
            <a:r>
              <a:rPr lang="en-US" sz="1900" dirty="0" err="1">
                <a:solidFill>
                  <a:schemeClr val="tx1"/>
                </a:solidFill>
                <a:latin typeface="+mj-lt"/>
              </a:rPr>
              <a:t>bán</a:t>
            </a:r>
            <a:r>
              <a:rPr lang="en-US" sz="1900" dirty="0">
                <a:solidFill>
                  <a:schemeClr val="tx1"/>
                </a:solidFill>
                <a:latin typeface="+mj-lt"/>
              </a:rPr>
              <a:t> </a:t>
            </a:r>
            <a:r>
              <a:rPr lang="en-US" sz="1900" dirty="0" err="1">
                <a:solidFill>
                  <a:schemeClr val="tx1"/>
                </a:solidFill>
                <a:latin typeface="+mj-lt"/>
              </a:rPr>
              <a:t>sau</a:t>
            </a:r>
            <a:r>
              <a:rPr lang="en-US" sz="1900" dirty="0">
                <a:solidFill>
                  <a:schemeClr val="tx1"/>
                </a:solidFill>
                <a:latin typeface="+mj-lt"/>
              </a:rPr>
              <a:t> </a:t>
            </a:r>
            <a:r>
              <a:rPr lang="en-US" sz="1900" dirty="0" err="1">
                <a:solidFill>
                  <a:schemeClr val="tx1"/>
                </a:solidFill>
                <a:latin typeface="+mj-lt"/>
              </a:rPr>
              <a:t>khi</a:t>
            </a:r>
            <a:r>
              <a:rPr lang="en-US" sz="1900" dirty="0">
                <a:solidFill>
                  <a:schemeClr val="tx1"/>
                </a:solidFill>
                <a:latin typeface="+mj-lt"/>
              </a:rPr>
              <a:t> </a:t>
            </a:r>
            <a:r>
              <a:rPr lang="en-US" sz="1900" dirty="0" err="1">
                <a:solidFill>
                  <a:schemeClr val="tx1"/>
                </a:solidFill>
                <a:latin typeface="+mj-lt"/>
              </a:rPr>
              <a:t>lập</a:t>
            </a:r>
            <a:r>
              <a:rPr lang="en-US" sz="1900" dirty="0">
                <a:solidFill>
                  <a:schemeClr val="tx1"/>
                </a:solidFill>
                <a:latin typeface="+mj-lt"/>
              </a:rPr>
              <a:t> </a:t>
            </a:r>
            <a:r>
              <a:rPr lang="en-US" sz="1900" dirty="0" err="1">
                <a:solidFill>
                  <a:schemeClr val="tx1"/>
                </a:solidFill>
                <a:latin typeface="+mj-lt"/>
              </a:rPr>
              <a:t>hóa</a:t>
            </a:r>
            <a:r>
              <a:rPr lang="en-US" sz="1900" dirty="0">
                <a:solidFill>
                  <a:schemeClr val="tx1"/>
                </a:solidFill>
                <a:latin typeface="+mj-lt"/>
              </a:rPr>
              <a:t> </a:t>
            </a:r>
            <a:r>
              <a:rPr lang="en-US" sz="1900" dirty="0" err="1">
                <a:solidFill>
                  <a:schemeClr val="tx1"/>
                </a:solidFill>
                <a:latin typeface="+mj-lt"/>
              </a:rPr>
              <a:t>đơn</a:t>
            </a:r>
            <a:r>
              <a:rPr lang="en-US" sz="1900" dirty="0">
                <a:solidFill>
                  <a:schemeClr val="tx1"/>
                </a:solidFill>
                <a:latin typeface="+mj-lt"/>
              </a:rPr>
              <a:t> </a:t>
            </a:r>
            <a:r>
              <a:rPr lang="en-US" sz="1900" dirty="0" err="1">
                <a:solidFill>
                  <a:schemeClr val="tx1"/>
                </a:solidFill>
                <a:latin typeface="+mj-lt"/>
              </a:rPr>
              <a:t>điện</a:t>
            </a:r>
            <a:r>
              <a:rPr lang="en-US" sz="1900" dirty="0">
                <a:solidFill>
                  <a:schemeClr val="tx1"/>
                </a:solidFill>
                <a:latin typeface="+mj-lt"/>
              </a:rPr>
              <a:t> </a:t>
            </a:r>
            <a:r>
              <a:rPr lang="en-US" sz="1900" dirty="0" err="1">
                <a:solidFill>
                  <a:schemeClr val="tx1"/>
                </a:solidFill>
                <a:latin typeface="+mj-lt"/>
              </a:rPr>
              <a:t>tử</a:t>
            </a:r>
            <a:r>
              <a:rPr lang="en-US" sz="1900" dirty="0">
                <a:solidFill>
                  <a:schemeClr val="tx1"/>
                </a:solidFill>
                <a:latin typeface="+mj-lt"/>
              </a:rPr>
              <a:t> </a:t>
            </a:r>
            <a:r>
              <a:rPr lang="en-US" sz="1900" dirty="0" err="1">
                <a:solidFill>
                  <a:schemeClr val="tx1"/>
                </a:solidFill>
                <a:latin typeface="+mj-lt"/>
              </a:rPr>
              <a:t>đầy</a:t>
            </a:r>
            <a:r>
              <a:rPr lang="en-US" sz="1900" dirty="0">
                <a:solidFill>
                  <a:schemeClr val="tx1"/>
                </a:solidFill>
                <a:latin typeface="+mj-lt"/>
              </a:rPr>
              <a:t> </a:t>
            </a:r>
            <a:r>
              <a:rPr lang="en-US" sz="1900" dirty="0" err="1">
                <a:solidFill>
                  <a:schemeClr val="tx1"/>
                </a:solidFill>
                <a:latin typeface="+mj-lt"/>
              </a:rPr>
              <a:t>đủ</a:t>
            </a:r>
            <a:r>
              <a:rPr lang="en-US" sz="1900" dirty="0">
                <a:solidFill>
                  <a:schemeClr val="tx1"/>
                </a:solidFill>
                <a:latin typeface="+mj-lt"/>
              </a:rPr>
              <a:t> </a:t>
            </a:r>
            <a:r>
              <a:rPr lang="en-US" sz="1900" dirty="0" err="1">
                <a:solidFill>
                  <a:schemeClr val="tx1"/>
                </a:solidFill>
                <a:latin typeface="+mj-lt"/>
              </a:rPr>
              <a:t>các</a:t>
            </a:r>
            <a:r>
              <a:rPr lang="en-US" sz="1900" dirty="0">
                <a:solidFill>
                  <a:schemeClr val="tx1"/>
                </a:solidFill>
                <a:latin typeface="+mj-lt"/>
              </a:rPr>
              <a:t> </a:t>
            </a:r>
            <a:r>
              <a:rPr lang="en-US" sz="1900" dirty="0" err="1">
                <a:solidFill>
                  <a:schemeClr val="tx1"/>
                </a:solidFill>
                <a:latin typeface="+mj-lt"/>
              </a:rPr>
              <a:t>nội</a:t>
            </a:r>
            <a:r>
              <a:rPr lang="en-US" sz="1900" dirty="0">
                <a:solidFill>
                  <a:schemeClr val="tx1"/>
                </a:solidFill>
                <a:latin typeface="+mj-lt"/>
              </a:rPr>
              <a:t> dung </a:t>
            </a:r>
            <a:r>
              <a:rPr lang="en-US" sz="1900" dirty="0" err="1">
                <a:solidFill>
                  <a:schemeClr val="tx1"/>
                </a:solidFill>
                <a:latin typeface="+mj-lt"/>
              </a:rPr>
              <a:t>trên</a:t>
            </a:r>
            <a:r>
              <a:rPr lang="en-US" sz="1900" dirty="0">
                <a:solidFill>
                  <a:schemeClr val="tx1"/>
                </a:solidFill>
                <a:latin typeface="+mj-lt"/>
              </a:rPr>
              <a:t> </a:t>
            </a:r>
            <a:r>
              <a:rPr lang="en-US" sz="1900" dirty="0" err="1">
                <a:solidFill>
                  <a:schemeClr val="tx1"/>
                </a:solidFill>
                <a:latin typeface="+mj-lt"/>
              </a:rPr>
              <a:t>hóa</a:t>
            </a:r>
            <a:r>
              <a:rPr lang="en-US" sz="1900" dirty="0">
                <a:solidFill>
                  <a:schemeClr val="tx1"/>
                </a:solidFill>
                <a:latin typeface="+mj-lt"/>
              </a:rPr>
              <a:t> </a:t>
            </a:r>
            <a:r>
              <a:rPr lang="en-US" sz="1900" dirty="0" err="1">
                <a:solidFill>
                  <a:schemeClr val="tx1"/>
                </a:solidFill>
                <a:latin typeface="+mj-lt"/>
              </a:rPr>
              <a:t>đơn</a:t>
            </a:r>
            <a:r>
              <a:rPr lang="en-US" sz="1900" dirty="0">
                <a:solidFill>
                  <a:schemeClr val="tx1"/>
                </a:solidFill>
                <a:latin typeface="+mj-lt"/>
              </a:rPr>
              <a:t> </a:t>
            </a:r>
            <a:r>
              <a:rPr lang="en-US" sz="1900" dirty="0" err="1">
                <a:solidFill>
                  <a:schemeClr val="tx1"/>
                </a:solidFill>
                <a:latin typeface="+mj-lt"/>
              </a:rPr>
              <a:t>gửi</a:t>
            </a:r>
            <a:r>
              <a:rPr lang="en-US" sz="1900" dirty="0">
                <a:solidFill>
                  <a:schemeClr val="tx1"/>
                </a:solidFill>
                <a:latin typeface="+mj-lt"/>
              </a:rPr>
              <a:t> </a:t>
            </a:r>
            <a:r>
              <a:rPr lang="en-US" sz="1900" dirty="0" err="1">
                <a:solidFill>
                  <a:schemeClr val="tx1"/>
                </a:solidFill>
                <a:latin typeface="+mj-lt"/>
              </a:rPr>
              <a:t>người</a:t>
            </a:r>
            <a:r>
              <a:rPr lang="en-US" sz="1900" dirty="0">
                <a:solidFill>
                  <a:schemeClr val="tx1"/>
                </a:solidFill>
                <a:latin typeface="+mj-lt"/>
              </a:rPr>
              <a:t> </a:t>
            </a:r>
            <a:r>
              <a:rPr lang="en-US" sz="1900" dirty="0" err="1">
                <a:solidFill>
                  <a:schemeClr val="tx1"/>
                </a:solidFill>
                <a:latin typeface="+mj-lt"/>
              </a:rPr>
              <a:t>mua</a:t>
            </a:r>
            <a:r>
              <a:rPr lang="en-US" sz="1900" dirty="0">
                <a:solidFill>
                  <a:schemeClr val="tx1"/>
                </a:solidFill>
                <a:latin typeface="+mj-lt"/>
              </a:rPr>
              <a:t> </a:t>
            </a:r>
            <a:r>
              <a:rPr lang="en-US" sz="1900" dirty="0" err="1">
                <a:solidFill>
                  <a:schemeClr val="tx1"/>
                </a:solidFill>
                <a:latin typeface="+mj-lt"/>
              </a:rPr>
              <a:t>đồng</a:t>
            </a:r>
            <a:r>
              <a:rPr lang="en-US" sz="1900" dirty="0">
                <a:solidFill>
                  <a:schemeClr val="tx1"/>
                </a:solidFill>
                <a:latin typeface="+mj-lt"/>
              </a:rPr>
              <a:t> </a:t>
            </a:r>
            <a:r>
              <a:rPr lang="en-US" sz="1900" dirty="0" err="1">
                <a:solidFill>
                  <a:schemeClr val="tx1"/>
                </a:solidFill>
                <a:latin typeface="+mj-lt"/>
              </a:rPr>
              <a:t>thời</a:t>
            </a:r>
            <a:r>
              <a:rPr lang="en-US" sz="1900" dirty="0">
                <a:solidFill>
                  <a:schemeClr val="tx1"/>
                </a:solidFill>
                <a:latin typeface="+mj-lt"/>
              </a:rPr>
              <a:t> </a:t>
            </a:r>
            <a:r>
              <a:rPr lang="en-US" sz="1900" dirty="0" err="1">
                <a:solidFill>
                  <a:schemeClr val="tx1"/>
                </a:solidFill>
                <a:latin typeface="+mj-lt"/>
              </a:rPr>
              <a:t>gửi</a:t>
            </a:r>
            <a:r>
              <a:rPr lang="en-US" sz="1900" dirty="0">
                <a:solidFill>
                  <a:schemeClr val="tx1"/>
                </a:solidFill>
                <a:latin typeface="+mj-lt"/>
              </a:rPr>
              <a:t> </a:t>
            </a:r>
            <a:r>
              <a:rPr lang="en-US" sz="1900" dirty="0" err="1">
                <a:solidFill>
                  <a:schemeClr val="tx1"/>
                </a:solidFill>
                <a:latin typeface="+mj-lt"/>
              </a:rPr>
              <a:t>hóa</a:t>
            </a:r>
            <a:r>
              <a:rPr lang="en-US" sz="1900" dirty="0">
                <a:solidFill>
                  <a:schemeClr val="tx1"/>
                </a:solidFill>
                <a:latin typeface="+mj-lt"/>
              </a:rPr>
              <a:t> </a:t>
            </a:r>
            <a:r>
              <a:rPr lang="en-US" sz="1900" dirty="0" err="1">
                <a:solidFill>
                  <a:schemeClr val="tx1"/>
                </a:solidFill>
                <a:latin typeface="+mj-lt"/>
              </a:rPr>
              <a:t>đơn</a:t>
            </a:r>
            <a:r>
              <a:rPr lang="en-US" sz="1900" dirty="0">
                <a:solidFill>
                  <a:schemeClr val="tx1"/>
                </a:solidFill>
                <a:latin typeface="+mj-lt"/>
              </a:rPr>
              <a:t> </a:t>
            </a:r>
            <a:r>
              <a:rPr lang="en-US" sz="1900" dirty="0" err="1">
                <a:solidFill>
                  <a:schemeClr val="tx1"/>
                </a:solidFill>
                <a:latin typeface="+mj-lt"/>
              </a:rPr>
              <a:t>cho</a:t>
            </a:r>
            <a:r>
              <a:rPr lang="en-US" sz="1900" dirty="0">
                <a:solidFill>
                  <a:schemeClr val="tx1"/>
                </a:solidFill>
                <a:latin typeface="+mj-lt"/>
              </a:rPr>
              <a:t> </a:t>
            </a:r>
            <a:r>
              <a:rPr lang="en-US" sz="1900" dirty="0" err="1">
                <a:solidFill>
                  <a:schemeClr val="tx1"/>
                </a:solidFill>
                <a:latin typeface="+mj-lt"/>
              </a:rPr>
              <a:t>cơ</a:t>
            </a:r>
            <a:r>
              <a:rPr lang="en-US" sz="1900" dirty="0">
                <a:solidFill>
                  <a:schemeClr val="tx1"/>
                </a:solidFill>
                <a:latin typeface="+mj-lt"/>
              </a:rPr>
              <a:t> </a:t>
            </a:r>
            <a:r>
              <a:rPr lang="en-US" sz="1900" dirty="0" err="1">
                <a:solidFill>
                  <a:schemeClr val="tx1"/>
                </a:solidFill>
                <a:latin typeface="+mj-lt"/>
              </a:rPr>
              <a:t>quan</a:t>
            </a:r>
            <a:r>
              <a:rPr lang="en-US" sz="1900" dirty="0">
                <a:solidFill>
                  <a:schemeClr val="tx1"/>
                </a:solidFill>
                <a:latin typeface="+mj-lt"/>
              </a:rPr>
              <a:t> </a:t>
            </a:r>
            <a:r>
              <a:rPr lang="en-US" sz="1900" dirty="0" err="1">
                <a:solidFill>
                  <a:schemeClr val="tx1"/>
                </a:solidFill>
                <a:latin typeface="+mj-lt"/>
              </a:rPr>
              <a:t>thuế</a:t>
            </a:r>
            <a:r>
              <a:rPr lang="en-US" sz="1900" dirty="0">
                <a:solidFill>
                  <a:schemeClr val="tx1"/>
                </a:solidFill>
                <a:latin typeface="+mj-lt"/>
              </a:rPr>
              <a:t> </a:t>
            </a:r>
            <a:r>
              <a:rPr lang="en-US" sz="1900" dirty="0" err="1">
                <a:solidFill>
                  <a:schemeClr val="tx1"/>
                </a:solidFill>
                <a:latin typeface="+mj-lt"/>
              </a:rPr>
              <a:t>theo</a:t>
            </a:r>
            <a:r>
              <a:rPr lang="en-US" sz="1900" dirty="0">
                <a:solidFill>
                  <a:schemeClr val="tx1"/>
                </a:solidFill>
                <a:latin typeface="+mj-lt"/>
              </a:rPr>
              <a:t> </a:t>
            </a:r>
            <a:r>
              <a:rPr lang="en-US" sz="1900" dirty="0" err="1">
                <a:solidFill>
                  <a:schemeClr val="tx1"/>
                </a:solidFill>
                <a:latin typeface="+mj-lt"/>
              </a:rPr>
              <a:t>quy</a:t>
            </a:r>
            <a:r>
              <a:rPr lang="en-US" sz="1900" dirty="0">
                <a:solidFill>
                  <a:schemeClr val="tx1"/>
                </a:solidFill>
                <a:latin typeface="+mj-lt"/>
              </a:rPr>
              <a:t> </a:t>
            </a:r>
            <a:r>
              <a:rPr lang="en-US" sz="1900" dirty="0" err="1">
                <a:solidFill>
                  <a:schemeClr val="tx1"/>
                </a:solidFill>
                <a:latin typeface="+mj-lt"/>
              </a:rPr>
              <a:t>định</a:t>
            </a:r>
            <a:r>
              <a:rPr lang="en-US" sz="1900" dirty="0">
                <a:solidFill>
                  <a:schemeClr val="tx1"/>
                </a:solidFill>
                <a:latin typeface="+mj-lt"/>
              </a:rPr>
              <a:t> </a:t>
            </a:r>
            <a:r>
              <a:rPr lang="en-US" sz="1900" dirty="0" err="1">
                <a:solidFill>
                  <a:schemeClr val="tx1"/>
                </a:solidFill>
                <a:latin typeface="+mj-lt"/>
              </a:rPr>
              <a:t>tại</a:t>
            </a:r>
            <a:r>
              <a:rPr lang="en-US" sz="1900" dirty="0">
                <a:solidFill>
                  <a:schemeClr val="tx1"/>
                </a:solidFill>
                <a:latin typeface="+mj-lt"/>
              </a:rPr>
              <a:t> </a:t>
            </a:r>
            <a:r>
              <a:rPr lang="en-US" sz="1900" dirty="0" err="1">
                <a:solidFill>
                  <a:schemeClr val="tx1"/>
                </a:solidFill>
                <a:latin typeface="+mj-lt"/>
              </a:rPr>
              <a:t>điểm</a:t>
            </a:r>
            <a:r>
              <a:rPr lang="en-US" sz="1900" dirty="0">
                <a:solidFill>
                  <a:schemeClr val="tx1"/>
                </a:solidFill>
                <a:latin typeface="+mj-lt"/>
              </a:rPr>
              <a:t> a.2 </a:t>
            </a:r>
            <a:r>
              <a:rPr lang="en-US" sz="1900" dirty="0" err="1">
                <a:solidFill>
                  <a:schemeClr val="tx1"/>
                </a:solidFill>
                <a:latin typeface="+mj-lt"/>
              </a:rPr>
              <a:t>khoản</a:t>
            </a:r>
            <a:r>
              <a:rPr lang="en-US" sz="1900" dirty="0">
                <a:solidFill>
                  <a:schemeClr val="tx1"/>
                </a:solidFill>
                <a:latin typeface="+mj-lt"/>
              </a:rPr>
              <a:t> 3 </a:t>
            </a:r>
            <a:r>
              <a:rPr lang="en-US" sz="1900" dirty="0" err="1">
                <a:solidFill>
                  <a:schemeClr val="tx1"/>
                </a:solidFill>
                <a:latin typeface="+mj-lt"/>
              </a:rPr>
              <a:t>Điều</a:t>
            </a:r>
            <a:r>
              <a:rPr lang="en-US" sz="1900" dirty="0">
                <a:solidFill>
                  <a:schemeClr val="tx1"/>
                </a:solidFill>
                <a:latin typeface="+mj-lt"/>
              </a:rPr>
              <a:t> 22 </a:t>
            </a:r>
            <a:r>
              <a:rPr lang="en-US" sz="1900" dirty="0" err="1">
                <a:solidFill>
                  <a:schemeClr val="tx1"/>
                </a:solidFill>
                <a:latin typeface="+mj-lt"/>
              </a:rPr>
              <a:t>Nghị</a:t>
            </a:r>
            <a:r>
              <a:rPr lang="en-US" sz="1900" dirty="0">
                <a:solidFill>
                  <a:schemeClr val="tx1"/>
                </a:solidFill>
                <a:latin typeface="+mj-lt"/>
              </a:rPr>
              <a:t> </a:t>
            </a:r>
            <a:r>
              <a:rPr lang="en-US" sz="1900" dirty="0" err="1">
                <a:solidFill>
                  <a:schemeClr val="tx1"/>
                </a:solidFill>
                <a:latin typeface="+mj-lt"/>
              </a:rPr>
              <a:t>định</a:t>
            </a:r>
            <a:r>
              <a:rPr lang="en-US" sz="1900" dirty="0">
                <a:solidFill>
                  <a:schemeClr val="tx1"/>
                </a:solidFill>
                <a:latin typeface="+mj-lt"/>
              </a:rPr>
              <a:t> </a:t>
            </a:r>
            <a:r>
              <a:rPr lang="en-US" sz="1900" dirty="0" err="1">
                <a:solidFill>
                  <a:schemeClr val="tx1"/>
                </a:solidFill>
                <a:latin typeface="+mj-lt"/>
              </a:rPr>
              <a:t>số</a:t>
            </a:r>
            <a:r>
              <a:rPr lang="en-US" sz="1900" dirty="0">
                <a:solidFill>
                  <a:schemeClr val="tx1"/>
                </a:solidFill>
                <a:latin typeface="+mj-lt"/>
              </a:rPr>
              <a:t> 123/2020/NĐ-CP.</a:t>
            </a:r>
            <a:endParaRPr lang="vi-VN" sz="1900" dirty="0">
              <a:solidFill>
                <a:schemeClr val="tx1"/>
              </a:solidFill>
              <a:latin typeface="+mj-lt"/>
            </a:endParaRPr>
          </a:p>
        </p:txBody>
      </p:sp>
      <p:grpSp>
        <p:nvGrpSpPr>
          <p:cNvPr id="5" name="Group 4"/>
          <p:cNvGrpSpPr/>
          <p:nvPr/>
        </p:nvGrpSpPr>
        <p:grpSpPr>
          <a:xfrm>
            <a:off x="1" y="0"/>
            <a:ext cx="12030669" cy="791308"/>
            <a:chOff x="1" y="0"/>
            <a:chExt cx="12030669" cy="791308"/>
          </a:xfrm>
        </p:grpSpPr>
        <p:pic>
          <p:nvPicPr>
            <p:cNvPr id="6" name="Picture 5"/>
            <p:cNvPicPr>
              <a:picLocks noChangeAspect="1"/>
            </p:cNvPicPr>
            <p:nvPr/>
          </p:nvPicPr>
          <p:blipFill>
            <a:blip r:embed="rId2"/>
            <a:stretch>
              <a:fillRect/>
            </a:stretch>
          </p:blipFill>
          <p:spPr>
            <a:xfrm>
              <a:off x="1" y="0"/>
              <a:ext cx="954717" cy="791308"/>
            </a:xfrm>
            <a:prstGeom prst="rect">
              <a:avLst/>
            </a:prstGeom>
          </p:spPr>
        </p:pic>
        <p:sp>
          <p:nvSpPr>
            <p:cNvPr id="7" name="Title 1"/>
            <p:cNvSpPr txBox="1">
              <a:spLocks/>
            </p:cNvSpPr>
            <p:nvPr/>
          </p:nvSpPr>
          <p:spPr>
            <a:xfrm>
              <a:off x="954718" y="169473"/>
              <a:ext cx="1107595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12. TRÁCH NHIỆM NGƯỜI BÁN HĐĐT KHÔNG CÓ MÃ</a:t>
              </a:r>
              <a:endParaRPr lang="vi-VN" sz="2000" b="1" dirty="0">
                <a:solidFill>
                  <a:schemeClr val="tx1"/>
                </a:solidFill>
                <a:cs typeface="Times New Roman" panose="02020603050405020304" pitchFamily="18" charset="0"/>
              </a:endParaRPr>
            </a:p>
          </p:txBody>
        </p:sp>
      </p:grpSp>
      <p:sp>
        <p:nvSpPr>
          <p:cNvPr id="8" name="Title 1"/>
          <p:cNvSpPr txBox="1">
            <a:spLocks/>
          </p:cNvSpPr>
          <p:nvPr/>
        </p:nvSpPr>
        <p:spPr>
          <a:xfrm>
            <a:off x="477359" y="870944"/>
            <a:ext cx="10901354" cy="726831"/>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000" b="1" dirty="0">
                <a:solidFill>
                  <a:schemeClr val="accent5"/>
                </a:solidFill>
              </a:rPr>
              <a:t>12. TRÁCH NHIỆM – NGƯỜI BÁN – HĐĐT KHÔNG CÓ MÃ CỦA CQT</a:t>
            </a:r>
            <a:endParaRPr lang="vi-VN" sz="2000" dirty="0">
              <a:solidFill>
                <a:schemeClr val="accent5"/>
              </a:solidFill>
            </a:endParaRPr>
          </a:p>
        </p:txBody>
      </p:sp>
      <p:sp>
        <p:nvSpPr>
          <p:cNvPr id="9" name="Title 1"/>
          <p:cNvSpPr>
            <a:spLocks noGrp="1"/>
          </p:cNvSpPr>
          <p:nvPr>
            <p:ph type="title"/>
          </p:nvPr>
        </p:nvSpPr>
        <p:spPr>
          <a:xfrm>
            <a:off x="477358" y="1398613"/>
            <a:ext cx="9881487" cy="557596"/>
          </a:xfrm>
        </p:spPr>
        <p:txBody>
          <a:bodyPr>
            <a:noAutofit/>
          </a:bodyPr>
          <a:lstStyle/>
          <a:p>
            <a:pPr algn="ctr"/>
            <a:r>
              <a:rPr lang="en-US" sz="2000" b="1" dirty="0">
                <a:solidFill>
                  <a:srgbClr val="C00000"/>
                </a:solidFill>
              </a:rPr>
              <a:t>CHUYỂN DỮ LIỆU HĐĐT KHÔNG CÓ MÃ CỦA CQT (TIẾP THEO)</a:t>
            </a:r>
            <a:endParaRPr lang="vi-VN" sz="2000" b="1" dirty="0">
              <a:solidFill>
                <a:srgbClr val="C00000"/>
              </a:solidFill>
            </a:endParaRPr>
          </a:p>
        </p:txBody>
      </p:sp>
    </p:spTree>
    <p:extLst>
      <p:ext uri="{BB962C8B-B14F-4D97-AF65-F5344CB8AC3E}">
        <p14:creationId xmlns:p14="http://schemas.microsoft.com/office/powerpoint/2010/main" val="19880246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744546" y="2050869"/>
            <a:ext cx="9248540" cy="4210231"/>
          </a:xfrm>
        </p:spPr>
        <p:txBody>
          <a:bodyPr anchor="ctr" anchorCtr="0">
            <a:noAutofit/>
          </a:bodyPr>
          <a:lstStyle/>
          <a:p>
            <a:pPr marL="0" indent="0" algn="just">
              <a:buNone/>
            </a:pPr>
            <a:endParaRPr lang="vi-VN" dirty="0">
              <a:solidFill>
                <a:schemeClr val="tx1"/>
              </a:solidFill>
              <a:latin typeface="+mj-lt"/>
            </a:endParaRPr>
          </a:p>
          <a:p>
            <a:pPr marL="0" indent="0" algn="just">
              <a:buNone/>
            </a:pPr>
            <a:r>
              <a:rPr lang="vi-VN" dirty="0">
                <a:solidFill>
                  <a:schemeClr val="tx1"/>
                </a:solidFill>
                <a:latin typeface="+mj-lt"/>
              </a:rPr>
              <a:t>a.2) Phương thức chuyển đầy đủ nội dung hóa đơn áp dụng đối với trường hợp bán hàng hóa, cung cấp dịch vụ không thuộc các trường hợp trên.</a:t>
            </a:r>
          </a:p>
          <a:p>
            <a:pPr marL="0" indent="0" algn="just">
              <a:buNone/>
            </a:pPr>
            <a:r>
              <a:rPr lang="vi-VN" dirty="0">
                <a:solidFill>
                  <a:schemeClr val="tx1"/>
                </a:solidFill>
                <a:latin typeface="+mj-lt"/>
              </a:rPr>
              <a:t>Người bán sau khi lập đầy đủ các nội dung trên hóa đơn gửi hóa đơn cho người mua và đồng thời gửi hóa đơn cho cơ quan thuế.</a:t>
            </a:r>
          </a:p>
          <a:p>
            <a:pPr marL="0" indent="0" algn="just">
              <a:buNone/>
            </a:pPr>
            <a:endParaRPr lang="en-US" i="1" dirty="0">
              <a:solidFill>
                <a:schemeClr val="tx1"/>
              </a:solidFill>
              <a:latin typeface="+mj-lt"/>
            </a:endParaRPr>
          </a:p>
          <a:p>
            <a:pPr marL="0" indent="0" algn="just">
              <a:buNone/>
            </a:pPr>
            <a:r>
              <a:rPr lang="vi-VN" i="1" dirty="0">
                <a:solidFill>
                  <a:schemeClr val="tx1"/>
                </a:solidFill>
                <a:latin typeface="+mj-lt"/>
              </a:rPr>
              <a:t>b) Định dạng dữ liệu và hình thức gửi</a:t>
            </a:r>
            <a:endParaRPr lang="vi-VN" dirty="0">
              <a:solidFill>
                <a:schemeClr val="tx1"/>
              </a:solidFill>
              <a:latin typeface="+mj-lt"/>
            </a:endParaRPr>
          </a:p>
          <a:p>
            <a:pPr marL="0" indent="0" algn="just">
              <a:buNone/>
            </a:pPr>
            <a:r>
              <a:rPr lang="vi-VN" dirty="0">
                <a:solidFill>
                  <a:schemeClr val="tx1"/>
                </a:solidFill>
                <a:latin typeface="+mj-lt"/>
              </a:rPr>
              <a:t>Doanh nghiệp, tổ chức kinh tế thực hiện chuyển dữ liệu hóa đơn điện tử đến cơ quan thuế theo định dạng dữ liệu theo quy định tại Điều 12 Nghị định số 123/2020/NĐ-CP và hướng dẫn của Tổng cục Thuế bằng hình thức gửi trực tiếp hoặc gửi thông qua tổ chức cung cấp dịch vụ hóa đơn điện tử.</a:t>
            </a:r>
          </a:p>
        </p:txBody>
      </p:sp>
      <p:grpSp>
        <p:nvGrpSpPr>
          <p:cNvPr id="8" name="Group 7"/>
          <p:cNvGrpSpPr/>
          <p:nvPr/>
        </p:nvGrpSpPr>
        <p:grpSpPr>
          <a:xfrm>
            <a:off x="1" y="0"/>
            <a:ext cx="12030669" cy="791308"/>
            <a:chOff x="1" y="0"/>
            <a:chExt cx="12030669" cy="791308"/>
          </a:xfrm>
        </p:grpSpPr>
        <p:pic>
          <p:nvPicPr>
            <p:cNvPr id="9" name="Picture 8"/>
            <p:cNvPicPr>
              <a:picLocks noChangeAspect="1"/>
            </p:cNvPicPr>
            <p:nvPr/>
          </p:nvPicPr>
          <p:blipFill>
            <a:blip r:embed="rId2"/>
            <a:stretch>
              <a:fillRect/>
            </a:stretch>
          </p:blipFill>
          <p:spPr>
            <a:xfrm>
              <a:off x="1" y="0"/>
              <a:ext cx="954717" cy="791308"/>
            </a:xfrm>
            <a:prstGeom prst="rect">
              <a:avLst/>
            </a:prstGeom>
          </p:spPr>
        </p:pic>
        <p:sp>
          <p:nvSpPr>
            <p:cNvPr id="10" name="Title 1"/>
            <p:cNvSpPr txBox="1">
              <a:spLocks/>
            </p:cNvSpPr>
            <p:nvPr/>
          </p:nvSpPr>
          <p:spPr>
            <a:xfrm>
              <a:off x="954718" y="169473"/>
              <a:ext cx="1107595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12. TRÁCH NHIỆM NGƯỜI BÁN HĐĐT KHÔNG CÓ MÃ</a:t>
              </a:r>
              <a:endParaRPr lang="vi-VN" sz="2000" b="1" dirty="0">
                <a:solidFill>
                  <a:schemeClr val="tx1"/>
                </a:solidFill>
                <a:cs typeface="Times New Roman" panose="02020603050405020304" pitchFamily="18" charset="0"/>
              </a:endParaRPr>
            </a:p>
          </p:txBody>
        </p:sp>
      </p:grpSp>
      <p:sp>
        <p:nvSpPr>
          <p:cNvPr id="11" name="Title 1"/>
          <p:cNvSpPr txBox="1">
            <a:spLocks/>
          </p:cNvSpPr>
          <p:nvPr/>
        </p:nvSpPr>
        <p:spPr>
          <a:xfrm>
            <a:off x="477359" y="870944"/>
            <a:ext cx="10901354" cy="726831"/>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000" b="1" dirty="0">
                <a:solidFill>
                  <a:schemeClr val="accent5"/>
                </a:solidFill>
              </a:rPr>
              <a:t>12. TRÁCH NHIỆM – NGƯỜI BÁN – HĐĐT KHÔNG CÓ MÃ CỦA CQT</a:t>
            </a:r>
            <a:endParaRPr lang="vi-VN" sz="2000" dirty="0">
              <a:solidFill>
                <a:schemeClr val="accent5"/>
              </a:solidFill>
            </a:endParaRPr>
          </a:p>
        </p:txBody>
      </p:sp>
      <p:sp>
        <p:nvSpPr>
          <p:cNvPr id="12" name="Title 1"/>
          <p:cNvSpPr>
            <a:spLocks noGrp="1"/>
          </p:cNvSpPr>
          <p:nvPr>
            <p:ph type="title"/>
          </p:nvPr>
        </p:nvSpPr>
        <p:spPr>
          <a:xfrm>
            <a:off x="477358" y="1398613"/>
            <a:ext cx="9881487" cy="557596"/>
          </a:xfrm>
        </p:spPr>
        <p:txBody>
          <a:bodyPr>
            <a:noAutofit/>
          </a:bodyPr>
          <a:lstStyle/>
          <a:p>
            <a:pPr algn="ctr"/>
            <a:r>
              <a:rPr lang="en-US" sz="2000" b="1" dirty="0">
                <a:solidFill>
                  <a:srgbClr val="C00000"/>
                </a:solidFill>
              </a:rPr>
              <a:t>CHUYỂN DỮ LIỆU HĐĐT KHÔNG CÓ MÃ CỦA CQT (TIẾP THEO)</a:t>
            </a:r>
            <a:endParaRPr lang="vi-VN" sz="2000" b="1" dirty="0">
              <a:solidFill>
                <a:srgbClr val="C00000"/>
              </a:solidFill>
            </a:endParaRPr>
          </a:p>
        </p:txBody>
      </p:sp>
    </p:spTree>
    <p:extLst>
      <p:ext uri="{BB962C8B-B14F-4D97-AF65-F5344CB8AC3E}">
        <p14:creationId xmlns:p14="http://schemas.microsoft.com/office/powerpoint/2010/main" val="17955685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4545" y="2011680"/>
            <a:ext cx="9444483" cy="4249420"/>
          </a:xfrm>
        </p:spPr>
        <p:txBody>
          <a:bodyPr anchor="ctr" anchorCtr="0">
            <a:noAutofit/>
          </a:bodyPr>
          <a:lstStyle/>
          <a:p>
            <a:pPr marL="0" indent="0" algn="just">
              <a:buNone/>
            </a:pPr>
            <a:r>
              <a:rPr lang="vi-VN" sz="2000" i="1" dirty="0">
                <a:solidFill>
                  <a:schemeClr val="tx1"/>
                </a:solidFill>
                <a:latin typeface="+mj-lt"/>
              </a:rPr>
              <a:t>b.1) Hình thức gửi trực tiếp</a:t>
            </a:r>
          </a:p>
          <a:p>
            <a:pPr marL="0" indent="0" algn="just">
              <a:buNone/>
            </a:pPr>
            <a:r>
              <a:rPr lang="vi-VN" sz="2000" dirty="0">
                <a:solidFill>
                  <a:schemeClr val="tx1"/>
                </a:solidFill>
                <a:latin typeface="+mj-lt"/>
              </a:rPr>
              <a:t>- Doanh nghiệp, tổ chức kinh tế sử dụng hóa đơn số lượng lớn, có hệ thống công nghệ thông tin đáp ứng yêu cầu về định dạng chuẩn dữ liệu và quy định tại khoản 4 Điều 12 Nghị định số 123/2020/NĐ-CP.</a:t>
            </a:r>
          </a:p>
          <a:p>
            <a:pPr marL="0" indent="0" algn="just">
              <a:buNone/>
            </a:pPr>
            <a:r>
              <a:rPr lang="vi-VN" sz="2000" dirty="0">
                <a:solidFill>
                  <a:schemeClr val="tx1"/>
                </a:solidFill>
                <a:latin typeface="+mj-lt"/>
              </a:rPr>
              <a:t>- Doanh nghiệp, tổ chức kinh tế có tổ chức mô hình Công ty mẹ - con, có xây dựng hệ thống quản lý dữ liệu hóa đơn tập trung tại Công ty mẹ và có nhu cầu Công ty mẹ chuyển toàn bộ dữ liệu hóa đơn điện tử bao gồm cả dữ liệu của các công ty con đến cơ quan thuế qua Cổng thông tin điện tử của Tổng cục Thuế thì gửi kèm theo danh sách công ty con đến Tổng cục Thuế để thực hiện kết nối kỹ thuật.</a:t>
            </a:r>
          </a:p>
          <a:p>
            <a:pPr marL="0" indent="0" algn="just">
              <a:buNone/>
            </a:pPr>
            <a:r>
              <a:rPr lang="vi-VN" sz="2000" i="1" dirty="0">
                <a:solidFill>
                  <a:schemeClr val="tx1"/>
                </a:solidFill>
                <a:latin typeface="+mj-lt"/>
              </a:rPr>
              <a:t>b.2) Hình thức gửi thông qua tổ chức cung cấp dịch vụ hóa đơn điện tử</a:t>
            </a:r>
          </a:p>
          <a:p>
            <a:pPr marL="0" indent="0" algn="just">
              <a:buNone/>
            </a:pPr>
            <a:r>
              <a:rPr lang="vi-VN" sz="2000" dirty="0">
                <a:solidFill>
                  <a:schemeClr val="tx1"/>
                </a:solidFill>
                <a:latin typeface="+mj-lt"/>
              </a:rPr>
              <a:t>Các doanh nghiệp, tổ chức kinh tế không thuộc trường hợp nêu tại điểm a khoản này.</a:t>
            </a:r>
          </a:p>
        </p:txBody>
      </p:sp>
      <p:grpSp>
        <p:nvGrpSpPr>
          <p:cNvPr id="5" name="Group 4"/>
          <p:cNvGrpSpPr/>
          <p:nvPr/>
        </p:nvGrpSpPr>
        <p:grpSpPr>
          <a:xfrm>
            <a:off x="1" y="0"/>
            <a:ext cx="12030669" cy="791308"/>
            <a:chOff x="1" y="0"/>
            <a:chExt cx="12030669" cy="791308"/>
          </a:xfrm>
        </p:grpSpPr>
        <p:pic>
          <p:nvPicPr>
            <p:cNvPr id="6" name="Picture 5"/>
            <p:cNvPicPr>
              <a:picLocks noChangeAspect="1"/>
            </p:cNvPicPr>
            <p:nvPr/>
          </p:nvPicPr>
          <p:blipFill>
            <a:blip r:embed="rId2"/>
            <a:stretch>
              <a:fillRect/>
            </a:stretch>
          </p:blipFill>
          <p:spPr>
            <a:xfrm>
              <a:off x="1" y="0"/>
              <a:ext cx="954717" cy="791308"/>
            </a:xfrm>
            <a:prstGeom prst="rect">
              <a:avLst/>
            </a:prstGeom>
          </p:spPr>
        </p:pic>
        <p:sp>
          <p:nvSpPr>
            <p:cNvPr id="7" name="Title 1"/>
            <p:cNvSpPr txBox="1">
              <a:spLocks/>
            </p:cNvSpPr>
            <p:nvPr/>
          </p:nvSpPr>
          <p:spPr>
            <a:xfrm>
              <a:off x="954718" y="169473"/>
              <a:ext cx="1107595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PHẦN 2: QUY ĐỊNH VỀ HÓA ĐƠN – 12. TRÁCH NHIỆM NGƯỜI BÁN HĐĐT KHÔNG CÓ MÃ</a:t>
              </a:r>
              <a:endParaRPr lang="vi-VN" sz="2000" b="1" dirty="0">
                <a:solidFill>
                  <a:schemeClr val="tx1"/>
                </a:solidFill>
                <a:cs typeface="Times New Roman" panose="02020603050405020304" pitchFamily="18" charset="0"/>
              </a:endParaRPr>
            </a:p>
          </p:txBody>
        </p:sp>
      </p:grpSp>
      <p:sp>
        <p:nvSpPr>
          <p:cNvPr id="8" name="Title 1"/>
          <p:cNvSpPr txBox="1">
            <a:spLocks/>
          </p:cNvSpPr>
          <p:nvPr/>
        </p:nvSpPr>
        <p:spPr>
          <a:xfrm>
            <a:off x="477359" y="870944"/>
            <a:ext cx="10901354" cy="726831"/>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000" b="1" dirty="0">
                <a:solidFill>
                  <a:schemeClr val="accent5"/>
                </a:solidFill>
              </a:rPr>
              <a:t>12. TRÁCH NHIỆM – NGƯỜI BÁN – HĐĐT KHÔNG CÓ MÃ CỦA CQT</a:t>
            </a:r>
            <a:endParaRPr lang="vi-VN" sz="2000" dirty="0">
              <a:solidFill>
                <a:schemeClr val="accent5"/>
              </a:solidFill>
            </a:endParaRPr>
          </a:p>
        </p:txBody>
      </p:sp>
      <p:sp>
        <p:nvSpPr>
          <p:cNvPr id="9" name="Title 1"/>
          <p:cNvSpPr>
            <a:spLocks noGrp="1"/>
          </p:cNvSpPr>
          <p:nvPr>
            <p:ph type="title"/>
          </p:nvPr>
        </p:nvSpPr>
        <p:spPr>
          <a:xfrm>
            <a:off x="477358" y="1398613"/>
            <a:ext cx="9881487" cy="557596"/>
          </a:xfrm>
        </p:spPr>
        <p:txBody>
          <a:bodyPr>
            <a:noAutofit/>
          </a:bodyPr>
          <a:lstStyle/>
          <a:p>
            <a:pPr algn="ctr"/>
            <a:r>
              <a:rPr lang="en-US" sz="2000" b="1" dirty="0">
                <a:solidFill>
                  <a:srgbClr val="C00000"/>
                </a:solidFill>
              </a:rPr>
              <a:t>CHUYỂN DỮ LIỆU HĐĐT KHÔNG CÓ MÃ CỦA CQT (TIẾP THEO)</a:t>
            </a:r>
            <a:endParaRPr lang="vi-VN" sz="2000" b="1" dirty="0">
              <a:solidFill>
                <a:srgbClr val="C00000"/>
              </a:solidFill>
            </a:endParaRPr>
          </a:p>
        </p:txBody>
      </p:sp>
    </p:spTree>
    <p:extLst>
      <p:ext uri="{BB962C8B-B14F-4D97-AF65-F5344CB8AC3E}">
        <p14:creationId xmlns:p14="http://schemas.microsoft.com/office/powerpoint/2010/main" val="35784266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3643" y="1026275"/>
            <a:ext cx="10399523" cy="726831"/>
          </a:xfrm>
        </p:spPr>
        <p:txBody>
          <a:bodyPr>
            <a:noAutofit/>
          </a:bodyPr>
          <a:lstStyle/>
          <a:p>
            <a:pPr algn="ctr"/>
            <a:r>
              <a:rPr lang="en-US" sz="2000" b="1" dirty="0">
                <a:solidFill>
                  <a:schemeClr val="accent5"/>
                </a:solidFill>
              </a:rPr>
              <a:t>13. TRÁCH NHIỆM – NGƯỜI BÁN – HĐĐT KHỞI TẠO TỪ MÁY TÍNH TIỀN</a:t>
            </a:r>
            <a:endParaRPr lang="vi-VN" sz="2000" dirty="0">
              <a:solidFill>
                <a:schemeClr val="accent5"/>
              </a:solidFill>
            </a:endParaRPr>
          </a:p>
        </p:txBody>
      </p:sp>
      <p:sp>
        <p:nvSpPr>
          <p:cNvPr id="3" name="Content Placeholder 2"/>
          <p:cNvSpPr>
            <a:spLocks noGrp="1"/>
          </p:cNvSpPr>
          <p:nvPr>
            <p:ph idx="1"/>
          </p:nvPr>
        </p:nvSpPr>
        <p:spPr>
          <a:xfrm>
            <a:off x="795346" y="1753106"/>
            <a:ext cx="8596668" cy="4177431"/>
          </a:xfrm>
        </p:spPr>
        <p:txBody>
          <a:bodyPr anchor="b" anchorCtr="0">
            <a:normAutofit/>
          </a:bodyPr>
          <a:lstStyle/>
          <a:p>
            <a:pPr marL="0" indent="0" algn="just">
              <a:buNone/>
            </a:pPr>
            <a:r>
              <a:rPr lang="vi-VN" sz="2000" dirty="0">
                <a:solidFill>
                  <a:schemeClr val="tx1"/>
                </a:solidFill>
                <a:latin typeface="+mj-lt"/>
              </a:rPr>
              <a:t>-  Đăng ký sử dụng hóa đơn điện tử có mã của cơ quan thuế được khởi tạo từ máy tính tiền có kết nối chuyển dữ liệu điện tử với cơ quan thuế theo quy định tại Điều 15 Nghị định số 123/2020/NĐ-CP;</a:t>
            </a:r>
          </a:p>
          <a:p>
            <a:pPr marL="0" indent="0" algn="just">
              <a:buNone/>
            </a:pPr>
            <a:r>
              <a:rPr lang="vi-VN" sz="2000" dirty="0">
                <a:solidFill>
                  <a:schemeClr val="tx1"/>
                </a:solidFill>
                <a:latin typeface="+mj-lt"/>
              </a:rPr>
              <a:t>- Lập hóa đơn điện tử có mã của cơ quan thuế được khởi tạo từ máy tính tiền theo quy định tại Điều 11 Nghị định số 123/2020/NĐ-CP và Điều 8 Thông tư 78/2021/TT-BTC;</a:t>
            </a:r>
          </a:p>
          <a:p>
            <a:pPr marL="0" indent="0" algn="just">
              <a:buNone/>
            </a:pPr>
            <a:r>
              <a:rPr lang="vi-VN" sz="2000" dirty="0">
                <a:solidFill>
                  <a:schemeClr val="tx1"/>
                </a:solidFill>
                <a:latin typeface="+mj-lt"/>
              </a:rPr>
              <a:t>- Có trách nhiệm sử dụng dải ký tự mã của cơ quan thuế cấp khi lập hóa đơn điện tử có mã của cơ quan thuế được khởi tạo từ máy tính tiền có kết nối chuyển dữ liệu điện tử với cơ quan thuế để đảm bảo liên tục và duy nhất;</a:t>
            </a:r>
          </a:p>
          <a:p>
            <a:pPr marL="0" indent="0" algn="just">
              <a:buNone/>
            </a:pPr>
            <a:r>
              <a:rPr lang="vi-VN" sz="2000" dirty="0">
                <a:solidFill>
                  <a:schemeClr val="tx1"/>
                </a:solidFill>
                <a:latin typeface="+mj-lt"/>
              </a:rPr>
              <a:t>- Chuyển dữ liệu hóa đơn điện tử có mã của cơ quan thuế đã khởi tạo từ máy tính tiền cho cơ quan thuế ngay trong ngày thông qua tổ chức cung cấp dịch vụ nhận, truyền, lưu trữ dữ liệu điện tử.</a:t>
            </a:r>
          </a:p>
        </p:txBody>
      </p:sp>
      <p:grpSp>
        <p:nvGrpSpPr>
          <p:cNvPr id="4" name="Group 3"/>
          <p:cNvGrpSpPr/>
          <p:nvPr/>
        </p:nvGrpSpPr>
        <p:grpSpPr>
          <a:xfrm>
            <a:off x="1" y="0"/>
            <a:ext cx="12030669" cy="791308"/>
            <a:chOff x="1" y="0"/>
            <a:chExt cx="12030669"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Title 1"/>
            <p:cNvSpPr txBox="1">
              <a:spLocks/>
            </p:cNvSpPr>
            <p:nvPr/>
          </p:nvSpPr>
          <p:spPr>
            <a:xfrm>
              <a:off x="954718" y="169473"/>
              <a:ext cx="1107595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00" b="1" dirty="0">
                  <a:solidFill>
                    <a:schemeClr val="tx1"/>
                  </a:solidFill>
                  <a:cs typeface="Times New Roman" panose="02020603050405020304" pitchFamily="18" charset="0"/>
                </a:rPr>
                <a:t>PHẦN 2: QUY ĐỊNH VỀ HÓA ĐƠN </a:t>
              </a:r>
              <a:r>
                <a:rPr lang="en-US" sz="1600" b="1" dirty="0">
                  <a:solidFill>
                    <a:schemeClr val="tx1"/>
                  </a:solidFill>
                </a:rPr>
                <a:t>– 13. TRÁCH NHIỆM – NGƯỜI BÁN – HĐĐT KHỞI TẠO TỪ MÁY TÍNH TIỀN</a:t>
              </a:r>
              <a:endParaRPr lang="vi-VN" sz="1600" b="1" dirty="0">
                <a:solidFill>
                  <a:schemeClr val="tx1"/>
                </a:solidFill>
                <a:cs typeface="Times New Roman" panose="02020603050405020304" pitchFamily="18" charset="0"/>
              </a:endParaRPr>
            </a:p>
          </p:txBody>
        </p:sp>
      </p:grpSp>
    </p:spTree>
    <p:extLst>
      <p:ext uri="{BB962C8B-B14F-4D97-AF65-F5344CB8AC3E}">
        <p14:creationId xmlns:p14="http://schemas.microsoft.com/office/powerpoint/2010/main" val="14463661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5346" y="895839"/>
            <a:ext cx="8596668" cy="726831"/>
          </a:xfrm>
        </p:spPr>
        <p:txBody>
          <a:bodyPr>
            <a:noAutofit/>
          </a:bodyPr>
          <a:lstStyle/>
          <a:p>
            <a:pPr algn="ctr"/>
            <a:r>
              <a:rPr lang="en-US" sz="2000" b="1" dirty="0">
                <a:solidFill>
                  <a:schemeClr val="accent5"/>
                </a:solidFill>
                <a:latin typeface="Times New Roman" panose="02020603050405020304" pitchFamily="18" charset="0"/>
                <a:cs typeface="Times New Roman" panose="02020603050405020304" pitchFamily="18" charset="0"/>
              </a:rPr>
              <a:t>14. </a:t>
            </a:r>
            <a:r>
              <a:rPr lang="vi-VN" sz="2000" b="1" dirty="0">
                <a:solidFill>
                  <a:schemeClr val="accent5"/>
                </a:solidFill>
                <a:latin typeface="Times New Roman" panose="02020603050405020304" pitchFamily="18" charset="0"/>
                <a:cs typeface="Times New Roman" panose="02020603050405020304" pitchFamily="18" charset="0"/>
              </a:rPr>
              <a:t>T</a:t>
            </a:r>
            <a:r>
              <a:rPr lang="en-US" sz="2000" b="1" dirty="0">
                <a:solidFill>
                  <a:schemeClr val="accent5"/>
                </a:solidFill>
                <a:latin typeface="Times New Roman" panose="02020603050405020304" pitchFamily="18" charset="0"/>
                <a:cs typeface="Times New Roman" panose="02020603050405020304" pitchFamily="18" charset="0"/>
              </a:rPr>
              <a:t>IÊU CHÍ LỰA CHỌN TỔ CHỨC CUNG CẤP DỊCH VỤ HÓA ĐƠN, DỊCH VỤ KẾT NỐI TRUYỀN NHẬN</a:t>
            </a:r>
            <a:endParaRPr lang="vi-VN" sz="2000" dirty="0">
              <a:solidFill>
                <a:schemeClr val="accent5"/>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95345" y="1998617"/>
            <a:ext cx="9315305" cy="3762103"/>
          </a:xfrm>
        </p:spPr>
        <p:txBody>
          <a:bodyPr anchor="ctr" anchorCtr="0">
            <a:normAutofit/>
          </a:bodyPr>
          <a:lstStyle/>
          <a:p>
            <a:pPr marL="0" indent="0">
              <a:buNone/>
            </a:pPr>
            <a:endParaRPr lang="vi-VN" sz="2200" b="1" dirty="0">
              <a:solidFill>
                <a:schemeClr val="tx1"/>
              </a:solidFill>
              <a:latin typeface="Cambria" panose="02040503050406030204" pitchFamily="18" charset="0"/>
            </a:endParaRPr>
          </a:p>
          <a:p>
            <a:pPr marL="0" indent="0" algn="just">
              <a:buNone/>
            </a:pPr>
            <a:r>
              <a:rPr lang="vi-VN" sz="2200" dirty="0">
                <a:solidFill>
                  <a:schemeClr val="tx1"/>
                </a:solidFill>
                <a:latin typeface="+mj-lt"/>
              </a:rPr>
              <a:t>1. Tiêu chí đối với tổ chức cung cấp giải pháp hóa đơn điện tử có mã của cơ quan thuế và không có mã cho người bán và người mua</a:t>
            </a:r>
          </a:p>
          <a:p>
            <a:pPr marL="0" indent="0" algn="just">
              <a:buNone/>
            </a:pPr>
            <a:r>
              <a:rPr lang="vi-VN" sz="2200" dirty="0">
                <a:solidFill>
                  <a:schemeClr val="tx1"/>
                </a:solidFill>
                <a:latin typeface="+mj-lt"/>
              </a:rPr>
              <a:t>2. Tiêu chí đối với tổ chức cung cấp dịch vụ nhận, truyền, lưu trữ dữ liệu hóa đơn điện tử</a:t>
            </a:r>
          </a:p>
          <a:p>
            <a:pPr marL="0" indent="0" algn="just">
              <a:buNone/>
            </a:pPr>
            <a:r>
              <a:rPr lang="vi-VN" sz="2200" dirty="0">
                <a:solidFill>
                  <a:schemeClr val="tx1"/>
                </a:solidFill>
                <a:latin typeface="+mj-lt"/>
              </a:rPr>
              <a:t>3. Đăng tải thông tin của tổ chức cung cấp giải pháp hóa đơn điện tử </a:t>
            </a:r>
          </a:p>
          <a:p>
            <a:pPr marL="0" indent="0" algn="just">
              <a:buNone/>
            </a:pPr>
            <a:r>
              <a:rPr lang="vi-VN" sz="2200" dirty="0">
                <a:solidFill>
                  <a:schemeClr val="tx1"/>
                </a:solidFill>
                <a:latin typeface="+mj-lt"/>
              </a:rPr>
              <a:t>4. Lựa chọn tổ chức cung cấp dịch vụ về hóa đơn điện tử để ký hợp đồng cung cấp dịch vụ nhận, truyền, lưu trữ dữ liệu hóa đơn với cơ quan thuế</a:t>
            </a:r>
          </a:p>
          <a:p>
            <a:pPr marL="0" indent="0" algn="just">
              <a:buNone/>
            </a:pPr>
            <a:r>
              <a:rPr lang="vi-VN" sz="2200" i="1" dirty="0">
                <a:solidFill>
                  <a:schemeClr val="tx1"/>
                </a:solidFill>
                <a:latin typeface="+mj-lt"/>
              </a:rPr>
              <a:t>(Điều 10 Thông tư số 78/2021/TT-BTC)</a:t>
            </a:r>
          </a:p>
        </p:txBody>
      </p:sp>
      <p:grpSp>
        <p:nvGrpSpPr>
          <p:cNvPr id="4" name="Group 3"/>
          <p:cNvGrpSpPr/>
          <p:nvPr/>
        </p:nvGrpSpPr>
        <p:grpSpPr>
          <a:xfrm>
            <a:off x="1" y="0"/>
            <a:ext cx="12030669" cy="791308"/>
            <a:chOff x="1" y="0"/>
            <a:chExt cx="12030669"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Title 1"/>
            <p:cNvSpPr txBox="1">
              <a:spLocks/>
            </p:cNvSpPr>
            <p:nvPr/>
          </p:nvSpPr>
          <p:spPr>
            <a:xfrm>
              <a:off x="954718" y="169473"/>
              <a:ext cx="1107595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00" b="1" dirty="0">
                  <a:solidFill>
                    <a:schemeClr val="tx1"/>
                  </a:solidFill>
                  <a:cs typeface="Times New Roman" panose="02020603050405020304" pitchFamily="18" charset="0"/>
                </a:rPr>
                <a:t>PHẦN 2: QUY ĐỊNH VỀ HÓA ĐƠN </a:t>
              </a:r>
              <a:r>
                <a:rPr lang="en-US" sz="1600" b="1" dirty="0">
                  <a:solidFill>
                    <a:schemeClr val="tx1"/>
                  </a:solidFill>
                </a:rPr>
                <a:t>– 14. TIÊU CHÍ LỰA CHỌN</a:t>
              </a:r>
              <a:endParaRPr lang="vi-VN" sz="1600" b="1" dirty="0">
                <a:solidFill>
                  <a:schemeClr val="tx1"/>
                </a:solidFill>
                <a:cs typeface="Times New Roman" panose="02020603050405020304" pitchFamily="18" charset="0"/>
              </a:endParaRPr>
            </a:p>
          </p:txBody>
        </p:sp>
      </p:grpSp>
    </p:spTree>
    <p:extLst>
      <p:ext uri="{BB962C8B-B14F-4D97-AF65-F5344CB8AC3E}">
        <p14:creationId xmlns:p14="http://schemas.microsoft.com/office/powerpoint/2010/main" val="25561765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4455" y="830346"/>
            <a:ext cx="8596668" cy="410626"/>
          </a:xfrm>
        </p:spPr>
        <p:txBody>
          <a:bodyPr>
            <a:noAutofit/>
          </a:bodyPr>
          <a:lstStyle/>
          <a:p>
            <a:pPr algn="ctr"/>
            <a:r>
              <a:rPr lang="vi-VN" sz="2000" b="1" dirty="0">
                <a:solidFill>
                  <a:srgbClr val="C00000"/>
                </a:solidFill>
              </a:rPr>
              <a:t>T</a:t>
            </a:r>
            <a:r>
              <a:rPr lang="en-US" sz="2000" b="1" dirty="0">
                <a:solidFill>
                  <a:srgbClr val="C00000"/>
                </a:solidFill>
              </a:rPr>
              <a:t>IÊU CHÍ – TỔ CHỨC CUNG CẤP GIẢI PHÁP HĐĐT</a:t>
            </a:r>
            <a:endParaRPr lang="vi-VN" sz="2000" dirty="0">
              <a:solidFill>
                <a:srgbClr val="C00000"/>
              </a:solidFill>
            </a:endParaRPr>
          </a:p>
        </p:txBody>
      </p:sp>
      <p:sp>
        <p:nvSpPr>
          <p:cNvPr id="3" name="Content Placeholder 2"/>
          <p:cNvSpPr>
            <a:spLocks noGrp="1"/>
          </p:cNvSpPr>
          <p:nvPr>
            <p:ph idx="1"/>
          </p:nvPr>
        </p:nvSpPr>
        <p:spPr>
          <a:xfrm>
            <a:off x="477359" y="1569432"/>
            <a:ext cx="9476538" cy="4870558"/>
          </a:xfrm>
        </p:spPr>
        <p:txBody>
          <a:bodyPr anchor="ctr" anchorCtr="0">
            <a:noAutofit/>
          </a:bodyPr>
          <a:lstStyle/>
          <a:p>
            <a:pPr marL="0" indent="0" algn="just">
              <a:buNone/>
            </a:pPr>
            <a:r>
              <a:rPr lang="vi-VN" b="1" i="1" dirty="0">
                <a:solidFill>
                  <a:schemeClr val="tx1"/>
                </a:solidFill>
                <a:latin typeface="+mj-lt"/>
              </a:rPr>
              <a:t>a) Về chủ thể:</a:t>
            </a:r>
          </a:p>
          <a:p>
            <a:pPr marL="0" indent="0" algn="just">
              <a:buNone/>
            </a:pPr>
            <a:r>
              <a:rPr lang="vi-VN" dirty="0">
                <a:solidFill>
                  <a:schemeClr val="tx1"/>
                </a:solidFill>
                <a:latin typeface="+mj-lt"/>
              </a:rPr>
              <a:t>a.1) Là tổ chức hoạt động trong lĩnh vực công nghệ thông tin được thành lập theo pháp luật Việt Nam;</a:t>
            </a:r>
          </a:p>
          <a:p>
            <a:pPr marL="0" indent="0" algn="just">
              <a:buNone/>
            </a:pPr>
            <a:r>
              <a:rPr lang="vi-VN" dirty="0">
                <a:solidFill>
                  <a:schemeClr val="tx1"/>
                </a:solidFill>
                <a:latin typeface="+mj-lt"/>
              </a:rPr>
              <a:t>a.2) Thông tin về dịch vụ hóa đơn điện tử được công khai trên trang thông tin điện tử của tổ chức;</a:t>
            </a:r>
          </a:p>
          <a:p>
            <a:pPr marL="0" indent="0" algn="just">
              <a:buNone/>
            </a:pPr>
            <a:r>
              <a:rPr lang="vi-VN" b="1" i="1" dirty="0">
                <a:solidFill>
                  <a:schemeClr val="tx1"/>
                </a:solidFill>
                <a:latin typeface="+mj-lt"/>
              </a:rPr>
              <a:t>b) Về nhân sự: </a:t>
            </a:r>
            <a:r>
              <a:rPr lang="vi-VN" dirty="0">
                <a:solidFill>
                  <a:schemeClr val="tx1"/>
                </a:solidFill>
                <a:latin typeface="+mj-lt"/>
              </a:rPr>
              <a:t>Có tối thiểu 5 nhân sự trình độ đại học chuyên ngành về công nghệ thông tin;</a:t>
            </a:r>
          </a:p>
          <a:p>
            <a:pPr marL="0" indent="0" algn="just">
              <a:buNone/>
            </a:pPr>
            <a:r>
              <a:rPr lang="vi-VN" b="1" i="1" dirty="0">
                <a:solidFill>
                  <a:schemeClr val="tx1"/>
                </a:solidFill>
                <a:latin typeface="+mj-lt"/>
              </a:rPr>
              <a:t>c) Về kỹ thuật: </a:t>
            </a:r>
            <a:r>
              <a:rPr lang="vi-VN" dirty="0">
                <a:solidFill>
                  <a:schemeClr val="tx1"/>
                </a:solidFill>
                <a:latin typeface="+mj-lt"/>
              </a:rPr>
              <a:t>Có hạ tầng kỹ thuật, thiết bị công nghệ thông tin, hệ thống phần mềm đáp ứng yêu cầu:</a:t>
            </a:r>
          </a:p>
          <a:p>
            <a:pPr marL="0" indent="0" algn="just">
              <a:buNone/>
            </a:pPr>
            <a:r>
              <a:rPr lang="vi-VN" dirty="0">
                <a:solidFill>
                  <a:schemeClr val="tx1"/>
                </a:solidFill>
                <a:latin typeface="+mj-lt"/>
              </a:rPr>
              <a:t>c.1) Cung cấp giải pháp khởi tạo, xử lý, lưu trữ dữ liệu hóa đơn điện tử có mã của cơ quan thuế và hóa đơn điện tử không có mã theo quy định của pháp luật về hoá đơn điện tử và pháp luật khác có liên quan;</a:t>
            </a:r>
          </a:p>
          <a:p>
            <a:pPr marL="0" indent="0" algn="just">
              <a:buNone/>
            </a:pPr>
            <a:r>
              <a:rPr lang="vi-VN" dirty="0">
                <a:solidFill>
                  <a:schemeClr val="tx1"/>
                </a:solidFill>
                <a:latin typeface="+mj-lt"/>
              </a:rPr>
              <a:t>c.2) Có giải pháp nhận, truyền dữ liệu hóa đơn điện tử với người sử dụng dịch vụ; giải pháp truyền, nhận dữ liệu hoá đơn điện tử với cơ quan thuế thông qua tổ chức nhận, truyền, lưu trữ dữ liệu hoá đơn điện tử;</a:t>
            </a:r>
          </a:p>
          <a:p>
            <a:pPr marL="0" indent="0" algn="just">
              <a:buNone/>
            </a:pPr>
            <a:r>
              <a:rPr lang="vi-VN" dirty="0">
                <a:solidFill>
                  <a:schemeClr val="tx1"/>
                </a:solidFill>
                <a:latin typeface="+mj-lt"/>
              </a:rPr>
              <a:t>c.3) Có giải pháp sao lưu, khôi phục, bảo mật dữ liệu hóa đơn điện tử;</a:t>
            </a:r>
          </a:p>
          <a:p>
            <a:pPr marL="0" indent="0" algn="just">
              <a:buNone/>
            </a:pPr>
            <a:r>
              <a:rPr lang="vi-VN" dirty="0">
                <a:solidFill>
                  <a:schemeClr val="tx1"/>
                </a:solidFill>
                <a:latin typeface="+mj-lt"/>
              </a:rPr>
              <a:t>c.4) Có tài liệu kết quả kiểm thử kỹ thuật thành công về giải pháp truyền nhận dữ liệu hóa đơn điện tử với tổ chức cung cấp dịch vụ nhận, truyền, lưu trữ dữ liệu hóa đơn điện tử.</a:t>
            </a:r>
            <a:endParaRPr lang="vi-VN" i="1" dirty="0">
              <a:solidFill>
                <a:schemeClr val="tx1"/>
              </a:solidFill>
              <a:latin typeface="+mj-lt"/>
            </a:endParaRPr>
          </a:p>
        </p:txBody>
      </p:sp>
      <p:grpSp>
        <p:nvGrpSpPr>
          <p:cNvPr id="7" name="Group 6"/>
          <p:cNvGrpSpPr/>
          <p:nvPr/>
        </p:nvGrpSpPr>
        <p:grpSpPr>
          <a:xfrm>
            <a:off x="1" y="0"/>
            <a:ext cx="12030669" cy="791308"/>
            <a:chOff x="1" y="0"/>
            <a:chExt cx="12030669" cy="791308"/>
          </a:xfrm>
        </p:grpSpPr>
        <p:pic>
          <p:nvPicPr>
            <p:cNvPr id="8" name="Picture 7"/>
            <p:cNvPicPr>
              <a:picLocks noChangeAspect="1"/>
            </p:cNvPicPr>
            <p:nvPr/>
          </p:nvPicPr>
          <p:blipFill>
            <a:blip r:embed="rId2"/>
            <a:stretch>
              <a:fillRect/>
            </a:stretch>
          </p:blipFill>
          <p:spPr>
            <a:xfrm>
              <a:off x="1" y="0"/>
              <a:ext cx="954717" cy="791308"/>
            </a:xfrm>
            <a:prstGeom prst="rect">
              <a:avLst/>
            </a:prstGeom>
          </p:spPr>
        </p:pic>
        <p:sp>
          <p:nvSpPr>
            <p:cNvPr id="9" name="Title 1"/>
            <p:cNvSpPr txBox="1">
              <a:spLocks/>
            </p:cNvSpPr>
            <p:nvPr/>
          </p:nvSpPr>
          <p:spPr>
            <a:xfrm>
              <a:off x="954718" y="169473"/>
              <a:ext cx="1107595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00" b="1" dirty="0">
                  <a:solidFill>
                    <a:schemeClr val="tx1"/>
                  </a:solidFill>
                  <a:cs typeface="Times New Roman" panose="02020603050405020304" pitchFamily="18" charset="0"/>
                </a:rPr>
                <a:t>PHẦN 2: QUY ĐỊNH VỀ HÓA ĐƠN </a:t>
              </a:r>
              <a:r>
                <a:rPr lang="en-US" sz="1600" b="1" dirty="0">
                  <a:solidFill>
                    <a:schemeClr val="tx1"/>
                  </a:solidFill>
                </a:rPr>
                <a:t>– 14. TIÊU CHÍ LỰA CHỌN</a:t>
              </a:r>
              <a:endParaRPr lang="vi-VN" sz="1600" b="1" dirty="0">
                <a:solidFill>
                  <a:schemeClr val="tx1"/>
                </a:solidFill>
                <a:cs typeface="Times New Roman" panose="02020603050405020304" pitchFamily="18" charset="0"/>
              </a:endParaRPr>
            </a:p>
          </p:txBody>
        </p:sp>
      </p:grpSp>
    </p:spTree>
    <p:extLst>
      <p:ext uri="{BB962C8B-B14F-4D97-AF65-F5344CB8AC3E}">
        <p14:creationId xmlns:p14="http://schemas.microsoft.com/office/powerpoint/2010/main" val="36704531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54718" y="860792"/>
            <a:ext cx="8596668" cy="418821"/>
          </a:xfrm>
        </p:spPr>
        <p:txBody>
          <a:bodyPr>
            <a:noAutofit/>
          </a:bodyPr>
          <a:lstStyle/>
          <a:p>
            <a:pPr algn="ctr"/>
            <a:r>
              <a:rPr lang="en-US" sz="1800" b="1" dirty="0">
                <a:solidFill>
                  <a:srgbClr val="C00000"/>
                </a:solidFill>
              </a:rPr>
              <a:t>TIÊU CHÍ – TỔ CHỨC CUNG CẤP DỊCH VỤ NHẬN, TRUYỀN, LƯU TRỮ HĐ</a:t>
            </a:r>
            <a:endParaRPr lang="vi-VN" sz="1800" dirty="0">
              <a:solidFill>
                <a:srgbClr val="C00000"/>
              </a:solidFill>
            </a:endParaRPr>
          </a:p>
        </p:txBody>
      </p:sp>
      <p:sp>
        <p:nvSpPr>
          <p:cNvPr id="3" name="Content Placeholder 2"/>
          <p:cNvSpPr>
            <a:spLocks noGrp="1"/>
          </p:cNvSpPr>
          <p:nvPr>
            <p:ph idx="1"/>
          </p:nvPr>
        </p:nvSpPr>
        <p:spPr>
          <a:xfrm>
            <a:off x="470263" y="1479533"/>
            <a:ext cx="9718765" cy="4529381"/>
          </a:xfrm>
        </p:spPr>
        <p:txBody>
          <a:bodyPr anchor="ctr" anchorCtr="0">
            <a:noAutofit/>
          </a:bodyPr>
          <a:lstStyle/>
          <a:p>
            <a:pPr marL="0" indent="0" algn="just">
              <a:buNone/>
            </a:pPr>
            <a:r>
              <a:rPr lang="vi-VN" b="1" i="1" dirty="0">
                <a:solidFill>
                  <a:schemeClr val="tx1"/>
                </a:solidFill>
                <a:latin typeface="+mj-lt"/>
              </a:rPr>
              <a:t>a) Về chủ thể: </a:t>
            </a:r>
          </a:p>
          <a:p>
            <a:pPr marL="0" indent="0" algn="just">
              <a:buNone/>
            </a:pPr>
            <a:r>
              <a:rPr lang="vi-VN" dirty="0">
                <a:solidFill>
                  <a:schemeClr val="tx1"/>
                </a:solidFill>
                <a:latin typeface="+mj-lt"/>
              </a:rPr>
              <a:t>a.1) Là tổ chức được thành lập theo pháp luật Việt Nam, có tối thiểu 05 năm hoạt động trong lĩnh vực công nghệ thông tin;</a:t>
            </a:r>
          </a:p>
          <a:p>
            <a:pPr marL="0" indent="0" algn="just">
              <a:buNone/>
            </a:pPr>
            <a:r>
              <a:rPr lang="vi-VN" dirty="0">
                <a:solidFill>
                  <a:schemeClr val="tx1"/>
                </a:solidFill>
                <a:latin typeface="+mj-lt"/>
              </a:rPr>
              <a:t>a.2) Thông tin về dịch vụ hóa đơn điện tử được công khai trên trang thông tin điện tử của tổ chức;</a:t>
            </a:r>
          </a:p>
          <a:p>
            <a:pPr marL="0" indent="0" algn="just">
              <a:buNone/>
            </a:pPr>
            <a:r>
              <a:rPr lang="vi-VN" b="1" i="1" dirty="0">
                <a:solidFill>
                  <a:schemeClr val="tx1"/>
                </a:solidFill>
                <a:latin typeface="+mj-lt"/>
              </a:rPr>
              <a:t>b) Về tài chính: </a:t>
            </a:r>
            <a:r>
              <a:rPr lang="vi-VN" dirty="0">
                <a:solidFill>
                  <a:schemeClr val="tx1"/>
                </a:solidFill>
                <a:latin typeface="+mj-lt"/>
              </a:rPr>
              <a:t>Có ký quỹ tại một ngân hàng hoạt động hợp pháp tại Việt Nam hoặc có giấy bảo lãnh của một ngân hàng hoạt động hợp pháp tại Việt Nam với giá trị không dưới 5 tỷ đồng để giải quyết các rủi ro và bồi thường thiệt hại có thể xảy ra trong quá trình cung cấp dịch vụ;</a:t>
            </a:r>
          </a:p>
          <a:p>
            <a:pPr marL="0" indent="0" algn="just">
              <a:buNone/>
            </a:pPr>
            <a:r>
              <a:rPr lang="vi-VN" b="1" i="1" dirty="0">
                <a:solidFill>
                  <a:schemeClr val="tx1"/>
                </a:solidFill>
                <a:latin typeface="+mj-lt"/>
              </a:rPr>
              <a:t>c) Về nhân sự: </a:t>
            </a:r>
            <a:r>
              <a:rPr lang="vi-VN" dirty="0">
                <a:solidFill>
                  <a:schemeClr val="tx1"/>
                </a:solidFill>
                <a:latin typeface="+mj-lt"/>
              </a:rPr>
              <a:t>Có tối thiểu 20 nhân sự trình độ đại học chuyên ngành về công nghệ thông tin;</a:t>
            </a:r>
          </a:p>
          <a:p>
            <a:pPr marL="0" indent="0" algn="just">
              <a:buNone/>
            </a:pPr>
            <a:r>
              <a:rPr lang="vi-VN" b="1" i="1" dirty="0">
                <a:solidFill>
                  <a:schemeClr val="tx1"/>
                </a:solidFill>
                <a:latin typeface="+mj-lt"/>
              </a:rPr>
              <a:t>d) Về kỹ thuật: </a:t>
            </a:r>
            <a:r>
              <a:rPr lang="vi-VN" dirty="0">
                <a:solidFill>
                  <a:schemeClr val="tx1"/>
                </a:solidFill>
                <a:latin typeface="+mj-lt"/>
              </a:rPr>
              <a:t>Có hạ tầng kỹ thuật, thiết bị công nghệ thông tin, hệ thống phần mềm đáp ứng yêu cầu:</a:t>
            </a:r>
          </a:p>
          <a:p>
            <a:pPr marL="0" indent="0" algn="just">
              <a:buNone/>
            </a:pPr>
            <a:r>
              <a:rPr lang="vi-VN" dirty="0">
                <a:solidFill>
                  <a:schemeClr val="tx1"/>
                </a:solidFill>
                <a:latin typeface="+mj-lt"/>
              </a:rPr>
              <a:t>d.1) Cung cấp giải pháp khởi tạo, xử lý, lưu trữ dữ liệu hóa đơn điện tử có mã của cơ quan thuế theo quy định của pháp luật về hóa đơn điện tử và pháp luật khác có liên quan;</a:t>
            </a:r>
          </a:p>
        </p:txBody>
      </p:sp>
      <p:grpSp>
        <p:nvGrpSpPr>
          <p:cNvPr id="4" name="Group 3"/>
          <p:cNvGrpSpPr/>
          <p:nvPr/>
        </p:nvGrpSpPr>
        <p:grpSpPr>
          <a:xfrm>
            <a:off x="1" y="0"/>
            <a:ext cx="12030669" cy="791308"/>
            <a:chOff x="1" y="0"/>
            <a:chExt cx="12030669"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Title 1"/>
            <p:cNvSpPr txBox="1">
              <a:spLocks/>
            </p:cNvSpPr>
            <p:nvPr/>
          </p:nvSpPr>
          <p:spPr>
            <a:xfrm>
              <a:off x="954718" y="169473"/>
              <a:ext cx="1107595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00" b="1" dirty="0">
                  <a:solidFill>
                    <a:schemeClr val="tx1"/>
                  </a:solidFill>
                  <a:cs typeface="Times New Roman" panose="02020603050405020304" pitchFamily="18" charset="0"/>
                </a:rPr>
                <a:t>PHẦN 2: QUY ĐỊNH VỀ HÓA ĐƠN </a:t>
              </a:r>
              <a:r>
                <a:rPr lang="en-US" sz="1600" b="1" dirty="0">
                  <a:solidFill>
                    <a:schemeClr val="tx1"/>
                  </a:solidFill>
                </a:rPr>
                <a:t>– 14. TIÊU CHÍ LỰA CHỌN</a:t>
              </a:r>
              <a:endParaRPr lang="vi-VN" sz="1600" b="1" dirty="0">
                <a:solidFill>
                  <a:schemeClr val="tx1"/>
                </a:solidFill>
                <a:cs typeface="Times New Roman" panose="02020603050405020304" pitchFamily="18" charset="0"/>
              </a:endParaRPr>
            </a:p>
          </p:txBody>
        </p:sp>
      </p:grpSp>
    </p:spTree>
    <p:extLst>
      <p:ext uri="{BB962C8B-B14F-4D97-AF65-F5344CB8AC3E}">
        <p14:creationId xmlns:p14="http://schemas.microsoft.com/office/powerpoint/2010/main" val="26168602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70263" y="1175657"/>
            <a:ext cx="9548947" cy="5098143"/>
          </a:xfrm>
        </p:spPr>
        <p:txBody>
          <a:bodyPr anchor="ctr" anchorCtr="0">
            <a:noAutofit/>
          </a:bodyPr>
          <a:lstStyle/>
          <a:p>
            <a:pPr marL="0" indent="0" algn="just">
              <a:buNone/>
            </a:pPr>
            <a:r>
              <a:rPr lang="vi-VN" sz="1900" dirty="0">
                <a:solidFill>
                  <a:schemeClr val="tx1"/>
                </a:solidFill>
                <a:latin typeface="+mj-lt"/>
              </a:rPr>
              <a:t>d.2) Có giải pháp kết nối, nhận, truyền, lưu trữ dữ liệu hóa đơn điện tử với tổ chức cung cấp dịch vụ hóa đơn điện tử có mã của cơ quan thuế và không có mã cho người bán và người mua; giải pháp kết nối nhận, truyền, lưu trữ dữ liệu hóa đơn điện tử với cơ quan thuế. Thông tin quá trình nhận, truyền dữ liệu phải được ghi nhật ký để phục vụ công tác đối soát;</a:t>
            </a:r>
          </a:p>
          <a:p>
            <a:pPr marL="0" indent="0" algn="just">
              <a:buNone/>
            </a:pPr>
            <a:r>
              <a:rPr lang="vi-VN" sz="1900" dirty="0">
                <a:solidFill>
                  <a:schemeClr val="tx1"/>
                </a:solidFill>
                <a:latin typeface="+mj-lt"/>
              </a:rPr>
              <a:t>d.3) Hệ thống hạ tầng kỹ thuật cung cấp dịch vụ hóa đơn điện tử được vận hành trên môi trường trung tâm dữ liệu chính và trung tâm dữ liệu dự phòng. Trung tâm dự phòng cách xa trung tâm dữ liệu chính tối thiểu 20km và sẵn sàng hoạt động khi hệ thống chính gặp sự cố;</a:t>
            </a:r>
          </a:p>
          <a:p>
            <a:pPr marL="0" indent="0" algn="just">
              <a:buNone/>
            </a:pPr>
            <a:r>
              <a:rPr lang="vi-VN" sz="1900" dirty="0">
                <a:solidFill>
                  <a:schemeClr val="tx1"/>
                </a:solidFill>
                <a:latin typeface="+mj-lt"/>
              </a:rPr>
              <a:t>d.4) Hệ thống có khả năng phát hiện, cảnh báo, ngăn chặn các truy cập không hợp pháp, các hình thức tấn công trên môi trường mạng để bảo đảm tính bảo mật, toàn vẹn của dữ liệu trao đổi giữa các bên tham gia;</a:t>
            </a:r>
          </a:p>
          <a:p>
            <a:pPr marL="0" indent="0" algn="just">
              <a:buNone/>
            </a:pPr>
            <a:r>
              <a:rPr lang="vi-VN" sz="1900" dirty="0">
                <a:solidFill>
                  <a:schemeClr val="tx1"/>
                </a:solidFill>
                <a:latin typeface="+mj-lt"/>
              </a:rPr>
              <a:t>d.5) Có hệ thống sao lưu, khôi phục dữ liệu;</a:t>
            </a:r>
          </a:p>
          <a:p>
            <a:pPr marL="0" indent="0" algn="just">
              <a:buNone/>
            </a:pPr>
            <a:r>
              <a:rPr lang="vi-VN" sz="1900" dirty="0">
                <a:solidFill>
                  <a:schemeClr val="tx1"/>
                </a:solidFill>
                <a:latin typeface="+mj-lt"/>
              </a:rPr>
              <a:t>d.6) Kết nối với Tổng cục Thuế thông qua kênh thuê riêng hoặc kênh MPLS VPN Layer 3 hoặc tương đương, gồm 1 kênh truyền chính và 2 kênh truyền dự phòng. Mỗi kênh truyền có băng thông tối thiểu 20 Mbps; sử dụng dịch vụ Web (Web Service) hoặc hàng đợi (Queue) có mã hóa làm phương thức để kết nối; sử dụng giao thức SOAP/TCP để đóng gói và truyền nhận dữ liệu.</a:t>
            </a:r>
          </a:p>
        </p:txBody>
      </p:sp>
      <p:sp>
        <p:nvSpPr>
          <p:cNvPr id="4" name="Title 1"/>
          <p:cNvSpPr>
            <a:spLocks noGrp="1"/>
          </p:cNvSpPr>
          <p:nvPr>
            <p:ph type="title"/>
          </p:nvPr>
        </p:nvSpPr>
        <p:spPr>
          <a:xfrm>
            <a:off x="782283" y="717645"/>
            <a:ext cx="8596668" cy="726831"/>
          </a:xfrm>
        </p:spPr>
        <p:txBody>
          <a:bodyPr>
            <a:noAutofit/>
          </a:bodyPr>
          <a:lstStyle/>
          <a:p>
            <a:pPr algn="ctr"/>
            <a:r>
              <a:rPr lang="en-US" sz="1800" b="1" dirty="0">
                <a:solidFill>
                  <a:srgbClr val="C00000"/>
                </a:solidFill>
              </a:rPr>
              <a:t>TIÊU CHÍ – TỔ CHỨC CUNG CẤP DỊCH VỤ NHẬN, TRUYỀN, LƯU TRỮ HĐ</a:t>
            </a:r>
            <a:endParaRPr lang="vi-VN" sz="1800" dirty="0">
              <a:solidFill>
                <a:srgbClr val="C00000"/>
              </a:solidFill>
            </a:endParaRPr>
          </a:p>
        </p:txBody>
      </p:sp>
      <p:grpSp>
        <p:nvGrpSpPr>
          <p:cNvPr id="5" name="Group 4"/>
          <p:cNvGrpSpPr/>
          <p:nvPr/>
        </p:nvGrpSpPr>
        <p:grpSpPr>
          <a:xfrm>
            <a:off x="1" y="0"/>
            <a:ext cx="12030669" cy="791308"/>
            <a:chOff x="1" y="0"/>
            <a:chExt cx="12030669" cy="791308"/>
          </a:xfrm>
        </p:grpSpPr>
        <p:pic>
          <p:nvPicPr>
            <p:cNvPr id="6" name="Picture 5"/>
            <p:cNvPicPr>
              <a:picLocks noChangeAspect="1"/>
            </p:cNvPicPr>
            <p:nvPr/>
          </p:nvPicPr>
          <p:blipFill>
            <a:blip r:embed="rId2"/>
            <a:stretch>
              <a:fillRect/>
            </a:stretch>
          </p:blipFill>
          <p:spPr>
            <a:xfrm>
              <a:off x="1" y="0"/>
              <a:ext cx="954717" cy="791308"/>
            </a:xfrm>
            <a:prstGeom prst="rect">
              <a:avLst/>
            </a:prstGeom>
          </p:spPr>
        </p:pic>
        <p:sp>
          <p:nvSpPr>
            <p:cNvPr id="7" name="Title 1"/>
            <p:cNvSpPr txBox="1">
              <a:spLocks/>
            </p:cNvSpPr>
            <p:nvPr/>
          </p:nvSpPr>
          <p:spPr>
            <a:xfrm>
              <a:off x="954718" y="169473"/>
              <a:ext cx="1107595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00" b="1" dirty="0">
                  <a:solidFill>
                    <a:schemeClr val="tx1"/>
                  </a:solidFill>
                  <a:cs typeface="Times New Roman" panose="02020603050405020304" pitchFamily="18" charset="0"/>
                </a:rPr>
                <a:t>PHẦN 2: QUY ĐỊNH VỀ HÓA ĐƠN </a:t>
              </a:r>
              <a:r>
                <a:rPr lang="en-US" sz="1600" b="1" dirty="0">
                  <a:solidFill>
                    <a:schemeClr val="tx1"/>
                  </a:solidFill>
                </a:rPr>
                <a:t>– 14. TIÊU CHÍ LỰA CHỌN</a:t>
              </a:r>
              <a:endParaRPr lang="vi-VN" sz="1600" b="1" dirty="0">
                <a:solidFill>
                  <a:schemeClr val="tx1"/>
                </a:solidFill>
                <a:cs typeface="Times New Roman" panose="02020603050405020304" pitchFamily="18" charset="0"/>
              </a:endParaRPr>
            </a:p>
          </p:txBody>
        </p:sp>
      </p:grpSp>
    </p:spTree>
    <p:extLst>
      <p:ext uri="{BB962C8B-B14F-4D97-AF65-F5344CB8AC3E}">
        <p14:creationId xmlns:p14="http://schemas.microsoft.com/office/powerpoint/2010/main" val="221106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5346" y="791308"/>
            <a:ext cx="8596668" cy="726831"/>
          </a:xfrm>
        </p:spPr>
        <p:txBody>
          <a:bodyPr anchor="ctr">
            <a:noAutofit/>
          </a:bodyPr>
          <a:lstStyle/>
          <a:p>
            <a:pPr algn="ctr"/>
            <a:r>
              <a:rPr lang="en-US" sz="2000" b="1" dirty="0">
                <a:solidFill>
                  <a:srgbClr val="C00000"/>
                </a:solidFill>
              </a:rPr>
              <a:t>ĐĂNG TẢI THÔNG TIN CỦA TỔ CHỨC CUNG CẤP GIẢI PHÁP HĐĐT</a:t>
            </a:r>
            <a:endParaRPr lang="vi-VN" sz="2000" dirty="0">
              <a:solidFill>
                <a:srgbClr val="C00000"/>
              </a:solidFill>
            </a:endParaRPr>
          </a:p>
        </p:txBody>
      </p:sp>
      <p:sp>
        <p:nvSpPr>
          <p:cNvPr id="3" name="Content Placeholder 2"/>
          <p:cNvSpPr>
            <a:spLocks noGrp="1"/>
          </p:cNvSpPr>
          <p:nvPr>
            <p:ph idx="1"/>
          </p:nvPr>
        </p:nvSpPr>
        <p:spPr>
          <a:xfrm>
            <a:off x="795346" y="1648576"/>
            <a:ext cx="8596668" cy="4517094"/>
          </a:xfrm>
        </p:spPr>
        <p:txBody>
          <a:bodyPr anchor="ctr" anchorCtr="0">
            <a:noAutofit/>
          </a:bodyPr>
          <a:lstStyle/>
          <a:p>
            <a:pPr marL="0" indent="0" algn="just">
              <a:buNone/>
            </a:pPr>
            <a:r>
              <a:rPr lang="vi-VN" sz="2000" dirty="0">
                <a:solidFill>
                  <a:schemeClr val="tx1"/>
                </a:solidFill>
                <a:latin typeface="+mj-lt"/>
              </a:rPr>
              <a:t>- Tổng cục Thuế đăng tải công khai thông tin của tổ chức cung cấp giải pháp hóa đơn điện tử lên Cổng thông tin điện tử của Tổng cục Thuế. </a:t>
            </a:r>
          </a:p>
          <a:p>
            <a:pPr marL="0" indent="0" algn="just">
              <a:buNone/>
            </a:pPr>
            <a:r>
              <a:rPr lang="vi-VN" sz="2000" dirty="0">
                <a:solidFill>
                  <a:schemeClr val="tx1"/>
                </a:solidFill>
                <a:latin typeface="+mj-lt"/>
              </a:rPr>
              <a:t>- Tổ chức cung cấp giải pháp hóa đơn điện tử gửi hồ sơ chứng minh đáp ứng các tiêu chí tại khoản 1 Điều 8 Thông tư số 78/2021/TT-BTC, tài liệu mô tả dịch vụ và cam kết thực hiện đến Tổng cục Thuế. </a:t>
            </a:r>
          </a:p>
          <a:p>
            <a:pPr marL="0" indent="0" algn="just">
              <a:buNone/>
            </a:pPr>
            <a:r>
              <a:rPr lang="vi-VN" sz="2000" dirty="0">
                <a:solidFill>
                  <a:schemeClr val="tx1"/>
                </a:solidFill>
                <a:latin typeface="+mj-lt"/>
              </a:rPr>
              <a:t>- Trong vòng 10 ngày kể từ ngày nhận được hồ sơ, Tổng cục Thuế đăng công khai tài liệu mô tả dịch vụ và cam kết của tổ chức lên Cổng thông tin điện tử của Tổng cục Thuế. </a:t>
            </a:r>
          </a:p>
          <a:p>
            <a:pPr marL="0" indent="0" algn="just">
              <a:buNone/>
            </a:pPr>
            <a:r>
              <a:rPr lang="vi-VN" sz="2000" dirty="0">
                <a:solidFill>
                  <a:schemeClr val="tx1"/>
                </a:solidFill>
                <a:latin typeface="+mj-lt"/>
              </a:rPr>
              <a:t>- Các tổ chức phải chịu trách nhiệm về hồ sơ văn bản cung cấp. Trong quá trình hoạt động, trường hợp phát hiện tổ chức cung cấp dịch vụ không đúng quy định, Tổng cục Thuế thông báo và hủy thông tin công khai của tổ chức trên Cổng thông tin điện tử của Tổng cục Thuế.</a:t>
            </a:r>
          </a:p>
        </p:txBody>
      </p:sp>
      <p:grpSp>
        <p:nvGrpSpPr>
          <p:cNvPr id="4" name="Group 3"/>
          <p:cNvGrpSpPr/>
          <p:nvPr/>
        </p:nvGrpSpPr>
        <p:grpSpPr>
          <a:xfrm>
            <a:off x="1" y="0"/>
            <a:ext cx="12030669" cy="791308"/>
            <a:chOff x="1" y="0"/>
            <a:chExt cx="12030669"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Title 1"/>
            <p:cNvSpPr txBox="1">
              <a:spLocks/>
            </p:cNvSpPr>
            <p:nvPr/>
          </p:nvSpPr>
          <p:spPr>
            <a:xfrm>
              <a:off x="954718" y="169473"/>
              <a:ext cx="1107595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00" b="1" dirty="0">
                  <a:solidFill>
                    <a:schemeClr val="tx1"/>
                  </a:solidFill>
                  <a:cs typeface="Times New Roman" panose="02020603050405020304" pitchFamily="18" charset="0"/>
                </a:rPr>
                <a:t>PHẦN 2: QUY ĐỊNH VỀ HÓA ĐƠN </a:t>
              </a:r>
              <a:r>
                <a:rPr lang="en-US" sz="1600" b="1" dirty="0">
                  <a:solidFill>
                    <a:schemeClr val="tx1"/>
                  </a:solidFill>
                </a:rPr>
                <a:t>– 14. TIÊU CHÍ LỰA CHỌN</a:t>
              </a:r>
              <a:endParaRPr lang="vi-VN" sz="1600" b="1" dirty="0">
                <a:solidFill>
                  <a:schemeClr val="tx1"/>
                </a:solidFill>
                <a:cs typeface="Times New Roman" panose="02020603050405020304" pitchFamily="18" charset="0"/>
              </a:endParaRPr>
            </a:p>
          </p:txBody>
        </p:sp>
      </p:grpSp>
    </p:spTree>
    <p:extLst>
      <p:ext uri="{BB962C8B-B14F-4D97-AF65-F5344CB8AC3E}">
        <p14:creationId xmlns:p14="http://schemas.microsoft.com/office/powerpoint/2010/main" val="13915721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5346" y="632558"/>
            <a:ext cx="8596668" cy="726831"/>
          </a:xfrm>
        </p:spPr>
        <p:txBody>
          <a:bodyPr anchor="ctr">
            <a:noAutofit/>
          </a:bodyPr>
          <a:lstStyle/>
          <a:p>
            <a:pPr algn="ctr"/>
            <a:r>
              <a:rPr lang="vi-VN" sz="1800" b="1" dirty="0">
                <a:solidFill>
                  <a:srgbClr val="C00000"/>
                </a:solidFill>
              </a:rPr>
              <a:t> </a:t>
            </a:r>
            <a:r>
              <a:rPr lang="en-US" sz="1800" b="1" dirty="0">
                <a:solidFill>
                  <a:srgbClr val="C00000"/>
                </a:solidFill>
              </a:rPr>
              <a:t>LỰA CHỌN TỔ CHỨC CUNG CẤPDỊCH VỤ HĐĐT ĐỂ KÝ KẾT HỢP ĐỒNG CUNG CẤP DỊCH VỤ NHẬN, TRUYỀN, LƯU TRỮ DỮ LIỆU HĐĐT VỚI CQT</a:t>
            </a:r>
            <a:endParaRPr lang="vi-VN" sz="1800" dirty="0">
              <a:solidFill>
                <a:srgbClr val="C00000"/>
              </a:solidFill>
            </a:endParaRPr>
          </a:p>
        </p:txBody>
      </p:sp>
      <p:sp>
        <p:nvSpPr>
          <p:cNvPr id="3" name="Content Placeholder 2"/>
          <p:cNvSpPr>
            <a:spLocks noGrp="1"/>
          </p:cNvSpPr>
          <p:nvPr>
            <p:ph idx="1"/>
          </p:nvPr>
        </p:nvSpPr>
        <p:spPr>
          <a:xfrm>
            <a:off x="378823" y="1423866"/>
            <a:ext cx="9588137" cy="5332534"/>
          </a:xfrm>
        </p:spPr>
        <p:txBody>
          <a:bodyPr anchor="ctr" anchorCtr="0">
            <a:noAutofit/>
          </a:bodyPr>
          <a:lstStyle/>
          <a:p>
            <a:pPr marL="0" indent="0" algn="just">
              <a:buNone/>
            </a:pPr>
            <a:r>
              <a:rPr lang="vi-VN" sz="1900" dirty="0">
                <a:solidFill>
                  <a:schemeClr val="tx1"/>
                </a:solidFill>
                <a:latin typeface="+mj-lt"/>
              </a:rPr>
              <a:t>- Tổ chức đáp ứng đầy đủ các điều kiện quy định tại khoản 2 Điều 8 Thông tư 78/2021/TT-BTC gửi văn bản đề nghị ký hợp đồng cung cấp dịch vụ nhận, truyền, lưu trữ dữ liệu hóa đơn kèm theo hồ sơ chứng minh tới Tổng cục Thuế. </a:t>
            </a:r>
          </a:p>
          <a:p>
            <a:pPr marL="0" indent="0" algn="just">
              <a:buNone/>
            </a:pPr>
            <a:r>
              <a:rPr lang="vi-VN" sz="1900" dirty="0">
                <a:solidFill>
                  <a:schemeClr val="tx1"/>
                </a:solidFill>
                <a:latin typeface="+mj-lt"/>
              </a:rPr>
              <a:t>- Trong thời hạn 10 ngày làm việc kể từ ngày tổ chức cung cấp đầy đủ hồ sơ chứng minh, Tổng cục Thuế phối hợp với tổ chức thực hiện kết nối kỹ thuật và kiểm tra truyền nhận dữ liệu giữa hai bên. </a:t>
            </a:r>
          </a:p>
          <a:p>
            <a:pPr marL="0" indent="0" algn="just">
              <a:buNone/>
            </a:pPr>
            <a:r>
              <a:rPr lang="vi-VN" sz="1900" dirty="0">
                <a:solidFill>
                  <a:schemeClr val="tx1"/>
                </a:solidFill>
                <a:latin typeface="+mj-lt"/>
              </a:rPr>
              <a:t>- Sau khi kết nối thành công, Tổng cục Thuế và tổ chức ký hợp đồng cung cấp dịch vụ nhận, truyền, lưu trữ dữ liệu hóa đơn với cơ quan thuế theo Mẫu số 01/TCTN Phụ lục II.B ban hành kèm theo Thông tư 78/2021/TT-BTC. Thông tin về tổ chức cung cấp dịch vụ nhận, truyền, lưu trữ dữ liệu hóa đơn của cơ quan thuế sẽ được công khai trên Cổng thông tin điện tử của Tổng cục Thuế. </a:t>
            </a:r>
          </a:p>
          <a:p>
            <a:pPr marL="0" indent="0" algn="just">
              <a:buNone/>
            </a:pPr>
            <a:r>
              <a:rPr lang="vi-VN" sz="1900" dirty="0">
                <a:solidFill>
                  <a:schemeClr val="tx1"/>
                </a:solidFill>
                <a:latin typeface="+mj-lt"/>
              </a:rPr>
              <a:t>- Trong quá trình thực hiện hợp đồng, Tổng cục Thuế và tổ chức cung cấp dịch vụ hóa đơn điện tử thống nhất các nội dung về ủy quyền cấp mã trong trường hợp hệ thống cấp mã của cơ quan thuế gặp sự cố hoặc ủy thác thực hiện cung cấp hóa đơn điện tử có mã của cơ quan thuế không phải trả tiền dịch vụ cho các đối tượng quy định tại khoản 1 Điều 14 Nghị định số 123/2020/NĐ-CP.</a:t>
            </a:r>
          </a:p>
        </p:txBody>
      </p:sp>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Title 1"/>
          <p:cNvSpPr txBox="1">
            <a:spLocks/>
          </p:cNvSpPr>
          <p:nvPr/>
        </p:nvSpPr>
        <p:spPr>
          <a:xfrm>
            <a:off x="954718" y="169473"/>
            <a:ext cx="11075952" cy="491399"/>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00" b="1" dirty="0">
                <a:solidFill>
                  <a:schemeClr val="tx1"/>
                </a:solidFill>
                <a:cs typeface="Times New Roman" panose="02020603050405020304" pitchFamily="18" charset="0"/>
              </a:rPr>
              <a:t>PHẦN 2: QUY ĐỊNH VỀ HÓA ĐƠN </a:t>
            </a:r>
            <a:r>
              <a:rPr lang="en-US" sz="1600" b="1" dirty="0">
                <a:solidFill>
                  <a:schemeClr val="tx1"/>
                </a:solidFill>
              </a:rPr>
              <a:t>– 14. TIÊU CHÍ LỰA CHỌN</a:t>
            </a:r>
            <a:endParaRPr lang="vi-VN" sz="1600" b="1"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132296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677334" y="609599"/>
            <a:ext cx="8596668" cy="5622389"/>
          </a:xfrm>
        </p:spPr>
        <p:txBody>
          <a:bodyPr anchor="ctr" anchorCtr="0">
            <a:normAutofit/>
          </a:bodyPr>
          <a:lstStyle/>
          <a:p>
            <a:pPr algn="ctr"/>
            <a:r>
              <a:rPr lang="en-US" sz="4800" b="1" dirty="0">
                <a:solidFill>
                  <a:schemeClr val="tx1"/>
                </a:solidFill>
                <a:latin typeface="Cambria" panose="02040503050406030204" pitchFamily="18" charset="0"/>
              </a:rPr>
              <a:t>PHẦN 3 – QUY ĐỊNH VỀ </a:t>
            </a:r>
            <a:br>
              <a:rPr lang="en-US" sz="4800" b="1" dirty="0">
                <a:solidFill>
                  <a:schemeClr val="tx1"/>
                </a:solidFill>
                <a:latin typeface="Cambria" panose="02040503050406030204" pitchFamily="18" charset="0"/>
              </a:rPr>
            </a:br>
            <a:r>
              <a:rPr lang="en-US" sz="4800" b="1" dirty="0">
                <a:solidFill>
                  <a:schemeClr val="tx1"/>
                </a:solidFill>
                <a:latin typeface="Cambria" panose="02040503050406030204" pitchFamily="18" charset="0"/>
              </a:rPr>
              <a:t>CHỨNG TỪ</a:t>
            </a:r>
            <a:br>
              <a:rPr lang="en-US" sz="4800" b="1" dirty="0">
                <a:solidFill>
                  <a:schemeClr val="tx1"/>
                </a:solidFill>
                <a:latin typeface="Cambria" panose="02040503050406030204" pitchFamily="18" charset="0"/>
              </a:rPr>
            </a:br>
            <a:r>
              <a:rPr lang="en-US" sz="4800" b="1" dirty="0">
                <a:solidFill>
                  <a:schemeClr val="tx1"/>
                </a:solidFill>
                <a:latin typeface="Cambria" panose="02040503050406030204" pitchFamily="18" charset="0"/>
              </a:rPr>
              <a:t/>
            </a:r>
            <a:br>
              <a:rPr lang="en-US" sz="4800" b="1" dirty="0">
                <a:solidFill>
                  <a:schemeClr val="tx1"/>
                </a:solidFill>
                <a:latin typeface="Cambria" panose="02040503050406030204" pitchFamily="18" charset="0"/>
              </a:rPr>
            </a:br>
            <a:r>
              <a:rPr lang="en-US" sz="4000" b="1" dirty="0">
                <a:latin typeface="Cambria" panose="02040503050406030204" pitchFamily="18" charset="0"/>
              </a:rPr>
              <a:t/>
            </a:r>
            <a:br>
              <a:rPr lang="en-US" sz="4000" b="1" dirty="0">
                <a:latin typeface="Cambria" panose="02040503050406030204" pitchFamily="18" charset="0"/>
              </a:rPr>
            </a:br>
            <a:endParaRPr lang="vi-VN" sz="4000" dirty="0">
              <a:solidFill>
                <a:schemeClr val="tx1"/>
              </a:solidFill>
              <a:latin typeface="Cambria" panose="02040503050406030204" pitchFamily="18" charset="0"/>
            </a:endParaRPr>
          </a:p>
        </p:txBody>
      </p:sp>
      <p:pic>
        <p:nvPicPr>
          <p:cNvPr id="5" name="Picture 4"/>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41694302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Content Placeholder 4"/>
          <p:cNvSpPr>
            <a:spLocks noGrp="1"/>
          </p:cNvSpPr>
          <p:nvPr>
            <p:ph idx="1"/>
          </p:nvPr>
        </p:nvSpPr>
        <p:spPr>
          <a:xfrm>
            <a:off x="373487" y="791308"/>
            <a:ext cx="9826581" cy="5493582"/>
          </a:xfrm>
        </p:spPr>
        <p:txBody>
          <a:bodyPr anchor="ctr" anchorCtr="0">
            <a:noAutofit/>
          </a:bodyPr>
          <a:lstStyle/>
          <a:p>
            <a:pPr marL="0" indent="0">
              <a:buNone/>
            </a:pPr>
            <a:r>
              <a:rPr lang="en-US" sz="3200" b="1" dirty="0">
                <a:solidFill>
                  <a:schemeClr val="tx1"/>
                </a:solidFill>
                <a:latin typeface="+mj-lt"/>
              </a:rPr>
              <a:t>A. QUY ĐỊNH CHUNG</a:t>
            </a:r>
          </a:p>
          <a:p>
            <a:r>
              <a:rPr lang="en-US" sz="3200" dirty="0">
                <a:solidFill>
                  <a:schemeClr val="tx1"/>
                </a:solidFill>
                <a:latin typeface="+mj-lt"/>
              </a:rPr>
              <a:t>1. </a:t>
            </a:r>
            <a:r>
              <a:rPr lang="en-US" sz="3200" dirty="0" err="1">
                <a:solidFill>
                  <a:schemeClr val="tx1"/>
                </a:solidFill>
                <a:latin typeface="+mj-lt"/>
              </a:rPr>
              <a:t>Loại</a:t>
            </a:r>
            <a:r>
              <a:rPr lang="en-US" sz="3200" dirty="0">
                <a:solidFill>
                  <a:schemeClr val="tx1"/>
                </a:solidFill>
                <a:latin typeface="+mj-lt"/>
              </a:rPr>
              <a:t> </a:t>
            </a:r>
            <a:r>
              <a:rPr lang="en-US" sz="3200" dirty="0" err="1">
                <a:solidFill>
                  <a:schemeClr val="tx1"/>
                </a:solidFill>
                <a:latin typeface="+mj-lt"/>
              </a:rPr>
              <a:t>chứng</a:t>
            </a:r>
            <a:r>
              <a:rPr lang="en-US" sz="3200" dirty="0">
                <a:solidFill>
                  <a:schemeClr val="tx1"/>
                </a:solidFill>
                <a:latin typeface="+mj-lt"/>
              </a:rPr>
              <a:t> </a:t>
            </a:r>
            <a:r>
              <a:rPr lang="en-US" sz="3200" dirty="0" err="1">
                <a:solidFill>
                  <a:schemeClr val="tx1"/>
                </a:solidFill>
                <a:latin typeface="+mj-lt"/>
              </a:rPr>
              <a:t>từ</a:t>
            </a:r>
            <a:endParaRPr lang="en-US" sz="3200" dirty="0">
              <a:solidFill>
                <a:schemeClr val="tx1"/>
              </a:solidFill>
              <a:latin typeface="+mj-lt"/>
            </a:endParaRPr>
          </a:p>
          <a:p>
            <a:r>
              <a:rPr lang="en-US" sz="3200" dirty="0">
                <a:solidFill>
                  <a:schemeClr val="tx1"/>
                </a:solidFill>
                <a:latin typeface="+mj-lt"/>
              </a:rPr>
              <a:t>2. </a:t>
            </a:r>
            <a:r>
              <a:rPr lang="en-US" sz="3200" dirty="0" err="1">
                <a:solidFill>
                  <a:schemeClr val="tx1"/>
                </a:solidFill>
                <a:latin typeface="+mj-lt"/>
              </a:rPr>
              <a:t>Thời</a:t>
            </a:r>
            <a:r>
              <a:rPr lang="en-US" sz="3200" dirty="0">
                <a:solidFill>
                  <a:schemeClr val="tx1"/>
                </a:solidFill>
                <a:latin typeface="+mj-lt"/>
              </a:rPr>
              <a:t> </a:t>
            </a:r>
            <a:r>
              <a:rPr lang="en-US" sz="3200" dirty="0" err="1">
                <a:solidFill>
                  <a:schemeClr val="tx1"/>
                </a:solidFill>
                <a:latin typeface="+mj-lt"/>
              </a:rPr>
              <a:t>điểm</a:t>
            </a:r>
            <a:r>
              <a:rPr lang="en-US" sz="3200" dirty="0">
                <a:solidFill>
                  <a:schemeClr val="tx1"/>
                </a:solidFill>
                <a:latin typeface="+mj-lt"/>
              </a:rPr>
              <a:t> </a:t>
            </a:r>
            <a:r>
              <a:rPr lang="en-US" sz="3200" dirty="0" err="1">
                <a:solidFill>
                  <a:schemeClr val="tx1"/>
                </a:solidFill>
                <a:latin typeface="+mj-lt"/>
              </a:rPr>
              <a:t>lập</a:t>
            </a:r>
            <a:r>
              <a:rPr lang="en-US" sz="3200" dirty="0">
                <a:solidFill>
                  <a:schemeClr val="tx1"/>
                </a:solidFill>
                <a:latin typeface="+mj-lt"/>
              </a:rPr>
              <a:t> </a:t>
            </a:r>
            <a:r>
              <a:rPr lang="en-US" sz="3200" dirty="0" err="1">
                <a:solidFill>
                  <a:schemeClr val="tx1"/>
                </a:solidFill>
                <a:latin typeface="+mj-lt"/>
              </a:rPr>
              <a:t>chứng</a:t>
            </a:r>
            <a:r>
              <a:rPr lang="en-US" sz="3200" dirty="0">
                <a:solidFill>
                  <a:schemeClr val="tx1"/>
                </a:solidFill>
                <a:latin typeface="+mj-lt"/>
              </a:rPr>
              <a:t> </a:t>
            </a:r>
            <a:r>
              <a:rPr lang="en-US" sz="3200" dirty="0" err="1">
                <a:solidFill>
                  <a:schemeClr val="tx1"/>
                </a:solidFill>
                <a:latin typeface="+mj-lt"/>
              </a:rPr>
              <a:t>từ</a:t>
            </a:r>
            <a:endParaRPr lang="en-US" sz="3200" dirty="0">
              <a:solidFill>
                <a:schemeClr val="tx1"/>
              </a:solidFill>
              <a:latin typeface="+mj-lt"/>
            </a:endParaRPr>
          </a:p>
          <a:p>
            <a:r>
              <a:rPr lang="en-US" sz="3200" dirty="0">
                <a:solidFill>
                  <a:schemeClr val="tx1"/>
                </a:solidFill>
                <a:latin typeface="+mj-lt"/>
              </a:rPr>
              <a:t>3. </a:t>
            </a:r>
            <a:r>
              <a:rPr lang="en-US" sz="3200" dirty="0" err="1">
                <a:solidFill>
                  <a:schemeClr val="tx1"/>
                </a:solidFill>
                <a:latin typeface="+mj-lt"/>
              </a:rPr>
              <a:t>Nội</a:t>
            </a:r>
            <a:r>
              <a:rPr lang="en-US" sz="3200" dirty="0">
                <a:solidFill>
                  <a:schemeClr val="tx1"/>
                </a:solidFill>
                <a:latin typeface="+mj-lt"/>
              </a:rPr>
              <a:t> dung </a:t>
            </a:r>
            <a:r>
              <a:rPr lang="en-US" sz="3200" dirty="0" err="1">
                <a:solidFill>
                  <a:schemeClr val="tx1"/>
                </a:solidFill>
                <a:latin typeface="+mj-lt"/>
              </a:rPr>
              <a:t>chứng</a:t>
            </a:r>
            <a:r>
              <a:rPr lang="en-US" sz="3200" dirty="0">
                <a:solidFill>
                  <a:schemeClr val="tx1"/>
                </a:solidFill>
                <a:latin typeface="+mj-lt"/>
              </a:rPr>
              <a:t> </a:t>
            </a:r>
            <a:r>
              <a:rPr lang="en-US" sz="3200" dirty="0" err="1">
                <a:solidFill>
                  <a:schemeClr val="tx1"/>
                </a:solidFill>
                <a:latin typeface="+mj-lt"/>
              </a:rPr>
              <a:t>từ</a:t>
            </a:r>
            <a:endParaRPr lang="en-US" sz="3200" dirty="0">
              <a:solidFill>
                <a:schemeClr val="tx1"/>
              </a:solidFill>
              <a:latin typeface="+mj-lt"/>
            </a:endParaRPr>
          </a:p>
          <a:p>
            <a:pPr marL="0" indent="0">
              <a:buNone/>
            </a:pPr>
            <a:r>
              <a:rPr lang="en-US" sz="3200" b="1" dirty="0">
                <a:solidFill>
                  <a:schemeClr val="tx1"/>
                </a:solidFill>
                <a:latin typeface="+mj-lt"/>
              </a:rPr>
              <a:t>B. QUY ĐỊNH VỀ CHỨNG TỪ ĐIỆN TỬ</a:t>
            </a:r>
          </a:p>
          <a:p>
            <a:r>
              <a:rPr lang="en-US" sz="3200" dirty="0">
                <a:solidFill>
                  <a:schemeClr val="tx1"/>
                </a:solidFill>
                <a:latin typeface="+mj-lt"/>
              </a:rPr>
              <a:t>1. </a:t>
            </a:r>
            <a:r>
              <a:rPr lang="en-US" sz="3200" dirty="0" err="1">
                <a:solidFill>
                  <a:schemeClr val="tx1"/>
                </a:solidFill>
                <a:latin typeface="+mj-lt"/>
              </a:rPr>
              <a:t>Định</a:t>
            </a:r>
            <a:r>
              <a:rPr lang="en-US" sz="3200" dirty="0">
                <a:solidFill>
                  <a:schemeClr val="tx1"/>
                </a:solidFill>
                <a:latin typeface="+mj-lt"/>
              </a:rPr>
              <a:t> </a:t>
            </a:r>
            <a:r>
              <a:rPr lang="en-US" sz="3200" dirty="0" err="1">
                <a:solidFill>
                  <a:schemeClr val="tx1"/>
                </a:solidFill>
                <a:latin typeface="+mj-lt"/>
              </a:rPr>
              <a:t>dạng</a:t>
            </a:r>
            <a:r>
              <a:rPr lang="en-US" sz="3200" dirty="0">
                <a:solidFill>
                  <a:schemeClr val="tx1"/>
                </a:solidFill>
                <a:latin typeface="+mj-lt"/>
              </a:rPr>
              <a:t> </a:t>
            </a:r>
            <a:r>
              <a:rPr lang="en-US" sz="3200" dirty="0" err="1">
                <a:solidFill>
                  <a:schemeClr val="tx1"/>
                </a:solidFill>
                <a:latin typeface="+mj-lt"/>
              </a:rPr>
              <a:t>chứng</a:t>
            </a:r>
            <a:r>
              <a:rPr lang="en-US" sz="3200" dirty="0">
                <a:solidFill>
                  <a:schemeClr val="tx1"/>
                </a:solidFill>
                <a:latin typeface="+mj-lt"/>
              </a:rPr>
              <a:t> </a:t>
            </a:r>
            <a:r>
              <a:rPr lang="en-US" sz="3200" dirty="0" err="1">
                <a:solidFill>
                  <a:schemeClr val="tx1"/>
                </a:solidFill>
                <a:latin typeface="+mj-lt"/>
              </a:rPr>
              <a:t>từ</a:t>
            </a:r>
            <a:r>
              <a:rPr lang="en-US" sz="3200" dirty="0">
                <a:solidFill>
                  <a:schemeClr val="tx1"/>
                </a:solidFill>
                <a:latin typeface="+mj-lt"/>
              </a:rPr>
              <a:t> </a:t>
            </a:r>
            <a:r>
              <a:rPr lang="en-US" sz="3200" dirty="0" err="1">
                <a:solidFill>
                  <a:schemeClr val="tx1"/>
                </a:solidFill>
                <a:latin typeface="+mj-lt"/>
              </a:rPr>
              <a:t>điện</a:t>
            </a:r>
            <a:r>
              <a:rPr lang="en-US" sz="3200" dirty="0">
                <a:solidFill>
                  <a:schemeClr val="tx1"/>
                </a:solidFill>
                <a:latin typeface="+mj-lt"/>
              </a:rPr>
              <a:t> </a:t>
            </a:r>
            <a:r>
              <a:rPr lang="en-US" sz="3200" dirty="0" err="1">
                <a:solidFill>
                  <a:schemeClr val="tx1"/>
                </a:solidFill>
                <a:latin typeface="+mj-lt"/>
              </a:rPr>
              <a:t>tử</a:t>
            </a:r>
            <a:endParaRPr lang="en-US" sz="3200" dirty="0">
              <a:solidFill>
                <a:schemeClr val="tx1"/>
              </a:solidFill>
              <a:latin typeface="+mj-lt"/>
            </a:endParaRPr>
          </a:p>
          <a:p>
            <a:r>
              <a:rPr lang="en-US" sz="3200" dirty="0">
                <a:solidFill>
                  <a:schemeClr val="tx1"/>
                </a:solidFill>
                <a:latin typeface="+mj-lt"/>
              </a:rPr>
              <a:t>2. </a:t>
            </a:r>
            <a:r>
              <a:rPr lang="en-US" sz="3200" dirty="0" err="1">
                <a:solidFill>
                  <a:schemeClr val="tx1"/>
                </a:solidFill>
                <a:latin typeface="+mj-lt"/>
              </a:rPr>
              <a:t>Đăng</a:t>
            </a:r>
            <a:r>
              <a:rPr lang="en-US" sz="3200" dirty="0">
                <a:solidFill>
                  <a:schemeClr val="tx1"/>
                </a:solidFill>
                <a:latin typeface="+mj-lt"/>
              </a:rPr>
              <a:t> </a:t>
            </a:r>
            <a:r>
              <a:rPr lang="en-US" sz="3200" dirty="0" err="1">
                <a:solidFill>
                  <a:schemeClr val="tx1"/>
                </a:solidFill>
                <a:latin typeface="+mj-lt"/>
              </a:rPr>
              <a:t>ký</a:t>
            </a:r>
            <a:r>
              <a:rPr lang="en-US" sz="3200" dirty="0">
                <a:solidFill>
                  <a:schemeClr val="tx1"/>
                </a:solidFill>
                <a:latin typeface="+mj-lt"/>
              </a:rPr>
              <a:t> </a:t>
            </a:r>
            <a:r>
              <a:rPr lang="en-US" sz="3200" dirty="0" err="1">
                <a:solidFill>
                  <a:schemeClr val="tx1"/>
                </a:solidFill>
                <a:latin typeface="+mj-lt"/>
              </a:rPr>
              <a:t>sử</a:t>
            </a:r>
            <a:r>
              <a:rPr lang="en-US" sz="3200" dirty="0">
                <a:solidFill>
                  <a:schemeClr val="tx1"/>
                </a:solidFill>
                <a:latin typeface="+mj-lt"/>
              </a:rPr>
              <a:t> </a:t>
            </a:r>
            <a:r>
              <a:rPr lang="en-US" sz="3200" dirty="0" err="1">
                <a:solidFill>
                  <a:schemeClr val="tx1"/>
                </a:solidFill>
                <a:latin typeface="+mj-lt"/>
              </a:rPr>
              <a:t>dụng</a:t>
            </a:r>
            <a:r>
              <a:rPr lang="en-US" sz="3200" dirty="0">
                <a:solidFill>
                  <a:schemeClr val="tx1"/>
                </a:solidFill>
                <a:latin typeface="+mj-lt"/>
              </a:rPr>
              <a:t> </a:t>
            </a:r>
            <a:r>
              <a:rPr lang="en-US" sz="3200" dirty="0" err="1">
                <a:solidFill>
                  <a:schemeClr val="tx1"/>
                </a:solidFill>
                <a:latin typeface="+mj-lt"/>
              </a:rPr>
              <a:t>biên</a:t>
            </a:r>
            <a:r>
              <a:rPr lang="en-US" sz="3200" dirty="0">
                <a:solidFill>
                  <a:schemeClr val="tx1"/>
                </a:solidFill>
                <a:latin typeface="+mj-lt"/>
              </a:rPr>
              <a:t> </a:t>
            </a:r>
            <a:r>
              <a:rPr lang="en-US" sz="3200" dirty="0" err="1">
                <a:solidFill>
                  <a:schemeClr val="tx1"/>
                </a:solidFill>
                <a:latin typeface="+mj-lt"/>
              </a:rPr>
              <a:t>lai</a:t>
            </a:r>
            <a:r>
              <a:rPr lang="en-US" sz="3200" dirty="0">
                <a:solidFill>
                  <a:schemeClr val="tx1"/>
                </a:solidFill>
                <a:latin typeface="+mj-lt"/>
              </a:rPr>
              <a:t> </a:t>
            </a:r>
            <a:r>
              <a:rPr lang="en-US" sz="3200" dirty="0" err="1">
                <a:solidFill>
                  <a:schemeClr val="tx1"/>
                </a:solidFill>
                <a:latin typeface="+mj-lt"/>
              </a:rPr>
              <a:t>điện</a:t>
            </a:r>
            <a:r>
              <a:rPr lang="en-US" sz="3200" dirty="0">
                <a:solidFill>
                  <a:schemeClr val="tx1"/>
                </a:solidFill>
                <a:latin typeface="+mj-lt"/>
              </a:rPr>
              <a:t> </a:t>
            </a:r>
            <a:r>
              <a:rPr lang="en-US" sz="3200" dirty="0" err="1">
                <a:solidFill>
                  <a:schemeClr val="tx1"/>
                </a:solidFill>
                <a:latin typeface="+mj-lt"/>
              </a:rPr>
              <a:t>tử</a:t>
            </a:r>
            <a:endParaRPr lang="en-US" sz="3200" dirty="0">
              <a:solidFill>
                <a:schemeClr val="tx1"/>
              </a:solidFill>
              <a:latin typeface="+mj-lt"/>
            </a:endParaRPr>
          </a:p>
        </p:txBody>
      </p:sp>
      <p:grpSp>
        <p:nvGrpSpPr>
          <p:cNvPr id="7" name="Group 6"/>
          <p:cNvGrpSpPr/>
          <p:nvPr/>
        </p:nvGrpSpPr>
        <p:grpSpPr>
          <a:xfrm>
            <a:off x="1" y="0"/>
            <a:ext cx="7158445" cy="791308"/>
            <a:chOff x="1" y="0"/>
            <a:chExt cx="7158445" cy="791308"/>
          </a:xfrm>
        </p:grpSpPr>
        <p:pic>
          <p:nvPicPr>
            <p:cNvPr id="6" name="Picture 5"/>
            <p:cNvPicPr>
              <a:picLocks noChangeAspect="1"/>
            </p:cNvPicPr>
            <p:nvPr/>
          </p:nvPicPr>
          <p:blipFill>
            <a:blip r:embed="rId2"/>
            <a:stretch>
              <a:fillRect/>
            </a:stretch>
          </p:blipFill>
          <p:spPr>
            <a:xfrm>
              <a:off x="1" y="0"/>
              <a:ext cx="954717" cy="791308"/>
            </a:xfrm>
            <a:prstGeom prst="rect">
              <a:avLst/>
            </a:prstGeom>
          </p:spPr>
        </p:pic>
        <p:sp>
          <p:nvSpPr>
            <p:cNvPr id="4" name="Rectangle 3"/>
            <p:cNvSpPr/>
            <p:nvPr/>
          </p:nvSpPr>
          <p:spPr>
            <a:xfrm>
              <a:off x="1062446" y="144977"/>
              <a:ext cx="6096000" cy="369332"/>
            </a:xfrm>
            <a:prstGeom prst="rect">
              <a:avLst/>
            </a:prstGeom>
          </p:spPr>
          <p:txBody>
            <a:bodyPr>
              <a:spAutoFit/>
            </a:bodyPr>
            <a:lstStyle/>
            <a:p>
              <a:r>
                <a:rPr lang="en-US" b="1" dirty="0">
                  <a:latin typeface="+mj-lt"/>
                </a:rPr>
                <a:t>PHẦN 3 – QUY ĐỊNH VỀ CHỨNG TỪ</a:t>
              </a:r>
              <a:endParaRPr lang="en-US" dirty="0">
                <a:latin typeface="+mj-lt"/>
              </a:endParaRPr>
            </a:p>
          </p:txBody>
        </p:sp>
      </p:grpSp>
    </p:spTree>
    <p:extLst>
      <p:ext uri="{BB962C8B-B14F-4D97-AF65-F5344CB8AC3E}">
        <p14:creationId xmlns:p14="http://schemas.microsoft.com/office/powerpoint/2010/main" val="10899373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itle 1"/>
          <p:cNvSpPr>
            <a:spLocks noGrp="1"/>
          </p:cNvSpPr>
          <p:nvPr>
            <p:ph type="title"/>
          </p:nvPr>
        </p:nvSpPr>
        <p:spPr>
          <a:xfrm>
            <a:off x="757852" y="476129"/>
            <a:ext cx="8596668" cy="536746"/>
          </a:xfrm>
        </p:spPr>
        <p:txBody>
          <a:bodyPr>
            <a:noAutofit/>
          </a:bodyPr>
          <a:lstStyle/>
          <a:p>
            <a:pPr algn="ctr"/>
            <a:r>
              <a:rPr lang="en-US" sz="3000" b="1" dirty="0">
                <a:solidFill>
                  <a:srgbClr val="C00000"/>
                </a:solidFill>
              </a:rPr>
              <a:t>A. QUY ĐỊNH CHUNG</a:t>
            </a:r>
          </a:p>
        </p:txBody>
      </p:sp>
      <p:sp>
        <p:nvSpPr>
          <p:cNvPr id="5" name="Content Placeholder 4"/>
          <p:cNvSpPr>
            <a:spLocks noGrp="1"/>
          </p:cNvSpPr>
          <p:nvPr>
            <p:ph idx="1"/>
          </p:nvPr>
        </p:nvSpPr>
        <p:spPr>
          <a:xfrm>
            <a:off x="677334" y="1012875"/>
            <a:ext cx="8596668" cy="4733067"/>
          </a:xfrm>
        </p:spPr>
        <p:txBody>
          <a:bodyPr anchor="t" anchorCtr="0">
            <a:normAutofit/>
          </a:bodyPr>
          <a:lstStyle/>
          <a:p>
            <a:pPr marL="0" indent="0" algn="ctr">
              <a:buNone/>
            </a:pPr>
            <a:r>
              <a:rPr lang="en-US" sz="2000" b="1" dirty="0">
                <a:solidFill>
                  <a:schemeClr val="accent5"/>
                </a:solidFill>
                <a:latin typeface="+mj-lt"/>
              </a:rPr>
              <a:t> LOẠI CHỨNG TỪ</a:t>
            </a:r>
          </a:p>
          <a:p>
            <a:pPr marL="0" indent="0" algn="ctr">
              <a:buNone/>
            </a:pPr>
            <a:endParaRPr lang="en-US" sz="3200" b="1" dirty="0">
              <a:solidFill>
                <a:schemeClr val="accent5"/>
              </a:solidFill>
              <a:latin typeface="Cambria" panose="02040503050406030204" pitchFamily="18" charset="0"/>
            </a:endParaRPr>
          </a:p>
        </p:txBody>
      </p:sp>
      <p:graphicFrame>
        <p:nvGraphicFramePr>
          <p:cNvPr id="6" name="Content Placeholder 4"/>
          <p:cNvGraphicFramePr>
            <a:graphicFrameLocks/>
          </p:cNvGraphicFramePr>
          <p:nvPr>
            <p:extLst>
              <p:ext uri="{D42A27DB-BD31-4B8C-83A1-F6EECF244321}">
                <p14:modId xmlns:p14="http://schemas.microsoft.com/office/powerpoint/2010/main" val="2758253180"/>
              </p:ext>
            </p:extLst>
          </p:nvPr>
        </p:nvGraphicFramePr>
        <p:xfrm>
          <a:off x="838199" y="1562100"/>
          <a:ext cx="8435975" cy="5119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7" name="Group 6"/>
          <p:cNvGrpSpPr/>
          <p:nvPr/>
        </p:nvGrpSpPr>
        <p:grpSpPr>
          <a:xfrm>
            <a:off x="1" y="0"/>
            <a:ext cx="10112369" cy="791308"/>
            <a:chOff x="1" y="0"/>
            <a:chExt cx="10112369" cy="791308"/>
          </a:xfrm>
        </p:grpSpPr>
        <p:pic>
          <p:nvPicPr>
            <p:cNvPr id="8" name="Picture 7"/>
            <p:cNvPicPr>
              <a:picLocks noChangeAspect="1"/>
            </p:cNvPicPr>
            <p:nvPr/>
          </p:nvPicPr>
          <p:blipFill>
            <a:blip r:embed="rId7"/>
            <a:stretch>
              <a:fillRect/>
            </a:stretch>
          </p:blipFill>
          <p:spPr>
            <a:xfrm>
              <a:off x="1" y="0"/>
              <a:ext cx="954717" cy="791308"/>
            </a:xfrm>
            <a:prstGeom prst="rect">
              <a:avLst/>
            </a:prstGeom>
          </p:spPr>
        </p:pic>
        <p:sp>
          <p:nvSpPr>
            <p:cNvPr id="9" name="Rectangle 8"/>
            <p:cNvSpPr/>
            <p:nvPr/>
          </p:nvSpPr>
          <p:spPr>
            <a:xfrm>
              <a:off x="1062445" y="144977"/>
              <a:ext cx="9049925" cy="369332"/>
            </a:xfrm>
            <a:prstGeom prst="rect">
              <a:avLst/>
            </a:prstGeom>
          </p:spPr>
          <p:txBody>
            <a:bodyPr wrap="square">
              <a:spAutoFit/>
            </a:bodyPr>
            <a:lstStyle/>
            <a:p>
              <a:r>
                <a:rPr lang="en-US" b="1" dirty="0">
                  <a:latin typeface="+mj-lt"/>
                </a:rPr>
                <a:t>PHẦN 3 – QUY ĐỊNH VỀ CHỨNG TỪ - A. QUY ĐỊNH CHUNG LOẠI CHỨNG TỪ</a:t>
              </a:r>
              <a:endParaRPr lang="en-US" dirty="0">
                <a:latin typeface="+mj-lt"/>
              </a:endParaRPr>
            </a:p>
          </p:txBody>
        </p:sp>
      </p:grpSp>
    </p:spTree>
    <p:extLst>
      <p:ext uri="{BB962C8B-B14F-4D97-AF65-F5344CB8AC3E}">
        <p14:creationId xmlns:p14="http://schemas.microsoft.com/office/powerpoint/2010/main" val="32006715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8807" y="1529972"/>
            <a:ext cx="8596668" cy="726831"/>
          </a:xfrm>
        </p:spPr>
        <p:txBody>
          <a:bodyPr>
            <a:noAutofit/>
          </a:bodyPr>
          <a:lstStyle/>
          <a:p>
            <a:pPr algn="ctr"/>
            <a:r>
              <a:rPr lang="en-US" sz="3200" b="1" dirty="0">
                <a:solidFill>
                  <a:schemeClr val="accent5"/>
                </a:solidFill>
              </a:rPr>
              <a:t>THỜI ĐIỂM LẬP CHỨNG TỪ</a:t>
            </a:r>
            <a:r>
              <a:rPr lang="en-US" sz="3000" b="1" dirty="0">
                <a:solidFill>
                  <a:schemeClr val="accent5"/>
                </a:solidFill>
                <a:latin typeface="Cambria" panose="02040503050406030204" pitchFamily="18" charset="0"/>
              </a:rPr>
              <a:t/>
            </a:r>
            <a:br>
              <a:rPr lang="en-US" sz="3000" b="1" dirty="0">
                <a:solidFill>
                  <a:schemeClr val="accent5"/>
                </a:solidFill>
                <a:latin typeface="Cambria" panose="02040503050406030204" pitchFamily="18" charset="0"/>
              </a:rPr>
            </a:br>
            <a:endParaRPr lang="vi-VN" sz="3000" b="1" dirty="0">
              <a:solidFill>
                <a:schemeClr val="accent5"/>
              </a:solidFill>
              <a:latin typeface="Cambria" panose="02040503050406030204" pitchFamily="18" charset="0"/>
            </a:endParaRPr>
          </a:p>
        </p:txBody>
      </p:sp>
      <p:sp>
        <p:nvSpPr>
          <p:cNvPr id="3" name="Content Placeholder 2"/>
          <p:cNvSpPr>
            <a:spLocks noGrp="1"/>
          </p:cNvSpPr>
          <p:nvPr>
            <p:ph idx="1"/>
          </p:nvPr>
        </p:nvSpPr>
        <p:spPr>
          <a:xfrm>
            <a:off x="373487" y="2256803"/>
            <a:ext cx="9697792" cy="4202713"/>
          </a:xfrm>
        </p:spPr>
        <p:txBody>
          <a:bodyPr anchor="ctr" anchorCtr="0">
            <a:normAutofit/>
          </a:bodyPr>
          <a:lstStyle/>
          <a:p>
            <a:pPr marL="0" indent="0" algn="just">
              <a:buNone/>
            </a:pPr>
            <a:r>
              <a:rPr lang="vi-VN" sz="3200" dirty="0">
                <a:solidFill>
                  <a:schemeClr val="tx1"/>
                </a:solidFill>
                <a:latin typeface="+mj-lt"/>
              </a:rPr>
              <a:t>Tại thời điểm khấu trừ thuế thu nhập cá nhân, thời điểm thu thuế, phí, lệ phí, tổ chức khấu trừ thuế thu nhập cá nhân, tổ chức thu thuế, phí, lệ phí phải lập chứng từ, biên lai giao cho người có thu nhập bị khấu trừ thuế, người nộp các khoản thuế, phí, lệ phí.</a:t>
            </a:r>
          </a:p>
          <a:p>
            <a:pPr marL="0" indent="0" algn="just">
              <a:buNone/>
            </a:pPr>
            <a:endParaRPr lang="vi-VN" sz="2000" dirty="0">
              <a:solidFill>
                <a:schemeClr val="tx1"/>
              </a:solidFill>
              <a:latin typeface="+mj-lt"/>
            </a:endParaRPr>
          </a:p>
          <a:p>
            <a:pPr marL="0" indent="0" algn="just">
              <a:buNone/>
            </a:pPr>
            <a:r>
              <a:rPr lang="vi-VN" sz="2000" i="1" dirty="0">
                <a:solidFill>
                  <a:schemeClr val="tx1"/>
                </a:solidFill>
                <a:latin typeface="+mj-lt"/>
              </a:rPr>
              <a:t>(Điều 31 Nghị định số 123/2020/NĐ-CP)</a:t>
            </a:r>
            <a:endParaRPr lang="vi-VN" sz="2000" dirty="0">
              <a:solidFill>
                <a:schemeClr val="tx1"/>
              </a:solidFill>
              <a:latin typeface="+mj-lt"/>
            </a:endParaRPr>
          </a:p>
          <a:p>
            <a:pPr marL="0" indent="0">
              <a:buNone/>
            </a:pPr>
            <a:endParaRPr lang="vi-VN" sz="1900" dirty="0">
              <a:solidFill>
                <a:schemeClr val="tx1"/>
              </a:solidFill>
              <a:latin typeface="+mj-lt"/>
            </a:endParaRPr>
          </a:p>
        </p:txBody>
      </p:sp>
      <p:grpSp>
        <p:nvGrpSpPr>
          <p:cNvPr id="4" name="Group 3"/>
          <p:cNvGrpSpPr/>
          <p:nvPr/>
        </p:nvGrpSpPr>
        <p:grpSpPr>
          <a:xfrm>
            <a:off x="1" y="0"/>
            <a:ext cx="7158445" cy="791308"/>
            <a:chOff x="1" y="0"/>
            <a:chExt cx="7158445"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1062446" y="144977"/>
              <a:ext cx="6096000" cy="646331"/>
            </a:xfrm>
            <a:prstGeom prst="rect">
              <a:avLst/>
            </a:prstGeom>
          </p:spPr>
          <p:txBody>
            <a:bodyPr>
              <a:spAutoFit/>
            </a:bodyPr>
            <a:lstStyle/>
            <a:p>
              <a:r>
                <a:rPr lang="en-US" b="1" dirty="0">
                  <a:latin typeface="+mj-lt"/>
                </a:rPr>
                <a:t>PHẦN 3 – QUY ĐỊNH VỀ CHỨNG TỪ - A. QUY ĐỊNH CHUNG</a:t>
              </a:r>
              <a:endParaRPr lang="en-US" dirty="0">
                <a:latin typeface="+mj-lt"/>
              </a:endParaRPr>
            </a:p>
          </p:txBody>
        </p:sp>
      </p:grpSp>
      <p:sp>
        <p:nvSpPr>
          <p:cNvPr id="7" name="Rectangle 6"/>
          <p:cNvSpPr/>
          <p:nvPr/>
        </p:nvSpPr>
        <p:spPr>
          <a:xfrm>
            <a:off x="3284284" y="791308"/>
            <a:ext cx="3720699" cy="584775"/>
          </a:xfrm>
          <a:prstGeom prst="rect">
            <a:avLst/>
          </a:prstGeom>
        </p:spPr>
        <p:txBody>
          <a:bodyPr wrap="none">
            <a:spAutoFit/>
          </a:bodyPr>
          <a:lstStyle/>
          <a:p>
            <a:r>
              <a:rPr lang="en-US" sz="2400" b="1" dirty="0">
                <a:solidFill>
                  <a:srgbClr val="C00000"/>
                </a:solidFill>
                <a:latin typeface="+mj-lt"/>
              </a:rPr>
              <a:t>A. QUY ĐỊNH </a:t>
            </a:r>
            <a:r>
              <a:rPr lang="en-US" sz="3200" b="1" dirty="0">
                <a:solidFill>
                  <a:srgbClr val="C00000"/>
                </a:solidFill>
                <a:latin typeface="+mj-lt"/>
              </a:rPr>
              <a:t>CHUNG</a:t>
            </a:r>
            <a:endParaRPr lang="en-US" sz="3200" dirty="0">
              <a:latin typeface="+mj-lt"/>
            </a:endParaRPr>
          </a:p>
        </p:txBody>
      </p:sp>
    </p:spTree>
    <p:extLst>
      <p:ext uri="{BB962C8B-B14F-4D97-AF65-F5344CB8AC3E}">
        <p14:creationId xmlns:p14="http://schemas.microsoft.com/office/powerpoint/2010/main" val="289730918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1186375"/>
            <a:ext cx="8596668" cy="642425"/>
          </a:xfrm>
        </p:spPr>
        <p:txBody>
          <a:bodyPr anchor="ctr" anchorCtr="0">
            <a:noAutofit/>
          </a:bodyPr>
          <a:lstStyle/>
          <a:p>
            <a:pPr algn="ctr"/>
            <a:r>
              <a:rPr lang="vi-VN" sz="2200" b="1" dirty="0">
                <a:solidFill>
                  <a:srgbClr val="C00000"/>
                </a:solidFill>
              </a:rPr>
              <a:t>M</a:t>
            </a:r>
            <a:r>
              <a:rPr lang="en-US" sz="2200" b="1" dirty="0">
                <a:solidFill>
                  <a:srgbClr val="C00000"/>
                </a:solidFill>
              </a:rPr>
              <a:t>ẪU HIỂN THỊ CHỨNG TỪ ĐIỆN TỬ</a:t>
            </a:r>
            <a:endParaRPr lang="vi-VN" sz="2200" b="1" dirty="0">
              <a:solidFill>
                <a:srgbClr val="C00000"/>
              </a:solidFill>
            </a:endParaRPr>
          </a:p>
        </p:txBody>
      </p:sp>
      <p:sp>
        <p:nvSpPr>
          <p:cNvPr id="3" name="Content Placeholder 2"/>
          <p:cNvSpPr>
            <a:spLocks noGrp="1"/>
          </p:cNvSpPr>
          <p:nvPr>
            <p:ph idx="1"/>
          </p:nvPr>
        </p:nvSpPr>
        <p:spPr>
          <a:xfrm>
            <a:off x="476518" y="1828801"/>
            <a:ext cx="10959921" cy="4506712"/>
          </a:xfrm>
        </p:spPr>
        <p:txBody>
          <a:bodyPr vert="horz" anchor="ctr" anchorCtr="0">
            <a:noAutofit/>
          </a:bodyPr>
          <a:lstStyle/>
          <a:p>
            <a:pPr marL="0" indent="0" algn="just">
              <a:buNone/>
            </a:pPr>
            <a:r>
              <a:rPr lang="en-US" sz="2800" dirty="0">
                <a:solidFill>
                  <a:schemeClr val="tx1"/>
                </a:solidFill>
                <a:latin typeface="+mj-lt"/>
              </a:rPr>
              <a:t>	</a:t>
            </a:r>
            <a:r>
              <a:rPr lang="vi-VN" sz="2800" dirty="0">
                <a:solidFill>
                  <a:schemeClr val="tx1"/>
                </a:solidFill>
                <a:latin typeface="+mj-lt"/>
              </a:rPr>
              <a:t>Mẫu hiển thị chứng từ điện tử theo hướng dẫn tại khoản 10 Điều 4 Nghị định số 11/2020/NĐ-CP ngày 20 tháng 01 năm 2020 của Chính phủ quy định về thủ tục hành chính thuộc lĩnh vực Kho bạc Nhà nước và các văn bản hướng dẫn thi hành.</a:t>
            </a:r>
          </a:p>
          <a:p>
            <a:pPr marL="0" indent="0" algn="just">
              <a:buNone/>
            </a:pPr>
            <a:r>
              <a:rPr lang="en-US" sz="2800" i="1" dirty="0">
                <a:solidFill>
                  <a:schemeClr val="tx1"/>
                </a:solidFill>
                <a:latin typeface="+mj-lt"/>
              </a:rPr>
              <a:t>	</a:t>
            </a:r>
            <a:r>
              <a:rPr lang="vi-VN" sz="2800" i="1" dirty="0">
                <a:solidFill>
                  <a:schemeClr val="tx1"/>
                </a:solidFill>
                <a:latin typeface="+mj-lt"/>
              </a:rPr>
              <a:t>(Điều 32 Nghị định số 123/2020/NĐ-CP)</a:t>
            </a:r>
            <a:endParaRPr lang="vi-VN" sz="2800" dirty="0">
              <a:solidFill>
                <a:schemeClr val="tx1"/>
              </a:solidFill>
              <a:latin typeface="+mj-lt"/>
            </a:endParaRPr>
          </a:p>
          <a:p>
            <a:pPr marL="0" indent="0" algn="just">
              <a:buNone/>
            </a:pPr>
            <a:r>
              <a:rPr lang="en-US" sz="2800" dirty="0">
                <a:solidFill>
                  <a:schemeClr val="tx1"/>
                </a:solidFill>
                <a:latin typeface="+mj-lt"/>
              </a:rPr>
              <a:t>	</a:t>
            </a:r>
            <a:r>
              <a:rPr lang="vi-VN" sz="2800" dirty="0">
                <a:solidFill>
                  <a:schemeClr val="tx1"/>
                </a:solidFill>
                <a:latin typeface="+mj-lt"/>
              </a:rPr>
              <a:t>Đối với tổ chức thu phí, lệ phí sử dụng biên lai điện tử trong trường hợp cần điều chỉnh một số tiêu thức nội dung trên biên lai theo quy định tại khoản 2 Điều 32 Nghị định số 123/2020/NĐ-CP thì tổ chức có văn bản gửi Bộ Tài chính (Tổng cục Thuế) để được chấp thuận, thực hiện. </a:t>
            </a:r>
          </a:p>
          <a:p>
            <a:pPr marL="0" indent="0">
              <a:buNone/>
            </a:pPr>
            <a:endParaRPr lang="vi-VN" sz="1900" dirty="0">
              <a:solidFill>
                <a:schemeClr val="tx1"/>
              </a:solidFill>
              <a:latin typeface="Cambria" panose="02040503050406030204" pitchFamily="18" charset="0"/>
            </a:endParaRPr>
          </a:p>
        </p:txBody>
      </p:sp>
      <p:grpSp>
        <p:nvGrpSpPr>
          <p:cNvPr id="4" name="Group 3"/>
          <p:cNvGrpSpPr/>
          <p:nvPr/>
        </p:nvGrpSpPr>
        <p:grpSpPr>
          <a:xfrm>
            <a:off x="1" y="0"/>
            <a:ext cx="8739049" cy="791308"/>
            <a:chOff x="1" y="0"/>
            <a:chExt cx="8739049" cy="791308"/>
          </a:xfrm>
        </p:grpSpPr>
        <p:pic>
          <p:nvPicPr>
            <p:cNvPr id="5" name="Picture 4"/>
            <p:cNvPicPr>
              <a:picLocks noChangeAspect="1"/>
            </p:cNvPicPr>
            <p:nvPr/>
          </p:nvPicPr>
          <p:blipFill>
            <a:blip r:embed="rId3"/>
            <a:stretch>
              <a:fillRect/>
            </a:stretch>
          </p:blipFill>
          <p:spPr>
            <a:xfrm>
              <a:off x="1" y="0"/>
              <a:ext cx="954717" cy="791308"/>
            </a:xfrm>
            <a:prstGeom prst="rect">
              <a:avLst/>
            </a:prstGeom>
          </p:spPr>
        </p:pic>
        <p:sp>
          <p:nvSpPr>
            <p:cNvPr id="6" name="Rectangle 5"/>
            <p:cNvSpPr/>
            <p:nvPr/>
          </p:nvSpPr>
          <p:spPr>
            <a:xfrm>
              <a:off x="1062445" y="144977"/>
              <a:ext cx="7676605" cy="369332"/>
            </a:xfrm>
            <a:prstGeom prst="rect">
              <a:avLst/>
            </a:prstGeom>
          </p:spPr>
          <p:txBody>
            <a:bodyPr wrap="square">
              <a:spAutoFit/>
            </a:bodyPr>
            <a:lstStyle/>
            <a:p>
              <a:r>
                <a:rPr lang="en-US" b="1" dirty="0">
                  <a:latin typeface="+mj-lt"/>
                </a:rPr>
                <a:t>PHẦN 3 – QUY ĐỊNH VỀ CHỨNG TỪ - A. QUY ĐỊNH CHUNG</a:t>
              </a:r>
              <a:endParaRPr lang="en-US" dirty="0">
                <a:latin typeface="+mj-lt"/>
              </a:endParaRPr>
            </a:p>
          </p:txBody>
        </p:sp>
      </p:grpSp>
      <p:sp>
        <p:nvSpPr>
          <p:cNvPr id="7" name="Rectangle 6"/>
          <p:cNvSpPr/>
          <p:nvPr/>
        </p:nvSpPr>
        <p:spPr>
          <a:xfrm>
            <a:off x="3284284" y="791308"/>
            <a:ext cx="3339184" cy="461665"/>
          </a:xfrm>
          <a:prstGeom prst="rect">
            <a:avLst/>
          </a:prstGeom>
        </p:spPr>
        <p:txBody>
          <a:bodyPr wrap="none">
            <a:spAutoFit/>
          </a:bodyPr>
          <a:lstStyle/>
          <a:p>
            <a:r>
              <a:rPr lang="en-US" sz="2400" b="1" dirty="0">
                <a:solidFill>
                  <a:srgbClr val="C00000"/>
                </a:solidFill>
                <a:latin typeface="+mj-lt"/>
              </a:rPr>
              <a:t>A. QUY ĐỊNH CHUNG</a:t>
            </a:r>
            <a:endParaRPr lang="en-US" sz="2400" dirty="0">
              <a:latin typeface="+mj-lt"/>
            </a:endParaRPr>
          </a:p>
        </p:txBody>
      </p:sp>
    </p:spTree>
    <p:extLst>
      <p:ext uri="{BB962C8B-B14F-4D97-AF65-F5344CB8AC3E}">
        <p14:creationId xmlns:p14="http://schemas.microsoft.com/office/powerpoint/2010/main" val="36669879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itle 1"/>
          <p:cNvSpPr>
            <a:spLocks noGrp="1"/>
          </p:cNvSpPr>
          <p:nvPr>
            <p:ph type="title"/>
          </p:nvPr>
        </p:nvSpPr>
        <p:spPr>
          <a:xfrm>
            <a:off x="695459" y="601686"/>
            <a:ext cx="8169562" cy="660444"/>
          </a:xfrm>
        </p:spPr>
        <p:txBody>
          <a:bodyPr>
            <a:noAutofit/>
          </a:bodyPr>
          <a:lstStyle/>
          <a:p>
            <a:pPr algn="ctr"/>
            <a:r>
              <a:rPr lang="en-US" sz="3000" b="1" dirty="0">
                <a:solidFill>
                  <a:srgbClr val="C00000"/>
                </a:solidFill>
              </a:rPr>
              <a:t>B. CHỨNG TỪ ĐIỆN TỬ</a:t>
            </a:r>
          </a:p>
        </p:txBody>
      </p:sp>
      <p:sp>
        <p:nvSpPr>
          <p:cNvPr id="5" name="Content Placeholder 4"/>
          <p:cNvSpPr>
            <a:spLocks noGrp="1"/>
          </p:cNvSpPr>
          <p:nvPr>
            <p:ph idx="1"/>
          </p:nvPr>
        </p:nvSpPr>
        <p:spPr>
          <a:xfrm>
            <a:off x="360608" y="1392994"/>
            <a:ext cx="11127347" cy="5149473"/>
          </a:xfrm>
        </p:spPr>
        <p:txBody>
          <a:bodyPr anchor="t" anchorCtr="0">
            <a:normAutofit fontScale="32500" lnSpcReduction="20000"/>
          </a:bodyPr>
          <a:lstStyle/>
          <a:p>
            <a:pPr marL="0" indent="0" algn="ctr">
              <a:buNone/>
            </a:pPr>
            <a:r>
              <a:rPr lang="en-US" sz="5900" b="1" dirty="0">
                <a:solidFill>
                  <a:schemeClr val="accent5"/>
                </a:solidFill>
                <a:latin typeface="+mj-lt"/>
              </a:rPr>
              <a:t>BIÊN LAI ĐIỆN TỬ</a:t>
            </a:r>
          </a:p>
          <a:p>
            <a:pPr marL="0" indent="0" algn="just">
              <a:buNone/>
            </a:pPr>
            <a:r>
              <a:rPr lang="en-US" sz="7400" b="1" dirty="0">
                <a:solidFill>
                  <a:schemeClr val="tx1"/>
                </a:solidFill>
                <a:latin typeface="+mj-lt"/>
              </a:rPr>
              <a:t>	</a:t>
            </a:r>
            <a:r>
              <a:rPr lang="en-US" sz="7400" b="1" dirty="0" err="1">
                <a:solidFill>
                  <a:schemeClr val="tx1"/>
                </a:solidFill>
                <a:latin typeface="+mj-lt"/>
              </a:rPr>
              <a:t>Định</a:t>
            </a:r>
            <a:r>
              <a:rPr lang="en-US" sz="7400" b="1" dirty="0">
                <a:solidFill>
                  <a:schemeClr val="tx1"/>
                </a:solidFill>
                <a:latin typeface="+mj-lt"/>
              </a:rPr>
              <a:t> </a:t>
            </a:r>
            <a:r>
              <a:rPr lang="en-US" sz="7400" b="1" dirty="0" err="1">
                <a:solidFill>
                  <a:schemeClr val="tx1"/>
                </a:solidFill>
                <a:latin typeface="+mj-lt"/>
              </a:rPr>
              <a:t>dạng</a:t>
            </a:r>
            <a:r>
              <a:rPr lang="en-US" sz="7400" b="1" dirty="0">
                <a:solidFill>
                  <a:schemeClr val="tx1"/>
                </a:solidFill>
                <a:latin typeface="+mj-lt"/>
              </a:rPr>
              <a:t> </a:t>
            </a:r>
            <a:r>
              <a:rPr lang="en-US" sz="7400" b="1" dirty="0" err="1">
                <a:solidFill>
                  <a:schemeClr val="tx1"/>
                </a:solidFill>
                <a:latin typeface="+mj-lt"/>
              </a:rPr>
              <a:t>biên</a:t>
            </a:r>
            <a:r>
              <a:rPr lang="en-US" sz="7400" b="1" dirty="0">
                <a:solidFill>
                  <a:schemeClr val="tx1"/>
                </a:solidFill>
                <a:latin typeface="+mj-lt"/>
              </a:rPr>
              <a:t> </a:t>
            </a:r>
            <a:r>
              <a:rPr lang="en-US" sz="7400" b="1" dirty="0" err="1">
                <a:solidFill>
                  <a:schemeClr val="tx1"/>
                </a:solidFill>
                <a:latin typeface="+mj-lt"/>
              </a:rPr>
              <a:t>lai</a:t>
            </a:r>
            <a:r>
              <a:rPr lang="en-US" sz="7400" b="1" dirty="0">
                <a:solidFill>
                  <a:schemeClr val="tx1"/>
                </a:solidFill>
                <a:latin typeface="+mj-lt"/>
              </a:rPr>
              <a:t> </a:t>
            </a:r>
            <a:r>
              <a:rPr lang="en-US" sz="7400" b="1" dirty="0" err="1">
                <a:solidFill>
                  <a:schemeClr val="tx1"/>
                </a:solidFill>
                <a:latin typeface="+mj-lt"/>
              </a:rPr>
              <a:t>điện</a:t>
            </a:r>
            <a:r>
              <a:rPr lang="en-US" sz="7400" b="1" dirty="0">
                <a:solidFill>
                  <a:schemeClr val="tx1"/>
                </a:solidFill>
                <a:latin typeface="+mj-lt"/>
              </a:rPr>
              <a:t> </a:t>
            </a:r>
            <a:r>
              <a:rPr lang="en-US" sz="7400" b="1" dirty="0" err="1">
                <a:solidFill>
                  <a:schemeClr val="tx1"/>
                </a:solidFill>
                <a:latin typeface="+mj-lt"/>
              </a:rPr>
              <a:t>tử</a:t>
            </a:r>
            <a:endParaRPr lang="en-US" sz="7400" b="1" dirty="0">
              <a:solidFill>
                <a:schemeClr val="tx1"/>
              </a:solidFill>
              <a:latin typeface="+mj-lt"/>
            </a:endParaRPr>
          </a:p>
          <a:p>
            <a:pPr marL="0" indent="0" algn="just">
              <a:buNone/>
            </a:pPr>
            <a:r>
              <a:rPr lang="en-US" sz="7400" dirty="0">
                <a:solidFill>
                  <a:schemeClr val="tx1"/>
                </a:solidFill>
                <a:latin typeface="+mj-lt"/>
              </a:rPr>
              <a:t>	</a:t>
            </a:r>
            <a:r>
              <a:rPr lang="vi-VN" sz="7400" dirty="0">
                <a:solidFill>
                  <a:schemeClr val="tx1"/>
                </a:solidFill>
                <a:latin typeface="+mj-lt"/>
              </a:rPr>
              <a:t>Các loại biên lai quy định tại điểm b khoản 1 Điều 30 Nghị định số 123/2020/NĐ-CP phải thực hiện theo định dạng sau:</a:t>
            </a:r>
          </a:p>
          <a:p>
            <a:pPr marL="0" indent="0" algn="just">
              <a:buNone/>
            </a:pPr>
            <a:r>
              <a:rPr lang="en-US" sz="7400" dirty="0">
                <a:solidFill>
                  <a:schemeClr val="tx1"/>
                </a:solidFill>
                <a:latin typeface="+mj-lt"/>
              </a:rPr>
              <a:t>	</a:t>
            </a:r>
            <a:r>
              <a:rPr lang="vi-VN" sz="7400" dirty="0">
                <a:solidFill>
                  <a:schemeClr val="tx1"/>
                </a:solidFill>
                <a:latin typeface="+mj-lt"/>
              </a:rPr>
              <a:t>a) Định dạng biên lai điện tử sử dụng ngôn ngữ định dạng văn bản XML (XML là chữ viết tắt của cụm từ tiếng Anh "eXtensible Markup Language" được tạo ra với mục đích chia sẻ dữ liệu điện tử giữa các hệ thống công nghệ thông tin);</a:t>
            </a:r>
          </a:p>
          <a:p>
            <a:pPr marL="0" indent="0" algn="just">
              <a:buNone/>
            </a:pPr>
            <a:r>
              <a:rPr lang="en-US" sz="7400" dirty="0">
                <a:solidFill>
                  <a:schemeClr val="tx1"/>
                </a:solidFill>
                <a:latin typeface="+mj-lt"/>
              </a:rPr>
              <a:t>	</a:t>
            </a:r>
            <a:r>
              <a:rPr lang="vi-VN" sz="7400" dirty="0">
                <a:solidFill>
                  <a:schemeClr val="tx1"/>
                </a:solidFill>
                <a:latin typeface="+mj-lt"/>
              </a:rPr>
              <a:t>b) Định dạng biên lai điện tử gồm hai thành phần: thành phần chứa dữ liệu nghiệp vụ biên lai điện tử và thành phần chứa dữ liệu chữ ký số;</a:t>
            </a:r>
          </a:p>
          <a:p>
            <a:pPr marL="0" indent="0" algn="just">
              <a:buNone/>
            </a:pPr>
            <a:r>
              <a:rPr lang="en-US" sz="7400" dirty="0">
                <a:solidFill>
                  <a:schemeClr val="tx1"/>
                </a:solidFill>
                <a:latin typeface="+mj-lt"/>
              </a:rPr>
              <a:t>	</a:t>
            </a:r>
            <a:r>
              <a:rPr lang="vi-VN" sz="7400" dirty="0">
                <a:solidFill>
                  <a:schemeClr val="tx1"/>
                </a:solidFill>
                <a:latin typeface="+mj-lt"/>
              </a:rPr>
              <a:t>c) Tổng cục Thuế xây dựng và công bố thành phần chứa dữ liệu nghiệp vụ biên lai điện tử, thành phần chứa dữ liệu chữ ký số và cung cấp công cụ hiển thị các nội dung của biên lai điện tử theo quy định tại Nghị định số 123/2020/NĐ-CP.</a:t>
            </a:r>
            <a:endParaRPr lang="en-US" sz="7400" b="1" dirty="0">
              <a:solidFill>
                <a:schemeClr val="tx1"/>
              </a:solidFill>
              <a:latin typeface="+mj-lt"/>
            </a:endParaRPr>
          </a:p>
          <a:p>
            <a:pPr marL="0" indent="0" algn="ctr">
              <a:buNone/>
            </a:pPr>
            <a:endParaRPr lang="en-US" sz="3200" b="1" dirty="0">
              <a:solidFill>
                <a:schemeClr val="accent5"/>
              </a:solidFill>
              <a:latin typeface="Cambria" panose="02040503050406030204" pitchFamily="18" charset="0"/>
            </a:endParaRPr>
          </a:p>
        </p:txBody>
      </p:sp>
      <p:grpSp>
        <p:nvGrpSpPr>
          <p:cNvPr id="4" name="Group 3"/>
          <p:cNvGrpSpPr/>
          <p:nvPr/>
        </p:nvGrpSpPr>
        <p:grpSpPr>
          <a:xfrm>
            <a:off x="1" y="0"/>
            <a:ext cx="8739049" cy="791308"/>
            <a:chOff x="1" y="0"/>
            <a:chExt cx="8739049" cy="791308"/>
          </a:xfrm>
        </p:grpSpPr>
        <p:pic>
          <p:nvPicPr>
            <p:cNvPr id="6" name="Picture 5"/>
            <p:cNvPicPr>
              <a:picLocks noChangeAspect="1"/>
            </p:cNvPicPr>
            <p:nvPr/>
          </p:nvPicPr>
          <p:blipFill>
            <a:blip r:embed="rId2"/>
            <a:stretch>
              <a:fillRect/>
            </a:stretch>
          </p:blipFill>
          <p:spPr>
            <a:xfrm>
              <a:off x="1" y="0"/>
              <a:ext cx="954717" cy="791308"/>
            </a:xfrm>
            <a:prstGeom prst="rect">
              <a:avLst/>
            </a:prstGeom>
          </p:spPr>
        </p:pic>
        <p:sp>
          <p:nvSpPr>
            <p:cNvPr id="7" name="Rectangle 6"/>
            <p:cNvSpPr/>
            <p:nvPr/>
          </p:nvSpPr>
          <p:spPr>
            <a:xfrm>
              <a:off x="1062445" y="144977"/>
              <a:ext cx="7676605" cy="369332"/>
            </a:xfrm>
            <a:prstGeom prst="rect">
              <a:avLst/>
            </a:prstGeom>
          </p:spPr>
          <p:txBody>
            <a:bodyPr wrap="square">
              <a:spAutoFit/>
            </a:bodyPr>
            <a:lstStyle/>
            <a:p>
              <a:r>
                <a:rPr lang="en-US" b="1" dirty="0">
                  <a:latin typeface="+mj-lt"/>
                </a:rPr>
                <a:t>PHẦN 3 – QUY ĐỊNH VỀ CHỨNG TỪ - B. CHỨNG TỪ ĐIỆN TỬ</a:t>
              </a:r>
              <a:endParaRPr lang="en-US" dirty="0">
                <a:latin typeface="+mj-lt"/>
              </a:endParaRPr>
            </a:p>
          </p:txBody>
        </p:sp>
      </p:grpSp>
    </p:spTree>
    <p:extLst>
      <p:ext uri="{BB962C8B-B14F-4D97-AF65-F5344CB8AC3E}">
        <p14:creationId xmlns:p14="http://schemas.microsoft.com/office/powerpoint/2010/main" val="3856262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2168434"/>
            <a:ext cx="8596668" cy="3872928"/>
          </a:xfrm>
        </p:spPr>
        <p:txBody>
          <a:bodyPr vert="horz" anchor="ctr" anchorCtr="0">
            <a:noAutofit/>
          </a:bodyPr>
          <a:lstStyle/>
          <a:p>
            <a:pPr marL="0" indent="0" algn="just">
              <a:buNone/>
            </a:pPr>
            <a:r>
              <a:rPr lang="vi-VN" sz="2400" b="1" dirty="0">
                <a:solidFill>
                  <a:schemeClr val="tx1"/>
                </a:solidFill>
                <a:latin typeface="+mj-lt"/>
              </a:rPr>
              <a:t>1.2. Định dạng chứng từ điện tử khấu trừ thuế thu nhập cá nhân</a:t>
            </a:r>
            <a:endParaRPr lang="vi-VN" sz="2400" dirty="0">
              <a:solidFill>
                <a:schemeClr val="tx1"/>
              </a:solidFill>
              <a:latin typeface="+mj-lt"/>
            </a:endParaRPr>
          </a:p>
          <a:p>
            <a:pPr marL="0" indent="0" algn="just">
              <a:buNone/>
            </a:pPr>
            <a:r>
              <a:rPr lang="vi-VN" sz="1900" dirty="0">
                <a:solidFill>
                  <a:schemeClr val="tx1"/>
                </a:solidFill>
                <a:latin typeface="+mj-lt"/>
              </a:rPr>
              <a:t>Tổ chức khấu trừ thuế thu nhập cá nhân khi sử dụng chứng từ theo quy định tại điểm a khoản 1 Điều 30 Nghị định số 123/2020/NĐ-CP theo hình thức điện tử tự xây dựng hệ thống phần mềm để sử dụng chứng từ điện tử đảm bảo các nội dung bắt buộc theo quy định tại khoản 1 Điều 32 Nghị định số 123/2020/NĐ-CP.</a:t>
            </a:r>
          </a:p>
          <a:p>
            <a:pPr marL="0" indent="0" algn="just">
              <a:buNone/>
            </a:pPr>
            <a:endParaRPr lang="vi-VN" sz="1900" dirty="0">
              <a:solidFill>
                <a:schemeClr val="tx1"/>
              </a:solidFill>
              <a:latin typeface="+mj-lt"/>
            </a:endParaRPr>
          </a:p>
          <a:p>
            <a:pPr marL="0" indent="0" algn="just">
              <a:buNone/>
            </a:pPr>
            <a:r>
              <a:rPr lang="vi-VN" sz="2400" b="1" dirty="0">
                <a:solidFill>
                  <a:schemeClr val="tx1"/>
                </a:solidFill>
                <a:latin typeface="+mj-lt"/>
              </a:rPr>
              <a:t>1.3. Chứng từ điện tử, biên lai điện tử phải được hiển thị đầy đủ, chính xác các nội dung của chứng từ đảm bảo không dẫn tới cách hiểu sai lệch để người sử dụng có thể đọc được bằng phương tiện điện tử</a:t>
            </a:r>
            <a:endParaRPr lang="vi-VN" sz="2400" dirty="0">
              <a:solidFill>
                <a:schemeClr val="tx1"/>
              </a:solidFill>
              <a:latin typeface="+mj-lt"/>
            </a:endParaRPr>
          </a:p>
          <a:p>
            <a:pPr marL="0" indent="0" algn="just">
              <a:buNone/>
            </a:pPr>
            <a:endParaRPr lang="vi-VN" sz="1900" i="1" dirty="0">
              <a:solidFill>
                <a:schemeClr val="tx1"/>
              </a:solidFill>
              <a:latin typeface="Cambria" panose="02040503050406030204" pitchFamily="18" charset="0"/>
            </a:endParaRPr>
          </a:p>
          <a:p>
            <a:pPr marL="0" indent="0" algn="just">
              <a:buNone/>
            </a:pPr>
            <a:r>
              <a:rPr lang="vi-VN" sz="1900" i="1" dirty="0">
                <a:solidFill>
                  <a:schemeClr val="tx1"/>
                </a:solidFill>
                <a:latin typeface="Cambria" panose="02040503050406030204" pitchFamily="18" charset="0"/>
              </a:rPr>
              <a:t>(Điều 33 Nghị định số 123/2020/NĐ-CP)</a:t>
            </a:r>
            <a:endParaRPr lang="vi-VN" sz="1900" dirty="0">
              <a:solidFill>
                <a:schemeClr val="tx1"/>
              </a:solidFill>
              <a:latin typeface="Cambria" panose="02040503050406030204" pitchFamily="18" charset="0"/>
            </a:endParaRPr>
          </a:p>
          <a:p>
            <a:pPr marL="0" indent="0">
              <a:buNone/>
            </a:pPr>
            <a:endParaRPr lang="vi-VN" sz="1900" dirty="0">
              <a:solidFill>
                <a:schemeClr val="tx1"/>
              </a:solidFill>
              <a:latin typeface="Cambria" panose="02040503050406030204" pitchFamily="18" charset="0"/>
            </a:endParaRPr>
          </a:p>
        </p:txBody>
      </p:sp>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1062445" y="144977"/>
            <a:ext cx="7676605" cy="369332"/>
          </a:xfrm>
          <a:prstGeom prst="rect">
            <a:avLst/>
          </a:prstGeom>
        </p:spPr>
        <p:txBody>
          <a:bodyPr wrap="square">
            <a:spAutoFit/>
          </a:bodyPr>
          <a:lstStyle/>
          <a:p>
            <a:r>
              <a:rPr lang="en-US" b="1" dirty="0">
                <a:latin typeface="+mj-lt"/>
              </a:rPr>
              <a:t>PHẦN 3 – QUY ĐỊNH VỀ CHỨNG TỪ - B. CHỨNG TỪ ĐIỆN TỬ</a:t>
            </a:r>
            <a:endParaRPr lang="en-US" dirty="0">
              <a:latin typeface="+mj-lt"/>
            </a:endParaRPr>
          </a:p>
        </p:txBody>
      </p:sp>
      <p:sp>
        <p:nvSpPr>
          <p:cNvPr id="2" name="Rectangle 1"/>
          <p:cNvSpPr/>
          <p:nvPr/>
        </p:nvSpPr>
        <p:spPr>
          <a:xfrm>
            <a:off x="3181825" y="791308"/>
            <a:ext cx="2475550" cy="400110"/>
          </a:xfrm>
          <a:prstGeom prst="rect">
            <a:avLst/>
          </a:prstGeom>
        </p:spPr>
        <p:txBody>
          <a:bodyPr wrap="none">
            <a:spAutoFit/>
          </a:bodyPr>
          <a:lstStyle/>
          <a:p>
            <a:pPr algn="ctr"/>
            <a:r>
              <a:rPr lang="en-US" sz="2000" b="1" dirty="0">
                <a:solidFill>
                  <a:schemeClr val="accent5"/>
                </a:solidFill>
                <a:latin typeface="+mj-lt"/>
              </a:rPr>
              <a:t>BIÊN LAI ĐIỆN TỬ</a:t>
            </a:r>
          </a:p>
        </p:txBody>
      </p:sp>
    </p:spTree>
    <p:extLst>
      <p:ext uri="{BB962C8B-B14F-4D97-AF65-F5344CB8AC3E}">
        <p14:creationId xmlns:p14="http://schemas.microsoft.com/office/powerpoint/2010/main" val="32830183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677334" y="609599"/>
            <a:ext cx="8596668" cy="5622389"/>
          </a:xfrm>
        </p:spPr>
        <p:txBody>
          <a:bodyPr anchor="ctr" anchorCtr="0">
            <a:normAutofit/>
          </a:bodyPr>
          <a:lstStyle/>
          <a:p>
            <a:pPr algn="ctr"/>
            <a:r>
              <a:rPr lang="en-US" sz="3000" b="1" dirty="0">
                <a:solidFill>
                  <a:schemeClr val="tx1"/>
                </a:solidFill>
              </a:rPr>
              <a:t>PHẦN 4 – QUY ĐỊNH </a:t>
            </a:r>
            <a:r>
              <a:rPr lang="vi-VN" sz="3000" b="1" dirty="0">
                <a:solidFill>
                  <a:schemeClr val="tx1"/>
                </a:solidFill>
              </a:rPr>
              <a:t>XÂY DỰNG, TRA CỨU THÔNG TIN HÓA ĐƠN, CHỨNG TỪ</a:t>
            </a:r>
            <a:r>
              <a:rPr lang="vi-VN" sz="4800" b="1" dirty="0">
                <a:solidFill>
                  <a:schemeClr val="tx1"/>
                </a:solidFill>
                <a:latin typeface="Cambria" panose="02040503050406030204" pitchFamily="18" charset="0"/>
              </a:rPr>
              <a:t/>
            </a:r>
            <a:br>
              <a:rPr lang="vi-VN" sz="4800" b="1" dirty="0">
                <a:solidFill>
                  <a:schemeClr val="tx1"/>
                </a:solidFill>
                <a:latin typeface="Cambria" panose="02040503050406030204" pitchFamily="18" charset="0"/>
              </a:rPr>
            </a:br>
            <a:r>
              <a:rPr lang="vi-VN" sz="4800" b="1" dirty="0">
                <a:solidFill>
                  <a:schemeClr val="tx1"/>
                </a:solidFill>
                <a:latin typeface="Cambria" panose="02040503050406030204" pitchFamily="18" charset="0"/>
              </a:rPr>
              <a:t/>
            </a:r>
            <a:br>
              <a:rPr lang="vi-VN" sz="4800" b="1" dirty="0">
                <a:solidFill>
                  <a:schemeClr val="tx1"/>
                </a:solidFill>
                <a:latin typeface="Cambria" panose="02040503050406030204" pitchFamily="18" charset="0"/>
              </a:rPr>
            </a:br>
            <a:r>
              <a:rPr lang="vi-VN" sz="4800" b="1" dirty="0">
                <a:solidFill>
                  <a:schemeClr val="tx1"/>
                </a:solidFill>
                <a:latin typeface="Cambria" panose="02040503050406030204" pitchFamily="18" charset="0"/>
              </a:rPr>
              <a:t/>
            </a:r>
            <a:br>
              <a:rPr lang="vi-VN" sz="4800" b="1" dirty="0">
                <a:solidFill>
                  <a:schemeClr val="tx1"/>
                </a:solidFill>
                <a:latin typeface="Cambria" panose="02040503050406030204" pitchFamily="18" charset="0"/>
              </a:rPr>
            </a:br>
            <a:r>
              <a:rPr lang="vi-VN" sz="4800" b="1" dirty="0">
                <a:solidFill>
                  <a:schemeClr val="tx1"/>
                </a:solidFill>
                <a:latin typeface="Cambria" panose="02040503050406030204" pitchFamily="18" charset="0"/>
              </a:rPr>
              <a:t/>
            </a:r>
            <a:br>
              <a:rPr lang="vi-VN" sz="4800" b="1" dirty="0">
                <a:solidFill>
                  <a:schemeClr val="tx1"/>
                </a:solidFill>
                <a:latin typeface="Cambria" panose="02040503050406030204" pitchFamily="18" charset="0"/>
              </a:rPr>
            </a:br>
            <a:endParaRPr lang="vi-VN" sz="4800" b="1" dirty="0">
              <a:solidFill>
                <a:schemeClr val="tx1"/>
              </a:solidFill>
              <a:latin typeface="Cambria" panose="02040503050406030204" pitchFamily="18" charset="0"/>
            </a:endParaRPr>
          </a:p>
        </p:txBody>
      </p:sp>
      <p:pic>
        <p:nvPicPr>
          <p:cNvPr id="3" name="Picture 2"/>
          <p:cNvPicPr>
            <a:picLocks noChangeAspect="1"/>
          </p:cNvPicPr>
          <p:nvPr/>
        </p:nvPicPr>
        <p:blipFill>
          <a:blip r:embed="rId2"/>
          <a:stretch>
            <a:fillRect/>
          </a:stretch>
        </p:blipFill>
        <p:spPr>
          <a:xfrm>
            <a:off x="2175742" y="4039985"/>
            <a:ext cx="5363323" cy="2001377"/>
          </a:xfrm>
          <a:prstGeom prst="rect">
            <a:avLst/>
          </a:prstGeom>
        </p:spPr>
      </p:pic>
      <p:pic>
        <p:nvPicPr>
          <p:cNvPr id="5" name="Picture 4"/>
          <p:cNvPicPr>
            <a:picLocks noChangeAspect="1"/>
          </p:cNvPicPr>
          <p:nvPr/>
        </p:nvPicPr>
        <p:blipFill>
          <a:blip r:embed="rId3"/>
          <a:stretch>
            <a:fillRect/>
          </a:stretch>
        </p:blipFill>
        <p:spPr>
          <a:xfrm>
            <a:off x="1" y="0"/>
            <a:ext cx="954717" cy="791308"/>
          </a:xfrm>
          <a:prstGeom prst="rect">
            <a:avLst/>
          </a:prstGeom>
        </p:spPr>
      </p:pic>
    </p:spTree>
    <p:extLst>
      <p:ext uri="{BB962C8B-B14F-4D97-AF65-F5344CB8AC3E}">
        <p14:creationId xmlns:p14="http://schemas.microsoft.com/office/powerpoint/2010/main" val="625929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Content Placeholder 4"/>
          <p:cNvSpPr>
            <a:spLocks noGrp="1"/>
          </p:cNvSpPr>
          <p:nvPr>
            <p:ph idx="1"/>
          </p:nvPr>
        </p:nvSpPr>
        <p:spPr>
          <a:xfrm>
            <a:off x="677334" y="1308295"/>
            <a:ext cx="8596668" cy="5079805"/>
          </a:xfrm>
        </p:spPr>
        <p:txBody>
          <a:bodyPr anchor="ctr" anchorCtr="0">
            <a:normAutofit/>
          </a:bodyPr>
          <a:lstStyle/>
          <a:p>
            <a:pPr marL="0" indent="0" algn="ctr">
              <a:buNone/>
            </a:pPr>
            <a:r>
              <a:rPr lang="en-US" b="1" dirty="0">
                <a:solidFill>
                  <a:srgbClr val="C00000"/>
                </a:solidFill>
                <a:latin typeface="+mj-lt"/>
              </a:rPr>
              <a:t>A. </a:t>
            </a:r>
            <a:r>
              <a:rPr lang="vi-VN" b="1" dirty="0">
                <a:solidFill>
                  <a:srgbClr val="C00000"/>
                </a:solidFill>
                <a:latin typeface="+mj-lt"/>
              </a:rPr>
              <a:t>CƠ SỞ DỮ LIỆU VỀ HÓA ĐƠN ĐIỆN TỬ</a:t>
            </a:r>
            <a:endParaRPr lang="en-US" b="1" dirty="0">
              <a:solidFill>
                <a:srgbClr val="C00000"/>
              </a:solidFill>
              <a:latin typeface="+mj-lt"/>
            </a:endParaRPr>
          </a:p>
          <a:p>
            <a:pPr algn="just"/>
            <a:r>
              <a:rPr lang="en-US" dirty="0">
                <a:solidFill>
                  <a:schemeClr val="tx1"/>
                </a:solidFill>
                <a:latin typeface="+mj-lt"/>
              </a:rPr>
              <a:t>1. </a:t>
            </a:r>
            <a:r>
              <a:rPr lang="vi-VN" dirty="0">
                <a:solidFill>
                  <a:schemeClr val="tx1"/>
                </a:solidFill>
                <a:latin typeface="+mj-lt"/>
              </a:rPr>
              <a:t>Trách nhiệm cơ quan thuế </a:t>
            </a:r>
            <a:endParaRPr lang="en-US" dirty="0">
              <a:solidFill>
                <a:schemeClr val="tx1"/>
              </a:solidFill>
              <a:latin typeface="+mj-lt"/>
            </a:endParaRPr>
          </a:p>
          <a:p>
            <a:pPr algn="just"/>
            <a:r>
              <a:rPr lang="en-US" dirty="0">
                <a:solidFill>
                  <a:schemeClr val="tx1"/>
                </a:solidFill>
                <a:latin typeface="+mj-lt"/>
              </a:rPr>
              <a:t>2. </a:t>
            </a:r>
            <a:r>
              <a:rPr lang="vi-VN" dirty="0">
                <a:solidFill>
                  <a:schemeClr val="tx1"/>
                </a:solidFill>
                <a:latin typeface="+mj-lt"/>
              </a:rPr>
              <a:t>Trách nhiệm doanh nghiệp, tổ chức kinh tế </a:t>
            </a:r>
            <a:endParaRPr lang="en-US" dirty="0">
              <a:solidFill>
                <a:schemeClr val="tx1"/>
              </a:solidFill>
              <a:latin typeface="+mj-lt"/>
            </a:endParaRPr>
          </a:p>
          <a:p>
            <a:pPr algn="just"/>
            <a:r>
              <a:rPr lang="en-US" dirty="0">
                <a:solidFill>
                  <a:schemeClr val="tx1"/>
                </a:solidFill>
                <a:latin typeface="+mj-lt"/>
              </a:rPr>
              <a:t>3. </a:t>
            </a:r>
            <a:r>
              <a:rPr lang="vi-VN" dirty="0">
                <a:solidFill>
                  <a:schemeClr val="tx1"/>
                </a:solidFill>
                <a:latin typeface="+mj-lt"/>
              </a:rPr>
              <a:t>Trách nhiệm chia sẻ, kết nối thông tin</a:t>
            </a:r>
          </a:p>
          <a:p>
            <a:pPr algn="just"/>
            <a:r>
              <a:rPr lang="vi-VN" dirty="0">
                <a:solidFill>
                  <a:schemeClr val="tx1"/>
                </a:solidFill>
                <a:latin typeface="+mj-lt"/>
              </a:rPr>
              <a:t>4. Truy cập cổng thông tin điện tử của cơ quan thuế để tra cứu thông tin về hóa đơn điện tử kiểm tra hàng hóa lưu thông trên thị trường</a:t>
            </a:r>
          </a:p>
          <a:p>
            <a:pPr algn="just"/>
            <a:r>
              <a:rPr lang="vi-VN" dirty="0">
                <a:solidFill>
                  <a:schemeClr val="tx1"/>
                </a:solidFill>
                <a:latin typeface="+mj-lt"/>
              </a:rPr>
              <a:t>5. Trách nhiệm của Bộ Tài chính</a:t>
            </a:r>
            <a:endParaRPr lang="en-US" dirty="0">
              <a:solidFill>
                <a:schemeClr val="tx1"/>
              </a:solidFill>
              <a:latin typeface="+mj-lt"/>
            </a:endParaRPr>
          </a:p>
          <a:p>
            <a:pPr marL="0" indent="0" algn="ctr">
              <a:buNone/>
            </a:pPr>
            <a:r>
              <a:rPr lang="en-US" b="1" dirty="0">
                <a:solidFill>
                  <a:srgbClr val="C00000"/>
                </a:solidFill>
                <a:latin typeface="+mj-lt"/>
              </a:rPr>
              <a:t>B. </a:t>
            </a:r>
            <a:r>
              <a:rPr lang="vi-VN" b="1" dirty="0">
                <a:solidFill>
                  <a:srgbClr val="C00000"/>
                </a:solidFill>
                <a:latin typeface="+mj-lt"/>
              </a:rPr>
              <a:t>XÂY DỰNG THÔNG TIN HÓA ĐƠN, CHỨNG TỪ</a:t>
            </a:r>
            <a:endParaRPr lang="en-US" b="1" dirty="0">
              <a:solidFill>
                <a:srgbClr val="C00000"/>
              </a:solidFill>
              <a:latin typeface="+mj-lt"/>
            </a:endParaRPr>
          </a:p>
          <a:p>
            <a:pPr algn="just"/>
            <a:r>
              <a:rPr lang="en-US" dirty="0">
                <a:solidFill>
                  <a:schemeClr val="tx1"/>
                </a:solidFill>
                <a:latin typeface="+mj-lt"/>
              </a:rPr>
              <a:t>1. </a:t>
            </a:r>
            <a:r>
              <a:rPr lang="en-US" dirty="0" err="1">
                <a:solidFill>
                  <a:schemeClr val="tx1"/>
                </a:solidFill>
                <a:latin typeface="+mj-lt"/>
              </a:rPr>
              <a:t>Nguyên</a:t>
            </a:r>
            <a:r>
              <a:rPr lang="en-US" dirty="0">
                <a:solidFill>
                  <a:schemeClr val="tx1"/>
                </a:solidFill>
                <a:latin typeface="+mj-lt"/>
              </a:rPr>
              <a:t> </a:t>
            </a:r>
            <a:r>
              <a:rPr lang="en-US" dirty="0" err="1">
                <a:solidFill>
                  <a:schemeClr val="tx1"/>
                </a:solidFill>
                <a:latin typeface="+mj-lt"/>
              </a:rPr>
              <a:t>tắc</a:t>
            </a:r>
            <a:r>
              <a:rPr lang="en-US" dirty="0">
                <a:solidFill>
                  <a:schemeClr val="tx1"/>
                </a:solidFill>
                <a:latin typeface="+mj-lt"/>
              </a:rPr>
              <a:t> </a:t>
            </a:r>
            <a:r>
              <a:rPr lang="en-US" dirty="0" err="1">
                <a:solidFill>
                  <a:schemeClr val="tx1"/>
                </a:solidFill>
                <a:latin typeface="+mj-lt"/>
              </a:rPr>
              <a:t>chung</a:t>
            </a:r>
            <a:endParaRPr lang="en-US" dirty="0">
              <a:solidFill>
                <a:schemeClr val="tx1"/>
              </a:solidFill>
              <a:latin typeface="+mj-lt"/>
            </a:endParaRPr>
          </a:p>
          <a:p>
            <a:pPr algn="just"/>
            <a:r>
              <a:rPr lang="en-US" dirty="0">
                <a:solidFill>
                  <a:schemeClr val="tx1"/>
                </a:solidFill>
                <a:latin typeface="+mj-lt"/>
              </a:rPr>
              <a:t>2. </a:t>
            </a:r>
            <a:r>
              <a:rPr lang="vi-VN" dirty="0">
                <a:solidFill>
                  <a:schemeClr val="tx1"/>
                </a:solidFill>
                <a:latin typeface="+mj-lt"/>
              </a:rPr>
              <a:t>Xây dựng hạ tầng kỹ thuật công nghệ thông tin, hệ thống phần mềm phục vụ quản lý, vận hành, khai thác hệ thống thông tin hóa đơn điện tử, chứng từ điện tử</a:t>
            </a:r>
            <a:endParaRPr lang="en-US" dirty="0">
              <a:solidFill>
                <a:schemeClr val="tx1"/>
              </a:solidFill>
              <a:latin typeface="+mj-lt"/>
            </a:endParaRPr>
          </a:p>
          <a:p>
            <a:pPr algn="just"/>
            <a:r>
              <a:rPr lang="vi-VN" dirty="0">
                <a:solidFill>
                  <a:schemeClr val="tx1"/>
                </a:solidFill>
                <a:latin typeface="+mj-lt"/>
              </a:rPr>
              <a:t>3. Xây dựng, thu thập, xử lý và quản lý hệ thống thông tin về hóa đơn, chứng từ</a:t>
            </a:r>
          </a:p>
        </p:txBody>
      </p:sp>
      <p:grpSp>
        <p:nvGrpSpPr>
          <p:cNvPr id="7" name="Group 6"/>
          <p:cNvGrpSpPr/>
          <p:nvPr/>
        </p:nvGrpSpPr>
        <p:grpSpPr>
          <a:xfrm>
            <a:off x="1" y="0"/>
            <a:ext cx="10426699" cy="791308"/>
            <a:chOff x="1" y="0"/>
            <a:chExt cx="10426699" cy="791308"/>
          </a:xfrm>
        </p:grpSpPr>
        <p:pic>
          <p:nvPicPr>
            <p:cNvPr id="4" name="Picture 3"/>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954718" y="261035"/>
              <a:ext cx="9471982" cy="369332"/>
            </a:xfrm>
            <a:prstGeom prst="rect">
              <a:avLst/>
            </a:prstGeom>
          </p:spPr>
          <p:txBody>
            <a:bodyPr wrap="square">
              <a:spAutoFit/>
            </a:bodyPr>
            <a:lstStyle/>
            <a:p>
              <a:r>
                <a:rPr lang="en-US" b="1" dirty="0">
                  <a:latin typeface="+mj-lt"/>
                </a:rPr>
                <a:t>PHẦN 4 – QUY ĐỊNH </a:t>
              </a:r>
              <a:r>
                <a:rPr lang="vi-VN" b="1" dirty="0">
                  <a:latin typeface="+mj-lt"/>
                </a:rPr>
                <a:t>XÂY DỰNG, TRA CỨU THÔNG TIN HÓA ĐƠN, CHỨNG TỪ</a:t>
              </a:r>
              <a:endParaRPr lang="en-US" dirty="0">
                <a:latin typeface="+mj-lt"/>
              </a:endParaRPr>
            </a:p>
          </p:txBody>
        </p:sp>
      </p:grpSp>
    </p:spTree>
    <p:extLst>
      <p:ext uri="{BB962C8B-B14F-4D97-AF65-F5344CB8AC3E}">
        <p14:creationId xmlns:p14="http://schemas.microsoft.com/office/powerpoint/2010/main" val="42851102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Content Placeholder 4"/>
          <p:cNvSpPr>
            <a:spLocks noGrp="1"/>
          </p:cNvSpPr>
          <p:nvPr>
            <p:ph idx="1"/>
          </p:nvPr>
        </p:nvSpPr>
        <p:spPr>
          <a:xfrm>
            <a:off x="677334" y="791308"/>
            <a:ext cx="8596668" cy="5596792"/>
          </a:xfrm>
        </p:spPr>
        <p:txBody>
          <a:bodyPr anchor="ctr" anchorCtr="0">
            <a:normAutofit/>
          </a:bodyPr>
          <a:lstStyle/>
          <a:p>
            <a:pPr marL="0" indent="0" algn="ctr">
              <a:buNone/>
            </a:pPr>
            <a:r>
              <a:rPr lang="en-US" sz="1900" b="1" dirty="0">
                <a:solidFill>
                  <a:srgbClr val="C00000"/>
                </a:solidFill>
                <a:latin typeface="+mj-lt"/>
              </a:rPr>
              <a:t>C. </a:t>
            </a:r>
            <a:r>
              <a:rPr lang="vi-VN" sz="1900" b="1" dirty="0">
                <a:solidFill>
                  <a:srgbClr val="C00000"/>
                </a:solidFill>
                <a:latin typeface="+mj-lt"/>
              </a:rPr>
              <a:t>TRA CỨU, CUNG CẤP, SỬ DỤNG THÔNG TIN HÓA ĐƠN ĐIỆN TỬ</a:t>
            </a:r>
            <a:endParaRPr lang="en-US" sz="1900" b="1" dirty="0">
              <a:solidFill>
                <a:srgbClr val="C00000"/>
              </a:solidFill>
              <a:latin typeface="+mj-lt"/>
            </a:endParaRPr>
          </a:p>
          <a:p>
            <a:pPr algn="just"/>
            <a:r>
              <a:rPr lang="en-US" dirty="0">
                <a:solidFill>
                  <a:schemeClr val="tx1"/>
                </a:solidFill>
                <a:latin typeface="+mj-lt"/>
              </a:rPr>
              <a:t>1. </a:t>
            </a:r>
            <a:r>
              <a:rPr lang="vi-VN" dirty="0">
                <a:solidFill>
                  <a:schemeClr val="tx1"/>
                </a:solidFill>
                <a:latin typeface="+mj-lt"/>
              </a:rPr>
              <a:t>Nguyên tắc tra cứu, cung cấp, sử dụng thông tin hóa đơn điện tử</a:t>
            </a:r>
            <a:endParaRPr lang="en-US" dirty="0">
              <a:solidFill>
                <a:schemeClr val="tx1"/>
              </a:solidFill>
              <a:latin typeface="+mj-lt"/>
            </a:endParaRPr>
          </a:p>
          <a:p>
            <a:pPr algn="just"/>
            <a:r>
              <a:rPr lang="en-US" dirty="0">
                <a:solidFill>
                  <a:schemeClr val="tx1"/>
                </a:solidFill>
                <a:latin typeface="+mj-lt"/>
              </a:rPr>
              <a:t>2. </a:t>
            </a:r>
            <a:r>
              <a:rPr lang="vi-VN" dirty="0">
                <a:solidFill>
                  <a:schemeClr val="tx1"/>
                </a:solidFill>
                <a:latin typeface="+mj-lt"/>
              </a:rPr>
              <a:t>Tra cứu thông tin hóa đơn điện tử phục vụ kiểm tra hàng hóa lưu thông trên thị trường</a:t>
            </a:r>
            <a:endParaRPr lang="en-US" dirty="0">
              <a:solidFill>
                <a:schemeClr val="tx1"/>
              </a:solidFill>
              <a:latin typeface="+mj-lt"/>
            </a:endParaRPr>
          </a:p>
          <a:p>
            <a:pPr algn="just"/>
            <a:r>
              <a:rPr lang="en-US" dirty="0">
                <a:solidFill>
                  <a:schemeClr val="tx1"/>
                </a:solidFill>
                <a:latin typeface="+mj-lt"/>
              </a:rPr>
              <a:t>3. </a:t>
            </a:r>
            <a:r>
              <a:rPr lang="vi-VN" dirty="0">
                <a:solidFill>
                  <a:schemeClr val="tx1"/>
                </a:solidFill>
                <a:latin typeface="+mj-lt"/>
              </a:rPr>
              <a:t>Đối tượng cung cấp thông tin, sử dụng thông tin hóa đơn điện tử</a:t>
            </a:r>
          </a:p>
          <a:p>
            <a:pPr algn="just"/>
            <a:r>
              <a:rPr lang="vi-VN" dirty="0">
                <a:solidFill>
                  <a:schemeClr val="tx1"/>
                </a:solidFill>
                <a:latin typeface="+mj-lt"/>
              </a:rPr>
              <a:t>4. Hình thức khai thác, sử dụng thông tin hóa đơn điện tử trên Cổng thông tin điện tử</a:t>
            </a:r>
          </a:p>
          <a:p>
            <a:pPr algn="just"/>
            <a:r>
              <a:rPr lang="vi-VN" dirty="0">
                <a:solidFill>
                  <a:schemeClr val="tx1"/>
                </a:solidFill>
                <a:latin typeface="+mj-lt"/>
              </a:rPr>
              <a:t>5. Công bố, tra cứu thông tin hóa đơn điện tử</a:t>
            </a:r>
            <a:endParaRPr lang="en-US" dirty="0">
              <a:solidFill>
                <a:schemeClr val="tx1"/>
              </a:solidFill>
              <a:latin typeface="+mj-lt"/>
            </a:endParaRPr>
          </a:p>
          <a:p>
            <a:pPr algn="just"/>
            <a:r>
              <a:rPr lang="en-US" dirty="0">
                <a:solidFill>
                  <a:schemeClr val="tx1"/>
                </a:solidFill>
                <a:latin typeface="+mj-lt"/>
              </a:rPr>
              <a:t>6. </a:t>
            </a:r>
            <a:r>
              <a:rPr lang="vi-VN" dirty="0">
                <a:solidFill>
                  <a:schemeClr val="tx1"/>
                </a:solidFill>
                <a:latin typeface="+mj-lt"/>
              </a:rPr>
              <a:t>Đăng ký, bổ sung, chấm dứt sử dụng thông tin hóa đơn điện tử</a:t>
            </a:r>
            <a:endParaRPr lang="en-US" dirty="0">
              <a:solidFill>
                <a:schemeClr val="tx1"/>
              </a:solidFill>
              <a:latin typeface="+mj-lt"/>
            </a:endParaRPr>
          </a:p>
          <a:p>
            <a:pPr algn="just"/>
            <a:r>
              <a:rPr lang="en-US" dirty="0">
                <a:solidFill>
                  <a:schemeClr val="tx1"/>
                </a:solidFill>
                <a:latin typeface="+mj-lt"/>
              </a:rPr>
              <a:t>7. </a:t>
            </a:r>
            <a:r>
              <a:rPr lang="vi-VN" dirty="0">
                <a:solidFill>
                  <a:schemeClr val="tx1"/>
                </a:solidFill>
                <a:latin typeface="+mj-lt"/>
              </a:rPr>
              <a:t>Chấm dứt sử dụng các hình thức cung cấp, sử dụng thông tin hóa đơn điện tử</a:t>
            </a:r>
          </a:p>
          <a:p>
            <a:pPr algn="just"/>
            <a:r>
              <a:rPr lang="vi-VN" dirty="0">
                <a:solidFill>
                  <a:schemeClr val="tx1"/>
                </a:solidFill>
                <a:latin typeface="+mj-lt"/>
              </a:rPr>
              <a:t>8. Thời hạn cung cấp thông tin hóa đơn điện tử</a:t>
            </a:r>
          </a:p>
          <a:p>
            <a:pPr algn="just"/>
            <a:r>
              <a:rPr lang="vi-VN" dirty="0">
                <a:solidFill>
                  <a:schemeClr val="tx1"/>
                </a:solidFill>
                <a:latin typeface="+mj-lt"/>
              </a:rPr>
              <a:t>9. Trách nhiệm của Tổng cục Thuế</a:t>
            </a:r>
          </a:p>
          <a:p>
            <a:pPr algn="just"/>
            <a:r>
              <a:rPr lang="vi-VN" dirty="0">
                <a:solidFill>
                  <a:schemeClr val="tx1"/>
                </a:solidFill>
                <a:latin typeface="+mj-lt"/>
              </a:rPr>
              <a:t>10. Trách nhiệm của bên sử dụng thông tin</a:t>
            </a:r>
          </a:p>
          <a:p>
            <a:pPr algn="just"/>
            <a:r>
              <a:rPr lang="vi-VN" dirty="0">
                <a:solidFill>
                  <a:schemeClr val="tx1"/>
                </a:solidFill>
                <a:latin typeface="+mj-lt"/>
              </a:rPr>
              <a:t>11. Kinh phí thực hiện</a:t>
            </a:r>
          </a:p>
          <a:p>
            <a:pPr algn="just"/>
            <a:endParaRPr lang="vi-VN" sz="1900" dirty="0">
              <a:solidFill>
                <a:schemeClr val="tx1"/>
              </a:solidFill>
              <a:latin typeface="+mj-lt"/>
            </a:endParaRPr>
          </a:p>
        </p:txBody>
      </p:sp>
      <p:grpSp>
        <p:nvGrpSpPr>
          <p:cNvPr id="6" name="Group 5"/>
          <p:cNvGrpSpPr/>
          <p:nvPr/>
        </p:nvGrpSpPr>
        <p:grpSpPr>
          <a:xfrm>
            <a:off x="1" y="0"/>
            <a:ext cx="10426699" cy="791308"/>
            <a:chOff x="1" y="0"/>
            <a:chExt cx="10426699" cy="791308"/>
          </a:xfrm>
        </p:grpSpPr>
        <p:pic>
          <p:nvPicPr>
            <p:cNvPr id="7" name="Picture 6"/>
            <p:cNvPicPr>
              <a:picLocks noChangeAspect="1"/>
            </p:cNvPicPr>
            <p:nvPr/>
          </p:nvPicPr>
          <p:blipFill>
            <a:blip r:embed="rId2"/>
            <a:stretch>
              <a:fillRect/>
            </a:stretch>
          </p:blipFill>
          <p:spPr>
            <a:xfrm>
              <a:off x="1" y="0"/>
              <a:ext cx="954717" cy="791308"/>
            </a:xfrm>
            <a:prstGeom prst="rect">
              <a:avLst/>
            </a:prstGeom>
          </p:spPr>
        </p:pic>
        <p:sp>
          <p:nvSpPr>
            <p:cNvPr id="8" name="Rectangle 7"/>
            <p:cNvSpPr/>
            <p:nvPr/>
          </p:nvSpPr>
          <p:spPr>
            <a:xfrm>
              <a:off x="954718" y="261035"/>
              <a:ext cx="9471982" cy="369332"/>
            </a:xfrm>
            <a:prstGeom prst="rect">
              <a:avLst/>
            </a:prstGeom>
          </p:spPr>
          <p:txBody>
            <a:bodyPr wrap="square">
              <a:spAutoFit/>
            </a:bodyPr>
            <a:lstStyle/>
            <a:p>
              <a:r>
                <a:rPr lang="en-US" b="1" dirty="0">
                  <a:latin typeface="+mj-lt"/>
                </a:rPr>
                <a:t>PHẦN 4 – QUY ĐỊNH </a:t>
              </a:r>
              <a:r>
                <a:rPr lang="vi-VN" b="1" dirty="0">
                  <a:latin typeface="+mj-lt"/>
                </a:rPr>
                <a:t>XÂY DỰNG, TRA CỨU THÔNG TIN HÓA ĐƠN, CHỨNG TỪ</a:t>
              </a:r>
              <a:endParaRPr lang="en-US" dirty="0">
                <a:latin typeface="+mj-lt"/>
              </a:endParaRPr>
            </a:p>
          </p:txBody>
        </p:sp>
      </p:grpSp>
    </p:spTree>
    <p:extLst>
      <p:ext uri="{BB962C8B-B14F-4D97-AF65-F5344CB8AC3E}">
        <p14:creationId xmlns:p14="http://schemas.microsoft.com/office/powerpoint/2010/main" val="352083743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itle 1"/>
          <p:cNvSpPr>
            <a:spLocks noGrp="1"/>
          </p:cNvSpPr>
          <p:nvPr>
            <p:ph type="title"/>
          </p:nvPr>
        </p:nvSpPr>
        <p:spPr>
          <a:xfrm>
            <a:off x="663266" y="702436"/>
            <a:ext cx="8596668" cy="602539"/>
          </a:xfrm>
        </p:spPr>
        <p:txBody>
          <a:bodyPr>
            <a:noAutofit/>
          </a:bodyPr>
          <a:lstStyle/>
          <a:p>
            <a:pPr algn="ctr"/>
            <a:r>
              <a:rPr lang="en-US" sz="2000" b="1" dirty="0">
                <a:solidFill>
                  <a:srgbClr val="C00000"/>
                </a:solidFill>
              </a:rPr>
              <a:t>A. </a:t>
            </a:r>
            <a:r>
              <a:rPr lang="vi-VN" sz="2000" b="1" dirty="0">
                <a:solidFill>
                  <a:srgbClr val="C00000"/>
                </a:solidFill>
              </a:rPr>
              <a:t>CƠ SỞ DỮ LIỆU VỀ HÓA ĐƠN ĐIỆN TỬ</a:t>
            </a:r>
            <a:endParaRPr lang="en-US" sz="2000" b="1" dirty="0">
              <a:solidFill>
                <a:srgbClr val="C00000"/>
              </a:solidFill>
            </a:endParaRPr>
          </a:p>
        </p:txBody>
      </p:sp>
      <p:sp>
        <p:nvSpPr>
          <p:cNvPr id="5" name="Content Placeholder 4"/>
          <p:cNvSpPr>
            <a:spLocks noGrp="1"/>
          </p:cNvSpPr>
          <p:nvPr>
            <p:ph idx="1"/>
          </p:nvPr>
        </p:nvSpPr>
        <p:spPr>
          <a:xfrm>
            <a:off x="766234" y="1508175"/>
            <a:ext cx="8596668" cy="4733067"/>
          </a:xfrm>
        </p:spPr>
        <p:txBody>
          <a:bodyPr anchor="t" anchorCtr="0">
            <a:normAutofit/>
          </a:bodyPr>
          <a:lstStyle/>
          <a:p>
            <a:pPr marL="0" indent="0" algn="ctr">
              <a:buNone/>
            </a:pPr>
            <a:r>
              <a:rPr lang="en-US" b="1" dirty="0">
                <a:solidFill>
                  <a:schemeClr val="accent5"/>
                </a:solidFill>
                <a:latin typeface="+mj-lt"/>
              </a:rPr>
              <a:t>TRÁCH NHIỆM CQT</a:t>
            </a:r>
            <a:endParaRPr lang="vi-VN" b="1" dirty="0">
              <a:solidFill>
                <a:schemeClr val="accent5"/>
              </a:solidFill>
              <a:latin typeface="+mj-lt"/>
            </a:endParaRPr>
          </a:p>
          <a:p>
            <a:pPr marL="0" indent="0" algn="ctr">
              <a:buNone/>
            </a:pPr>
            <a:endParaRPr lang="vi-VN" dirty="0">
              <a:latin typeface="+mj-lt"/>
            </a:endParaRPr>
          </a:p>
          <a:p>
            <a:pPr marL="0" indent="0" algn="ctr">
              <a:buNone/>
            </a:pPr>
            <a:r>
              <a:rPr lang="vi-VN" sz="1900" dirty="0">
                <a:solidFill>
                  <a:schemeClr val="tx1"/>
                </a:solidFill>
                <a:latin typeface="+mj-lt"/>
              </a:rPr>
              <a:t>Cơ quan thuế có trách nhiệm tổ chức xây dựng, quản lý và phát triển cơ sở dữ liệu, hạ tầng kỹ thuật của hệ thống thông tin về hóa đơn; tổ chức thực hiện nhiệm vụ thu thập, xử lý thông tin, quản lý cơ sở dữ liệu hóa đơn và bảo đảm duy trì, vận hành, bảo mật, bảo đảm an ninh, an toàn hệ thống thông tin về hóa đơn; xây dựng định dạng chuẩn về hóa đơn.</a:t>
            </a:r>
          </a:p>
          <a:p>
            <a:pPr marL="0" indent="0" algn="ctr">
              <a:buNone/>
            </a:pPr>
            <a:r>
              <a:rPr lang="vi-VN" sz="1900" dirty="0">
                <a:solidFill>
                  <a:schemeClr val="tx1"/>
                </a:solidFill>
                <a:latin typeface="+mj-lt"/>
              </a:rPr>
              <a:t>Cơ sở dữ liệu về hóa đơn điện tử được sử dụng để phục vụ công tác quản lý thuế và cung cấp thông tin hóa đơn điện tử cho tổ chức, cá nhân có liên quan.</a:t>
            </a:r>
          </a:p>
        </p:txBody>
      </p:sp>
      <p:grpSp>
        <p:nvGrpSpPr>
          <p:cNvPr id="2" name="Group 1"/>
          <p:cNvGrpSpPr/>
          <p:nvPr/>
        </p:nvGrpSpPr>
        <p:grpSpPr>
          <a:xfrm>
            <a:off x="1" y="0"/>
            <a:ext cx="10238215" cy="791308"/>
            <a:chOff x="1" y="0"/>
            <a:chExt cx="10238215" cy="791308"/>
          </a:xfrm>
        </p:grpSpPr>
        <p:pic>
          <p:nvPicPr>
            <p:cNvPr id="6" name="Picture 5"/>
            <p:cNvPicPr>
              <a:picLocks noChangeAspect="1"/>
            </p:cNvPicPr>
            <p:nvPr/>
          </p:nvPicPr>
          <p:blipFill>
            <a:blip r:embed="rId2"/>
            <a:stretch>
              <a:fillRect/>
            </a:stretch>
          </p:blipFill>
          <p:spPr>
            <a:xfrm>
              <a:off x="1" y="0"/>
              <a:ext cx="954717" cy="791308"/>
            </a:xfrm>
            <a:prstGeom prst="rect">
              <a:avLst/>
            </a:prstGeom>
          </p:spPr>
        </p:pic>
        <p:sp>
          <p:nvSpPr>
            <p:cNvPr id="7" name="Rectangle 6"/>
            <p:cNvSpPr/>
            <p:nvPr/>
          </p:nvSpPr>
          <p:spPr>
            <a:xfrm>
              <a:off x="766234" y="210988"/>
              <a:ext cx="9471982" cy="369332"/>
            </a:xfrm>
            <a:prstGeom prst="rect">
              <a:avLst/>
            </a:prstGeom>
          </p:spPr>
          <p:txBody>
            <a:bodyPr wrap="square">
              <a:spAutoFit/>
            </a:bodyPr>
            <a:lstStyle/>
            <a:p>
              <a:r>
                <a:rPr lang="en-US" b="1" dirty="0">
                  <a:latin typeface="+mj-lt"/>
                </a:rPr>
                <a:t>PHẦN 4 – QUY ĐỊNH </a:t>
              </a:r>
              <a:r>
                <a:rPr lang="vi-VN" b="1" dirty="0">
                  <a:latin typeface="+mj-lt"/>
                </a:rPr>
                <a:t>XÂY DỰNG, TRA CỨU THÔNG TIN HÓA ĐƠN, CHỨNG TỪ</a:t>
              </a:r>
              <a:endParaRPr lang="en-US" dirty="0">
                <a:latin typeface="+mj-lt"/>
              </a:endParaRPr>
            </a:p>
          </p:txBody>
        </p:sp>
      </p:grpSp>
    </p:spTree>
    <p:extLst>
      <p:ext uri="{BB962C8B-B14F-4D97-AF65-F5344CB8AC3E}">
        <p14:creationId xmlns:p14="http://schemas.microsoft.com/office/powerpoint/2010/main" val="344796156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252025"/>
            <a:ext cx="8596668" cy="4789337"/>
          </a:xfrm>
        </p:spPr>
        <p:txBody>
          <a:bodyPr vert="horz" anchor="ctr" anchorCtr="0">
            <a:noAutofit/>
          </a:bodyPr>
          <a:lstStyle/>
          <a:p>
            <a:pPr marL="0" indent="0" algn="ctr">
              <a:buNone/>
            </a:pPr>
            <a:r>
              <a:rPr lang="en-US" b="1" dirty="0">
                <a:solidFill>
                  <a:schemeClr val="accent5"/>
                </a:solidFill>
                <a:latin typeface="+mj-lt"/>
              </a:rPr>
              <a:t>TRÁCH NHIỆM CỦA DOANH NGHIỆP, TỔ CHỨC KINH TẾ</a:t>
            </a:r>
            <a:r>
              <a:rPr lang="vi-VN" sz="3200" b="1" dirty="0">
                <a:solidFill>
                  <a:schemeClr val="accent5"/>
                </a:solidFill>
                <a:latin typeface="+mj-lt"/>
              </a:rPr>
              <a:t> </a:t>
            </a:r>
          </a:p>
          <a:p>
            <a:pPr marL="0" indent="0" algn="just">
              <a:buNone/>
            </a:pPr>
            <a:r>
              <a:rPr lang="vi-VN" sz="1900" dirty="0">
                <a:solidFill>
                  <a:schemeClr val="tx1"/>
                </a:solidFill>
                <a:latin typeface="+mj-lt"/>
              </a:rPr>
              <a:t>Các doanh nghiệp, tổ chức kinh tế quy định tại khoản 2 Điều 91 của Luật Quản lý thuế số 38/2019/QH14 sử dụng hóa đơn điện tử không có mã của cơ quan thuế thực hiện cung cấp dữ liệu hóa đơn điện tử theo quy định của Bộ trưởng Bộ Tài chính.</a:t>
            </a:r>
          </a:p>
          <a:p>
            <a:pPr marL="0" indent="0" algn="just">
              <a:buNone/>
            </a:pPr>
            <a:endParaRPr lang="vi-VN" sz="2000" i="1" dirty="0">
              <a:latin typeface="+mj-lt"/>
            </a:endParaRPr>
          </a:p>
          <a:p>
            <a:pPr marL="0" indent="0" algn="ctr">
              <a:buNone/>
            </a:pPr>
            <a:r>
              <a:rPr lang="en-US" b="1" dirty="0">
                <a:solidFill>
                  <a:schemeClr val="accent5"/>
                </a:solidFill>
                <a:latin typeface="+mj-lt"/>
              </a:rPr>
              <a:t>TRÁCH NHIỆM CHIA SẺ, KẾT NỐI DỮ LIỆU</a:t>
            </a:r>
            <a:endParaRPr lang="vi-VN" b="1" dirty="0">
              <a:solidFill>
                <a:schemeClr val="accent5"/>
              </a:solidFill>
              <a:latin typeface="+mj-lt"/>
            </a:endParaRPr>
          </a:p>
          <a:p>
            <a:pPr marL="0" indent="0" algn="just">
              <a:buNone/>
            </a:pPr>
            <a:r>
              <a:rPr lang="vi-VN" sz="1900" dirty="0">
                <a:solidFill>
                  <a:schemeClr val="tx1"/>
                </a:solidFill>
                <a:latin typeface="+mj-lt"/>
              </a:rPr>
              <a:t>Bộ Công Thương, Bộ Tài nguyên và Môi trường, Bộ Công an, Bộ Giao thông vận tải, Bộ Y tế và cơ quan khác có liên quan có trách nhiệm kết nối chia sẻ thông tin, dữ liệu liên quan cần thiết trong lĩnh vực quản lý với Bộ Tài chính để xây dựng cơ sở dữ liệu hóa đơn điện tử.</a:t>
            </a:r>
          </a:p>
          <a:p>
            <a:pPr marL="0" indent="0">
              <a:buNone/>
            </a:pPr>
            <a:endParaRPr lang="vi-VN" sz="1900" dirty="0">
              <a:solidFill>
                <a:schemeClr val="tx1"/>
              </a:solidFill>
              <a:latin typeface="Cambria" panose="02040503050406030204" pitchFamily="18" charset="0"/>
            </a:endParaRPr>
          </a:p>
        </p:txBody>
      </p:sp>
      <p:grpSp>
        <p:nvGrpSpPr>
          <p:cNvPr id="4" name="Group 3"/>
          <p:cNvGrpSpPr/>
          <p:nvPr/>
        </p:nvGrpSpPr>
        <p:grpSpPr>
          <a:xfrm>
            <a:off x="1" y="0"/>
            <a:ext cx="10238215" cy="791308"/>
            <a:chOff x="1" y="0"/>
            <a:chExt cx="10238215"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766234" y="210988"/>
              <a:ext cx="9471982" cy="369332"/>
            </a:xfrm>
            <a:prstGeom prst="rect">
              <a:avLst/>
            </a:prstGeom>
          </p:spPr>
          <p:txBody>
            <a:bodyPr wrap="square">
              <a:spAutoFit/>
            </a:bodyPr>
            <a:lstStyle/>
            <a:p>
              <a:r>
                <a:rPr lang="en-US" b="1" dirty="0">
                  <a:latin typeface="+mj-lt"/>
                </a:rPr>
                <a:t>PHẦN 4 – QUY ĐỊNH </a:t>
              </a:r>
              <a:r>
                <a:rPr lang="vi-VN" b="1" dirty="0">
                  <a:latin typeface="+mj-lt"/>
                </a:rPr>
                <a:t>XÂY DỰNG, TRA CỨU THÔNG TIN HÓA ĐƠN, CHỨNG TỪ</a:t>
              </a:r>
              <a:endParaRPr lang="en-US" dirty="0">
                <a:latin typeface="+mj-lt"/>
              </a:endParaRPr>
            </a:p>
          </p:txBody>
        </p:sp>
      </p:grpSp>
    </p:spTree>
    <p:extLst>
      <p:ext uri="{BB962C8B-B14F-4D97-AF65-F5344CB8AC3E}">
        <p14:creationId xmlns:p14="http://schemas.microsoft.com/office/powerpoint/2010/main" val="115002604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930552" y="1153551"/>
            <a:ext cx="8596668" cy="4789337"/>
          </a:xfrm>
        </p:spPr>
        <p:txBody>
          <a:bodyPr vert="horz" anchor="ctr" anchorCtr="0">
            <a:noAutofit/>
          </a:bodyPr>
          <a:lstStyle/>
          <a:p>
            <a:pPr marL="0" indent="0" algn="ctr">
              <a:buNone/>
            </a:pPr>
            <a:r>
              <a:rPr lang="en-US" b="1" dirty="0">
                <a:solidFill>
                  <a:schemeClr val="accent5"/>
                </a:solidFill>
                <a:latin typeface="+mj-lt"/>
              </a:rPr>
              <a:t>TRA CỨU THÔNG TIN HĐĐT</a:t>
            </a:r>
            <a:endParaRPr lang="vi-VN" b="1" dirty="0">
              <a:solidFill>
                <a:schemeClr val="accent5"/>
              </a:solidFill>
              <a:latin typeface="+mj-lt"/>
            </a:endParaRPr>
          </a:p>
          <a:p>
            <a:pPr marL="0" indent="0" algn="just">
              <a:buNone/>
            </a:pPr>
            <a:r>
              <a:rPr lang="vi-VN" dirty="0">
                <a:solidFill>
                  <a:schemeClr val="tx1"/>
                </a:solidFill>
                <a:latin typeface="+mj-lt"/>
              </a:rPr>
              <a:t>Khi kiểm tra hàng hóa lưu thông trên thị trường, đối với trường hợp sử dụng hóa đơn điện tử, cơ quan nhà nước, người có thẩm quyền truy cập cổng thông tin điện tử của cơ quan thuế để tra cứu thông tin về hóa đơn điện tử phục vụ yêu cầu quản lý, không yêu cầu cung cấp hóa đơn giấy. Các cơ quan có liên quan có trách nhiệm sử dụng các thiết bị để truy cập, tra cứu dữ liệu hóa đơn điện tử.</a:t>
            </a:r>
          </a:p>
          <a:p>
            <a:pPr marL="0" indent="0" algn="just">
              <a:buNone/>
            </a:pPr>
            <a:endParaRPr lang="vi-VN" dirty="0">
              <a:latin typeface="+mj-lt"/>
            </a:endParaRPr>
          </a:p>
          <a:p>
            <a:pPr marL="0" indent="0" algn="ctr">
              <a:buNone/>
            </a:pPr>
            <a:r>
              <a:rPr lang="en-US" b="1" dirty="0">
                <a:solidFill>
                  <a:schemeClr val="accent5"/>
                </a:solidFill>
                <a:latin typeface="+mj-lt"/>
              </a:rPr>
              <a:t>TRÁCH NHIỆM BỘ TÀI CHÍNH</a:t>
            </a:r>
            <a:endParaRPr lang="vi-VN" b="1" dirty="0">
              <a:solidFill>
                <a:schemeClr val="accent5"/>
              </a:solidFill>
              <a:latin typeface="+mj-lt"/>
            </a:endParaRPr>
          </a:p>
          <a:p>
            <a:pPr marL="0" indent="0" algn="just">
              <a:buNone/>
            </a:pPr>
            <a:r>
              <a:rPr lang="vi-VN" dirty="0">
                <a:solidFill>
                  <a:schemeClr val="tx1"/>
                </a:solidFill>
                <a:latin typeface="+mj-lt"/>
              </a:rPr>
              <a:t>Bộ trưởng Bộ Tài chính quy định về mẫu, quản lý sử dụng tem điện tử; quy định việc tra cứu, cung cấp, sử dụng thông tin hóa đơn điện tử; quy định cung cấp thông tin hóa đơn điện tử trong trường hợp không tra cứu được dữ liệu hóa đơn do sự cố, thiên tai gây ảnh hưởng đến việc truy cập mạng Internet.</a:t>
            </a:r>
          </a:p>
          <a:p>
            <a:pPr marL="0" indent="0">
              <a:buNone/>
            </a:pPr>
            <a:endParaRPr lang="vi-VN" sz="1900" dirty="0">
              <a:solidFill>
                <a:schemeClr val="tx1"/>
              </a:solidFill>
              <a:latin typeface="Cambria" panose="02040503050406030204" pitchFamily="18" charset="0"/>
            </a:endParaRPr>
          </a:p>
        </p:txBody>
      </p:sp>
      <p:grpSp>
        <p:nvGrpSpPr>
          <p:cNvPr id="4" name="Group 3"/>
          <p:cNvGrpSpPr/>
          <p:nvPr/>
        </p:nvGrpSpPr>
        <p:grpSpPr>
          <a:xfrm>
            <a:off x="1" y="0"/>
            <a:ext cx="10238215" cy="791308"/>
            <a:chOff x="1" y="0"/>
            <a:chExt cx="10238215"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766234" y="210988"/>
              <a:ext cx="9471982" cy="369332"/>
            </a:xfrm>
            <a:prstGeom prst="rect">
              <a:avLst/>
            </a:prstGeom>
          </p:spPr>
          <p:txBody>
            <a:bodyPr wrap="square">
              <a:spAutoFit/>
            </a:bodyPr>
            <a:lstStyle/>
            <a:p>
              <a:r>
                <a:rPr lang="en-US" b="1" dirty="0">
                  <a:latin typeface="+mj-lt"/>
                </a:rPr>
                <a:t>PHẦN 4 – QUY ĐỊNH </a:t>
              </a:r>
              <a:r>
                <a:rPr lang="vi-VN" b="1" dirty="0">
                  <a:latin typeface="+mj-lt"/>
                </a:rPr>
                <a:t>XÂY DỰNG, TRA CỨU THÔNG TIN HÓA ĐƠN, CHỨNG TỪ</a:t>
              </a:r>
              <a:endParaRPr lang="en-US" dirty="0">
                <a:latin typeface="+mj-lt"/>
              </a:endParaRPr>
            </a:p>
          </p:txBody>
        </p:sp>
      </p:grpSp>
    </p:spTree>
    <p:extLst>
      <p:ext uri="{BB962C8B-B14F-4D97-AF65-F5344CB8AC3E}">
        <p14:creationId xmlns:p14="http://schemas.microsoft.com/office/powerpoint/2010/main" val="27017360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itle 1"/>
          <p:cNvSpPr>
            <a:spLocks noGrp="1"/>
          </p:cNvSpPr>
          <p:nvPr>
            <p:ph type="title"/>
          </p:nvPr>
        </p:nvSpPr>
        <p:spPr>
          <a:xfrm>
            <a:off x="766234" y="1002296"/>
            <a:ext cx="8596668" cy="547104"/>
          </a:xfrm>
        </p:spPr>
        <p:txBody>
          <a:bodyPr>
            <a:noAutofit/>
          </a:bodyPr>
          <a:lstStyle/>
          <a:p>
            <a:pPr algn="ctr"/>
            <a:r>
              <a:rPr lang="en-US" sz="2800" b="1" dirty="0">
                <a:solidFill>
                  <a:srgbClr val="C00000"/>
                </a:solidFill>
              </a:rPr>
              <a:t>B. </a:t>
            </a:r>
            <a:r>
              <a:rPr lang="vi-VN" sz="2800" b="1" dirty="0">
                <a:solidFill>
                  <a:srgbClr val="C00000"/>
                </a:solidFill>
              </a:rPr>
              <a:t>XÂY DỰNG THÔNG TIN HÓA ĐƠN, CHỨNG TỪ</a:t>
            </a:r>
            <a:endParaRPr lang="en-US" sz="2800" b="1" dirty="0">
              <a:solidFill>
                <a:srgbClr val="C00000"/>
              </a:solidFill>
            </a:endParaRPr>
          </a:p>
        </p:txBody>
      </p:sp>
      <p:sp>
        <p:nvSpPr>
          <p:cNvPr id="5" name="Content Placeholder 4"/>
          <p:cNvSpPr>
            <a:spLocks noGrp="1"/>
          </p:cNvSpPr>
          <p:nvPr>
            <p:ph idx="1"/>
          </p:nvPr>
        </p:nvSpPr>
        <p:spPr>
          <a:xfrm>
            <a:off x="451958" y="1613683"/>
            <a:ext cx="9517541" cy="5244317"/>
          </a:xfrm>
        </p:spPr>
        <p:txBody>
          <a:bodyPr anchor="t" anchorCtr="0">
            <a:noAutofit/>
          </a:bodyPr>
          <a:lstStyle/>
          <a:p>
            <a:pPr marL="0" indent="0" algn="ctr">
              <a:buNone/>
            </a:pPr>
            <a:r>
              <a:rPr lang="en-US" b="1" dirty="0">
                <a:solidFill>
                  <a:schemeClr val="accent5"/>
                </a:solidFill>
                <a:latin typeface="+mj-lt"/>
              </a:rPr>
              <a:t>NGUYÊN TẮC CHUNG</a:t>
            </a:r>
            <a:endParaRPr lang="vi-VN" b="1" dirty="0">
              <a:solidFill>
                <a:schemeClr val="accent5"/>
              </a:solidFill>
              <a:latin typeface="+mj-lt"/>
            </a:endParaRPr>
          </a:p>
          <a:p>
            <a:pPr marL="0" indent="0" algn="just">
              <a:buNone/>
            </a:pPr>
            <a:r>
              <a:rPr lang="vi-VN" sz="1600" dirty="0">
                <a:solidFill>
                  <a:schemeClr val="tx1"/>
                </a:solidFill>
                <a:latin typeface="+mj-lt"/>
              </a:rPr>
              <a:t>- Hệ thống thông tin về hóa đơn, chứng từ phải được xây dựng và quản lý thống nhất từ trung ương đến địa phương; tuân thủ các tiêu chuẩn, quy chuẩn kỹ thuật về công nghệ thông tin.</a:t>
            </a:r>
          </a:p>
          <a:p>
            <a:pPr marL="0" indent="0" algn="just">
              <a:buNone/>
            </a:pPr>
            <a:r>
              <a:rPr lang="vi-VN" sz="1600" dirty="0">
                <a:solidFill>
                  <a:schemeClr val="tx1"/>
                </a:solidFill>
                <a:latin typeface="+mj-lt"/>
              </a:rPr>
              <a:t>- Cơ sở dữ liệu hóa đơn, chứng từ phải bảo đảm phục vụ kịp thời cho công tác quản lý thuế, quản lý khác của nhà nước; đáp ứng yêu cầu phát triển kinh tế - xã hội; bảo đảm tính an toàn, bảo mật và an ninh quốc gia.</a:t>
            </a:r>
          </a:p>
          <a:p>
            <a:pPr marL="0" indent="0" algn="just">
              <a:buNone/>
            </a:pPr>
            <a:r>
              <a:rPr lang="vi-VN" sz="1600" dirty="0">
                <a:solidFill>
                  <a:schemeClr val="tx1"/>
                </a:solidFill>
                <a:latin typeface="+mj-lt"/>
              </a:rPr>
              <a:t>- Các thông tin, dữ liệu về hóa đơn, chứng từ được thu thập, cập nhật, duy trì, khai thác và sử dụng thường xuyên; đảm bảo tính chính xác, trung thực và khách quan.</a:t>
            </a:r>
          </a:p>
          <a:p>
            <a:pPr marL="0" indent="0" algn="just">
              <a:buNone/>
            </a:pPr>
            <a:r>
              <a:rPr lang="vi-VN" sz="1600" dirty="0">
                <a:solidFill>
                  <a:schemeClr val="tx1"/>
                </a:solidFill>
                <a:latin typeface="+mj-lt"/>
              </a:rPr>
              <a:t>- Việc xây dựng, quản lý, khai thác sử dụng, cập nhật cơ sở dữ liệu về hóa đơn, chứng từ phải đảm bảo tính chính xác, khoa học, khách quan, kịp thời.</a:t>
            </a:r>
          </a:p>
          <a:p>
            <a:pPr marL="0" indent="0" algn="just">
              <a:buNone/>
            </a:pPr>
            <a:r>
              <a:rPr lang="vi-VN" sz="1600" dirty="0">
                <a:solidFill>
                  <a:schemeClr val="tx1"/>
                </a:solidFill>
                <a:latin typeface="+mj-lt"/>
              </a:rPr>
              <a:t>- Cơ sở dữ liệu hóa đơn, chứng từ được xây dựng và kết nối, chia sẻ trên môi trường điện tử phục vụ quản lý, khai thác, cung cấp, sử dụng thông tin, dữ liệu thuận tiện, hiệu quả.</a:t>
            </a:r>
          </a:p>
          <a:p>
            <a:pPr marL="0" indent="0" algn="just">
              <a:buNone/>
            </a:pPr>
            <a:r>
              <a:rPr lang="vi-VN" sz="1600" dirty="0">
                <a:solidFill>
                  <a:schemeClr val="tx1"/>
                </a:solidFill>
                <a:latin typeface="+mj-lt"/>
              </a:rPr>
              <a:t>- Việc khai thác, sử dụng thông tin, dữ liệu hóa đơn, chứng từ phải đảm bảo đúng mục đích, tuân theo các quy định của pháp luật.</a:t>
            </a:r>
          </a:p>
          <a:p>
            <a:pPr marL="0" indent="0" algn="just">
              <a:buNone/>
            </a:pPr>
            <a:r>
              <a:rPr lang="vi-VN" sz="1600" dirty="0">
                <a:solidFill>
                  <a:schemeClr val="tx1"/>
                </a:solidFill>
                <a:latin typeface="+mj-lt"/>
              </a:rPr>
              <a:t>- Cơ sở dữ liệu về hóa đơn, chứng từ được kết nối, trao đổi với hệ thống thông tin, cơ sở dữ liệu của các bộ, ngành, địa phương có liên quan.</a:t>
            </a:r>
          </a:p>
        </p:txBody>
      </p:sp>
      <p:grpSp>
        <p:nvGrpSpPr>
          <p:cNvPr id="4" name="Group 3"/>
          <p:cNvGrpSpPr/>
          <p:nvPr/>
        </p:nvGrpSpPr>
        <p:grpSpPr>
          <a:xfrm>
            <a:off x="1" y="0"/>
            <a:ext cx="10238215" cy="791308"/>
            <a:chOff x="1" y="0"/>
            <a:chExt cx="10238215" cy="791308"/>
          </a:xfrm>
        </p:grpSpPr>
        <p:pic>
          <p:nvPicPr>
            <p:cNvPr id="6" name="Picture 5"/>
            <p:cNvPicPr>
              <a:picLocks noChangeAspect="1"/>
            </p:cNvPicPr>
            <p:nvPr/>
          </p:nvPicPr>
          <p:blipFill>
            <a:blip r:embed="rId2"/>
            <a:stretch>
              <a:fillRect/>
            </a:stretch>
          </p:blipFill>
          <p:spPr>
            <a:xfrm>
              <a:off x="1" y="0"/>
              <a:ext cx="954717" cy="791308"/>
            </a:xfrm>
            <a:prstGeom prst="rect">
              <a:avLst/>
            </a:prstGeom>
          </p:spPr>
        </p:pic>
        <p:sp>
          <p:nvSpPr>
            <p:cNvPr id="7" name="Rectangle 6"/>
            <p:cNvSpPr/>
            <p:nvPr/>
          </p:nvSpPr>
          <p:spPr>
            <a:xfrm>
              <a:off x="766234" y="210988"/>
              <a:ext cx="9471982" cy="369332"/>
            </a:xfrm>
            <a:prstGeom prst="rect">
              <a:avLst/>
            </a:prstGeom>
          </p:spPr>
          <p:txBody>
            <a:bodyPr wrap="square">
              <a:spAutoFit/>
            </a:bodyPr>
            <a:lstStyle/>
            <a:p>
              <a:r>
                <a:rPr lang="en-US" b="1" dirty="0">
                  <a:latin typeface="+mj-lt"/>
                </a:rPr>
                <a:t>PHẦN 4 – QUY ĐỊNH </a:t>
              </a:r>
              <a:r>
                <a:rPr lang="vi-VN" b="1" dirty="0">
                  <a:latin typeface="+mj-lt"/>
                </a:rPr>
                <a:t>XÂY DỰNG, TRA CỨU THÔNG TIN HÓA ĐƠN, CHỨNG TỪ</a:t>
              </a:r>
              <a:endParaRPr lang="en-US" dirty="0">
                <a:latin typeface="+mj-lt"/>
              </a:endParaRPr>
            </a:p>
          </p:txBody>
        </p:sp>
      </p:grpSp>
    </p:spTree>
    <p:extLst>
      <p:ext uri="{BB962C8B-B14F-4D97-AF65-F5344CB8AC3E}">
        <p14:creationId xmlns:p14="http://schemas.microsoft.com/office/powerpoint/2010/main" val="34424232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1839" y="901185"/>
            <a:ext cx="8596668" cy="726831"/>
          </a:xfrm>
        </p:spPr>
        <p:txBody>
          <a:bodyPr>
            <a:normAutofit fontScale="90000"/>
          </a:bodyPr>
          <a:lstStyle/>
          <a:p>
            <a:pPr algn="ctr"/>
            <a:r>
              <a:rPr lang="vi-VN" sz="2900" b="1" dirty="0">
                <a:solidFill>
                  <a:schemeClr val="accent5"/>
                </a:solidFill>
              </a:rPr>
              <a:t>X</a:t>
            </a:r>
            <a:r>
              <a:rPr lang="en-US" sz="2900" b="1" dirty="0">
                <a:solidFill>
                  <a:schemeClr val="accent5"/>
                </a:solidFill>
              </a:rPr>
              <a:t>ÂY DỰNG HẠ TẦNG KỸ THUẬT</a:t>
            </a:r>
            <a:r>
              <a:rPr lang="vi-VN" sz="3300" dirty="0">
                <a:solidFill>
                  <a:schemeClr val="accent5"/>
                </a:solidFill>
                <a:latin typeface="Cambria" panose="02040503050406030204" pitchFamily="18" charset="0"/>
              </a:rPr>
              <a:t/>
            </a:r>
            <a:br>
              <a:rPr lang="vi-VN" sz="3300" dirty="0">
                <a:solidFill>
                  <a:schemeClr val="accent5"/>
                </a:solidFill>
                <a:latin typeface="Cambria" panose="02040503050406030204" pitchFamily="18" charset="0"/>
              </a:rPr>
            </a:br>
            <a:r>
              <a:rPr lang="en-US" b="1" dirty="0">
                <a:solidFill>
                  <a:schemeClr val="accent5"/>
                </a:solidFill>
                <a:latin typeface="Cambria" panose="02040503050406030204" pitchFamily="18" charset="0"/>
              </a:rPr>
              <a:t/>
            </a:r>
            <a:br>
              <a:rPr lang="en-US" b="1" dirty="0">
                <a:solidFill>
                  <a:schemeClr val="accent5"/>
                </a:solidFill>
                <a:latin typeface="Cambria" panose="02040503050406030204" pitchFamily="18" charset="0"/>
              </a:rPr>
            </a:br>
            <a:r>
              <a:rPr lang="en-US" b="1" dirty="0">
                <a:solidFill>
                  <a:schemeClr val="accent5"/>
                </a:solidFill>
                <a:latin typeface="Cambria" panose="02040503050406030204" pitchFamily="18" charset="0"/>
              </a:rPr>
              <a:t/>
            </a:r>
            <a:br>
              <a:rPr lang="en-US" b="1" dirty="0">
                <a:solidFill>
                  <a:schemeClr val="accent5"/>
                </a:solidFill>
                <a:latin typeface="Cambria" panose="02040503050406030204" pitchFamily="18" charset="0"/>
              </a:rPr>
            </a:br>
            <a:endParaRPr lang="vi-VN" b="1" dirty="0">
              <a:solidFill>
                <a:schemeClr val="accent5"/>
              </a:solidFill>
              <a:latin typeface="Cambria" panose="02040503050406030204" pitchFamily="18" charset="0"/>
            </a:endParaRPr>
          </a:p>
        </p:txBody>
      </p:sp>
      <p:sp>
        <p:nvSpPr>
          <p:cNvPr id="3" name="Content Placeholder 2"/>
          <p:cNvSpPr>
            <a:spLocks noGrp="1"/>
          </p:cNvSpPr>
          <p:nvPr>
            <p:ph idx="1"/>
          </p:nvPr>
        </p:nvSpPr>
        <p:spPr>
          <a:xfrm>
            <a:off x="766234" y="2172679"/>
            <a:ext cx="8596668" cy="3059722"/>
          </a:xfrm>
        </p:spPr>
        <p:txBody>
          <a:bodyPr anchor="ctr" anchorCtr="0">
            <a:normAutofit/>
          </a:bodyPr>
          <a:lstStyle/>
          <a:p>
            <a:pPr marL="0" indent="0" algn="just">
              <a:buNone/>
            </a:pPr>
            <a:r>
              <a:rPr lang="vi-VN" sz="1900" dirty="0">
                <a:solidFill>
                  <a:schemeClr val="tx1"/>
                </a:solidFill>
                <a:latin typeface="Cambria" panose="02040503050406030204" pitchFamily="18" charset="0"/>
              </a:rPr>
              <a:t>- Hạ tầng kỹ thuật công nghệ thông tin hóa đơn điện tử, chứng từ điện tử bao gồm tập hợp thiết bị tính toán (máy chủ, máy trạm), hệ thống đường truyền, thiết bị kết nối mạng, thiết bị (hoặc phần mềm) an ninh an toàn mạng và cơ sở dữ liệu, thiết bị lưu trữ, thiết bị ngoại vi và thiết bị phụ trợ, mạng nội bộ.</a:t>
            </a:r>
          </a:p>
          <a:p>
            <a:pPr marL="0" indent="0" algn="just">
              <a:buNone/>
            </a:pPr>
            <a:r>
              <a:rPr lang="vi-VN" sz="1900" dirty="0">
                <a:solidFill>
                  <a:schemeClr val="tx1"/>
                </a:solidFill>
                <a:latin typeface="Cambria" panose="02040503050406030204" pitchFamily="18" charset="0"/>
              </a:rPr>
              <a:t>- Hệ thống phần mềm để quản lý, vận hành, khai thác hệ thống thông tin hóa đơn điện tử, chứng từ điện tử gồm: hệ điều hành, hệ quản trị cơ sở dữ liệu và phần mềm ứng dụng.</a:t>
            </a:r>
          </a:p>
          <a:p>
            <a:pPr marL="0" indent="0">
              <a:buNone/>
            </a:pPr>
            <a:endParaRPr lang="vi-VN" sz="1900" dirty="0">
              <a:solidFill>
                <a:schemeClr val="tx1"/>
              </a:solidFill>
              <a:latin typeface="Cambria" panose="02040503050406030204" pitchFamily="18" charset="0"/>
            </a:endParaRPr>
          </a:p>
        </p:txBody>
      </p:sp>
      <p:grpSp>
        <p:nvGrpSpPr>
          <p:cNvPr id="4" name="Group 3"/>
          <p:cNvGrpSpPr/>
          <p:nvPr/>
        </p:nvGrpSpPr>
        <p:grpSpPr>
          <a:xfrm>
            <a:off x="1" y="0"/>
            <a:ext cx="10238215" cy="791308"/>
            <a:chOff x="1" y="0"/>
            <a:chExt cx="10238215"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766234" y="210988"/>
              <a:ext cx="9471982" cy="369332"/>
            </a:xfrm>
            <a:prstGeom prst="rect">
              <a:avLst/>
            </a:prstGeom>
          </p:spPr>
          <p:txBody>
            <a:bodyPr wrap="square">
              <a:spAutoFit/>
            </a:bodyPr>
            <a:lstStyle/>
            <a:p>
              <a:r>
                <a:rPr lang="en-US" b="1" dirty="0">
                  <a:latin typeface="+mj-lt"/>
                </a:rPr>
                <a:t>PHẦN 4 – QUY ĐỊNH </a:t>
              </a:r>
              <a:r>
                <a:rPr lang="vi-VN" b="1" dirty="0">
                  <a:latin typeface="+mj-lt"/>
                </a:rPr>
                <a:t>XÂY DỰNG, TRA CỨU THÔNG TIN HÓA ĐƠN, CHỨNG TỪ</a:t>
              </a:r>
              <a:endParaRPr lang="en-US" dirty="0">
                <a:latin typeface="+mj-lt"/>
              </a:endParaRPr>
            </a:p>
          </p:txBody>
        </p:sp>
      </p:grpSp>
    </p:spTree>
    <p:extLst>
      <p:ext uri="{BB962C8B-B14F-4D97-AF65-F5344CB8AC3E}">
        <p14:creationId xmlns:p14="http://schemas.microsoft.com/office/powerpoint/2010/main" val="371439295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5346" y="1015023"/>
            <a:ext cx="8596668" cy="726831"/>
          </a:xfrm>
        </p:spPr>
        <p:txBody>
          <a:bodyPr>
            <a:noAutofit/>
          </a:bodyPr>
          <a:lstStyle/>
          <a:p>
            <a:pPr algn="ctr"/>
            <a:r>
              <a:rPr lang="vi-VN" sz="2600" b="1" dirty="0">
                <a:solidFill>
                  <a:schemeClr val="accent5"/>
                </a:solidFill>
              </a:rPr>
              <a:t>X</a:t>
            </a:r>
            <a:r>
              <a:rPr lang="en-US" sz="2600" b="1" dirty="0">
                <a:solidFill>
                  <a:schemeClr val="accent5"/>
                </a:solidFill>
              </a:rPr>
              <a:t>ÂY DỰNG, THU THẬP, XỬ LÝ VÀ QUẢN LÝ</a:t>
            </a:r>
            <a:r>
              <a:rPr lang="vi-VN" sz="2600" dirty="0"/>
              <a:t/>
            </a:r>
            <a:br>
              <a:rPr lang="vi-VN" sz="2600" dirty="0"/>
            </a:br>
            <a:endParaRPr lang="vi-VN" sz="2600" dirty="0">
              <a:solidFill>
                <a:schemeClr val="accent5"/>
              </a:solidFill>
            </a:endParaRPr>
          </a:p>
        </p:txBody>
      </p:sp>
      <p:sp>
        <p:nvSpPr>
          <p:cNvPr id="3" name="Content Placeholder 2"/>
          <p:cNvSpPr>
            <a:spLocks noGrp="1"/>
          </p:cNvSpPr>
          <p:nvPr>
            <p:ph idx="1"/>
          </p:nvPr>
        </p:nvSpPr>
        <p:spPr>
          <a:xfrm>
            <a:off x="795346" y="2565400"/>
            <a:ext cx="8596668" cy="2311400"/>
          </a:xfrm>
        </p:spPr>
        <p:txBody>
          <a:bodyPr anchor="ctr" anchorCtr="0">
            <a:noAutofit/>
          </a:bodyPr>
          <a:lstStyle/>
          <a:p>
            <a:pPr marL="0" indent="0" algn="just">
              <a:buNone/>
            </a:pPr>
            <a:r>
              <a:rPr lang="vi-VN" sz="2000" dirty="0">
                <a:solidFill>
                  <a:schemeClr val="tx1"/>
                </a:solidFill>
                <a:latin typeface="+mj-lt"/>
              </a:rPr>
              <a:t>1. Xây dựng hệ thống thông tin về hóa đơn, chứng từ</a:t>
            </a:r>
          </a:p>
          <a:p>
            <a:pPr marL="0" indent="0" algn="just">
              <a:buNone/>
            </a:pPr>
            <a:r>
              <a:rPr lang="en-US" sz="2000" dirty="0">
                <a:solidFill>
                  <a:schemeClr val="tx1"/>
                </a:solidFill>
                <a:latin typeface="+mj-lt"/>
              </a:rPr>
              <a:t>2</a:t>
            </a:r>
            <a:r>
              <a:rPr lang="vi-VN" sz="2000" dirty="0">
                <a:solidFill>
                  <a:schemeClr val="tx1"/>
                </a:solidFill>
                <a:latin typeface="+mj-lt"/>
              </a:rPr>
              <a:t>. Thu nhập, cập nhật thông tin về hóa đơn, chứng từ</a:t>
            </a:r>
          </a:p>
          <a:p>
            <a:pPr marL="0" indent="0" algn="just">
              <a:buNone/>
            </a:pPr>
            <a:r>
              <a:rPr lang="vi-VN" sz="2000" dirty="0">
                <a:solidFill>
                  <a:schemeClr val="tx1"/>
                </a:solidFill>
                <a:latin typeface="+mj-lt"/>
              </a:rPr>
              <a:t>3. Xử lý thông tin về hóa đơn, chứng từ</a:t>
            </a:r>
          </a:p>
          <a:p>
            <a:pPr marL="0" indent="0" algn="just">
              <a:buNone/>
            </a:pPr>
            <a:r>
              <a:rPr lang="vi-VN" sz="2000" dirty="0">
                <a:solidFill>
                  <a:schemeClr val="tx1"/>
                </a:solidFill>
                <a:latin typeface="+mj-lt"/>
              </a:rPr>
              <a:t>4. Quản lý hệ thống thông tin về hóa đơn, chứng từ</a:t>
            </a:r>
          </a:p>
          <a:p>
            <a:pPr marL="0" indent="0" algn="just">
              <a:buNone/>
            </a:pPr>
            <a:endParaRPr lang="vi-VN" sz="2000" i="1" dirty="0">
              <a:solidFill>
                <a:schemeClr val="tx1"/>
              </a:solidFill>
              <a:latin typeface="+mj-lt"/>
            </a:endParaRPr>
          </a:p>
          <a:p>
            <a:pPr marL="0" indent="0" algn="just">
              <a:buNone/>
            </a:pPr>
            <a:r>
              <a:rPr lang="vi-VN" sz="2000" i="1" dirty="0">
                <a:solidFill>
                  <a:schemeClr val="tx1"/>
                </a:solidFill>
                <a:latin typeface="+mj-lt"/>
              </a:rPr>
              <a:t>(Điều 43 Nghị định số 123/2020/NĐ-CP)</a:t>
            </a:r>
            <a:endParaRPr lang="vi-VN" sz="2000" dirty="0">
              <a:solidFill>
                <a:schemeClr val="tx1"/>
              </a:solidFill>
              <a:latin typeface="+mj-lt"/>
            </a:endParaRPr>
          </a:p>
        </p:txBody>
      </p:sp>
      <p:grpSp>
        <p:nvGrpSpPr>
          <p:cNvPr id="4" name="Group 3"/>
          <p:cNvGrpSpPr/>
          <p:nvPr/>
        </p:nvGrpSpPr>
        <p:grpSpPr>
          <a:xfrm>
            <a:off x="1" y="0"/>
            <a:ext cx="10238215" cy="791308"/>
            <a:chOff x="1" y="0"/>
            <a:chExt cx="10238215"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766234" y="210988"/>
              <a:ext cx="9471982" cy="369332"/>
            </a:xfrm>
            <a:prstGeom prst="rect">
              <a:avLst/>
            </a:prstGeom>
          </p:spPr>
          <p:txBody>
            <a:bodyPr wrap="square">
              <a:spAutoFit/>
            </a:bodyPr>
            <a:lstStyle/>
            <a:p>
              <a:r>
                <a:rPr lang="en-US" b="1" dirty="0">
                  <a:latin typeface="+mj-lt"/>
                </a:rPr>
                <a:t>PHẦN 4 – QUY ĐỊNH </a:t>
              </a:r>
              <a:r>
                <a:rPr lang="vi-VN" b="1" dirty="0">
                  <a:latin typeface="+mj-lt"/>
                </a:rPr>
                <a:t>XÂY DỰNG, TRA CỨU THÔNG TIN HÓA ĐƠN, CHỨNG TỪ</a:t>
              </a:r>
              <a:endParaRPr lang="en-US" dirty="0">
                <a:latin typeface="+mj-lt"/>
              </a:endParaRPr>
            </a:p>
          </p:txBody>
        </p:sp>
      </p:grpSp>
    </p:spTree>
    <p:extLst>
      <p:ext uri="{BB962C8B-B14F-4D97-AF65-F5344CB8AC3E}">
        <p14:creationId xmlns:p14="http://schemas.microsoft.com/office/powerpoint/2010/main" val="7463615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itle 1"/>
          <p:cNvSpPr>
            <a:spLocks noGrp="1"/>
          </p:cNvSpPr>
          <p:nvPr>
            <p:ph type="title"/>
          </p:nvPr>
        </p:nvSpPr>
        <p:spPr>
          <a:xfrm>
            <a:off x="587066" y="791308"/>
            <a:ext cx="9230034" cy="783102"/>
          </a:xfrm>
        </p:spPr>
        <p:txBody>
          <a:bodyPr>
            <a:noAutofit/>
          </a:bodyPr>
          <a:lstStyle/>
          <a:p>
            <a:pPr algn="ctr"/>
            <a:r>
              <a:rPr lang="en-US" sz="2600" b="1" dirty="0">
                <a:solidFill>
                  <a:srgbClr val="C00000"/>
                </a:solidFill>
              </a:rPr>
              <a:t>C. </a:t>
            </a:r>
            <a:r>
              <a:rPr lang="vi-VN" sz="2600" b="1" dirty="0">
                <a:solidFill>
                  <a:srgbClr val="C00000"/>
                </a:solidFill>
              </a:rPr>
              <a:t>TRA CỨU, CUNG CẤP, SỬ DỤNG THÔNG TIN </a:t>
            </a:r>
            <a:r>
              <a:rPr lang="en-US" sz="2600" b="1" dirty="0">
                <a:solidFill>
                  <a:srgbClr val="C00000"/>
                </a:solidFill>
              </a:rPr>
              <a:t>HĐĐT</a:t>
            </a:r>
          </a:p>
        </p:txBody>
      </p:sp>
      <p:sp>
        <p:nvSpPr>
          <p:cNvPr id="5" name="Content Placeholder 4"/>
          <p:cNvSpPr>
            <a:spLocks noGrp="1"/>
          </p:cNvSpPr>
          <p:nvPr>
            <p:ph idx="1"/>
          </p:nvPr>
        </p:nvSpPr>
        <p:spPr>
          <a:xfrm>
            <a:off x="766234" y="1785398"/>
            <a:ext cx="9050866" cy="3556390"/>
          </a:xfrm>
        </p:spPr>
        <p:txBody>
          <a:bodyPr anchor="t" anchorCtr="0">
            <a:normAutofit lnSpcReduction="10000"/>
          </a:bodyPr>
          <a:lstStyle/>
          <a:p>
            <a:pPr marL="0" indent="0" algn="ctr">
              <a:buNone/>
            </a:pPr>
            <a:r>
              <a:rPr lang="en-US" sz="2600" b="1" dirty="0">
                <a:solidFill>
                  <a:schemeClr val="accent5"/>
                </a:solidFill>
                <a:latin typeface="+mj-lt"/>
              </a:rPr>
              <a:t>NGUYÊN TẮC</a:t>
            </a:r>
            <a:endParaRPr lang="vi-VN" sz="2600" b="1" dirty="0">
              <a:solidFill>
                <a:schemeClr val="accent5"/>
              </a:solidFill>
              <a:latin typeface="+mj-lt"/>
            </a:endParaRPr>
          </a:p>
          <a:p>
            <a:pPr marL="0" indent="0">
              <a:buNone/>
            </a:pPr>
            <a:endParaRPr lang="vi-VN" dirty="0">
              <a:latin typeface="+mj-lt"/>
            </a:endParaRPr>
          </a:p>
          <a:p>
            <a:pPr marL="0" indent="0" algn="just">
              <a:buNone/>
            </a:pPr>
            <a:r>
              <a:rPr lang="vi-VN" sz="1900" dirty="0">
                <a:solidFill>
                  <a:schemeClr val="tx1"/>
                </a:solidFill>
                <a:latin typeface="+mj-lt"/>
              </a:rPr>
              <a:t>- Việc tra cứu, cung cấp, sử dụng thông tin hóa đơn điện tử được áp dụng để thực hiện các thủ tục về thuế, thủ tục thanh toán qua ngân hàng và các thủ tục hành chính khác; chứng minh tính hợp pháp của hàng hóa lưu thông trên thị trường.</a:t>
            </a:r>
          </a:p>
          <a:p>
            <a:pPr marL="0" indent="0" algn="just">
              <a:buNone/>
            </a:pPr>
            <a:r>
              <a:rPr lang="vi-VN" sz="1900" dirty="0">
                <a:solidFill>
                  <a:schemeClr val="tx1"/>
                </a:solidFill>
                <a:latin typeface="+mj-lt"/>
              </a:rPr>
              <a:t>- Việc tra cứu, cung cấp thông tin hóa đơn điện tử phải đảm bảo đầy đủ, chính xác, kịp thời và đúng đối tượng.</a:t>
            </a:r>
          </a:p>
          <a:p>
            <a:pPr marL="0" indent="0" algn="just">
              <a:buNone/>
            </a:pPr>
            <a:r>
              <a:rPr lang="vi-VN" sz="1900" dirty="0">
                <a:solidFill>
                  <a:schemeClr val="tx1"/>
                </a:solidFill>
                <a:latin typeface="+mj-lt"/>
              </a:rPr>
              <a:t>- Việc sử dụng thông tin hóa đơn điện tử được cung cấp phải đảm bảo đúng mục đích, phục vụ cho hoạt động nghiệp vụ theo chức năng, nhiệm vụ của bên sử dụng thông tin; đồng thời phải đảm bảo đúng quy định của pháp luật về bảo vệ bí mật nhà nước.</a:t>
            </a:r>
          </a:p>
          <a:p>
            <a:pPr marL="0" indent="0" algn="ctr">
              <a:buNone/>
            </a:pPr>
            <a:endParaRPr lang="vi-VN" sz="3200" b="1" dirty="0">
              <a:solidFill>
                <a:schemeClr val="accent5"/>
              </a:solidFill>
              <a:latin typeface="+mj-lt"/>
            </a:endParaRPr>
          </a:p>
        </p:txBody>
      </p:sp>
      <p:grpSp>
        <p:nvGrpSpPr>
          <p:cNvPr id="4" name="Group 3"/>
          <p:cNvGrpSpPr/>
          <p:nvPr/>
        </p:nvGrpSpPr>
        <p:grpSpPr>
          <a:xfrm>
            <a:off x="1" y="0"/>
            <a:ext cx="10238215" cy="791308"/>
            <a:chOff x="1" y="0"/>
            <a:chExt cx="10238215" cy="791308"/>
          </a:xfrm>
        </p:grpSpPr>
        <p:pic>
          <p:nvPicPr>
            <p:cNvPr id="6" name="Picture 5"/>
            <p:cNvPicPr>
              <a:picLocks noChangeAspect="1"/>
            </p:cNvPicPr>
            <p:nvPr/>
          </p:nvPicPr>
          <p:blipFill>
            <a:blip r:embed="rId2"/>
            <a:stretch>
              <a:fillRect/>
            </a:stretch>
          </p:blipFill>
          <p:spPr>
            <a:xfrm>
              <a:off x="1" y="0"/>
              <a:ext cx="954717" cy="791308"/>
            </a:xfrm>
            <a:prstGeom prst="rect">
              <a:avLst/>
            </a:prstGeom>
          </p:spPr>
        </p:pic>
        <p:sp>
          <p:nvSpPr>
            <p:cNvPr id="7" name="Rectangle 6"/>
            <p:cNvSpPr/>
            <p:nvPr/>
          </p:nvSpPr>
          <p:spPr>
            <a:xfrm>
              <a:off x="766234" y="210988"/>
              <a:ext cx="9471982" cy="369332"/>
            </a:xfrm>
            <a:prstGeom prst="rect">
              <a:avLst/>
            </a:prstGeom>
          </p:spPr>
          <p:txBody>
            <a:bodyPr wrap="square">
              <a:spAutoFit/>
            </a:bodyPr>
            <a:lstStyle/>
            <a:p>
              <a:r>
                <a:rPr lang="en-US" b="1" dirty="0">
                  <a:latin typeface="+mj-lt"/>
                </a:rPr>
                <a:t>PHẦN 4 – QUY ĐỊNH </a:t>
              </a:r>
              <a:r>
                <a:rPr lang="vi-VN" b="1" dirty="0">
                  <a:latin typeface="+mj-lt"/>
                </a:rPr>
                <a:t>XÂY DỰNG, TRA CỨU THÔNG TIN HÓA ĐƠN, CHỨNG TỪ</a:t>
              </a:r>
              <a:endParaRPr lang="en-US" dirty="0">
                <a:latin typeface="+mj-lt"/>
              </a:endParaRPr>
            </a:p>
          </p:txBody>
        </p:sp>
      </p:grpSp>
    </p:spTree>
    <p:extLst>
      <p:ext uri="{BB962C8B-B14F-4D97-AF65-F5344CB8AC3E}">
        <p14:creationId xmlns:p14="http://schemas.microsoft.com/office/powerpoint/2010/main" val="248369079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5346" y="1205523"/>
            <a:ext cx="8596668" cy="726831"/>
          </a:xfrm>
        </p:spPr>
        <p:txBody>
          <a:bodyPr>
            <a:normAutofit/>
          </a:bodyPr>
          <a:lstStyle/>
          <a:p>
            <a:pPr algn="ctr"/>
            <a:r>
              <a:rPr lang="en-US" sz="2800" b="1" dirty="0">
                <a:solidFill>
                  <a:schemeClr val="accent5"/>
                </a:solidFill>
              </a:rPr>
              <a:t>TRA CỨU</a:t>
            </a:r>
            <a:endParaRPr lang="vi-VN" sz="2800" dirty="0">
              <a:solidFill>
                <a:schemeClr val="accent5"/>
              </a:solidFill>
            </a:endParaRPr>
          </a:p>
        </p:txBody>
      </p:sp>
      <p:sp>
        <p:nvSpPr>
          <p:cNvPr id="3" name="Content Placeholder 2"/>
          <p:cNvSpPr>
            <a:spLocks noGrp="1"/>
          </p:cNvSpPr>
          <p:nvPr>
            <p:ph idx="1"/>
          </p:nvPr>
        </p:nvSpPr>
        <p:spPr>
          <a:xfrm>
            <a:off x="795346" y="1932354"/>
            <a:ext cx="8596668" cy="3287346"/>
          </a:xfrm>
        </p:spPr>
        <p:txBody>
          <a:bodyPr anchor="ctr" anchorCtr="0">
            <a:normAutofit/>
          </a:bodyPr>
          <a:lstStyle/>
          <a:p>
            <a:pPr marL="0" indent="0" algn="just">
              <a:buNone/>
            </a:pPr>
            <a:r>
              <a:rPr lang="vi-VN" sz="2000" dirty="0">
                <a:solidFill>
                  <a:schemeClr val="tx1"/>
                </a:solidFill>
                <a:latin typeface="+mj-lt"/>
              </a:rPr>
              <a:t>- Khi kiểm tra hàng hóa lưu thông trên thị trường, đối với trường hợp sử dụng hóa đơn điện tử, cơ quan nhà nước, người có thẩm quyền truy cập Cổng thông tin điện tử của Tổng cục Thuế để tra cứu thông tin về hóa đơn điện tử phục vụ yêu cầu quản lý, không yêu cầu cung cấp hóa đơn giấy. Các cơ quan có liên quan có trách nhiệm sử dụng các thiết bị để truy cập tra cứu dữ liệu hóa đơn điện tử.</a:t>
            </a:r>
          </a:p>
          <a:p>
            <a:pPr marL="0" indent="0" algn="just">
              <a:buNone/>
            </a:pPr>
            <a:r>
              <a:rPr lang="vi-VN" sz="2000" dirty="0">
                <a:solidFill>
                  <a:schemeClr val="tx1"/>
                </a:solidFill>
                <a:latin typeface="+mj-lt"/>
              </a:rPr>
              <a:t>- Trường hợp bất khả kháng do sự cố, thiên tai gây ảnh hưởng đến việc truy cập mạng Internet dẫn đến không tra cứu được dữ liệu hóa đơn thì cơ quan nhà nước, người có thẩm quyền đang thực hiện kiểm tra thực hiện tra cứu thông tin hóa đơn điện tử theo hình thức nhắn tin.</a:t>
            </a:r>
          </a:p>
        </p:txBody>
      </p:sp>
      <p:grpSp>
        <p:nvGrpSpPr>
          <p:cNvPr id="4" name="Group 3"/>
          <p:cNvGrpSpPr/>
          <p:nvPr/>
        </p:nvGrpSpPr>
        <p:grpSpPr>
          <a:xfrm>
            <a:off x="1" y="0"/>
            <a:ext cx="10238215" cy="791308"/>
            <a:chOff x="1" y="0"/>
            <a:chExt cx="10238215"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766234" y="210988"/>
              <a:ext cx="9471982" cy="369332"/>
            </a:xfrm>
            <a:prstGeom prst="rect">
              <a:avLst/>
            </a:prstGeom>
          </p:spPr>
          <p:txBody>
            <a:bodyPr wrap="square">
              <a:spAutoFit/>
            </a:bodyPr>
            <a:lstStyle/>
            <a:p>
              <a:r>
                <a:rPr lang="en-US" b="1" dirty="0">
                  <a:latin typeface="+mj-lt"/>
                </a:rPr>
                <a:t>PHẦN 4 – QUY ĐỊNH </a:t>
              </a:r>
              <a:r>
                <a:rPr lang="vi-VN" b="1" dirty="0">
                  <a:latin typeface="+mj-lt"/>
                </a:rPr>
                <a:t>XÂY DỰNG, TRA CỨU THÔNG TIN HÓA ĐƠN, CHỨNG TỪ</a:t>
              </a:r>
              <a:endParaRPr lang="en-US" dirty="0">
                <a:latin typeface="+mj-lt"/>
              </a:endParaRPr>
            </a:p>
          </p:txBody>
        </p:sp>
      </p:grpSp>
    </p:spTree>
    <p:extLst>
      <p:ext uri="{BB962C8B-B14F-4D97-AF65-F5344CB8AC3E}">
        <p14:creationId xmlns:p14="http://schemas.microsoft.com/office/powerpoint/2010/main" val="338718946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4846" y="849923"/>
            <a:ext cx="8596668" cy="726831"/>
          </a:xfrm>
        </p:spPr>
        <p:txBody>
          <a:bodyPr>
            <a:normAutofit/>
          </a:bodyPr>
          <a:lstStyle/>
          <a:p>
            <a:pPr algn="ctr"/>
            <a:r>
              <a:rPr lang="vi-VN" sz="2800" b="1" dirty="0">
                <a:solidFill>
                  <a:schemeClr val="accent5"/>
                </a:solidFill>
              </a:rPr>
              <a:t>Đ</a:t>
            </a:r>
            <a:r>
              <a:rPr lang="en-US" sz="2800" b="1" dirty="0">
                <a:solidFill>
                  <a:schemeClr val="accent5"/>
                </a:solidFill>
              </a:rPr>
              <a:t>ỐI TƯỢNG CUNG CẤP, SỬ DỤNG HĐĐT</a:t>
            </a:r>
            <a:endParaRPr lang="vi-VN" sz="2800" dirty="0">
              <a:solidFill>
                <a:schemeClr val="accent5"/>
              </a:solidFill>
            </a:endParaRPr>
          </a:p>
        </p:txBody>
      </p:sp>
      <p:sp>
        <p:nvSpPr>
          <p:cNvPr id="3" name="Content Placeholder 2"/>
          <p:cNvSpPr>
            <a:spLocks noGrp="1"/>
          </p:cNvSpPr>
          <p:nvPr>
            <p:ph idx="1"/>
          </p:nvPr>
        </p:nvSpPr>
        <p:spPr>
          <a:xfrm>
            <a:off x="766234" y="1635369"/>
            <a:ext cx="8596668" cy="4662854"/>
          </a:xfrm>
        </p:spPr>
        <p:txBody>
          <a:bodyPr anchor="b" anchorCtr="0">
            <a:normAutofit/>
          </a:bodyPr>
          <a:lstStyle/>
          <a:p>
            <a:pPr marL="0" indent="0" algn="just">
              <a:buNone/>
            </a:pPr>
            <a:r>
              <a:rPr lang="vi-VN" sz="1900" dirty="0">
                <a:solidFill>
                  <a:schemeClr val="tx1"/>
                </a:solidFill>
                <a:latin typeface="+mj-lt"/>
              </a:rPr>
              <a:t>- Tổng cục Thuế là đơn vị cung cấp thông tin hóa đơn điện tử đối với đề nghị của các cơ quan, tổ chức quản lý nhà nước cấp Trung ương. Cục Thuế, Chi cục Thuế cung cấp thông tin đối với đề nghị của cơ quan, tổ chức quản lý đồng cấp.</a:t>
            </a:r>
          </a:p>
          <a:p>
            <a:pPr marL="0" indent="0" algn="just">
              <a:buNone/>
            </a:pPr>
            <a:r>
              <a:rPr lang="vi-VN" sz="1900" dirty="0">
                <a:solidFill>
                  <a:schemeClr val="tx1"/>
                </a:solidFill>
                <a:latin typeface="+mj-lt"/>
              </a:rPr>
              <a:t>- Các bên sử dụng thông tin hóa đơn điện tử bao gồm:</a:t>
            </a:r>
          </a:p>
          <a:p>
            <a:pPr marL="0" indent="0" algn="just">
              <a:buNone/>
            </a:pPr>
            <a:r>
              <a:rPr lang="vi-VN" sz="1900" dirty="0">
                <a:solidFill>
                  <a:schemeClr val="tx1"/>
                </a:solidFill>
                <a:latin typeface="+mj-lt"/>
              </a:rPr>
              <a:t>+ Các doanh nghiệp, tổ chức kinh tế, hộ, cá nhân kinh doanh là người bán hàng hóa, cung cấp dịch vụ; các tổ chức, cá nhân là người mua hàng hóa, dịch vụ;</a:t>
            </a:r>
          </a:p>
          <a:p>
            <a:pPr marL="0" indent="0" algn="just">
              <a:buNone/>
            </a:pPr>
            <a:r>
              <a:rPr lang="vi-VN" sz="1900" dirty="0">
                <a:solidFill>
                  <a:schemeClr val="tx1"/>
                </a:solidFill>
                <a:latin typeface="+mj-lt"/>
              </a:rPr>
              <a:t>+ Các cơ quan quản lý nhà nước sử dụng thông tin hóa đơn điện tử để thực hiện các thủ tục hành chính theo quy định của pháp luật; kiểm tra tính hợp pháp của hàng hóa lưu thông trên thị trường;</a:t>
            </a:r>
          </a:p>
          <a:p>
            <a:pPr marL="0" indent="0" algn="just">
              <a:buNone/>
            </a:pPr>
            <a:r>
              <a:rPr lang="vi-VN" sz="1900" dirty="0">
                <a:solidFill>
                  <a:schemeClr val="tx1"/>
                </a:solidFill>
                <a:latin typeface="+mj-lt"/>
              </a:rPr>
              <a:t>+ Các tổ chức tín dụng sử dụng thông tin hóa đơn điện tử để thực hiện các thủ tục về thuế, thủ tục thanh toán qua ngân hàng;</a:t>
            </a:r>
          </a:p>
          <a:p>
            <a:pPr marL="0" indent="0" algn="just">
              <a:buNone/>
            </a:pPr>
            <a:r>
              <a:rPr lang="vi-VN" sz="1900" dirty="0">
                <a:solidFill>
                  <a:schemeClr val="tx1"/>
                </a:solidFill>
                <a:latin typeface="+mj-lt"/>
              </a:rPr>
              <a:t>+ Các tổ chức cung cấp dịch vụ hóa đơn điện tử.</a:t>
            </a:r>
          </a:p>
          <a:p>
            <a:pPr marL="0" indent="0" algn="just">
              <a:buNone/>
            </a:pPr>
            <a:r>
              <a:rPr lang="vi-VN" sz="1900" dirty="0">
                <a:solidFill>
                  <a:schemeClr val="tx1"/>
                </a:solidFill>
                <a:latin typeface="+mj-lt"/>
              </a:rPr>
              <a:t>+ Các tổ chức sử dụng thông tin chứng từ điện tử để khấu trừ thuế thu nhập cá nhân.</a:t>
            </a:r>
          </a:p>
        </p:txBody>
      </p:sp>
      <p:grpSp>
        <p:nvGrpSpPr>
          <p:cNvPr id="4" name="Group 3"/>
          <p:cNvGrpSpPr/>
          <p:nvPr/>
        </p:nvGrpSpPr>
        <p:grpSpPr>
          <a:xfrm>
            <a:off x="1" y="0"/>
            <a:ext cx="10238215" cy="791308"/>
            <a:chOff x="1" y="0"/>
            <a:chExt cx="10238215"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766234" y="210988"/>
              <a:ext cx="9471982" cy="369332"/>
            </a:xfrm>
            <a:prstGeom prst="rect">
              <a:avLst/>
            </a:prstGeom>
          </p:spPr>
          <p:txBody>
            <a:bodyPr wrap="square">
              <a:spAutoFit/>
            </a:bodyPr>
            <a:lstStyle/>
            <a:p>
              <a:r>
                <a:rPr lang="en-US" b="1" dirty="0">
                  <a:latin typeface="+mj-lt"/>
                </a:rPr>
                <a:t>PHẦN 4 – QUY ĐỊNH </a:t>
              </a:r>
              <a:r>
                <a:rPr lang="vi-VN" b="1" dirty="0">
                  <a:latin typeface="+mj-lt"/>
                </a:rPr>
                <a:t>XÂY DỰNG, TRA CỨU THÔNG TIN HÓA ĐƠN, CHỨNG TỪ</a:t>
              </a:r>
              <a:endParaRPr lang="en-US" dirty="0">
                <a:latin typeface="+mj-lt"/>
              </a:endParaRPr>
            </a:p>
          </p:txBody>
        </p:sp>
      </p:grpSp>
    </p:spTree>
    <p:extLst>
      <p:ext uri="{BB962C8B-B14F-4D97-AF65-F5344CB8AC3E}">
        <p14:creationId xmlns:p14="http://schemas.microsoft.com/office/powerpoint/2010/main" val="73293299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5346" y="1223108"/>
            <a:ext cx="8596668" cy="726831"/>
          </a:xfrm>
        </p:spPr>
        <p:txBody>
          <a:bodyPr>
            <a:normAutofit/>
          </a:bodyPr>
          <a:lstStyle/>
          <a:p>
            <a:pPr algn="ctr"/>
            <a:r>
              <a:rPr lang="vi-VN" sz="2800" b="1" dirty="0">
                <a:solidFill>
                  <a:schemeClr val="accent5"/>
                </a:solidFill>
              </a:rPr>
              <a:t>H</a:t>
            </a:r>
            <a:r>
              <a:rPr lang="en-US" sz="2800" b="1" dirty="0">
                <a:solidFill>
                  <a:schemeClr val="accent5"/>
                </a:solidFill>
              </a:rPr>
              <a:t>ÌNH THỨC KHAI THÁC</a:t>
            </a:r>
            <a:endParaRPr lang="vi-VN" sz="2800" dirty="0">
              <a:solidFill>
                <a:schemeClr val="accent5"/>
              </a:solidFill>
            </a:endParaRPr>
          </a:p>
        </p:txBody>
      </p:sp>
      <p:sp>
        <p:nvSpPr>
          <p:cNvPr id="3" name="Content Placeholder 2"/>
          <p:cNvSpPr>
            <a:spLocks noGrp="1"/>
          </p:cNvSpPr>
          <p:nvPr>
            <p:ph idx="1"/>
          </p:nvPr>
        </p:nvSpPr>
        <p:spPr>
          <a:xfrm>
            <a:off x="795346" y="2381739"/>
            <a:ext cx="8596668" cy="2374900"/>
          </a:xfrm>
        </p:spPr>
        <p:txBody>
          <a:bodyPr anchor="b" anchorCtr="0">
            <a:normAutofit/>
          </a:bodyPr>
          <a:lstStyle/>
          <a:p>
            <a:pPr marL="0" indent="0" algn="just">
              <a:buNone/>
            </a:pPr>
            <a:r>
              <a:rPr lang="vi-VN" dirty="0">
                <a:solidFill>
                  <a:schemeClr val="tx1"/>
                </a:solidFill>
                <a:latin typeface="Cambria" panose="02040503050406030204" pitchFamily="18" charset="0"/>
              </a:rPr>
              <a:t>- Bên sử dụng thông tin là các doanh nghiệp, tổ chức kinh tế, hộ, cá nhân kinh doanh là người bán hàng hóa, cung cấp dịch vụ; các tổ chức, cá nhân là người mua hàng hóa, dịch vụ truy cập vào Cổng thông tin điện tử của Tổng cục Thuế để tra cứu thông tin hóa đơn điện tử theo các nội dung thông tin hóa đơn điện tử.</a:t>
            </a:r>
          </a:p>
          <a:p>
            <a:pPr marL="0" indent="0" algn="just">
              <a:buNone/>
            </a:pPr>
            <a:r>
              <a:rPr lang="vi-VN" dirty="0">
                <a:solidFill>
                  <a:schemeClr val="tx1"/>
                </a:solidFill>
                <a:latin typeface="Cambria" panose="02040503050406030204" pitchFamily="18" charset="0"/>
              </a:rPr>
              <a:t>- Bên sử dụng thông tin là các cơ quan quản lý nhà nước, các tổ chức tín dụng, tổ chức cung cấp dịch vụ hóa đơn điện tử đã ký quy chế trao đổi thông tin hoặc ký hợp đồng phải đăng ký và được cấp quyền truy cập, kết nối, sử dụng thông tin hóa đơn điện tử</a:t>
            </a:r>
          </a:p>
        </p:txBody>
      </p:sp>
      <p:grpSp>
        <p:nvGrpSpPr>
          <p:cNvPr id="4" name="Group 3"/>
          <p:cNvGrpSpPr/>
          <p:nvPr/>
        </p:nvGrpSpPr>
        <p:grpSpPr>
          <a:xfrm>
            <a:off x="1" y="0"/>
            <a:ext cx="10238215" cy="791308"/>
            <a:chOff x="1" y="0"/>
            <a:chExt cx="10238215"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766234" y="210988"/>
              <a:ext cx="9471982" cy="369332"/>
            </a:xfrm>
            <a:prstGeom prst="rect">
              <a:avLst/>
            </a:prstGeom>
          </p:spPr>
          <p:txBody>
            <a:bodyPr wrap="square">
              <a:spAutoFit/>
            </a:bodyPr>
            <a:lstStyle/>
            <a:p>
              <a:r>
                <a:rPr lang="en-US" b="1" dirty="0">
                  <a:latin typeface="+mj-lt"/>
                </a:rPr>
                <a:t>PHẦN 4 – QUY ĐỊNH </a:t>
              </a:r>
              <a:r>
                <a:rPr lang="vi-VN" b="1" dirty="0">
                  <a:latin typeface="+mj-lt"/>
                </a:rPr>
                <a:t>XÂY DỰNG, TRA CỨU THÔNG TIN HÓA ĐƠN, CHỨNG TỪ</a:t>
              </a:r>
              <a:endParaRPr lang="en-US" dirty="0">
                <a:latin typeface="+mj-lt"/>
              </a:endParaRPr>
            </a:p>
          </p:txBody>
        </p:sp>
      </p:grpSp>
    </p:spTree>
    <p:extLst>
      <p:ext uri="{BB962C8B-B14F-4D97-AF65-F5344CB8AC3E}">
        <p14:creationId xmlns:p14="http://schemas.microsoft.com/office/powerpoint/2010/main" val="38460577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5346" y="895839"/>
            <a:ext cx="8596668" cy="590061"/>
          </a:xfrm>
        </p:spPr>
        <p:txBody>
          <a:bodyPr>
            <a:normAutofit/>
          </a:bodyPr>
          <a:lstStyle/>
          <a:p>
            <a:pPr algn="ctr"/>
            <a:r>
              <a:rPr lang="en-US" sz="3000" b="1" dirty="0">
                <a:solidFill>
                  <a:schemeClr val="accent5"/>
                </a:solidFill>
              </a:rPr>
              <a:t>CÔNG BỐ, TRA CỨU</a:t>
            </a:r>
            <a:endParaRPr lang="vi-VN" sz="3000" dirty="0">
              <a:solidFill>
                <a:schemeClr val="accent5"/>
              </a:solidFill>
            </a:endParaRPr>
          </a:p>
        </p:txBody>
      </p:sp>
      <p:sp>
        <p:nvSpPr>
          <p:cNvPr id="3" name="Content Placeholder 2"/>
          <p:cNvSpPr>
            <a:spLocks noGrp="1"/>
          </p:cNvSpPr>
          <p:nvPr>
            <p:ph idx="1"/>
          </p:nvPr>
        </p:nvSpPr>
        <p:spPr>
          <a:xfrm>
            <a:off x="795346" y="895839"/>
            <a:ext cx="8596668" cy="5786315"/>
          </a:xfrm>
        </p:spPr>
        <p:txBody>
          <a:bodyPr anchor="ctr" anchorCtr="0">
            <a:normAutofit/>
          </a:bodyPr>
          <a:lstStyle/>
          <a:p>
            <a:pPr marL="0" indent="0" algn="just">
              <a:buNone/>
            </a:pPr>
            <a:r>
              <a:rPr lang="vi-VN" sz="2000" dirty="0">
                <a:solidFill>
                  <a:schemeClr val="tx1"/>
                </a:solidFill>
                <a:latin typeface="+mj-lt"/>
              </a:rPr>
              <a:t>- Nội dung thông tin hóa đơn điện tử được cung cấp trên Cổng thông tin điện tử là các nội dung của hóa đơn điện tử theo quy định tại Điều 10 Nghị định số 123/2020/NĐ-CP và tình trạng hóa đơn điện tử.</a:t>
            </a:r>
          </a:p>
          <a:p>
            <a:pPr marL="0" indent="0" algn="just">
              <a:buNone/>
            </a:pPr>
            <a:r>
              <a:rPr lang="vi-VN" sz="2000" dirty="0">
                <a:solidFill>
                  <a:schemeClr val="tx1"/>
                </a:solidFill>
                <a:latin typeface="+mj-lt"/>
              </a:rPr>
              <a:t>- Thông tin hóa đơn điện tử cung cấp dưới dạng văn bản điện tử và dữ liệu điện tử được ký bằng chữ ký số của Tổng cục Thuế hoặc dưới dạng tin nhắn do Tổng cục Thuế cung cấp cho bên sử dụng thông tin là cơ quan quản lý nhà nước thông qua số điện thoại được công bố chính thức tại văn bản gửi Tổng cục Thuế.</a:t>
            </a:r>
          </a:p>
          <a:p>
            <a:pPr marL="0" indent="0" algn="just">
              <a:buNone/>
            </a:pPr>
            <a:r>
              <a:rPr lang="vi-VN" sz="2000" dirty="0">
                <a:solidFill>
                  <a:schemeClr val="tx1"/>
                </a:solidFill>
                <a:latin typeface="+mj-lt"/>
              </a:rPr>
              <a:t>- Việc hiển thị thông tin hóa đơn điện tử trên hệ thống của doanh nghiệp phải theo thứ tự các nội dung hóa đơn điện tử theo quy định tại Điều 10 Nghị định số 123/2020/NĐ-CP.</a:t>
            </a:r>
          </a:p>
        </p:txBody>
      </p:sp>
      <p:grpSp>
        <p:nvGrpSpPr>
          <p:cNvPr id="5" name="Group 4"/>
          <p:cNvGrpSpPr/>
          <p:nvPr/>
        </p:nvGrpSpPr>
        <p:grpSpPr>
          <a:xfrm>
            <a:off x="1" y="0"/>
            <a:ext cx="10238215" cy="791308"/>
            <a:chOff x="1" y="0"/>
            <a:chExt cx="10238215" cy="791308"/>
          </a:xfrm>
        </p:grpSpPr>
        <p:pic>
          <p:nvPicPr>
            <p:cNvPr id="6" name="Picture 5"/>
            <p:cNvPicPr>
              <a:picLocks noChangeAspect="1"/>
            </p:cNvPicPr>
            <p:nvPr/>
          </p:nvPicPr>
          <p:blipFill>
            <a:blip r:embed="rId2"/>
            <a:stretch>
              <a:fillRect/>
            </a:stretch>
          </p:blipFill>
          <p:spPr>
            <a:xfrm>
              <a:off x="1" y="0"/>
              <a:ext cx="954717" cy="791308"/>
            </a:xfrm>
            <a:prstGeom prst="rect">
              <a:avLst/>
            </a:prstGeom>
          </p:spPr>
        </p:pic>
        <p:sp>
          <p:nvSpPr>
            <p:cNvPr id="7" name="Rectangle 6"/>
            <p:cNvSpPr/>
            <p:nvPr/>
          </p:nvSpPr>
          <p:spPr>
            <a:xfrm>
              <a:off x="766234" y="210988"/>
              <a:ext cx="9471982" cy="369332"/>
            </a:xfrm>
            <a:prstGeom prst="rect">
              <a:avLst/>
            </a:prstGeom>
          </p:spPr>
          <p:txBody>
            <a:bodyPr wrap="square">
              <a:spAutoFit/>
            </a:bodyPr>
            <a:lstStyle/>
            <a:p>
              <a:r>
                <a:rPr lang="en-US" b="1" dirty="0">
                  <a:latin typeface="+mj-lt"/>
                </a:rPr>
                <a:t>PHẦN 4 – QUY ĐỊNH </a:t>
              </a:r>
              <a:r>
                <a:rPr lang="vi-VN" b="1" dirty="0">
                  <a:latin typeface="+mj-lt"/>
                </a:rPr>
                <a:t>XÂY DỰNG, TRA CỨU THÔNG TIN HÓA ĐƠN, CHỨNG TỪ</a:t>
              </a:r>
              <a:endParaRPr lang="en-US" dirty="0">
                <a:latin typeface="+mj-lt"/>
              </a:endParaRPr>
            </a:p>
          </p:txBody>
        </p:sp>
      </p:grpSp>
    </p:spTree>
    <p:extLst>
      <p:ext uri="{BB962C8B-B14F-4D97-AF65-F5344CB8AC3E}">
        <p14:creationId xmlns:p14="http://schemas.microsoft.com/office/powerpoint/2010/main" val="59713682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5346" y="895839"/>
            <a:ext cx="8596668" cy="726831"/>
          </a:xfrm>
        </p:spPr>
        <p:txBody>
          <a:bodyPr>
            <a:normAutofit/>
          </a:bodyPr>
          <a:lstStyle/>
          <a:p>
            <a:pPr algn="ctr"/>
            <a:r>
              <a:rPr lang="en-US" sz="3000" b="1" dirty="0">
                <a:solidFill>
                  <a:schemeClr val="accent5"/>
                </a:solidFill>
              </a:rPr>
              <a:t>ĐĂNG KÝ, BỔ SUNG, CHẤM DỨT</a:t>
            </a:r>
            <a:endParaRPr lang="vi-VN" sz="3000" dirty="0">
              <a:solidFill>
                <a:schemeClr val="accent5"/>
              </a:solidFill>
            </a:endParaRPr>
          </a:p>
        </p:txBody>
      </p:sp>
      <p:sp>
        <p:nvSpPr>
          <p:cNvPr id="3" name="Content Placeholder 2"/>
          <p:cNvSpPr>
            <a:spLocks noGrp="1"/>
          </p:cNvSpPr>
          <p:nvPr>
            <p:ph idx="1"/>
          </p:nvPr>
        </p:nvSpPr>
        <p:spPr>
          <a:xfrm>
            <a:off x="795346" y="1938189"/>
            <a:ext cx="8596668" cy="3332311"/>
          </a:xfrm>
        </p:spPr>
        <p:txBody>
          <a:bodyPr anchor="ctr" anchorCtr="0">
            <a:normAutofit lnSpcReduction="10000"/>
          </a:bodyPr>
          <a:lstStyle/>
          <a:p>
            <a:pPr marL="0" indent="0" algn="just">
              <a:buNone/>
            </a:pPr>
            <a:r>
              <a:rPr lang="vi-VN" sz="2200" dirty="0">
                <a:solidFill>
                  <a:schemeClr val="tx1"/>
                </a:solidFill>
                <a:latin typeface="+mj-lt"/>
              </a:rPr>
              <a:t>Đăng ký mới, bổ sung nội dung cung cấp thông tin hóa đơn điện tử</a:t>
            </a:r>
          </a:p>
          <a:p>
            <a:pPr marL="0" indent="0" algn="just">
              <a:buNone/>
            </a:pPr>
            <a:r>
              <a:rPr lang="vi-VN" sz="2200" dirty="0">
                <a:solidFill>
                  <a:schemeClr val="tx1"/>
                </a:solidFill>
                <a:latin typeface="+mj-lt"/>
              </a:rPr>
              <a:t>Thủ tục đăng ký mới, bổ sung thời hạn sử dụng, thu hồi tài khoản truy cập Cổng thông tin điện tử để sử dụng thông tin hóa đơn điện tử (sau đây gọi là tài khoản)</a:t>
            </a:r>
          </a:p>
          <a:p>
            <a:pPr marL="0" indent="0" algn="just">
              <a:buNone/>
            </a:pPr>
            <a:r>
              <a:rPr lang="vi-VN" sz="2200" dirty="0">
                <a:solidFill>
                  <a:schemeClr val="tx1"/>
                </a:solidFill>
                <a:latin typeface="+mj-lt"/>
              </a:rPr>
              <a:t>Đăng ký mới, bổ sung thời hạn sử dụng, thu hồi hiệu lực sử dụng hình thức nhắn tin của số điện thoại di động</a:t>
            </a:r>
          </a:p>
          <a:p>
            <a:pPr marL="0" indent="0" algn="just">
              <a:buNone/>
            </a:pPr>
            <a:r>
              <a:rPr lang="vi-VN" sz="2200" dirty="0">
                <a:solidFill>
                  <a:schemeClr val="tx1"/>
                </a:solidFill>
                <a:latin typeface="+mj-lt"/>
              </a:rPr>
              <a:t>Đăng ký kết nối, dừng kết nối hệ thống của bên sử dụng thông tin với Cổng thông tin điện tử để sử dụng thông tin hóa đơn điện tử.</a:t>
            </a:r>
          </a:p>
          <a:p>
            <a:pPr marL="0" indent="0" algn="just">
              <a:buNone/>
            </a:pPr>
            <a:r>
              <a:rPr lang="vi-VN" sz="2000" i="1" dirty="0">
                <a:solidFill>
                  <a:schemeClr val="tx1"/>
                </a:solidFill>
                <a:latin typeface="+mj-lt"/>
              </a:rPr>
              <a:t>(Điều 49 Nghị định số 123/2020/NĐ-CP)</a:t>
            </a:r>
            <a:endParaRPr lang="vi-VN" sz="2000" dirty="0">
              <a:solidFill>
                <a:schemeClr val="tx1"/>
              </a:solidFill>
              <a:latin typeface="+mj-lt"/>
            </a:endParaRPr>
          </a:p>
        </p:txBody>
      </p:sp>
      <p:grpSp>
        <p:nvGrpSpPr>
          <p:cNvPr id="4" name="Group 3"/>
          <p:cNvGrpSpPr/>
          <p:nvPr/>
        </p:nvGrpSpPr>
        <p:grpSpPr>
          <a:xfrm>
            <a:off x="1" y="0"/>
            <a:ext cx="10238215" cy="791308"/>
            <a:chOff x="1" y="0"/>
            <a:chExt cx="10238215"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766234" y="210988"/>
              <a:ext cx="9471982" cy="369332"/>
            </a:xfrm>
            <a:prstGeom prst="rect">
              <a:avLst/>
            </a:prstGeom>
          </p:spPr>
          <p:txBody>
            <a:bodyPr wrap="square">
              <a:spAutoFit/>
            </a:bodyPr>
            <a:lstStyle/>
            <a:p>
              <a:r>
                <a:rPr lang="en-US" b="1" dirty="0">
                  <a:latin typeface="+mj-lt"/>
                </a:rPr>
                <a:t>PHẦN 4 – QUY ĐỊNH </a:t>
              </a:r>
              <a:r>
                <a:rPr lang="vi-VN" b="1" dirty="0">
                  <a:latin typeface="+mj-lt"/>
                </a:rPr>
                <a:t>XÂY DỰNG, TRA CỨU THÔNG TIN HÓA ĐƠN, CHỨNG TỪ</a:t>
              </a:r>
              <a:endParaRPr lang="en-US" dirty="0">
                <a:latin typeface="+mj-lt"/>
              </a:endParaRPr>
            </a:p>
          </p:txBody>
        </p:sp>
      </p:grpSp>
    </p:spTree>
    <p:extLst>
      <p:ext uri="{BB962C8B-B14F-4D97-AF65-F5344CB8AC3E}">
        <p14:creationId xmlns:p14="http://schemas.microsoft.com/office/powerpoint/2010/main" val="258861100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766234" y="1828800"/>
            <a:ext cx="8596668" cy="3280774"/>
          </a:xfrm>
        </p:spPr>
        <p:txBody>
          <a:bodyPr vert="horz" anchor="ctr" anchorCtr="0">
            <a:noAutofit/>
          </a:bodyPr>
          <a:lstStyle/>
          <a:p>
            <a:pPr marL="0" indent="0">
              <a:buNone/>
            </a:pPr>
            <a:r>
              <a:rPr lang="vi-VN" sz="3200" b="1" dirty="0">
                <a:solidFill>
                  <a:schemeClr val="accent5"/>
                </a:solidFill>
                <a:latin typeface="Cambria" panose="02040503050406030204" pitchFamily="18" charset="0"/>
              </a:rPr>
              <a:t>C</a:t>
            </a:r>
            <a:r>
              <a:rPr lang="en-US" sz="3200" b="1" dirty="0">
                <a:solidFill>
                  <a:schemeClr val="accent5"/>
                </a:solidFill>
                <a:latin typeface="Cambria" panose="02040503050406030204" pitchFamily="18" charset="0"/>
              </a:rPr>
              <a:t>HẤM DỨT SỬ DỤNG CÁC HÌNH THỨC CUNG CẤP, SỬ DỤNG THÔNG TIN HĐĐT</a:t>
            </a:r>
            <a:endParaRPr lang="vi-VN" sz="3200" b="1" dirty="0">
              <a:solidFill>
                <a:schemeClr val="accent5"/>
              </a:solidFill>
              <a:latin typeface="Cambria" panose="02040503050406030204" pitchFamily="18" charset="0"/>
            </a:endParaRPr>
          </a:p>
          <a:p>
            <a:pPr marL="0" indent="0">
              <a:buNone/>
            </a:pPr>
            <a:endParaRPr lang="vi-VN" i="1" dirty="0"/>
          </a:p>
          <a:p>
            <a:pPr marL="0" indent="0" algn="just">
              <a:buNone/>
            </a:pPr>
            <a:r>
              <a:rPr lang="en-US" sz="3200" b="1" dirty="0">
                <a:solidFill>
                  <a:schemeClr val="accent5"/>
                </a:solidFill>
                <a:latin typeface="Cambria" panose="02040503050406030204" pitchFamily="18" charset="0"/>
              </a:rPr>
              <a:t>THỜI HẠN CUNG CẤP</a:t>
            </a:r>
            <a:endParaRPr lang="vi-VN" sz="3200" b="1" dirty="0">
              <a:solidFill>
                <a:schemeClr val="accent5"/>
              </a:solidFill>
              <a:latin typeface="Cambria" panose="02040503050406030204" pitchFamily="18" charset="0"/>
            </a:endParaRPr>
          </a:p>
        </p:txBody>
      </p:sp>
      <p:grpSp>
        <p:nvGrpSpPr>
          <p:cNvPr id="4" name="Group 3"/>
          <p:cNvGrpSpPr/>
          <p:nvPr/>
        </p:nvGrpSpPr>
        <p:grpSpPr>
          <a:xfrm>
            <a:off x="1" y="0"/>
            <a:ext cx="10238215" cy="791308"/>
            <a:chOff x="1" y="0"/>
            <a:chExt cx="10238215"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766234" y="210988"/>
              <a:ext cx="9471982" cy="369332"/>
            </a:xfrm>
            <a:prstGeom prst="rect">
              <a:avLst/>
            </a:prstGeom>
          </p:spPr>
          <p:txBody>
            <a:bodyPr wrap="square">
              <a:spAutoFit/>
            </a:bodyPr>
            <a:lstStyle/>
            <a:p>
              <a:r>
                <a:rPr lang="en-US" b="1" dirty="0">
                  <a:latin typeface="+mj-lt"/>
                </a:rPr>
                <a:t>PHẦN 4 – QUY ĐỊNH </a:t>
              </a:r>
              <a:r>
                <a:rPr lang="vi-VN" b="1" dirty="0">
                  <a:latin typeface="+mj-lt"/>
                </a:rPr>
                <a:t>XÂY DỰNG, TRA CỨU THÔNG TIN HÓA ĐƠN, CHỨNG TỪ</a:t>
              </a:r>
              <a:endParaRPr lang="en-US" dirty="0">
                <a:latin typeface="+mj-lt"/>
              </a:endParaRPr>
            </a:p>
          </p:txBody>
        </p:sp>
      </p:grpSp>
    </p:spTree>
    <p:extLst>
      <p:ext uri="{BB962C8B-B14F-4D97-AF65-F5344CB8AC3E}">
        <p14:creationId xmlns:p14="http://schemas.microsoft.com/office/powerpoint/2010/main" val="26831226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6234" y="2386258"/>
            <a:ext cx="8596668" cy="726831"/>
          </a:xfrm>
        </p:spPr>
        <p:txBody>
          <a:bodyPr>
            <a:normAutofit fontScale="90000"/>
          </a:bodyPr>
          <a:lstStyle/>
          <a:p>
            <a:pPr algn="ctr"/>
            <a:r>
              <a:rPr lang="vi-VN" sz="3200" b="1" dirty="0">
                <a:solidFill>
                  <a:schemeClr val="accent5"/>
                </a:solidFill>
                <a:latin typeface="Cambria" panose="02040503050406030204" pitchFamily="18" charset="0"/>
              </a:rPr>
              <a:t>T</a:t>
            </a:r>
            <a:r>
              <a:rPr lang="en-US" sz="3200" b="1" dirty="0">
                <a:solidFill>
                  <a:schemeClr val="accent5"/>
                </a:solidFill>
                <a:latin typeface="Cambria" panose="02040503050406030204" pitchFamily="18" charset="0"/>
              </a:rPr>
              <a:t>RÁCH NHIỆM CỦA TỔNG CỤC THUẾ</a:t>
            </a:r>
            <a:br>
              <a:rPr lang="en-US" sz="3200" b="1" dirty="0">
                <a:solidFill>
                  <a:schemeClr val="accent5"/>
                </a:solidFill>
                <a:latin typeface="Cambria" panose="02040503050406030204" pitchFamily="18" charset="0"/>
              </a:rPr>
            </a:br>
            <a:r>
              <a:rPr lang="vi-VN" sz="3200" b="1" dirty="0">
                <a:solidFill>
                  <a:schemeClr val="accent5"/>
                </a:solidFill>
                <a:latin typeface="Cambria" panose="02040503050406030204" pitchFamily="18" charset="0"/>
              </a:rPr>
              <a:t>T</a:t>
            </a:r>
            <a:r>
              <a:rPr lang="en-US" sz="3200" b="1" dirty="0">
                <a:solidFill>
                  <a:schemeClr val="accent5"/>
                </a:solidFill>
                <a:latin typeface="Cambria" panose="02040503050406030204" pitchFamily="18" charset="0"/>
              </a:rPr>
              <a:t>RÁCH NHIỆM CỦA BÊN SỬ DỤNG THÔNG TIN</a:t>
            </a:r>
            <a:endParaRPr lang="vi-VN" sz="3200" dirty="0">
              <a:solidFill>
                <a:schemeClr val="accent5"/>
              </a:solidFill>
              <a:latin typeface="Cambria" panose="02040503050406030204" pitchFamily="18" charset="0"/>
            </a:endParaRPr>
          </a:p>
        </p:txBody>
      </p:sp>
      <p:grpSp>
        <p:nvGrpSpPr>
          <p:cNvPr id="5" name="Group 4"/>
          <p:cNvGrpSpPr/>
          <p:nvPr/>
        </p:nvGrpSpPr>
        <p:grpSpPr>
          <a:xfrm>
            <a:off x="1" y="0"/>
            <a:ext cx="10238215" cy="791308"/>
            <a:chOff x="1" y="0"/>
            <a:chExt cx="10238215" cy="791308"/>
          </a:xfrm>
        </p:grpSpPr>
        <p:pic>
          <p:nvPicPr>
            <p:cNvPr id="6" name="Picture 5"/>
            <p:cNvPicPr>
              <a:picLocks noChangeAspect="1"/>
            </p:cNvPicPr>
            <p:nvPr/>
          </p:nvPicPr>
          <p:blipFill>
            <a:blip r:embed="rId2"/>
            <a:stretch>
              <a:fillRect/>
            </a:stretch>
          </p:blipFill>
          <p:spPr>
            <a:xfrm>
              <a:off x="1" y="0"/>
              <a:ext cx="954717" cy="791308"/>
            </a:xfrm>
            <a:prstGeom prst="rect">
              <a:avLst/>
            </a:prstGeom>
          </p:spPr>
        </p:pic>
        <p:sp>
          <p:nvSpPr>
            <p:cNvPr id="7" name="Rectangle 6"/>
            <p:cNvSpPr/>
            <p:nvPr/>
          </p:nvSpPr>
          <p:spPr>
            <a:xfrm>
              <a:off x="766234" y="210988"/>
              <a:ext cx="9471982" cy="369332"/>
            </a:xfrm>
            <a:prstGeom prst="rect">
              <a:avLst/>
            </a:prstGeom>
          </p:spPr>
          <p:txBody>
            <a:bodyPr wrap="square">
              <a:spAutoFit/>
            </a:bodyPr>
            <a:lstStyle/>
            <a:p>
              <a:r>
                <a:rPr lang="en-US" b="1" dirty="0">
                  <a:latin typeface="+mj-lt"/>
                </a:rPr>
                <a:t>PHẦN 4 – QUY ĐỊNH </a:t>
              </a:r>
              <a:r>
                <a:rPr lang="vi-VN" b="1" dirty="0">
                  <a:latin typeface="+mj-lt"/>
                </a:rPr>
                <a:t>XÂY DỰNG, TRA CỨU THÔNG TIN HÓA ĐƠN, CHỨNG TỪ</a:t>
              </a:r>
              <a:endParaRPr lang="en-US" dirty="0">
                <a:latin typeface="+mj-lt"/>
              </a:endParaRPr>
            </a:p>
          </p:txBody>
        </p:sp>
      </p:grpSp>
    </p:spTree>
    <p:extLst>
      <p:ext uri="{BB962C8B-B14F-4D97-AF65-F5344CB8AC3E}">
        <p14:creationId xmlns:p14="http://schemas.microsoft.com/office/powerpoint/2010/main" val="384193062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677334" y="609599"/>
            <a:ext cx="8596668" cy="5622389"/>
          </a:xfrm>
        </p:spPr>
        <p:txBody>
          <a:bodyPr anchor="ctr" anchorCtr="0">
            <a:normAutofit/>
          </a:bodyPr>
          <a:lstStyle/>
          <a:p>
            <a:pPr algn="ctr"/>
            <a:r>
              <a:rPr lang="en-US" sz="3000" b="1" dirty="0">
                <a:solidFill>
                  <a:schemeClr val="tx1"/>
                </a:solidFill>
              </a:rPr>
              <a:t>PHẦN 5 –</a:t>
            </a:r>
            <a:r>
              <a:rPr lang="vi-VN" sz="3000" b="1" dirty="0">
                <a:solidFill>
                  <a:schemeClr val="tx1"/>
                </a:solidFill>
              </a:rPr>
              <a:t> QUY ĐỊNH VỀ QUYỀN, NGHĨA VỤ, TRÁCH NHIỆM CỦA CÁC TỔ CHỨC, CÁ NHÂN TRONG QUẢN LÝ, SỬ DỤNG HÓA ĐƠN, CHỨNG TỪ</a:t>
            </a:r>
          </a:p>
        </p:txBody>
      </p:sp>
      <p:grpSp>
        <p:nvGrpSpPr>
          <p:cNvPr id="3" name="Group 2"/>
          <p:cNvGrpSpPr/>
          <p:nvPr/>
        </p:nvGrpSpPr>
        <p:grpSpPr>
          <a:xfrm>
            <a:off x="1" y="0"/>
            <a:ext cx="10238215" cy="791308"/>
            <a:chOff x="1" y="0"/>
            <a:chExt cx="10238215"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766234" y="210988"/>
              <a:ext cx="9471982" cy="369332"/>
            </a:xfrm>
            <a:prstGeom prst="rect">
              <a:avLst/>
            </a:prstGeom>
          </p:spPr>
          <p:txBody>
            <a:bodyPr wrap="square">
              <a:spAutoFit/>
            </a:bodyPr>
            <a:lstStyle/>
            <a:p>
              <a:r>
                <a:rPr lang="en-US" b="1" dirty="0">
                  <a:latin typeface="+mj-lt"/>
                </a:rPr>
                <a:t>PHẦN 5 – QUYỀN, NGHĨA VỤ, TRÁCH NHIỆM</a:t>
              </a:r>
              <a:endParaRPr lang="en-US" dirty="0">
                <a:latin typeface="+mj-lt"/>
              </a:endParaRPr>
            </a:p>
          </p:txBody>
        </p:sp>
      </p:grpSp>
    </p:spTree>
    <p:extLst>
      <p:ext uri="{BB962C8B-B14F-4D97-AF65-F5344CB8AC3E}">
        <p14:creationId xmlns:p14="http://schemas.microsoft.com/office/powerpoint/2010/main" val="367847739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Content Placeholder 4"/>
          <p:cNvSpPr>
            <a:spLocks noGrp="1"/>
          </p:cNvSpPr>
          <p:nvPr>
            <p:ph idx="1"/>
          </p:nvPr>
        </p:nvSpPr>
        <p:spPr>
          <a:xfrm>
            <a:off x="677334" y="1308295"/>
            <a:ext cx="8596668" cy="4733067"/>
          </a:xfrm>
        </p:spPr>
        <p:txBody>
          <a:bodyPr anchor="ctr" anchorCtr="0">
            <a:normAutofit/>
          </a:bodyPr>
          <a:lstStyle/>
          <a:p>
            <a:pPr algn="just"/>
            <a:r>
              <a:rPr lang="en-US" sz="2000" dirty="0">
                <a:solidFill>
                  <a:schemeClr val="tx1"/>
                </a:solidFill>
                <a:latin typeface="+mj-lt"/>
              </a:rPr>
              <a:t>1. </a:t>
            </a:r>
            <a:r>
              <a:rPr lang="vi-VN" sz="2000" dirty="0">
                <a:solidFill>
                  <a:schemeClr val="tx1"/>
                </a:solidFill>
                <a:latin typeface="+mj-lt"/>
              </a:rPr>
              <a:t>Quyền và nghĩa vụ của tổ chức, cá nhân bán hàng hóa, cung cấp dịch vụ</a:t>
            </a:r>
            <a:endParaRPr lang="en-US" sz="2000" dirty="0">
              <a:solidFill>
                <a:schemeClr val="tx1"/>
              </a:solidFill>
              <a:latin typeface="+mj-lt"/>
            </a:endParaRPr>
          </a:p>
          <a:p>
            <a:pPr algn="just"/>
            <a:r>
              <a:rPr lang="en-US" sz="2000" dirty="0">
                <a:solidFill>
                  <a:schemeClr val="tx1"/>
                </a:solidFill>
                <a:latin typeface="+mj-lt"/>
              </a:rPr>
              <a:t>2. </a:t>
            </a:r>
            <a:r>
              <a:rPr lang="vi-VN" sz="2000" dirty="0">
                <a:solidFill>
                  <a:schemeClr val="tx1"/>
                </a:solidFill>
                <a:latin typeface="+mj-lt"/>
              </a:rPr>
              <a:t>Trách nhiệm của người mua hàng hóa, dịch vụ</a:t>
            </a:r>
            <a:endParaRPr lang="en-US" sz="2000" dirty="0">
              <a:solidFill>
                <a:schemeClr val="tx1"/>
              </a:solidFill>
              <a:latin typeface="+mj-lt"/>
            </a:endParaRPr>
          </a:p>
          <a:p>
            <a:pPr algn="just"/>
            <a:r>
              <a:rPr lang="en-US" sz="2000" dirty="0">
                <a:solidFill>
                  <a:schemeClr val="tx1"/>
                </a:solidFill>
                <a:latin typeface="+mj-lt"/>
              </a:rPr>
              <a:t>3. </a:t>
            </a:r>
            <a:r>
              <a:rPr lang="vi-VN" sz="2000" dirty="0">
                <a:solidFill>
                  <a:schemeClr val="tx1"/>
                </a:solidFill>
                <a:latin typeface="+mj-lt"/>
              </a:rPr>
              <a:t>Trách nhiệm của cơ quan thuế trong quản lý hóa đơn, chứng từ điện tử</a:t>
            </a:r>
          </a:p>
          <a:p>
            <a:pPr algn="just"/>
            <a:r>
              <a:rPr lang="en-US" sz="2000" dirty="0">
                <a:solidFill>
                  <a:schemeClr val="tx1"/>
                </a:solidFill>
                <a:latin typeface="+mj-lt"/>
              </a:rPr>
              <a:t>4. </a:t>
            </a:r>
            <a:r>
              <a:rPr lang="vi-VN" sz="2000" dirty="0">
                <a:solidFill>
                  <a:schemeClr val="tx1"/>
                </a:solidFill>
                <a:latin typeface="+mj-lt"/>
              </a:rPr>
              <a:t>Trách nhiệm chia sẻ, kết nối thông tin, dữ liệu hóa đơn điện tử</a:t>
            </a:r>
            <a:endParaRPr lang="en-US" sz="2000" dirty="0">
              <a:solidFill>
                <a:schemeClr val="tx1"/>
              </a:solidFill>
              <a:latin typeface="+mj-lt"/>
            </a:endParaRPr>
          </a:p>
        </p:txBody>
      </p:sp>
      <p:grpSp>
        <p:nvGrpSpPr>
          <p:cNvPr id="4" name="Group 3"/>
          <p:cNvGrpSpPr/>
          <p:nvPr/>
        </p:nvGrpSpPr>
        <p:grpSpPr>
          <a:xfrm>
            <a:off x="1" y="0"/>
            <a:ext cx="10238215" cy="791308"/>
            <a:chOff x="1" y="0"/>
            <a:chExt cx="10238215" cy="791308"/>
          </a:xfrm>
        </p:grpSpPr>
        <p:pic>
          <p:nvPicPr>
            <p:cNvPr id="6" name="Picture 5"/>
            <p:cNvPicPr>
              <a:picLocks noChangeAspect="1"/>
            </p:cNvPicPr>
            <p:nvPr/>
          </p:nvPicPr>
          <p:blipFill>
            <a:blip r:embed="rId2"/>
            <a:stretch>
              <a:fillRect/>
            </a:stretch>
          </p:blipFill>
          <p:spPr>
            <a:xfrm>
              <a:off x="1" y="0"/>
              <a:ext cx="954717" cy="791308"/>
            </a:xfrm>
            <a:prstGeom prst="rect">
              <a:avLst/>
            </a:prstGeom>
          </p:spPr>
        </p:pic>
        <p:sp>
          <p:nvSpPr>
            <p:cNvPr id="7" name="Rectangle 6"/>
            <p:cNvSpPr/>
            <p:nvPr/>
          </p:nvSpPr>
          <p:spPr>
            <a:xfrm>
              <a:off x="766234" y="210988"/>
              <a:ext cx="9471982" cy="369332"/>
            </a:xfrm>
            <a:prstGeom prst="rect">
              <a:avLst/>
            </a:prstGeom>
          </p:spPr>
          <p:txBody>
            <a:bodyPr wrap="square">
              <a:spAutoFit/>
            </a:bodyPr>
            <a:lstStyle/>
            <a:p>
              <a:r>
                <a:rPr lang="en-US" b="1" dirty="0">
                  <a:latin typeface="+mj-lt"/>
                </a:rPr>
                <a:t>PHẦN 5 – QUYỀN, NGHĨA VỤ, TRÁCH NHIỆM</a:t>
              </a:r>
              <a:endParaRPr lang="en-US" dirty="0">
                <a:latin typeface="+mj-lt"/>
              </a:endParaRPr>
            </a:p>
          </p:txBody>
        </p:sp>
      </p:grpSp>
    </p:spTree>
    <p:extLst>
      <p:ext uri="{BB962C8B-B14F-4D97-AF65-F5344CB8AC3E}">
        <p14:creationId xmlns:p14="http://schemas.microsoft.com/office/powerpoint/2010/main" val="267058743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252025"/>
            <a:ext cx="8596668" cy="4789337"/>
          </a:xfrm>
        </p:spPr>
        <p:txBody>
          <a:bodyPr vert="horz" anchor="ctr" anchorCtr="0">
            <a:noAutofit/>
          </a:bodyPr>
          <a:lstStyle/>
          <a:p>
            <a:pPr marL="0" indent="0" algn="ctr">
              <a:buNone/>
            </a:pPr>
            <a:r>
              <a:rPr lang="vi-VN" sz="2000" b="1" dirty="0">
                <a:solidFill>
                  <a:srgbClr val="C00000"/>
                </a:solidFill>
                <a:latin typeface="+mj-lt"/>
              </a:rPr>
              <a:t>C</a:t>
            </a:r>
            <a:r>
              <a:rPr lang="en-US" sz="2000" b="1" dirty="0">
                <a:solidFill>
                  <a:srgbClr val="C00000"/>
                </a:solidFill>
                <a:latin typeface="+mj-lt"/>
              </a:rPr>
              <a:t>ỤC THUẾ ĐỊA PHƯƠNG </a:t>
            </a:r>
          </a:p>
          <a:p>
            <a:pPr marL="0" indent="0">
              <a:buNone/>
            </a:pPr>
            <a:r>
              <a:rPr lang="vi-VN" sz="2000" dirty="0">
                <a:solidFill>
                  <a:schemeClr val="tx1"/>
                </a:solidFill>
                <a:latin typeface="+mj-lt"/>
              </a:rPr>
              <a:t>a) Quản lý hoạt động tạo, phát hành hóa đơn, chứng từ của các tổ chức, cá nhân trên địa bàn;</a:t>
            </a:r>
          </a:p>
          <a:p>
            <a:pPr marL="0" indent="0" algn="just">
              <a:buNone/>
            </a:pPr>
            <a:r>
              <a:rPr lang="vi-VN" sz="2000" dirty="0">
                <a:solidFill>
                  <a:schemeClr val="tx1"/>
                </a:solidFill>
                <a:latin typeface="+mj-lt"/>
              </a:rPr>
              <a:t>b) Đặt in, phát hành các loại hóa đơn để bán cho các đối tượng theo quy định tại Nghị định số 123/2020/NĐ-CP;</a:t>
            </a:r>
          </a:p>
          <a:p>
            <a:pPr marL="0" indent="0" algn="just">
              <a:buNone/>
            </a:pPr>
            <a:r>
              <a:rPr lang="vi-VN" sz="2000" dirty="0">
                <a:solidFill>
                  <a:schemeClr val="tx1"/>
                </a:solidFill>
                <a:latin typeface="+mj-lt"/>
              </a:rPr>
              <a:t>c) Thanh tra, kiểm tra hoạt động tạo, phát hành và sử dụng hóa đơn, chứng từ trên địa bàn.</a:t>
            </a:r>
          </a:p>
          <a:p>
            <a:pPr marL="0" indent="0" algn="just">
              <a:buNone/>
            </a:pPr>
            <a:endParaRPr lang="vi-VN" sz="2000" dirty="0">
              <a:solidFill>
                <a:schemeClr val="tx1"/>
              </a:solidFill>
              <a:latin typeface="+mj-lt"/>
            </a:endParaRPr>
          </a:p>
          <a:p>
            <a:pPr marL="0" indent="0" algn="ctr">
              <a:buNone/>
            </a:pPr>
            <a:r>
              <a:rPr lang="vi-VN" sz="2000" b="1" dirty="0">
                <a:solidFill>
                  <a:srgbClr val="C00000"/>
                </a:solidFill>
                <a:latin typeface="+mj-lt"/>
              </a:rPr>
              <a:t>C</a:t>
            </a:r>
            <a:r>
              <a:rPr lang="en-US" sz="2000" b="1" dirty="0">
                <a:solidFill>
                  <a:srgbClr val="C00000"/>
                </a:solidFill>
                <a:latin typeface="+mj-lt"/>
              </a:rPr>
              <a:t>HI CỤC THUẾ ĐỊA PHƯƠNG </a:t>
            </a:r>
          </a:p>
          <a:p>
            <a:pPr marL="0" indent="0" algn="just">
              <a:buNone/>
            </a:pPr>
            <a:r>
              <a:rPr lang="vi-VN" sz="2000" dirty="0">
                <a:solidFill>
                  <a:schemeClr val="tx1"/>
                </a:solidFill>
                <a:latin typeface="+mj-lt"/>
              </a:rPr>
              <a:t>a) Kiểm tra việc sử dụng hóa đơn bán hàng hóa, cung cấp dịch vụ; sử dụng chứng từ điện tử trong phạm vi được phân cấp quản lý thuế;</a:t>
            </a:r>
          </a:p>
          <a:p>
            <a:pPr marL="0" indent="0" algn="just">
              <a:buNone/>
            </a:pPr>
            <a:r>
              <a:rPr lang="vi-VN" sz="2000" dirty="0">
                <a:solidFill>
                  <a:schemeClr val="tx1"/>
                </a:solidFill>
                <a:latin typeface="+mj-lt"/>
              </a:rPr>
              <a:t>b) Theo dõi, kiểm tra hoạt động hủy hóa đơn, chứng từ theo quy định của Bộ Tài chính trong phạm vi được phân cấp quản lý thuế.</a:t>
            </a:r>
          </a:p>
          <a:p>
            <a:pPr marL="0" indent="0">
              <a:buNone/>
            </a:pPr>
            <a:endParaRPr lang="vi-VN" sz="1900" dirty="0">
              <a:solidFill>
                <a:schemeClr val="tx1"/>
              </a:solidFill>
              <a:latin typeface="Cambria" panose="02040503050406030204" pitchFamily="18" charset="0"/>
            </a:endParaRPr>
          </a:p>
        </p:txBody>
      </p:sp>
      <p:grpSp>
        <p:nvGrpSpPr>
          <p:cNvPr id="4" name="Group 3"/>
          <p:cNvGrpSpPr/>
          <p:nvPr/>
        </p:nvGrpSpPr>
        <p:grpSpPr>
          <a:xfrm>
            <a:off x="1" y="0"/>
            <a:ext cx="10238215" cy="791308"/>
            <a:chOff x="1" y="0"/>
            <a:chExt cx="10238215"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766234" y="210988"/>
              <a:ext cx="9471982" cy="369332"/>
            </a:xfrm>
            <a:prstGeom prst="rect">
              <a:avLst/>
            </a:prstGeom>
          </p:spPr>
          <p:txBody>
            <a:bodyPr wrap="square">
              <a:spAutoFit/>
            </a:bodyPr>
            <a:lstStyle/>
            <a:p>
              <a:r>
                <a:rPr lang="en-US" b="1" dirty="0">
                  <a:latin typeface="+mj-lt"/>
                </a:rPr>
                <a:t>PHẦN 5 – QUYỀN, NGHĨA VỤ, TRÁCH NHIỆM</a:t>
              </a:r>
              <a:endParaRPr lang="en-US" dirty="0">
                <a:latin typeface="+mj-lt"/>
              </a:endParaRPr>
            </a:p>
          </p:txBody>
        </p:sp>
      </p:grpSp>
    </p:spTree>
    <p:extLst>
      <p:ext uri="{BB962C8B-B14F-4D97-AF65-F5344CB8AC3E}">
        <p14:creationId xmlns:p14="http://schemas.microsoft.com/office/powerpoint/2010/main" val="284524982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5646" y="1002296"/>
            <a:ext cx="8596668" cy="726831"/>
          </a:xfrm>
        </p:spPr>
        <p:txBody>
          <a:bodyPr>
            <a:normAutofit/>
          </a:bodyPr>
          <a:lstStyle/>
          <a:p>
            <a:pPr algn="ctr"/>
            <a:r>
              <a:rPr lang="en-US" sz="3000" b="1" dirty="0">
                <a:solidFill>
                  <a:schemeClr val="accent5"/>
                </a:solidFill>
              </a:rPr>
              <a:t>TRÁCH NHIỆM CHIA SẺ, KẾT NỐI</a:t>
            </a:r>
            <a:endParaRPr lang="vi-VN" sz="3000" b="1" dirty="0">
              <a:solidFill>
                <a:schemeClr val="accent5"/>
              </a:solidFill>
            </a:endParaRPr>
          </a:p>
        </p:txBody>
      </p:sp>
      <p:sp>
        <p:nvSpPr>
          <p:cNvPr id="3" name="Content Placeholder 2"/>
          <p:cNvSpPr>
            <a:spLocks noGrp="1"/>
          </p:cNvSpPr>
          <p:nvPr>
            <p:ph idx="1"/>
          </p:nvPr>
        </p:nvSpPr>
        <p:spPr>
          <a:xfrm>
            <a:off x="795346" y="2260601"/>
            <a:ext cx="8596668" cy="3327400"/>
          </a:xfrm>
        </p:spPr>
        <p:txBody>
          <a:bodyPr anchor="ctr" anchorCtr="0">
            <a:noAutofit/>
          </a:bodyPr>
          <a:lstStyle/>
          <a:p>
            <a:pPr algn="just">
              <a:buFontTx/>
              <a:buChar char="-"/>
            </a:pPr>
            <a:r>
              <a:rPr lang="vi-VN" sz="2000" dirty="0">
                <a:solidFill>
                  <a:schemeClr val="tx1"/>
                </a:solidFill>
                <a:latin typeface="+mj-lt"/>
              </a:rPr>
              <a:t>Các doanh nghiệp, tổ chức kinh tế sản xuất, kinh doanh </a:t>
            </a:r>
            <a:endParaRPr lang="en-US" sz="2000" dirty="0">
              <a:solidFill>
                <a:schemeClr val="tx1"/>
              </a:solidFill>
              <a:latin typeface="+mj-lt"/>
            </a:endParaRPr>
          </a:p>
          <a:p>
            <a:pPr algn="just">
              <a:buFontTx/>
              <a:buChar char="-"/>
            </a:pPr>
            <a:r>
              <a:rPr lang="vi-VN" sz="2000" dirty="0">
                <a:solidFill>
                  <a:schemeClr val="tx1"/>
                </a:solidFill>
                <a:latin typeface="+mj-lt"/>
              </a:rPr>
              <a:t>- Các tổ chức tín dụng, tổ chức cung ứng dịch vụ thanh toán cung cấp dữ liệu điện tử về giao dịch thanh toán qua tài khoản </a:t>
            </a:r>
            <a:endParaRPr lang="en-US" sz="2000" dirty="0">
              <a:solidFill>
                <a:schemeClr val="tx1"/>
              </a:solidFill>
              <a:latin typeface="+mj-lt"/>
            </a:endParaRPr>
          </a:p>
          <a:p>
            <a:pPr algn="just">
              <a:buFontTx/>
              <a:buChar char="-"/>
            </a:pPr>
            <a:r>
              <a:rPr lang="vi-VN" sz="2000" dirty="0">
                <a:solidFill>
                  <a:schemeClr val="tx1"/>
                </a:solidFill>
                <a:latin typeface="+mj-lt"/>
              </a:rPr>
              <a:t>- Tổ chức sản xuất, nhập khẩu những sản phẩm chịu thuế tiêu thụ đặc biệt thuộc đối tượng sử dụng tem </a:t>
            </a:r>
            <a:endParaRPr lang="en-US" sz="2000" dirty="0">
              <a:solidFill>
                <a:schemeClr val="tx1"/>
              </a:solidFill>
              <a:latin typeface="+mj-lt"/>
            </a:endParaRPr>
          </a:p>
          <a:p>
            <a:pPr algn="just">
              <a:buFontTx/>
              <a:buChar char="-"/>
            </a:pPr>
            <a:r>
              <a:rPr lang="vi-VN" sz="2000" dirty="0">
                <a:solidFill>
                  <a:schemeClr val="tx1"/>
                </a:solidFill>
                <a:latin typeface="+mj-lt"/>
              </a:rPr>
              <a:t>- Các tổ chức, đơn vị: Cơ quan quản lý thị trường, Tổng cục quản lý đất đai, Tổng cục địa chất và khoáng sản Việt Nam, cơ quan công an, giao thông, y tế và các cơ quan khác có liên quan kết nối chia sẻ thông tin, dữ liệu liên quan cần thiết trong lĩnh vực quản lý của đơn vị với Tổng cục Thuế để xây dựng cơ sở dữ liệu hóa đơn điện tử.</a:t>
            </a:r>
          </a:p>
        </p:txBody>
      </p:sp>
      <p:grpSp>
        <p:nvGrpSpPr>
          <p:cNvPr id="4" name="Group 3"/>
          <p:cNvGrpSpPr/>
          <p:nvPr/>
        </p:nvGrpSpPr>
        <p:grpSpPr>
          <a:xfrm>
            <a:off x="1" y="0"/>
            <a:ext cx="10238215" cy="791308"/>
            <a:chOff x="1" y="0"/>
            <a:chExt cx="10238215"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766234" y="210988"/>
              <a:ext cx="9471982" cy="369332"/>
            </a:xfrm>
            <a:prstGeom prst="rect">
              <a:avLst/>
            </a:prstGeom>
          </p:spPr>
          <p:txBody>
            <a:bodyPr wrap="square">
              <a:spAutoFit/>
            </a:bodyPr>
            <a:lstStyle/>
            <a:p>
              <a:r>
                <a:rPr lang="en-US" b="1" dirty="0">
                  <a:latin typeface="+mj-lt"/>
                </a:rPr>
                <a:t>PHẦN 5 – QUYỀN, NGHĨA VỤ, TRÁCH NHIỆM</a:t>
              </a:r>
              <a:endParaRPr lang="en-US" dirty="0">
                <a:latin typeface="+mj-lt"/>
              </a:endParaRPr>
            </a:p>
          </p:txBody>
        </p:sp>
      </p:grpSp>
    </p:spTree>
    <p:extLst>
      <p:ext uri="{BB962C8B-B14F-4D97-AF65-F5344CB8AC3E}">
        <p14:creationId xmlns:p14="http://schemas.microsoft.com/office/powerpoint/2010/main" val="311219119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677334" y="609599"/>
            <a:ext cx="8596668" cy="5622389"/>
          </a:xfrm>
        </p:spPr>
        <p:txBody>
          <a:bodyPr anchor="ctr" anchorCtr="0">
            <a:normAutofit/>
          </a:bodyPr>
          <a:lstStyle/>
          <a:p>
            <a:pPr algn="ctr"/>
            <a:r>
              <a:rPr lang="en-US" sz="3000" b="1" dirty="0">
                <a:solidFill>
                  <a:schemeClr val="tx1"/>
                </a:solidFill>
              </a:rPr>
              <a:t>PHẦN 6 – HIỆU LỰC THI HÀNH VÀ XỬ LÝ CHUYỂN TIẾP</a:t>
            </a:r>
            <a:endParaRPr lang="vi-VN" sz="3000" b="1" dirty="0">
              <a:solidFill>
                <a:schemeClr val="tx1"/>
              </a:solidFill>
            </a:endParaRPr>
          </a:p>
        </p:txBody>
      </p:sp>
      <p:pic>
        <p:nvPicPr>
          <p:cNvPr id="3" name="Picture 2"/>
          <p:cNvPicPr>
            <a:picLocks noChangeAspect="1"/>
          </p:cNvPicPr>
          <p:nvPr/>
        </p:nvPicPr>
        <p:blipFill>
          <a:blip r:embed="rId2"/>
          <a:stretch>
            <a:fillRect/>
          </a:stretch>
        </p:blipFill>
        <p:spPr>
          <a:xfrm>
            <a:off x="1" y="0"/>
            <a:ext cx="954717" cy="791308"/>
          </a:xfrm>
          <a:prstGeom prst="rect">
            <a:avLst/>
          </a:prstGeom>
        </p:spPr>
      </p:pic>
    </p:spTree>
    <p:extLst>
      <p:ext uri="{BB962C8B-B14F-4D97-AF65-F5344CB8AC3E}">
        <p14:creationId xmlns:p14="http://schemas.microsoft.com/office/powerpoint/2010/main" val="428733985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5346" y="877251"/>
            <a:ext cx="8596668" cy="608650"/>
          </a:xfrm>
        </p:spPr>
        <p:txBody>
          <a:bodyPr>
            <a:normAutofit/>
          </a:bodyPr>
          <a:lstStyle/>
          <a:p>
            <a:pPr algn="ctr"/>
            <a:r>
              <a:rPr lang="en-US" sz="3000" b="1" dirty="0">
                <a:solidFill>
                  <a:schemeClr val="accent5"/>
                </a:solidFill>
              </a:rPr>
              <a:t>HIỆU LỰC THI HÀNH</a:t>
            </a:r>
            <a:endParaRPr lang="vi-VN" sz="3000" b="1" dirty="0">
              <a:solidFill>
                <a:schemeClr val="accent5"/>
              </a:solidFill>
            </a:endParaRPr>
          </a:p>
        </p:txBody>
      </p:sp>
      <p:sp>
        <p:nvSpPr>
          <p:cNvPr id="3" name="Content Placeholder 2"/>
          <p:cNvSpPr>
            <a:spLocks noGrp="1"/>
          </p:cNvSpPr>
          <p:nvPr>
            <p:ph idx="1"/>
          </p:nvPr>
        </p:nvSpPr>
        <p:spPr>
          <a:xfrm>
            <a:off x="795346" y="1485900"/>
            <a:ext cx="8596668" cy="5099539"/>
          </a:xfrm>
        </p:spPr>
        <p:txBody>
          <a:bodyPr anchor="ctr" anchorCtr="0">
            <a:noAutofit/>
          </a:bodyPr>
          <a:lstStyle/>
          <a:p>
            <a:pPr marL="0" indent="0">
              <a:buNone/>
            </a:pPr>
            <a:r>
              <a:rPr lang="vi-VN" dirty="0">
                <a:solidFill>
                  <a:schemeClr val="tx1"/>
                </a:solidFill>
                <a:latin typeface="+mj-lt"/>
              </a:rPr>
              <a:t>- </a:t>
            </a:r>
            <a:r>
              <a:rPr lang="nl-NL" dirty="0">
                <a:solidFill>
                  <a:schemeClr val="tx1"/>
                </a:solidFill>
                <a:latin typeface="+mj-lt"/>
              </a:rPr>
              <a:t>Quy định về hóa đơn, chứng từ điện tử có hiệu lực thi hành từ </a:t>
            </a:r>
            <a:r>
              <a:rPr lang="nl-NL" b="1" dirty="0">
                <a:solidFill>
                  <a:schemeClr val="tx1"/>
                </a:solidFill>
                <a:latin typeface="+mj-lt"/>
              </a:rPr>
              <a:t>ngày 01 tháng 7 năm 2022</a:t>
            </a:r>
            <a:r>
              <a:rPr lang="nl-NL" dirty="0">
                <a:solidFill>
                  <a:schemeClr val="tx1"/>
                </a:solidFill>
                <a:latin typeface="+mj-lt"/>
              </a:rPr>
              <a:t>; khuyến khích cơ quan, tổ chức, cá nhân áp dụng quy định về hóa đơn, chứng từ điện tử của Luật này trước ngày 01 tháng 7 năm 2022.</a:t>
            </a:r>
            <a:endParaRPr lang="vi-VN" dirty="0">
              <a:solidFill>
                <a:schemeClr val="tx1"/>
              </a:solidFill>
              <a:latin typeface="+mj-lt"/>
            </a:endParaRPr>
          </a:p>
          <a:p>
            <a:pPr marL="0" indent="0">
              <a:buNone/>
            </a:pPr>
            <a:r>
              <a:rPr lang="vi-VN" dirty="0">
                <a:solidFill>
                  <a:schemeClr val="tx1"/>
                </a:solidFill>
                <a:latin typeface="+mj-lt"/>
              </a:rPr>
              <a:t>(</a:t>
            </a:r>
            <a:r>
              <a:rPr lang="vi-VN" i="1" dirty="0">
                <a:solidFill>
                  <a:schemeClr val="tx1"/>
                </a:solidFill>
                <a:latin typeface="+mj-lt"/>
              </a:rPr>
              <a:t>Khoản 2 Điều 151 </a:t>
            </a:r>
            <a:r>
              <a:rPr lang="nl-NL" i="1" dirty="0">
                <a:solidFill>
                  <a:schemeClr val="tx1"/>
                </a:solidFill>
                <a:latin typeface="+mj-lt"/>
              </a:rPr>
              <a:t>Luật quản lý</a:t>
            </a:r>
            <a:r>
              <a:rPr lang="vi-VN" i="1" dirty="0">
                <a:solidFill>
                  <a:schemeClr val="tx1"/>
                </a:solidFill>
                <a:latin typeface="+mj-lt"/>
              </a:rPr>
              <a:t> thuế</a:t>
            </a:r>
            <a:r>
              <a:rPr lang="vi-VN" dirty="0">
                <a:solidFill>
                  <a:schemeClr val="tx1"/>
                </a:solidFill>
                <a:latin typeface="+mj-lt"/>
              </a:rPr>
              <a:t>)</a:t>
            </a:r>
          </a:p>
          <a:p>
            <a:pPr marL="0" indent="0">
              <a:buNone/>
            </a:pPr>
            <a:r>
              <a:rPr lang="vi-VN" dirty="0">
                <a:solidFill>
                  <a:schemeClr val="tx1"/>
                </a:solidFill>
                <a:latin typeface="+mj-lt"/>
              </a:rPr>
              <a:t>- Nghị định số 123/2020/NĐ-CP có hiệu lực thi hành kể từ ngày 01 tháng 7 năm 2022, khuyến khích cơ quan, tổ chức, cá nhân đáp ứng điều kiện về hạ tầng công nghệ thông tin áp dụng quy định về hóa đơn, chứng từ điện tử của Nghị định số 123/2020/NĐ-CP trước ngày 01 tháng 7 năm 2022.</a:t>
            </a:r>
          </a:p>
          <a:p>
            <a:pPr marL="0" indent="0">
              <a:buNone/>
            </a:pPr>
            <a:r>
              <a:rPr lang="vi-VN" dirty="0">
                <a:solidFill>
                  <a:schemeClr val="tx1"/>
                </a:solidFill>
                <a:latin typeface="+mj-lt"/>
              </a:rPr>
              <a:t>(</a:t>
            </a:r>
            <a:r>
              <a:rPr lang="vi-VN" i="1" dirty="0">
                <a:solidFill>
                  <a:schemeClr val="tx1"/>
                </a:solidFill>
                <a:latin typeface="+mj-lt"/>
              </a:rPr>
              <a:t>Khoản 1 Điều 59 Nghị định số 123/2020/NĐ-CP</a:t>
            </a:r>
            <a:r>
              <a:rPr lang="vi-VN" dirty="0">
                <a:solidFill>
                  <a:schemeClr val="tx1"/>
                </a:solidFill>
                <a:latin typeface="+mj-lt"/>
              </a:rPr>
              <a:t>)</a:t>
            </a:r>
          </a:p>
          <a:p>
            <a:pPr marL="0" indent="0">
              <a:buNone/>
            </a:pPr>
            <a:r>
              <a:rPr lang="vi-VN" dirty="0">
                <a:solidFill>
                  <a:schemeClr val="tx1"/>
                </a:solidFill>
                <a:latin typeface="+mj-lt"/>
              </a:rPr>
              <a:t>- Thông tư số 78/2021/TT-BTC có hiệu lực thi hành kể từ ngày 01 tháng 7 năm 2022, khuyến khích cơ quan, tổ chức, cá nhân đáp ứng điều kiện về hạ tầng công nghệ thông tin áp dụng quy định về hóa đơn, chứng từ điện tử theo hướng dẫn tại Thông tư số 78/2021/TT-BTC và của Nghị định số 123/2020/NĐ-CP trước ngày 01 tháng 7 năm 2022.</a:t>
            </a:r>
          </a:p>
          <a:p>
            <a:pPr marL="0" indent="0">
              <a:buNone/>
            </a:pPr>
            <a:r>
              <a:rPr lang="vi-VN" dirty="0">
                <a:solidFill>
                  <a:schemeClr val="tx1"/>
                </a:solidFill>
                <a:latin typeface="+mj-lt"/>
              </a:rPr>
              <a:t>(</a:t>
            </a:r>
            <a:r>
              <a:rPr lang="vi-VN" i="1" dirty="0">
                <a:solidFill>
                  <a:schemeClr val="tx1"/>
                </a:solidFill>
                <a:latin typeface="+mj-lt"/>
              </a:rPr>
              <a:t>Khoản 1 Điều 11 </a:t>
            </a:r>
            <a:r>
              <a:rPr lang="nl-NL" i="1" dirty="0">
                <a:solidFill>
                  <a:schemeClr val="tx1"/>
                </a:solidFill>
                <a:latin typeface="+mj-lt"/>
              </a:rPr>
              <a:t>Thông tư </a:t>
            </a:r>
            <a:r>
              <a:rPr lang="vi-VN" i="1" dirty="0">
                <a:solidFill>
                  <a:schemeClr val="tx1"/>
                </a:solidFill>
                <a:latin typeface="+mj-lt"/>
              </a:rPr>
              <a:t>số 78/2021/TT-BTC</a:t>
            </a:r>
            <a:r>
              <a:rPr lang="vi-VN" dirty="0">
                <a:solidFill>
                  <a:schemeClr val="tx1"/>
                </a:solidFill>
                <a:latin typeface="+mj-lt"/>
              </a:rPr>
              <a:t>)</a:t>
            </a:r>
          </a:p>
        </p:txBody>
      </p:sp>
      <p:grpSp>
        <p:nvGrpSpPr>
          <p:cNvPr id="4" name="Group 3"/>
          <p:cNvGrpSpPr/>
          <p:nvPr/>
        </p:nvGrpSpPr>
        <p:grpSpPr>
          <a:xfrm>
            <a:off x="1" y="0"/>
            <a:ext cx="10238215" cy="791308"/>
            <a:chOff x="1" y="0"/>
            <a:chExt cx="10238215"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766234" y="210988"/>
              <a:ext cx="9471982" cy="369332"/>
            </a:xfrm>
            <a:prstGeom prst="rect">
              <a:avLst/>
            </a:prstGeom>
          </p:spPr>
          <p:txBody>
            <a:bodyPr wrap="square">
              <a:spAutoFit/>
            </a:bodyPr>
            <a:lstStyle/>
            <a:p>
              <a:r>
                <a:rPr lang="en-US" b="1" dirty="0">
                  <a:latin typeface="+mj-lt"/>
                </a:rPr>
                <a:t>PHẦN 6 – HIỆU LỰC THI HÀNH VÀ XỬ LÝ CHUYỂN TIẾP</a:t>
              </a:r>
              <a:endParaRPr lang="en-US" dirty="0">
                <a:latin typeface="+mj-lt"/>
              </a:endParaRPr>
            </a:p>
          </p:txBody>
        </p:sp>
      </p:grpSp>
    </p:spTree>
    <p:extLst>
      <p:ext uri="{BB962C8B-B14F-4D97-AF65-F5344CB8AC3E}">
        <p14:creationId xmlns:p14="http://schemas.microsoft.com/office/powerpoint/2010/main" val="307770315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795346" y="1283678"/>
            <a:ext cx="8596668" cy="5555761"/>
          </a:xfrm>
        </p:spPr>
        <p:txBody>
          <a:bodyPr anchor="ctr" anchorCtr="0">
            <a:noAutofit/>
          </a:bodyPr>
          <a:lstStyle/>
          <a:p>
            <a:pPr marL="0" indent="0" algn="ctr">
              <a:buNone/>
            </a:pPr>
            <a:r>
              <a:rPr lang="en-US" sz="1500" b="1" dirty="0">
                <a:solidFill>
                  <a:srgbClr val="C00000"/>
                </a:solidFill>
                <a:latin typeface="+mj-lt"/>
              </a:rPr>
              <a:t>ĐỐI VỚI DOANH NGHIỆP, TỔ CHỨC KINH TẾ ĐANG SỬ DỤNG HÓA ĐƠN</a:t>
            </a:r>
            <a:endParaRPr lang="vi-VN" sz="1500" b="1" dirty="0">
              <a:solidFill>
                <a:srgbClr val="C00000"/>
              </a:solidFill>
              <a:latin typeface="+mj-lt"/>
            </a:endParaRPr>
          </a:p>
          <a:p>
            <a:pPr marL="0" indent="0" algn="just">
              <a:buNone/>
            </a:pPr>
            <a:r>
              <a:rPr lang="vi-VN" sz="1500" dirty="0">
                <a:solidFill>
                  <a:schemeClr val="tx1"/>
                </a:solidFill>
                <a:latin typeface="+mj-lt"/>
              </a:rPr>
              <a:t>- Doanh nghiệp, tổ chức kinh tế đã thông báo phát hành hóa đơn đặt in, hóa đơn tự in, hóa đơn điện tử không có mã của cơ quan thuế hoặc đã đăng ký áp dụng hóa đơn điện tử có mã của cơ quan thuế, đã mua hóa đơn của cơ quan thuế trước ngày Nghị định số 123/2020/NĐ-CP được ban hành thì được tiếp tục sử dụng hóa đơn đang sử dụng kể từ ngày Nghị định số 123/2020/NĐ-CP được ban hành đến hết ngày 30 tháng 6 năm 2022 và thực hiện các thủ tục về hóa đơn theo quy định tại các Nghị định: số 51/2010/NĐ-CP ngày 14 tháng 5 năm 2010 và số 04/2014/NĐ-CP ngày 17 tháng 01 năm 2014 của Chính phủ quy định về hóa đơn bán hàng hóa, cung ứng dịch vụ.</a:t>
            </a:r>
          </a:p>
          <a:p>
            <a:pPr marL="0" indent="0" algn="just">
              <a:buNone/>
            </a:pPr>
            <a:r>
              <a:rPr lang="vi-VN" sz="1500" dirty="0">
                <a:solidFill>
                  <a:schemeClr val="tx1"/>
                </a:solidFill>
                <a:latin typeface="+mj-lt"/>
              </a:rPr>
              <a:t>Trường hợp từ ngày Nghị định số 123/2020/NĐ-CP được ban hành đến ngày 30 tháng 6 năm 2022, trường hợp cơ quan thuế thông báo cơ sở kinh doanh chuyển đổi để áp dụng hóa đơn điện tử theo quy định tại Nghị định số 123/2020/NĐ-CP hoặc Nghị định số 119/2018/NĐ-CP, nếu cơ sở kinh doanh chưa đáp ứng điều kiện về hạ tầng công nghệ thông tin mà tiếp tục sử dụng hóa đơn theo các hình thức nêu trên thì cơ sở kinh doanh thực hiện gửi dữ liệu hóa đơn đến cơ quan thuế theo Mẫu số 03/DL-HĐĐT Phụ lục IA ban hành kèm theo Nghị định số 123/2020/NĐ-CP cùng với việc nộp tờ khai thuế giá trị gia tăng. Cơ quan thuế xây dựng dữ liệu hóa đơn của các cơ sở kinh doanh để đưa vào cơ sở dữ liệu hóa đơn và đăng tải trên Cổng thông tin điện tử của Tổng cục Thuế phục vụ việc tra cứu dữ liệu hóa đơn.</a:t>
            </a:r>
          </a:p>
          <a:p>
            <a:pPr marL="0" indent="0" algn="just">
              <a:buNone/>
            </a:pPr>
            <a:r>
              <a:rPr lang="vi-VN" sz="1500" dirty="0">
                <a:solidFill>
                  <a:schemeClr val="tx1"/>
                </a:solidFill>
                <a:latin typeface="+mj-lt"/>
              </a:rPr>
              <a:t>(</a:t>
            </a:r>
            <a:r>
              <a:rPr lang="vi-VN" sz="1500" i="1" dirty="0">
                <a:solidFill>
                  <a:schemeClr val="tx1"/>
                </a:solidFill>
                <a:latin typeface="+mj-lt"/>
              </a:rPr>
              <a:t>Khoản 1 Điều 60 Nghị định số 123/2020/NĐ-CP</a:t>
            </a:r>
            <a:r>
              <a:rPr lang="vi-VN" sz="1500" dirty="0">
                <a:solidFill>
                  <a:schemeClr val="tx1"/>
                </a:solidFill>
                <a:latin typeface="+mj-lt"/>
              </a:rPr>
              <a:t>)</a:t>
            </a:r>
          </a:p>
          <a:p>
            <a:pPr marL="0" indent="0" algn="just">
              <a:buNone/>
            </a:pPr>
            <a:endParaRPr lang="en-US" b="1" dirty="0">
              <a:solidFill>
                <a:schemeClr val="tx1"/>
              </a:solidFill>
              <a:latin typeface="Cambria" panose="02040503050406030204" pitchFamily="18" charset="0"/>
            </a:endParaRPr>
          </a:p>
        </p:txBody>
      </p:sp>
      <p:sp>
        <p:nvSpPr>
          <p:cNvPr id="5" name="Title 1"/>
          <p:cNvSpPr>
            <a:spLocks noGrp="1"/>
          </p:cNvSpPr>
          <p:nvPr>
            <p:ph type="title"/>
          </p:nvPr>
        </p:nvSpPr>
        <p:spPr>
          <a:xfrm>
            <a:off x="626534" y="698474"/>
            <a:ext cx="8596668" cy="726831"/>
          </a:xfrm>
        </p:spPr>
        <p:txBody>
          <a:bodyPr>
            <a:normAutofit/>
          </a:bodyPr>
          <a:lstStyle/>
          <a:p>
            <a:pPr algn="ctr"/>
            <a:r>
              <a:rPr lang="en-US" sz="3000" b="1" dirty="0">
                <a:solidFill>
                  <a:schemeClr val="accent5"/>
                </a:solidFill>
              </a:rPr>
              <a:t>XỬ LÝ CHUYỂN TIẾP</a:t>
            </a:r>
            <a:endParaRPr lang="vi-VN" sz="3000" b="1" dirty="0">
              <a:solidFill>
                <a:schemeClr val="accent5"/>
              </a:solidFill>
            </a:endParaRPr>
          </a:p>
        </p:txBody>
      </p:sp>
      <p:grpSp>
        <p:nvGrpSpPr>
          <p:cNvPr id="4" name="Group 3"/>
          <p:cNvGrpSpPr/>
          <p:nvPr/>
        </p:nvGrpSpPr>
        <p:grpSpPr>
          <a:xfrm>
            <a:off x="1" y="0"/>
            <a:ext cx="10238215" cy="791308"/>
            <a:chOff x="1" y="0"/>
            <a:chExt cx="10238215" cy="791308"/>
          </a:xfrm>
        </p:grpSpPr>
        <p:pic>
          <p:nvPicPr>
            <p:cNvPr id="6" name="Picture 5"/>
            <p:cNvPicPr>
              <a:picLocks noChangeAspect="1"/>
            </p:cNvPicPr>
            <p:nvPr/>
          </p:nvPicPr>
          <p:blipFill>
            <a:blip r:embed="rId2"/>
            <a:stretch>
              <a:fillRect/>
            </a:stretch>
          </p:blipFill>
          <p:spPr>
            <a:xfrm>
              <a:off x="1" y="0"/>
              <a:ext cx="954717" cy="791308"/>
            </a:xfrm>
            <a:prstGeom prst="rect">
              <a:avLst/>
            </a:prstGeom>
          </p:spPr>
        </p:pic>
        <p:sp>
          <p:nvSpPr>
            <p:cNvPr id="7" name="Rectangle 6"/>
            <p:cNvSpPr/>
            <p:nvPr/>
          </p:nvSpPr>
          <p:spPr>
            <a:xfrm>
              <a:off x="766234" y="210988"/>
              <a:ext cx="9471982" cy="369332"/>
            </a:xfrm>
            <a:prstGeom prst="rect">
              <a:avLst/>
            </a:prstGeom>
          </p:spPr>
          <p:txBody>
            <a:bodyPr wrap="square">
              <a:spAutoFit/>
            </a:bodyPr>
            <a:lstStyle/>
            <a:p>
              <a:r>
                <a:rPr lang="en-US" b="1" dirty="0">
                  <a:latin typeface="+mj-lt"/>
                </a:rPr>
                <a:t>PHẦN 6 – HIỆU LỰC THI HÀNH VÀ XỬ LÝ CHUYỂN TIẾP</a:t>
              </a:r>
              <a:endParaRPr lang="en-US" dirty="0">
                <a:latin typeface="+mj-lt"/>
              </a:endParaRPr>
            </a:p>
          </p:txBody>
        </p:sp>
      </p:grpSp>
    </p:spTree>
    <p:extLst>
      <p:ext uri="{BB962C8B-B14F-4D97-AF65-F5344CB8AC3E}">
        <p14:creationId xmlns:p14="http://schemas.microsoft.com/office/powerpoint/2010/main" val="368948589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93746" y="756139"/>
            <a:ext cx="9377354" cy="6292362"/>
          </a:xfrm>
        </p:spPr>
        <p:txBody>
          <a:bodyPr anchor="ctr" anchorCtr="0">
            <a:noAutofit/>
          </a:bodyPr>
          <a:lstStyle/>
          <a:p>
            <a:pPr marL="0" indent="0" algn="ctr">
              <a:buNone/>
            </a:pPr>
            <a:r>
              <a:rPr lang="en-US" sz="1600" b="1" dirty="0">
                <a:solidFill>
                  <a:srgbClr val="C00000"/>
                </a:solidFill>
                <a:latin typeface="+mj-lt"/>
              </a:rPr>
              <a:t>ĐỐI VỚI DOANH NGHIỆP, TỔ CHỨC KINH TẾ ĐANG SỬ DỤNG HÓA ĐƠN (TIẾP THEO)</a:t>
            </a:r>
            <a:endParaRPr lang="vi-VN" sz="1600" b="1" dirty="0">
              <a:solidFill>
                <a:srgbClr val="C00000"/>
              </a:solidFill>
              <a:latin typeface="+mj-lt"/>
            </a:endParaRPr>
          </a:p>
          <a:p>
            <a:pPr marL="0" indent="0" algn="just">
              <a:buNone/>
            </a:pPr>
            <a:r>
              <a:rPr lang="vi-VN" sz="1600" dirty="0">
                <a:latin typeface="+mj-lt"/>
              </a:rPr>
              <a:t>-</a:t>
            </a:r>
            <a:r>
              <a:rPr lang="x-none" sz="1600" dirty="0">
                <a:latin typeface="+mj-lt"/>
              </a:rPr>
              <a:t> Doanh nghiệp, tổ chức kinh tế đã thông báo phát hành hóa đơn đặt in, hóa đơn tự in, hóa đơn điện tử không có mã hoặc đã đăng ký áp dụng hóa đơn điện tử có mã của cơ quan thuế, đã mua hóa đơn của cơ quan thuế trước ngày Thông tư số 78/2021/TT-BTC được ban hành thì được tiếp tục sử dụng hóa đơn đang sử dụng kể từ ngày Thông tư số 78/2021/TT-BTC được ban hành đến hết ngày 30 tháng 6 năm 2022 và thực hiện các thủ tục về hóa đơn theo quy định tại Nghị định số 51/2010/NĐ-CP ngày 14</a:t>
            </a:r>
            <a:r>
              <a:rPr lang="vi-VN" sz="1600" dirty="0">
                <a:latin typeface="+mj-lt"/>
              </a:rPr>
              <a:t>/</a:t>
            </a:r>
            <a:r>
              <a:rPr lang="x-none" sz="1600" dirty="0">
                <a:latin typeface="+mj-lt"/>
              </a:rPr>
              <a:t>5</a:t>
            </a:r>
            <a:r>
              <a:rPr lang="vi-VN" sz="1600" dirty="0">
                <a:latin typeface="+mj-lt"/>
              </a:rPr>
              <a:t>/</a:t>
            </a:r>
            <a:r>
              <a:rPr lang="x-none" sz="1600" dirty="0">
                <a:latin typeface="+mj-lt"/>
              </a:rPr>
              <a:t>2010 và </a:t>
            </a:r>
            <a:r>
              <a:rPr lang="vi-VN" sz="1600" dirty="0">
                <a:latin typeface="+mj-lt"/>
              </a:rPr>
              <a:t>Nghị định </a:t>
            </a:r>
            <a:r>
              <a:rPr lang="x-none" sz="1600" dirty="0">
                <a:latin typeface="+mj-lt"/>
              </a:rPr>
              <a:t>số 04/2014/NĐ-CP ngày 17</a:t>
            </a:r>
            <a:r>
              <a:rPr lang="vi-VN" sz="1600" dirty="0">
                <a:latin typeface="+mj-lt"/>
              </a:rPr>
              <a:t>/</a:t>
            </a:r>
            <a:r>
              <a:rPr lang="x-none" sz="1600" dirty="0">
                <a:latin typeface="+mj-lt"/>
              </a:rPr>
              <a:t>01</a:t>
            </a:r>
            <a:r>
              <a:rPr lang="vi-VN" sz="1600" dirty="0">
                <a:latin typeface="+mj-lt"/>
              </a:rPr>
              <a:t>/</a:t>
            </a:r>
            <a:r>
              <a:rPr lang="x-none" sz="1600" dirty="0">
                <a:latin typeface="+mj-lt"/>
              </a:rPr>
              <a:t>2014 của Chính phủ quy định về hóa đơn bán hàng hóa, cung ứng dịch vụ.</a:t>
            </a:r>
            <a:endParaRPr lang="vi-VN" sz="1600" dirty="0">
              <a:latin typeface="+mj-lt"/>
            </a:endParaRPr>
          </a:p>
          <a:p>
            <a:pPr marL="0" indent="0" algn="just">
              <a:buNone/>
            </a:pPr>
            <a:r>
              <a:rPr lang="en-US" sz="1600" dirty="0" err="1">
                <a:latin typeface="+mj-lt"/>
              </a:rPr>
              <a:t>Từ</a:t>
            </a:r>
            <a:r>
              <a:rPr lang="en-US" sz="1600" dirty="0">
                <a:latin typeface="+mj-lt"/>
              </a:rPr>
              <a:t> </a:t>
            </a:r>
            <a:r>
              <a:rPr lang="en-US" sz="1600" dirty="0" err="1">
                <a:latin typeface="+mj-lt"/>
              </a:rPr>
              <a:t>ngày</a:t>
            </a:r>
            <a:r>
              <a:rPr lang="en-US" sz="1600" dirty="0">
                <a:latin typeface="+mj-lt"/>
              </a:rPr>
              <a:t> </a:t>
            </a:r>
            <a:r>
              <a:rPr lang="en-US" sz="1600" dirty="0" err="1">
                <a:latin typeface="+mj-lt"/>
              </a:rPr>
              <a:t>Thông</a:t>
            </a:r>
            <a:r>
              <a:rPr lang="en-US" sz="1600" dirty="0">
                <a:latin typeface="+mj-lt"/>
              </a:rPr>
              <a:t> </a:t>
            </a:r>
            <a:r>
              <a:rPr lang="en-US" sz="1600" dirty="0" err="1">
                <a:latin typeface="+mj-lt"/>
              </a:rPr>
              <a:t>tư</a:t>
            </a:r>
            <a:r>
              <a:rPr lang="en-US" sz="1600" dirty="0">
                <a:latin typeface="+mj-lt"/>
              </a:rPr>
              <a:t> </a:t>
            </a:r>
            <a:r>
              <a:rPr lang="en-US" sz="1600" dirty="0" err="1">
                <a:latin typeface="+mj-lt"/>
              </a:rPr>
              <a:t>số</a:t>
            </a:r>
            <a:r>
              <a:rPr lang="en-US" sz="1600" dirty="0">
                <a:latin typeface="+mj-lt"/>
              </a:rPr>
              <a:t> 78/2021/TT-BTC </a:t>
            </a:r>
            <a:r>
              <a:rPr lang="en-US" sz="1600" dirty="0" err="1">
                <a:latin typeface="+mj-lt"/>
              </a:rPr>
              <a:t>được</a:t>
            </a:r>
            <a:r>
              <a:rPr lang="en-US" sz="1600" dirty="0">
                <a:latin typeface="+mj-lt"/>
              </a:rPr>
              <a:t> ban </a:t>
            </a:r>
            <a:r>
              <a:rPr lang="en-US" sz="1600" dirty="0" err="1">
                <a:latin typeface="+mj-lt"/>
              </a:rPr>
              <a:t>hành</a:t>
            </a:r>
            <a:r>
              <a:rPr lang="en-US" sz="1600" dirty="0">
                <a:latin typeface="+mj-lt"/>
              </a:rPr>
              <a:t> </a:t>
            </a:r>
            <a:r>
              <a:rPr lang="en-US" sz="1600" dirty="0" err="1">
                <a:latin typeface="+mj-lt"/>
              </a:rPr>
              <a:t>đến</a:t>
            </a:r>
            <a:r>
              <a:rPr lang="en-US" sz="1600" dirty="0">
                <a:latin typeface="+mj-lt"/>
              </a:rPr>
              <a:t> </a:t>
            </a:r>
            <a:r>
              <a:rPr lang="en-US" sz="1600" dirty="0" err="1">
                <a:latin typeface="+mj-lt"/>
              </a:rPr>
              <a:t>hết</a:t>
            </a:r>
            <a:r>
              <a:rPr lang="en-US" sz="1600" dirty="0">
                <a:latin typeface="+mj-lt"/>
              </a:rPr>
              <a:t> </a:t>
            </a:r>
            <a:r>
              <a:rPr lang="en-US" sz="1600" dirty="0" err="1">
                <a:latin typeface="+mj-lt"/>
              </a:rPr>
              <a:t>ngày</a:t>
            </a:r>
            <a:r>
              <a:rPr lang="en-US" sz="1600" dirty="0">
                <a:latin typeface="+mj-lt"/>
              </a:rPr>
              <a:t> 30 </a:t>
            </a:r>
            <a:r>
              <a:rPr lang="en-US" sz="1600" dirty="0" err="1">
                <a:latin typeface="+mj-lt"/>
              </a:rPr>
              <a:t>tháng</a:t>
            </a:r>
            <a:r>
              <a:rPr lang="en-US" sz="1600" dirty="0">
                <a:latin typeface="+mj-lt"/>
              </a:rPr>
              <a:t> 6 </a:t>
            </a:r>
            <a:r>
              <a:rPr lang="en-US" sz="1600" dirty="0" err="1">
                <a:latin typeface="+mj-lt"/>
              </a:rPr>
              <a:t>năm</a:t>
            </a:r>
            <a:r>
              <a:rPr lang="en-US" sz="1600" dirty="0">
                <a:latin typeface="+mj-lt"/>
              </a:rPr>
              <a:t> 2022, </a:t>
            </a:r>
            <a:r>
              <a:rPr lang="en-US" sz="1600" dirty="0" err="1">
                <a:latin typeface="+mj-lt"/>
              </a:rPr>
              <a:t>đối</a:t>
            </a:r>
            <a:r>
              <a:rPr lang="en-US" sz="1600" dirty="0">
                <a:latin typeface="+mj-lt"/>
              </a:rPr>
              <a:t> </a:t>
            </a:r>
            <a:r>
              <a:rPr lang="en-US" sz="1600" dirty="0" err="1">
                <a:latin typeface="+mj-lt"/>
              </a:rPr>
              <a:t>với</a:t>
            </a:r>
            <a:r>
              <a:rPr lang="en-US" sz="1600" dirty="0">
                <a:latin typeface="+mj-lt"/>
              </a:rPr>
              <a:t> </a:t>
            </a:r>
            <a:r>
              <a:rPr lang="en-US" sz="1600" dirty="0" err="1">
                <a:latin typeface="+mj-lt"/>
              </a:rPr>
              <a:t>các</a:t>
            </a:r>
            <a:r>
              <a:rPr lang="en-US" sz="1600" dirty="0">
                <a:latin typeface="+mj-lt"/>
              </a:rPr>
              <a:t> </a:t>
            </a:r>
            <a:r>
              <a:rPr lang="en-US" sz="1600" dirty="0" err="1">
                <a:latin typeface="+mj-lt"/>
              </a:rPr>
              <a:t>địa</a:t>
            </a:r>
            <a:r>
              <a:rPr lang="en-US" sz="1600" dirty="0">
                <a:latin typeface="+mj-lt"/>
              </a:rPr>
              <a:t> </a:t>
            </a:r>
            <a:r>
              <a:rPr lang="en-US" sz="1600" dirty="0" err="1">
                <a:latin typeface="+mj-lt"/>
              </a:rPr>
              <a:t>bàn</a:t>
            </a:r>
            <a:r>
              <a:rPr lang="en-US" sz="1600" dirty="0">
                <a:latin typeface="+mj-lt"/>
              </a:rPr>
              <a:t> </a:t>
            </a:r>
            <a:r>
              <a:rPr lang="en-US" sz="1600" dirty="0" err="1">
                <a:latin typeface="+mj-lt"/>
              </a:rPr>
              <a:t>đã</a:t>
            </a:r>
            <a:r>
              <a:rPr lang="en-US" sz="1600" dirty="0">
                <a:latin typeface="+mj-lt"/>
              </a:rPr>
              <a:t> </a:t>
            </a:r>
            <a:r>
              <a:rPr lang="en-US" sz="1600" dirty="0" err="1">
                <a:latin typeface="+mj-lt"/>
              </a:rPr>
              <a:t>đáp</a:t>
            </a:r>
            <a:r>
              <a:rPr lang="en-US" sz="1600" dirty="0">
                <a:latin typeface="+mj-lt"/>
              </a:rPr>
              <a:t> </a:t>
            </a:r>
            <a:r>
              <a:rPr lang="en-US" sz="1600" dirty="0" err="1">
                <a:latin typeface="+mj-lt"/>
              </a:rPr>
              <a:t>ứng</a:t>
            </a:r>
            <a:r>
              <a:rPr lang="en-US" sz="1600" dirty="0">
                <a:latin typeface="+mj-lt"/>
              </a:rPr>
              <a:t> </a:t>
            </a:r>
            <a:r>
              <a:rPr lang="en-US" sz="1600" dirty="0" err="1">
                <a:latin typeface="+mj-lt"/>
              </a:rPr>
              <a:t>điều</a:t>
            </a:r>
            <a:r>
              <a:rPr lang="en-US" sz="1600" dirty="0">
                <a:latin typeface="+mj-lt"/>
              </a:rPr>
              <a:t> </a:t>
            </a:r>
            <a:r>
              <a:rPr lang="en-US" sz="1600" dirty="0" err="1">
                <a:latin typeface="+mj-lt"/>
              </a:rPr>
              <a:t>kiện</a:t>
            </a:r>
            <a:r>
              <a:rPr lang="en-US" sz="1600" dirty="0">
                <a:latin typeface="+mj-lt"/>
              </a:rPr>
              <a:t> </a:t>
            </a:r>
            <a:r>
              <a:rPr lang="en-US" sz="1600" dirty="0" err="1">
                <a:latin typeface="+mj-lt"/>
              </a:rPr>
              <a:t>về</a:t>
            </a:r>
            <a:r>
              <a:rPr lang="en-US" sz="1600" dirty="0">
                <a:latin typeface="+mj-lt"/>
              </a:rPr>
              <a:t> </a:t>
            </a:r>
            <a:r>
              <a:rPr lang="en-US" sz="1600" dirty="0" err="1">
                <a:latin typeface="+mj-lt"/>
              </a:rPr>
              <a:t>cơ</a:t>
            </a:r>
            <a:r>
              <a:rPr lang="en-US" sz="1600" dirty="0">
                <a:latin typeface="+mj-lt"/>
              </a:rPr>
              <a:t> </a:t>
            </a:r>
            <a:r>
              <a:rPr lang="en-US" sz="1600" dirty="0" err="1">
                <a:latin typeface="+mj-lt"/>
              </a:rPr>
              <a:t>sở</a:t>
            </a:r>
            <a:r>
              <a:rPr lang="en-US" sz="1600" dirty="0">
                <a:latin typeface="+mj-lt"/>
              </a:rPr>
              <a:t> </a:t>
            </a:r>
            <a:r>
              <a:rPr lang="en-US" sz="1600" dirty="0" err="1">
                <a:latin typeface="+mj-lt"/>
              </a:rPr>
              <a:t>hạ</a:t>
            </a:r>
            <a:r>
              <a:rPr lang="en-US" sz="1600" dirty="0">
                <a:latin typeface="+mj-lt"/>
              </a:rPr>
              <a:t> </a:t>
            </a:r>
            <a:r>
              <a:rPr lang="en-US" sz="1600" dirty="0" err="1">
                <a:latin typeface="+mj-lt"/>
              </a:rPr>
              <a:t>tầng</a:t>
            </a:r>
            <a:r>
              <a:rPr lang="en-US" sz="1600" dirty="0">
                <a:latin typeface="+mj-lt"/>
              </a:rPr>
              <a:t> </a:t>
            </a:r>
            <a:r>
              <a:rPr lang="en-US" sz="1600" dirty="0" err="1">
                <a:latin typeface="+mj-lt"/>
              </a:rPr>
              <a:t>để</a:t>
            </a:r>
            <a:r>
              <a:rPr lang="en-US" sz="1600" dirty="0">
                <a:latin typeface="+mj-lt"/>
              </a:rPr>
              <a:t> </a:t>
            </a:r>
            <a:r>
              <a:rPr lang="en-US" sz="1600" dirty="0" err="1">
                <a:latin typeface="+mj-lt"/>
              </a:rPr>
              <a:t>triển</a:t>
            </a:r>
            <a:r>
              <a:rPr lang="en-US" sz="1600" dirty="0">
                <a:latin typeface="+mj-lt"/>
              </a:rPr>
              <a:t> </a:t>
            </a:r>
            <a:r>
              <a:rPr lang="en-US" sz="1600" dirty="0" err="1">
                <a:latin typeface="+mj-lt"/>
              </a:rPr>
              <a:t>khai</a:t>
            </a:r>
            <a:r>
              <a:rPr lang="en-US" sz="1600" dirty="0">
                <a:latin typeface="+mj-lt"/>
              </a:rPr>
              <a:t> </a:t>
            </a:r>
            <a:r>
              <a:rPr lang="en-US" sz="1600" dirty="0" err="1">
                <a:latin typeface="+mj-lt"/>
              </a:rPr>
              <a:t>hóa</a:t>
            </a:r>
            <a:r>
              <a:rPr lang="en-US" sz="1600" dirty="0">
                <a:latin typeface="+mj-lt"/>
              </a:rPr>
              <a:t> </a:t>
            </a:r>
            <a:r>
              <a:rPr lang="en-US" sz="1600" dirty="0" err="1">
                <a:latin typeface="+mj-lt"/>
              </a:rPr>
              <a:t>đơn</a:t>
            </a:r>
            <a:r>
              <a:rPr lang="en-US" sz="1600" dirty="0">
                <a:latin typeface="+mj-lt"/>
              </a:rPr>
              <a:t> </a:t>
            </a:r>
            <a:r>
              <a:rPr lang="en-US" sz="1600" dirty="0" err="1">
                <a:latin typeface="+mj-lt"/>
              </a:rPr>
              <a:t>điện</a:t>
            </a:r>
            <a:r>
              <a:rPr lang="en-US" sz="1600" dirty="0">
                <a:latin typeface="+mj-lt"/>
              </a:rPr>
              <a:t> </a:t>
            </a:r>
            <a:r>
              <a:rPr lang="en-US" sz="1600" dirty="0" err="1">
                <a:latin typeface="+mj-lt"/>
              </a:rPr>
              <a:t>tử</a:t>
            </a:r>
            <a:r>
              <a:rPr lang="en-US" sz="1600" dirty="0">
                <a:latin typeface="+mj-lt"/>
              </a:rPr>
              <a:t> </a:t>
            </a:r>
            <a:r>
              <a:rPr lang="en-US" sz="1600" dirty="0" err="1">
                <a:latin typeface="+mj-lt"/>
              </a:rPr>
              <a:t>theo</a:t>
            </a:r>
            <a:r>
              <a:rPr lang="en-US" sz="1600" dirty="0">
                <a:latin typeface="+mj-lt"/>
              </a:rPr>
              <a:t> </a:t>
            </a:r>
            <a:r>
              <a:rPr lang="en-US" sz="1600" dirty="0" err="1">
                <a:latin typeface="+mj-lt"/>
              </a:rPr>
              <a:t>Quyết</a:t>
            </a:r>
            <a:r>
              <a:rPr lang="en-US" sz="1600" dirty="0">
                <a:latin typeface="+mj-lt"/>
              </a:rPr>
              <a:t> </a:t>
            </a:r>
            <a:r>
              <a:rPr lang="en-US" sz="1600" dirty="0" err="1">
                <a:latin typeface="+mj-lt"/>
              </a:rPr>
              <a:t>định</a:t>
            </a:r>
            <a:r>
              <a:rPr lang="en-US" sz="1600" dirty="0">
                <a:latin typeface="+mj-lt"/>
              </a:rPr>
              <a:t> </a:t>
            </a:r>
            <a:r>
              <a:rPr lang="en-US" sz="1600" dirty="0" err="1">
                <a:latin typeface="+mj-lt"/>
              </a:rPr>
              <a:t>của</a:t>
            </a:r>
            <a:r>
              <a:rPr lang="en-US" sz="1600" dirty="0">
                <a:latin typeface="+mj-lt"/>
              </a:rPr>
              <a:t> </a:t>
            </a:r>
            <a:r>
              <a:rPr lang="en-US" sz="1600" dirty="0" err="1">
                <a:latin typeface="+mj-lt"/>
              </a:rPr>
              <a:t>Bộ</a:t>
            </a:r>
            <a:r>
              <a:rPr lang="en-US" sz="1600" dirty="0">
                <a:latin typeface="+mj-lt"/>
              </a:rPr>
              <a:t> </a:t>
            </a:r>
            <a:r>
              <a:rPr lang="en-US" sz="1600" dirty="0" err="1">
                <a:latin typeface="+mj-lt"/>
              </a:rPr>
              <a:t>Tài</a:t>
            </a:r>
            <a:r>
              <a:rPr lang="en-US" sz="1600" dirty="0">
                <a:latin typeface="+mj-lt"/>
              </a:rPr>
              <a:t> </a:t>
            </a:r>
            <a:r>
              <a:rPr lang="en-US" sz="1600" dirty="0" err="1">
                <a:latin typeface="+mj-lt"/>
              </a:rPr>
              <a:t>chính</a:t>
            </a:r>
            <a:r>
              <a:rPr lang="en-US" sz="1600" dirty="0">
                <a:latin typeface="+mj-lt"/>
              </a:rPr>
              <a:t> </a:t>
            </a:r>
            <a:r>
              <a:rPr lang="en-US" sz="1600" dirty="0" err="1">
                <a:latin typeface="+mj-lt"/>
              </a:rPr>
              <a:t>trên</a:t>
            </a:r>
            <a:r>
              <a:rPr lang="en-US" sz="1600" dirty="0">
                <a:latin typeface="+mj-lt"/>
              </a:rPr>
              <a:t> </a:t>
            </a:r>
            <a:r>
              <a:rPr lang="en-US" sz="1600" dirty="0" err="1">
                <a:latin typeface="+mj-lt"/>
              </a:rPr>
              <a:t>cơ</a:t>
            </a:r>
            <a:r>
              <a:rPr lang="en-US" sz="1600" dirty="0">
                <a:latin typeface="+mj-lt"/>
              </a:rPr>
              <a:t> </a:t>
            </a:r>
            <a:r>
              <a:rPr lang="en-US" sz="1600" dirty="0" err="1">
                <a:latin typeface="+mj-lt"/>
              </a:rPr>
              <a:t>sở</a:t>
            </a:r>
            <a:r>
              <a:rPr lang="en-US" sz="1600" dirty="0">
                <a:latin typeface="+mj-lt"/>
              </a:rPr>
              <a:t> </a:t>
            </a:r>
            <a:r>
              <a:rPr lang="en-US" sz="1600" dirty="0" err="1">
                <a:latin typeface="+mj-lt"/>
              </a:rPr>
              <a:t>đề</a:t>
            </a:r>
            <a:r>
              <a:rPr lang="en-US" sz="1600" dirty="0">
                <a:latin typeface="+mj-lt"/>
              </a:rPr>
              <a:t> </a:t>
            </a:r>
            <a:r>
              <a:rPr lang="en-US" sz="1600" dirty="0" err="1">
                <a:latin typeface="+mj-lt"/>
              </a:rPr>
              <a:t>nghị</a:t>
            </a:r>
            <a:r>
              <a:rPr lang="en-US" sz="1600" dirty="0">
                <a:latin typeface="+mj-lt"/>
              </a:rPr>
              <a:t> </a:t>
            </a:r>
            <a:r>
              <a:rPr lang="en-US" sz="1600" dirty="0" err="1">
                <a:latin typeface="+mj-lt"/>
              </a:rPr>
              <a:t>của</a:t>
            </a:r>
            <a:r>
              <a:rPr lang="en-US" sz="1600" dirty="0">
                <a:latin typeface="+mj-lt"/>
              </a:rPr>
              <a:t> </a:t>
            </a:r>
            <a:r>
              <a:rPr lang="en-US" sz="1600" dirty="0" err="1">
                <a:latin typeface="+mj-lt"/>
              </a:rPr>
              <a:t>Tổng</a:t>
            </a:r>
            <a:r>
              <a:rPr lang="en-US" sz="1600" dirty="0">
                <a:latin typeface="+mj-lt"/>
              </a:rPr>
              <a:t> </a:t>
            </a:r>
            <a:r>
              <a:rPr lang="en-US" sz="1600" dirty="0" err="1">
                <a:latin typeface="+mj-lt"/>
              </a:rPr>
              <a:t>cục</a:t>
            </a:r>
            <a:r>
              <a:rPr lang="en-US" sz="1600" dirty="0">
                <a:latin typeface="+mj-lt"/>
              </a:rPr>
              <a:t> </a:t>
            </a:r>
            <a:r>
              <a:rPr lang="en-US" sz="1600" dirty="0" err="1">
                <a:latin typeface="+mj-lt"/>
              </a:rPr>
              <a:t>Thuế</a:t>
            </a:r>
            <a:r>
              <a:rPr lang="en-US" sz="1600" dirty="0">
                <a:latin typeface="+mj-lt"/>
              </a:rPr>
              <a:t> </a:t>
            </a:r>
            <a:r>
              <a:rPr lang="en-US" sz="1600" dirty="0" err="1">
                <a:latin typeface="+mj-lt"/>
              </a:rPr>
              <a:t>thì</a:t>
            </a:r>
            <a:r>
              <a:rPr lang="en-US" sz="1600" dirty="0">
                <a:latin typeface="+mj-lt"/>
              </a:rPr>
              <a:t> </a:t>
            </a:r>
            <a:r>
              <a:rPr lang="en-US" sz="1600" dirty="0" err="1">
                <a:latin typeface="+mj-lt"/>
              </a:rPr>
              <a:t>cơ</a:t>
            </a:r>
            <a:r>
              <a:rPr lang="en-US" sz="1600" dirty="0">
                <a:latin typeface="+mj-lt"/>
              </a:rPr>
              <a:t> </a:t>
            </a:r>
            <a:r>
              <a:rPr lang="en-US" sz="1600" dirty="0" err="1">
                <a:latin typeface="+mj-lt"/>
              </a:rPr>
              <a:t>sở</a:t>
            </a:r>
            <a:r>
              <a:rPr lang="en-US" sz="1600" dirty="0">
                <a:latin typeface="+mj-lt"/>
              </a:rPr>
              <a:t> </a:t>
            </a:r>
            <a:r>
              <a:rPr lang="en-US" sz="1600" dirty="0" err="1">
                <a:latin typeface="+mj-lt"/>
              </a:rPr>
              <a:t>kinh</a:t>
            </a:r>
            <a:r>
              <a:rPr lang="en-US" sz="1600" dirty="0">
                <a:latin typeface="+mj-lt"/>
              </a:rPr>
              <a:t> </a:t>
            </a:r>
            <a:r>
              <a:rPr lang="en-US" sz="1600" dirty="0" err="1">
                <a:latin typeface="+mj-lt"/>
              </a:rPr>
              <a:t>doanh</a:t>
            </a:r>
            <a:r>
              <a:rPr lang="en-US" sz="1600" dirty="0">
                <a:latin typeface="+mj-lt"/>
              </a:rPr>
              <a:t> </a:t>
            </a:r>
            <a:r>
              <a:rPr lang="en-US" sz="1600" dirty="0" err="1">
                <a:latin typeface="+mj-lt"/>
              </a:rPr>
              <a:t>trên</a:t>
            </a:r>
            <a:r>
              <a:rPr lang="en-US" sz="1600" dirty="0">
                <a:latin typeface="+mj-lt"/>
              </a:rPr>
              <a:t> </a:t>
            </a:r>
            <a:r>
              <a:rPr lang="en-US" sz="1600" dirty="0" err="1">
                <a:latin typeface="+mj-lt"/>
              </a:rPr>
              <a:t>địa</a:t>
            </a:r>
            <a:r>
              <a:rPr lang="en-US" sz="1600" dirty="0">
                <a:latin typeface="+mj-lt"/>
              </a:rPr>
              <a:t> </a:t>
            </a:r>
            <a:r>
              <a:rPr lang="en-US" sz="1600" dirty="0" err="1">
                <a:latin typeface="+mj-lt"/>
              </a:rPr>
              <a:t>bàn</a:t>
            </a:r>
            <a:r>
              <a:rPr lang="en-US" sz="1600" dirty="0">
                <a:latin typeface="+mj-lt"/>
              </a:rPr>
              <a:t> </a:t>
            </a:r>
            <a:r>
              <a:rPr lang="en-US" sz="1600" dirty="0" err="1">
                <a:latin typeface="+mj-lt"/>
              </a:rPr>
              <a:t>có</a:t>
            </a:r>
            <a:r>
              <a:rPr lang="en-US" sz="1600" dirty="0">
                <a:latin typeface="+mj-lt"/>
              </a:rPr>
              <a:t> </a:t>
            </a:r>
            <a:r>
              <a:rPr lang="en-US" sz="1600" dirty="0" err="1">
                <a:latin typeface="+mj-lt"/>
              </a:rPr>
              <a:t>trách</a:t>
            </a:r>
            <a:r>
              <a:rPr lang="en-US" sz="1600" dirty="0">
                <a:latin typeface="+mj-lt"/>
              </a:rPr>
              <a:t> </a:t>
            </a:r>
            <a:r>
              <a:rPr lang="en-US" sz="1600" dirty="0" err="1">
                <a:latin typeface="+mj-lt"/>
              </a:rPr>
              <a:t>nhiệm</a:t>
            </a:r>
            <a:r>
              <a:rPr lang="en-US" sz="1600" dirty="0">
                <a:latin typeface="+mj-lt"/>
              </a:rPr>
              <a:t> </a:t>
            </a:r>
            <a:r>
              <a:rPr lang="en-US" sz="1600" dirty="0" err="1">
                <a:latin typeface="+mj-lt"/>
              </a:rPr>
              <a:t>chuyển</a:t>
            </a:r>
            <a:r>
              <a:rPr lang="en-US" sz="1600" dirty="0">
                <a:latin typeface="+mj-lt"/>
              </a:rPr>
              <a:t> </a:t>
            </a:r>
            <a:r>
              <a:rPr lang="en-US" sz="1600" dirty="0" err="1">
                <a:latin typeface="+mj-lt"/>
              </a:rPr>
              <a:t>đổi</a:t>
            </a:r>
            <a:r>
              <a:rPr lang="en-US" sz="1600" dirty="0">
                <a:latin typeface="+mj-lt"/>
              </a:rPr>
              <a:t> </a:t>
            </a:r>
            <a:r>
              <a:rPr lang="en-US" sz="1600" dirty="0" err="1">
                <a:latin typeface="+mj-lt"/>
              </a:rPr>
              <a:t>để</a:t>
            </a:r>
            <a:r>
              <a:rPr lang="en-US" sz="1600" dirty="0">
                <a:latin typeface="+mj-lt"/>
              </a:rPr>
              <a:t> </a:t>
            </a:r>
            <a:r>
              <a:rPr lang="en-US" sz="1600" dirty="0" err="1">
                <a:latin typeface="+mj-lt"/>
              </a:rPr>
              <a:t>áp</a:t>
            </a:r>
            <a:r>
              <a:rPr lang="en-US" sz="1600" dirty="0">
                <a:latin typeface="+mj-lt"/>
              </a:rPr>
              <a:t> </a:t>
            </a:r>
            <a:r>
              <a:rPr lang="en-US" sz="1600" dirty="0" err="1">
                <a:latin typeface="+mj-lt"/>
              </a:rPr>
              <a:t>dụng</a:t>
            </a:r>
            <a:r>
              <a:rPr lang="en-US" sz="1600" dirty="0">
                <a:latin typeface="+mj-lt"/>
              </a:rPr>
              <a:t> </a:t>
            </a:r>
            <a:r>
              <a:rPr lang="en-US" sz="1600" dirty="0" err="1">
                <a:latin typeface="+mj-lt"/>
              </a:rPr>
              <a:t>hóa</a:t>
            </a:r>
            <a:r>
              <a:rPr lang="en-US" sz="1600" dirty="0">
                <a:latin typeface="+mj-lt"/>
              </a:rPr>
              <a:t> </a:t>
            </a:r>
            <a:r>
              <a:rPr lang="en-US" sz="1600" dirty="0" err="1">
                <a:latin typeface="+mj-lt"/>
              </a:rPr>
              <a:t>đơn</a:t>
            </a:r>
            <a:r>
              <a:rPr lang="en-US" sz="1600" dirty="0">
                <a:latin typeface="+mj-lt"/>
              </a:rPr>
              <a:t> </a:t>
            </a:r>
            <a:r>
              <a:rPr lang="en-US" sz="1600" dirty="0" err="1">
                <a:latin typeface="+mj-lt"/>
              </a:rPr>
              <a:t>điện</a:t>
            </a:r>
            <a:r>
              <a:rPr lang="en-US" sz="1600" dirty="0">
                <a:latin typeface="+mj-lt"/>
              </a:rPr>
              <a:t> </a:t>
            </a:r>
            <a:r>
              <a:rPr lang="en-US" sz="1600" dirty="0" err="1">
                <a:latin typeface="+mj-lt"/>
              </a:rPr>
              <a:t>tử</a:t>
            </a:r>
            <a:r>
              <a:rPr lang="en-US" sz="1600" dirty="0">
                <a:latin typeface="+mj-lt"/>
              </a:rPr>
              <a:t> </a:t>
            </a:r>
            <a:r>
              <a:rPr lang="en-US" sz="1600" dirty="0" err="1">
                <a:latin typeface="+mj-lt"/>
              </a:rPr>
              <a:t>quy</a:t>
            </a:r>
            <a:r>
              <a:rPr lang="en-US" sz="1600" dirty="0">
                <a:latin typeface="+mj-lt"/>
              </a:rPr>
              <a:t> </a:t>
            </a:r>
            <a:r>
              <a:rPr lang="en-US" sz="1600" dirty="0" err="1">
                <a:latin typeface="+mj-lt"/>
              </a:rPr>
              <a:t>định</a:t>
            </a:r>
            <a:r>
              <a:rPr lang="en-US" sz="1600" dirty="0">
                <a:latin typeface="+mj-lt"/>
              </a:rPr>
              <a:t> </a:t>
            </a:r>
            <a:r>
              <a:rPr lang="en-US" sz="1600" dirty="0" err="1">
                <a:latin typeface="+mj-lt"/>
              </a:rPr>
              <a:t>tại</a:t>
            </a:r>
            <a:r>
              <a:rPr lang="en-US" sz="1600" dirty="0">
                <a:latin typeface="+mj-lt"/>
              </a:rPr>
              <a:t> </a:t>
            </a:r>
            <a:r>
              <a:rPr lang="en-US" sz="1600" dirty="0" err="1">
                <a:latin typeface="+mj-lt"/>
              </a:rPr>
              <a:t>Thông</a:t>
            </a:r>
            <a:r>
              <a:rPr lang="en-US" sz="1600" dirty="0">
                <a:latin typeface="+mj-lt"/>
              </a:rPr>
              <a:t> </a:t>
            </a:r>
            <a:r>
              <a:rPr lang="en-US" sz="1600" dirty="0" err="1">
                <a:latin typeface="+mj-lt"/>
              </a:rPr>
              <a:t>tư</a:t>
            </a:r>
            <a:r>
              <a:rPr lang="en-US" sz="1600" dirty="0">
                <a:latin typeface="+mj-lt"/>
              </a:rPr>
              <a:t> </a:t>
            </a:r>
            <a:r>
              <a:rPr lang="en-US" sz="1600" dirty="0" err="1">
                <a:latin typeface="+mj-lt"/>
              </a:rPr>
              <a:t>số</a:t>
            </a:r>
            <a:r>
              <a:rPr lang="en-US" sz="1600" dirty="0">
                <a:latin typeface="+mj-lt"/>
              </a:rPr>
              <a:t> 78/2021/TT-BTC </a:t>
            </a:r>
            <a:r>
              <a:rPr lang="en-US" sz="1600" dirty="0" err="1">
                <a:latin typeface="+mj-lt"/>
              </a:rPr>
              <a:t>theo</a:t>
            </a:r>
            <a:r>
              <a:rPr lang="en-US" sz="1600" dirty="0">
                <a:latin typeface="+mj-lt"/>
              </a:rPr>
              <a:t> </a:t>
            </a:r>
            <a:r>
              <a:rPr lang="en-US" sz="1600" dirty="0" err="1">
                <a:latin typeface="+mj-lt"/>
              </a:rPr>
              <a:t>lộ</a:t>
            </a:r>
            <a:r>
              <a:rPr lang="en-US" sz="1600" dirty="0">
                <a:latin typeface="+mj-lt"/>
              </a:rPr>
              <a:t> </a:t>
            </a:r>
            <a:r>
              <a:rPr lang="en-US" sz="1600" dirty="0" err="1">
                <a:latin typeface="+mj-lt"/>
              </a:rPr>
              <a:t>trình</a:t>
            </a:r>
            <a:r>
              <a:rPr lang="en-US" sz="1600" dirty="0">
                <a:latin typeface="+mj-lt"/>
              </a:rPr>
              <a:t> </a:t>
            </a:r>
            <a:r>
              <a:rPr lang="en-US" sz="1600" dirty="0" err="1">
                <a:latin typeface="+mj-lt"/>
              </a:rPr>
              <a:t>thông</a:t>
            </a:r>
            <a:r>
              <a:rPr lang="en-US" sz="1600" dirty="0">
                <a:latin typeface="+mj-lt"/>
              </a:rPr>
              <a:t> </a:t>
            </a:r>
            <a:r>
              <a:rPr lang="en-US" sz="1600" dirty="0" err="1">
                <a:latin typeface="+mj-lt"/>
              </a:rPr>
              <a:t>báo</a:t>
            </a:r>
            <a:r>
              <a:rPr lang="en-US" sz="1600" dirty="0">
                <a:latin typeface="+mj-lt"/>
              </a:rPr>
              <a:t> </a:t>
            </a:r>
            <a:r>
              <a:rPr lang="en-US" sz="1600" dirty="0" err="1">
                <a:latin typeface="+mj-lt"/>
              </a:rPr>
              <a:t>của</a:t>
            </a:r>
            <a:r>
              <a:rPr lang="en-US" sz="1600" dirty="0">
                <a:latin typeface="+mj-lt"/>
              </a:rPr>
              <a:t> </a:t>
            </a:r>
            <a:r>
              <a:rPr lang="en-US" sz="1600" dirty="0" err="1">
                <a:latin typeface="+mj-lt"/>
              </a:rPr>
              <a:t>cơ</a:t>
            </a:r>
            <a:r>
              <a:rPr lang="en-US" sz="1600" dirty="0">
                <a:latin typeface="+mj-lt"/>
              </a:rPr>
              <a:t> </a:t>
            </a:r>
            <a:r>
              <a:rPr lang="en-US" sz="1600" dirty="0" err="1">
                <a:latin typeface="+mj-lt"/>
              </a:rPr>
              <a:t>quan</a:t>
            </a:r>
            <a:r>
              <a:rPr lang="en-US" sz="1600" dirty="0">
                <a:latin typeface="+mj-lt"/>
              </a:rPr>
              <a:t> </a:t>
            </a:r>
            <a:r>
              <a:rPr lang="en-US" sz="1600" dirty="0" err="1">
                <a:latin typeface="+mj-lt"/>
              </a:rPr>
              <a:t>thuế</a:t>
            </a:r>
            <a:r>
              <a:rPr lang="en-US" sz="1600" dirty="0">
                <a:latin typeface="+mj-lt"/>
              </a:rPr>
              <a:t>. </a:t>
            </a:r>
            <a:r>
              <a:rPr lang="en-US" sz="1600" dirty="0" err="1">
                <a:latin typeface="+mj-lt"/>
              </a:rPr>
              <a:t>Trường</a:t>
            </a:r>
            <a:r>
              <a:rPr lang="en-US" sz="1600" dirty="0">
                <a:latin typeface="+mj-lt"/>
              </a:rPr>
              <a:t> </a:t>
            </a:r>
            <a:r>
              <a:rPr lang="en-US" sz="1600" dirty="0" err="1">
                <a:latin typeface="+mj-lt"/>
              </a:rPr>
              <a:t>hợp</a:t>
            </a:r>
            <a:r>
              <a:rPr lang="en-US" sz="1600" dirty="0">
                <a:latin typeface="+mj-lt"/>
              </a:rPr>
              <a:t> </a:t>
            </a:r>
            <a:r>
              <a:rPr lang="en-US" sz="1600" dirty="0" err="1">
                <a:latin typeface="+mj-lt"/>
              </a:rPr>
              <a:t>cơ</a:t>
            </a:r>
            <a:r>
              <a:rPr lang="en-US" sz="1600" dirty="0">
                <a:latin typeface="+mj-lt"/>
              </a:rPr>
              <a:t> </a:t>
            </a:r>
            <a:r>
              <a:rPr lang="en-US" sz="1600" dirty="0" err="1">
                <a:latin typeface="+mj-lt"/>
              </a:rPr>
              <a:t>sở</a:t>
            </a:r>
            <a:r>
              <a:rPr lang="en-US" sz="1600" dirty="0">
                <a:latin typeface="+mj-lt"/>
              </a:rPr>
              <a:t> </a:t>
            </a:r>
            <a:r>
              <a:rPr lang="en-US" sz="1600" dirty="0" err="1">
                <a:latin typeface="+mj-lt"/>
              </a:rPr>
              <a:t>kinh</a:t>
            </a:r>
            <a:r>
              <a:rPr lang="en-US" sz="1600" dirty="0">
                <a:latin typeface="+mj-lt"/>
              </a:rPr>
              <a:t> </a:t>
            </a:r>
            <a:r>
              <a:rPr lang="en-US" sz="1600" dirty="0" err="1">
                <a:latin typeface="+mj-lt"/>
              </a:rPr>
              <a:t>doanh</a:t>
            </a:r>
            <a:r>
              <a:rPr lang="en-US" sz="1600" dirty="0">
                <a:latin typeface="+mj-lt"/>
              </a:rPr>
              <a:t> </a:t>
            </a:r>
            <a:r>
              <a:rPr lang="en-US" sz="1600" dirty="0" err="1">
                <a:latin typeface="+mj-lt"/>
              </a:rPr>
              <a:t>chưa</a:t>
            </a:r>
            <a:r>
              <a:rPr lang="en-US" sz="1600" dirty="0">
                <a:latin typeface="+mj-lt"/>
              </a:rPr>
              <a:t> </a:t>
            </a:r>
            <a:r>
              <a:rPr lang="en-US" sz="1600" dirty="0" err="1">
                <a:latin typeface="+mj-lt"/>
              </a:rPr>
              <a:t>đáp</a:t>
            </a:r>
            <a:r>
              <a:rPr lang="en-US" sz="1600" dirty="0">
                <a:latin typeface="+mj-lt"/>
              </a:rPr>
              <a:t> </a:t>
            </a:r>
            <a:r>
              <a:rPr lang="en-US" sz="1600" dirty="0" err="1">
                <a:latin typeface="+mj-lt"/>
              </a:rPr>
              <a:t>ứng</a:t>
            </a:r>
            <a:r>
              <a:rPr lang="en-US" sz="1600" dirty="0">
                <a:latin typeface="+mj-lt"/>
              </a:rPr>
              <a:t> </a:t>
            </a:r>
            <a:r>
              <a:rPr lang="en-US" sz="1600" dirty="0" err="1">
                <a:latin typeface="+mj-lt"/>
              </a:rPr>
              <a:t>điều</a:t>
            </a:r>
            <a:r>
              <a:rPr lang="en-US" sz="1600" dirty="0">
                <a:latin typeface="+mj-lt"/>
              </a:rPr>
              <a:t> </a:t>
            </a:r>
            <a:r>
              <a:rPr lang="en-US" sz="1600" dirty="0" err="1">
                <a:latin typeface="+mj-lt"/>
              </a:rPr>
              <a:t>kiện</a:t>
            </a:r>
            <a:r>
              <a:rPr lang="en-US" sz="1600" dirty="0">
                <a:latin typeface="+mj-lt"/>
              </a:rPr>
              <a:t> </a:t>
            </a:r>
            <a:r>
              <a:rPr lang="en-US" sz="1600" dirty="0" err="1">
                <a:latin typeface="+mj-lt"/>
              </a:rPr>
              <a:t>về</a:t>
            </a:r>
            <a:r>
              <a:rPr lang="en-US" sz="1600" dirty="0">
                <a:latin typeface="+mj-lt"/>
              </a:rPr>
              <a:t> </a:t>
            </a:r>
            <a:r>
              <a:rPr lang="en-US" sz="1600" dirty="0" err="1">
                <a:latin typeface="+mj-lt"/>
              </a:rPr>
              <a:t>hạ</a:t>
            </a:r>
            <a:r>
              <a:rPr lang="en-US" sz="1600" dirty="0">
                <a:latin typeface="+mj-lt"/>
              </a:rPr>
              <a:t> </a:t>
            </a:r>
            <a:r>
              <a:rPr lang="en-US" sz="1600" dirty="0" err="1">
                <a:latin typeface="+mj-lt"/>
              </a:rPr>
              <a:t>tầng</a:t>
            </a:r>
            <a:r>
              <a:rPr lang="en-US" sz="1600" dirty="0">
                <a:latin typeface="+mj-lt"/>
              </a:rPr>
              <a:t> </a:t>
            </a:r>
            <a:r>
              <a:rPr lang="en-US" sz="1600" dirty="0" err="1">
                <a:latin typeface="+mj-lt"/>
              </a:rPr>
              <a:t>công</a:t>
            </a:r>
            <a:r>
              <a:rPr lang="en-US" sz="1600" dirty="0">
                <a:latin typeface="+mj-lt"/>
              </a:rPr>
              <a:t> </a:t>
            </a:r>
            <a:r>
              <a:rPr lang="en-US" sz="1600" dirty="0" err="1">
                <a:latin typeface="+mj-lt"/>
              </a:rPr>
              <a:t>nghệ</a:t>
            </a:r>
            <a:r>
              <a:rPr lang="en-US" sz="1600" dirty="0">
                <a:latin typeface="+mj-lt"/>
              </a:rPr>
              <a:t> </a:t>
            </a:r>
            <a:r>
              <a:rPr lang="en-US" sz="1600" dirty="0" err="1">
                <a:latin typeface="+mj-lt"/>
              </a:rPr>
              <a:t>thông</a:t>
            </a:r>
            <a:r>
              <a:rPr lang="en-US" sz="1600" dirty="0">
                <a:latin typeface="+mj-lt"/>
              </a:rPr>
              <a:t> tin </a:t>
            </a:r>
            <a:r>
              <a:rPr lang="en-US" sz="1600" dirty="0" err="1">
                <a:latin typeface="+mj-lt"/>
              </a:rPr>
              <a:t>mà</a:t>
            </a:r>
            <a:r>
              <a:rPr lang="en-US" sz="1600" dirty="0">
                <a:latin typeface="+mj-lt"/>
              </a:rPr>
              <a:t> </a:t>
            </a:r>
            <a:r>
              <a:rPr lang="en-US" sz="1600" dirty="0" err="1">
                <a:latin typeface="+mj-lt"/>
              </a:rPr>
              <a:t>tiếp</a:t>
            </a:r>
            <a:r>
              <a:rPr lang="en-US" sz="1600" dirty="0">
                <a:latin typeface="+mj-lt"/>
              </a:rPr>
              <a:t> </a:t>
            </a:r>
            <a:r>
              <a:rPr lang="en-US" sz="1600" dirty="0" err="1">
                <a:latin typeface="+mj-lt"/>
              </a:rPr>
              <a:t>tục</a:t>
            </a:r>
            <a:r>
              <a:rPr lang="en-US" sz="1600" dirty="0">
                <a:latin typeface="+mj-lt"/>
              </a:rPr>
              <a:t> </a:t>
            </a:r>
            <a:r>
              <a:rPr lang="en-US" sz="1600" dirty="0" err="1">
                <a:latin typeface="+mj-lt"/>
              </a:rPr>
              <a:t>sử</a:t>
            </a:r>
            <a:r>
              <a:rPr lang="en-US" sz="1600" dirty="0">
                <a:latin typeface="+mj-lt"/>
              </a:rPr>
              <a:t> </a:t>
            </a:r>
            <a:r>
              <a:rPr lang="en-US" sz="1600" dirty="0" err="1">
                <a:latin typeface="+mj-lt"/>
              </a:rPr>
              <a:t>dụng</a:t>
            </a:r>
            <a:r>
              <a:rPr lang="en-US" sz="1600" dirty="0">
                <a:latin typeface="+mj-lt"/>
              </a:rPr>
              <a:t> </a:t>
            </a:r>
            <a:r>
              <a:rPr lang="en-US" sz="1600" dirty="0" err="1">
                <a:latin typeface="+mj-lt"/>
              </a:rPr>
              <a:t>hóa</a:t>
            </a:r>
            <a:r>
              <a:rPr lang="en-US" sz="1600" dirty="0">
                <a:latin typeface="+mj-lt"/>
              </a:rPr>
              <a:t> </a:t>
            </a:r>
            <a:r>
              <a:rPr lang="en-US" sz="1600" dirty="0" err="1">
                <a:latin typeface="+mj-lt"/>
              </a:rPr>
              <a:t>đơn</a:t>
            </a:r>
            <a:r>
              <a:rPr lang="en-US" sz="1600" dirty="0">
                <a:latin typeface="+mj-lt"/>
              </a:rPr>
              <a:t> </a:t>
            </a:r>
            <a:r>
              <a:rPr lang="en-US" sz="1600" dirty="0" err="1">
                <a:latin typeface="+mj-lt"/>
              </a:rPr>
              <a:t>theo</a:t>
            </a:r>
            <a:r>
              <a:rPr lang="en-US" sz="1600" dirty="0">
                <a:latin typeface="+mj-lt"/>
              </a:rPr>
              <a:t> </a:t>
            </a:r>
            <a:r>
              <a:rPr lang="en-US" sz="1600" dirty="0" err="1">
                <a:latin typeface="+mj-lt"/>
              </a:rPr>
              <a:t>các</a:t>
            </a:r>
            <a:r>
              <a:rPr lang="en-US" sz="1600" dirty="0">
                <a:latin typeface="+mj-lt"/>
              </a:rPr>
              <a:t> </a:t>
            </a:r>
            <a:r>
              <a:rPr lang="en-US" sz="1600" dirty="0" err="1">
                <a:latin typeface="+mj-lt"/>
              </a:rPr>
              <a:t>hình</a:t>
            </a:r>
            <a:r>
              <a:rPr lang="en-US" sz="1600" dirty="0">
                <a:latin typeface="+mj-lt"/>
              </a:rPr>
              <a:t> </a:t>
            </a:r>
            <a:r>
              <a:rPr lang="en-US" sz="1600" dirty="0" err="1">
                <a:latin typeface="+mj-lt"/>
              </a:rPr>
              <a:t>thức</a:t>
            </a:r>
            <a:r>
              <a:rPr lang="en-US" sz="1600" dirty="0">
                <a:latin typeface="+mj-lt"/>
              </a:rPr>
              <a:t> </a:t>
            </a:r>
            <a:r>
              <a:rPr lang="en-US" sz="1600" dirty="0" err="1">
                <a:latin typeface="+mj-lt"/>
              </a:rPr>
              <a:t>nêu</a:t>
            </a:r>
            <a:r>
              <a:rPr lang="en-US" sz="1600" dirty="0">
                <a:latin typeface="+mj-lt"/>
              </a:rPr>
              <a:t> </a:t>
            </a:r>
            <a:r>
              <a:rPr lang="en-US" sz="1600" dirty="0" err="1">
                <a:latin typeface="+mj-lt"/>
              </a:rPr>
              <a:t>trên</a:t>
            </a:r>
            <a:r>
              <a:rPr lang="en-US" sz="1600" dirty="0">
                <a:latin typeface="+mj-lt"/>
              </a:rPr>
              <a:t> </a:t>
            </a:r>
            <a:r>
              <a:rPr lang="en-US" sz="1600" dirty="0" err="1">
                <a:latin typeface="+mj-lt"/>
              </a:rPr>
              <a:t>thì</a:t>
            </a:r>
            <a:r>
              <a:rPr lang="en-US" sz="1600" dirty="0">
                <a:latin typeface="+mj-lt"/>
              </a:rPr>
              <a:t> </a:t>
            </a:r>
            <a:r>
              <a:rPr lang="en-US" sz="1600" dirty="0" err="1">
                <a:latin typeface="+mj-lt"/>
              </a:rPr>
              <a:t>cơ</a:t>
            </a:r>
            <a:r>
              <a:rPr lang="en-US" sz="1600" dirty="0">
                <a:latin typeface="+mj-lt"/>
              </a:rPr>
              <a:t> </a:t>
            </a:r>
            <a:r>
              <a:rPr lang="en-US" sz="1600" dirty="0" err="1">
                <a:latin typeface="+mj-lt"/>
              </a:rPr>
              <a:t>sở</a:t>
            </a:r>
            <a:r>
              <a:rPr lang="en-US" sz="1600" dirty="0">
                <a:latin typeface="+mj-lt"/>
              </a:rPr>
              <a:t> </a:t>
            </a:r>
            <a:r>
              <a:rPr lang="en-US" sz="1600" dirty="0" err="1">
                <a:latin typeface="+mj-lt"/>
              </a:rPr>
              <a:t>kinh</a:t>
            </a:r>
            <a:r>
              <a:rPr lang="en-US" sz="1600" dirty="0">
                <a:latin typeface="+mj-lt"/>
              </a:rPr>
              <a:t> </a:t>
            </a:r>
            <a:r>
              <a:rPr lang="en-US" sz="1600" dirty="0" err="1">
                <a:latin typeface="+mj-lt"/>
              </a:rPr>
              <a:t>doanh</a:t>
            </a:r>
            <a:r>
              <a:rPr lang="en-US" sz="1600" dirty="0">
                <a:latin typeface="+mj-lt"/>
              </a:rPr>
              <a:t> </a:t>
            </a:r>
            <a:r>
              <a:rPr lang="en-US" sz="1600" dirty="0" err="1">
                <a:latin typeface="+mj-lt"/>
              </a:rPr>
              <a:t>thực</a:t>
            </a:r>
            <a:r>
              <a:rPr lang="en-US" sz="1600" dirty="0">
                <a:latin typeface="+mj-lt"/>
              </a:rPr>
              <a:t> </a:t>
            </a:r>
            <a:r>
              <a:rPr lang="en-US" sz="1600" dirty="0" err="1">
                <a:latin typeface="+mj-lt"/>
              </a:rPr>
              <a:t>hiện</a:t>
            </a:r>
            <a:r>
              <a:rPr lang="en-US" sz="1600" dirty="0">
                <a:latin typeface="+mj-lt"/>
              </a:rPr>
              <a:t> </a:t>
            </a:r>
            <a:r>
              <a:rPr lang="en-US" sz="1600" dirty="0" err="1">
                <a:latin typeface="+mj-lt"/>
              </a:rPr>
              <a:t>gửi</a:t>
            </a:r>
            <a:r>
              <a:rPr lang="en-US" sz="1600" dirty="0">
                <a:latin typeface="+mj-lt"/>
              </a:rPr>
              <a:t> </a:t>
            </a:r>
            <a:r>
              <a:rPr lang="en-US" sz="1600" dirty="0" err="1">
                <a:latin typeface="+mj-lt"/>
              </a:rPr>
              <a:t>dữ</a:t>
            </a:r>
            <a:r>
              <a:rPr lang="en-US" sz="1600" dirty="0">
                <a:latin typeface="+mj-lt"/>
              </a:rPr>
              <a:t> </a:t>
            </a:r>
            <a:r>
              <a:rPr lang="en-US" sz="1600" dirty="0" err="1">
                <a:latin typeface="+mj-lt"/>
              </a:rPr>
              <a:t>liệu</a:t>
            </a:r>
            <a:r>
              <a:rPr lang="en-US" sz="1600" dirty="0">
                <a:latin typeface="+mj-lt"/>
              </a:rPr>
              <a:t> </a:t>
            </a:r>
            <a:r>
              <a:rPr lang="en-US" sz="1600" dirty="0" err="1">
                <a:latin typeface="+mj-lt"/>
              </a:rPr>
              <a:t>hóa</a:t>
            </a:r>
            <a:r>
              <a:rPr lang="en-US" sz="1600" dirty="0">
                <a:latin typeface="+mj-lt"/>
              </a:rPr>
              <a:t> </a:t>
            </a:r>
            <a:r>
              <a:rPr lang="en-US" sz="1600" dirty="0" err="1">
                <a:latin typeface="+mj-lt"/>
              </a:rPr>
              <a:t>đơn</a:t>
            </a:r>
            <a:r>
              <a:rPr lang="en-US" sz="1600" dirty="0">
                <a:latin typeface="+mj-lt"/>
              </a:rPr>
              <a:t> </a:t>
            </a:r>
            <a:r>
              <a:rPr lang="en-US" sz="1600" dirty="0" err="1">
                <a:latin typeface="+mj-lt"/>
              </a:rPr>
              <a:t>đến</a:t>
            </a:r>
            <a:r>
              <a:rPr lang="en-US" sz="1600" dirty="0">
                <a:latin typeface="+mj-lt"/>
              </a:rPr>
              <a:t> </a:t>
            </a:r>
            <a:r>
              <a:rPr lang="en-US" sz="1600" dirty="0" err="1">
                <a:latin typeface="+mj-lt"/>
              </a:rPr>
              <a:t>cơ</a:t>
            </a:r>
            <a:r>
              <a:rPr lang="en-US" sz="1600" dirty="0">
                <a:latin typeface="+mj-lt"/>
              </a:rPr>
              <a:t> </a:t>
            </a:r>
            <a:r>
              <a:rPr lang="en-US" sz="1600" dirty="0" err="1">
                <a:latin typeface="+mj-lt"/>
              </a:rPr>
              <a:t>quan</a:t>
            </a:r>
            <a:r>
              <a:rPr lang="en-US" sz="1600" dirty="0">
                <a:latin typeface="+mj-lt"/>
              </a:rPr>
              <a:t> </a:t>
            </a:r>
            <a:r>
              <a:rPr lang="en-US" sz="1600" dirty="0" err="1">
                <a:latin typeface="+mj-lt"/>
              </a:rPr>
              <a:t>thuế</a:t>
            </a:r>
            <a:r>
              <a:rPr lang="en-US" sz="1600" dirty="0">
                <a:latin typeface="+mj-lt"/>
              </a:rPr>
              <a:t> </a:t>
            </a:r>
            <a:r>
              <a:rPr lang="en-US" sz="1600" dirty="0" err="1">
                <a:latin typeface="+mj-lt"/>
              </a:rPr>
              <a:t>theo</a:t>
            </a:r>
            <a:r>
              <a:rPr lang="en-US" sz="1600" dirty="0">
                <a:latin typeface="+mj-lt"/>
              </a:rPr>
              <a:t> </a:t>
            </a:r>
            <a:r>
              <a:rPr lang="en-US" sz="1600" dirty="0" err="1">
                <a:latin typeface="+mj-lt"/>
              </a:rPr>
              <a:t>Mẫu</a:t>
            </a:r>
            <a:r>
              <a:rPr lang="en-US" sz="1600" dirty="0">
                <a:latin typeface="+mj-lt"/>
              </a:rPr>
              <a:t> </a:t>
            </a:r>
            <a:r>
              <a:rPr lang="en-US" sz="1600" dirty="0" err="1">
                <a:latin typeface="+mj-lt"/>
              </a:rPr>
              <a:t>số</a:t>
            </a:r>
            <a:r>
              <a:rPr lang="en-US" sz="1600" dirty="0">
                <a:latin typeface="+mj-lt"/>
              </a:rPr>
              <a:t> 03/DL-HĐĐT </a:t>
            </a:r>
            <a:r>
              <a:rPr lang="en-US" sz="1600" dirty="0" err="1">
                <a:latin typeface="+mj-lt"/>
              </a:rPr>
              <a:t>Phụ</a:t>
            </a:r>
            <a:r>
              <a:rPr lang="en-US" sz="1600" dirty="0">
                <a:latin typeface="+mj-lt"/>
              </a:rPr>
              <a:t> </a:t>
            </a:r>
            <a:r>
              <a:rPr lang="en-US" sz="1600" dirty="0" err="1">
                <a:latin typeface="+mj-lt"/>
              </a:rPr>
              <a:t>lục</a:t>
            </a:r>
            <a:r>
              <a:rPr lang="en-US" sz="1600" dirty="0">
                <a:latin typeface="+mj-lt"/>
              </a:rPr>
              <a:t> IA ban </a:t>
            </a:r>
            <a:r>
              <a:rPr lang="en-US" sz="1600" dirty="0" err="1">
                <a:latin typeface="+mj-lt"/>
              </a:rPr>
              <a:t>hành</a:t>
            </a:r>
            <a:r>
              <a:rPr lang="en-US" sz="1600" dirty="0">
                <a:latin typeface="+mj-lt"/>
              </a:rPr>
              <a:t> </a:t>
            </a:r>
            <a:r>
              <a:rPr lang="en-US" sz="1600" dirty="0" err="1">
                <a:latin typeface="+mj-lt"/>
              </a:rPr>
              <a:t>kèm</a:t>
            </a:r>
            <a:r>
              <a:rPr lang="en-US" sz="1600" dirty="0">
                <a:latin typeface="+mj-lt"/>
              </a:rPr>
              <a:t> </a:t>
            </a:r>
            <a:r>
              <a:rPr lang="en-US" sz="1600" dirty="0" err="1">
                <a:latin typeface="+mj-lt"/>
              </a:rPr>
              <a:t>theo</a:t>
            </a:r>
            <a:r>
              <a:rPr lang="en-US" sz="1600" dirty="0">
                <a:latin typeface="+mj-lt"/>
              </a:rPr>
              <a:t> </a:t>
            </a:r>
            <a:r>
              <a:rPr lang="en-US" sz="1600" dirty="0" err="1">
                <a:latin typeface="+mj-lt"/>
              </a:rPr>
              <a:t>Nghị</a:t>
            </a:r>
            <a:r>
              <a:rPr lang="en-US" sz="1600" dirty="0">
                <a:latin typeface="+mj-lt"/>
              </a:rPr>
              <a:t> </a:t>
            </a:r>
            <a:r>
              <a:rPr lang="en-US" sz="1600" dirty="0" err="1">
                <a:latin typeface="+mj-lt"/>
              </a:rPr>
              <a:t>định</a:t>
            </a:r>
            <a:r>
              <a:rPr lang="en-US" sz="1600" dirty="0">
                <a:latin typeface="+mj-lt"/>
              </a:rPr>
              <a:t> </a:t>
            </a:r>
            <a:r>
              <a:rPr lang="en-US" sz="1600" dirty="0" err="1">
                <a:latin typeface="+mj-lt"/>
              </a:rPr>
              <a:t>số</a:t>
            </a:r>
            <a:r>
              <a:rPr lang="en-US" sz="1600" dirty="0">
                <a:latin typeface="+mj-lt"/>
              </a:rPr>
              <a:t> 123/2020/NĐ-CP </a:t>
            </a:r>
            <a:r>
              <a:rPr lang="en-US" sz="1600" dirty="0" err="1">
                <a:latin typeface="+mj-lt"/>
              </a:rPr>
              <a:t>cùng</a:t>
            </a:r>
            <a:r>
              <a:rPr lang="en-US" sz="1600" dirty="0">
                <a:latin typeface="+mj-lt"/>
              </a:rPr>
              <a:t> </a:t>
            </a:r>
            <a:r>
              <a:rPr lang="en-US" sz="1600" dirty="0" err="1">
                <a:latin typeface="+mj-lt"/>
              </a:rPr>
              <a:t>với</a:t>
            </a:r>
            <a:r>
              <a:rPr lang="en-US" sz="1600" dirty="0">
                <a:latin typeface="+mj-lt"/>
              </a:rPr>
              <a:t> </a:t>
            </a:r>
            <a:r>
              <a:rPr lang="en-US" sz="1600" dirty="0" err="1">
                <a:latin typeface="+mj-lt"/>
              </a:rPr>
              <a:t>việc</a:t>
            </a:r>
            <a:r>
              <a:rPr lang="en-US" sz="1600" dirty="0">
                <a:latin typeface="+mj-lt"/>
              </a:rPr>
              <a:t> </a:t>
            </a:r>
            <a:r>
              <a:rPr lang="en-US" sz="1600" dirty="0" err="1">
                <a:latin typeface="+mj-lt"/>
              </a:rPr>
              <a:t>nộp</a:t>
            </a:r>
            <a:r>
              <a:rPr lang="en-US" sz="1600" dirty="0">
                <a:latin typeface="+mj-lt"/>
              </a:rPr>
              <a:t> </a:t>
            </a:r>
            <a:r>
              <a:rPr lang="en-US" sz="1600" dirty="0" err="1">
                <a:latin typeface="+mj-lt"/>
              </a:rPr>
              <a:t>tờ</a:t>
            </a:r>
            <a:r>
              <a:rPr lang="en-US" sz="1600" dirty="0">
                <a:latin typeface="+mj-lt"/>
              </a:rPr>
              <a:t> </a:t>
            </a:r>
            <a:r>
              <a:rPr lang="en-US" sz="1600" dirty="0" err="1">
                <a:latin typeface="+mj-lt"/>
              </a:rPr>
              <a:t>khai</a:t>
            </a:r>
            <a:r>
              <a:rPr lang="en-US" sz="1600" dirty="0">
                <a:latin typeface="+mj-lt"/>
              </a:rPr>
              <a:t> </a:t>
            </a:r>
            <a:r>
              <a:rPr lang="en-US" sz="1600" dirty="0" err="1">
                <a:latin typeface="+mj-lt"/>
              </a:rPr>
              <a:t>thuế</a:t>
            </a:r>
            <a:r>
              <a:rPr lang="en-US" sz="1600" dirty="0">
                <a:latin typeface="+mj-lt"/>
              </a:rPr>
              <a:t> </a:t>
            </a:r>
            <a:r>
              <a:rPr lang="en-US" sz="1600" dirty="0" err="1">
                <a:latin typeface="+mj-lt"/>
              </a:rPr>
              <a:t>giá</a:t>
            </a:r>
            <a:r>
              <a:rPr lang="en-US" sz="1600" dirty="0">
                <a:latin typeface="+mj-lt"/>
              </a:rPr>
              <a:t> </a:t>
            </a:r>
            <a:r>
              <a:rPr lang="en-US" sz="1600" dirty="0" err="1">
                <a:latin typeface="+mj-lt"/>
              </a:rPr>
              <a:t>trị</a:t>
            </a:r>
            <a:r>
              <a:rPr lang="en-US" sz="1600" dirty="0">
                <a:latin typeface="+mj-lt"/>
              </a:rPr>
              <a:t> </a:t>
            </a:r>
            <a:r>
              <a:rPr lang="en-US" sz="1600" dirty="0" err="1">
                <a:latin typeface="+mj-lt"/>
              </a:rPr>
              <a:t>gia</a:t>
            </a:r>
            <a:r>
              <a:rPr lang="en-US" sz="1600" dirty="0">
                <a:latin typeface="+mj-lt"/>
              </a:rPr>
              <a:t> </a:t>
            </a:r>
            <a:r>
              <a:rPr lang="en-US" sz="1600" dirty="0" err="1">
                <a:latin typeface="+mj-lt"/>
              </a:rPr>
              <a:t>tăng</a:t>
            </a:r>
            <a:r>
              <a:rPr lang="en-US" sz="1600" dirty="0">
                <a:latin typeface="+mj-lt"/>
              </a:rPr>
              <a:t>. </a:t>
            </a:r>
            <a:r>
              <a:rPr lang="en-US" sz="1600" dirty="0" err="1">
                <a:latin typeface="+mj-lt"/>
              </a:rPr>
              <a:t>Cơ</a:t>
            </a:r>
            <a:r>
              <a:rPr lang="en-US" sz="1600" dirty="0">
                <a:latin typeface="+mj-lt"/>
              </a:rPr>
              <a:t> </a:t>
            </a:r>
            <a:r>
              <a:rPr lang="en-US" sz="1600" dirty="0" err="1">
                <a:latin typeface="+mj-lt"/>
              </a:rPr>
              <a:t>quan</a:t>
            </a:r>
            <a:r>
              <a:rPr lang="en-US" sz="1600" dirty="0">
                <a:latin typeface="+mj-lt"/>
              </a:rPr>
              <a:t> </a:t>
            </a:r>
            <a:r>
              <a:rPr lang="en-US" sz="1600" dirty="0" err="1">
                <a:latin typeface="+mj-lt"/>
              </a:rPr>
              <a:t>thuế</a:t>
            </a:r>
            <a:r>
              <a:rPr lang="en-US" sz="1600" dirty="0">
                <a:latin typeface="+mj-lt"/>
              </a:rPr>
              <a:t> </a:t>
            </a:r>
            <a:r>
              <a:rPr lang="en-US" sz="1600" dirty="0" err="1">
                <a:latin typeface="+mj-lt"/>
              </a:rPr>
              <a:t>tiếp</a:t>
            </a:r>
            <a:r>
              <a:rPr lang="en-US" sz="1600" dirty="0">
                <a:latin typeface="+mj-lt"/>
              </a:rPr>
              <a:t> </a:t>
            </a:r>
            <a:r>
              <a:rPr lang="en-US" sz="1600" dirty="0" err="1">
                <a:latin typeface="+mj-lt"/>
              </a:rPr>
              <a:t>nhận</a:t>
            </a:r>
            <a:r>
              <a:rPr lang="en-US" sz="1600" dirty="0">
                <a:latin typeface="+mj-lt"/>
              </a:rPr>
              <a:t> </a:t>
            </a:r>
            <a:r>
              <a:rPr lang="en-US" sz="1600" dirty="0" err="1">
                <a:latin typeface="+mj-lt"/>
              </a:rPr>
              <a:t>dữ</a:t>
            </a:r>
            <a:r>
              <a:rPr lang="en-US" sz="1600" dirty="0">
                <a:latin typeface="+mj-lt"/>
              </a:rPr>
              <a:t> </a:t>
            </a:r>
            <a:r>
              <a:rPr lang="en-US" sz="1600" dirty="0" err="1">
                <a:latin typeface="+mj-lt"/>
              </a:rPr>
              <a:t>liệu</a:t>
            </a:r>
            <a:r>
              <a:rPr lang="en-US" sz="1600" dirty="0">
                <a:latin typeface="+mj-lt"/>
              </a:rPr>
              <a:t> </a:t>
            </a:r>
            <a:r>
              <a:rPr lang="en-US" sz="1600" dirty="0" err="1">
                <a:latin typeface="+mj-lt"/>
              </a:rPr>
              <a:t>hóa</a:t>
            </a:r>
            <a:r>
              <a:rPr lang="en-US" sz="1600" dirty="0">
                <a:latin typeface="+mj-lt"/>
              </a:rPr>
              <a:t> </a:t>
            </a:r>
            <a:r>
              <a:rPr lang="en-US" sz="1600" dirty="0" err="1">
                <a:latin typeface="+mj-lt"/>
              </a:rPr>
              <a:t>đơn</a:t>
            </a:r>
            <a:r>
              <a:rPr lang="en-US" sz="1600" dirty="0">
                <a:latin typeface="+mj-lt"/>
              </a:rPr>
              <a:t> </a:t>
            </a:r>
            <a:r>
              <a:rPr lang="en-US" sz="1600" dirty="0" err="1">
                <a:latin typeface="+mj-lt"/>
              </a:rPr>
              <a:t>của</a:t>
            </a:r>
            <a:r>
              <a:rPr lang="en-US" sz="1600" dirty="0">
                <a:latin typeface="+mj-lt"/>
              </a:rPr>
              <a:t> </a:t>
            </a:r>
            <a:r>
              <a:rPr lang="en-US" sz="1600" dirty="0" err="1">
                <a:latin typeface="+mj-lt"/>
              </a:rPr>
              <a:t>các</a:t>
            </a:r>
            <a:r>
              <a:rPr lang="en-US" sz="1600" dirty="0">
                <a:latin typeface="+mj-lt"/>
              </a:rPr>
              <a:t> </a:t>
            </a:r>
            <a:r>
              <a:rPr lang="en-US" sz="1600" dirty="0" err="1">
                <a:latin typeface="+mj-lt"/>
              </a:rPr>
              <a:t>cơ</a:t>
            </a:r>
            <a:r>
              <a:rPr lang="en-US" sz="1600" dirty="0">
                <a:latin typeface="+mj-lt"/>
              </a:rPr>
              <a:t> </a:t>
            </a:r>
            <a:r>
              <a:rPr lang="en-US" sz="1600" dirty="0" err="1">
                <a:latin typeface="+mj-lt"/>
              </a:rPr>
              <a:t>sở</a:t>
            </a:r>
            <a:r>
              <a:rPr lang="en-US" sz="1600" dirty="0">
                <a:latin typeface="+mj-lt"/>
              </a:rPr>
              <a:t> </a:t>
            </a:r>
            <a:r>
              <a:rPr lang="en-US" sz="1600" dirty="0" err="1">
                <a:latin typeface="+mj-lt"/>
              </a:rPr>
              <a:t>kinh</a:t>
            </a:r>
            <a:r>
              <a:rPr lang="en-US" sz="1600" dirty="0">
                <a:latin typeface="+mj-lt"/>
              </a:rPr>
              <a:t> </a:t>
            </a:r>
            <a:r>
              <a:rPr lang="en-US" sz="1600" dirty="0" err="1">
                <a:latin typeface="+mj-lt"/>
              </a:rPr>
              <a:t>doanh</a:t>
            </a:r>
            <a:r>
              <a:rPr lang="en-US" sz="1600" dirty="0">
                <a:latin typeface="+mj-lt"/>
              </a:rPr>
              <a:t> </a:t>
            </a:r>
            <a:r>
              <a:rPr lang="en-US" sz="1600" dirty="0" err="1">
                <a:latin typeface="+mj-lt"/>
              </a:rPr>
              <a:t>để</a:t>
            </a:r>
            <a:r>
              <a:rPr lang="en-US" sz="1600" dirty="0">
                <a:latin typeface="+mj-lt"/>
              </a:rPr>
              <a:t> </a:t>
            </a:r>
            <a:r>
              <a:rPr lang="en-US" sz="1600" dirty="0" err="1">
                <a:latin typeface="+mj-lt"/>
              </a:rPr>
              <a:t>đưa</a:t>
            </a:r>
            <a:r>
              <a:rPr lang="en-US" sz="1600" dirty="0">
                <a:latin typeface="+mj-lt"/>
              </a:rPr>
              <a:t> </a:t>
            </a:r>
            <a:r>
              <a:rPr lang="en-US" sz="1600" dirty="0" err="1">
                <a:latin typeface="+mj-lt"/>
              </a:rPr>
              <a:t>vào</a:t>
            </a:r>
            <a:r>
              <a:rPr lang="en-US" sz="1600" dirty="0">
                <a:latin typeface="+mj-lt"/>
              </a:rPr>
              <a:t> </a:t>
            </a:r>
            <a:r>
              <a:rPr lang="en-US" sz="1600" dirty="0" err="1">
                <a:latin typeface="+mj-lt"/>
              </a:rPr>
              <a:t>cơ</a:t>
            </a:r>
            <a:r>
              <a:rPr lang="en-US" sz="1600" dirty="0">
                <a:latin typeface="+mj-lt"/>
              </a:rPr>
              <a:t> </a:t>
            </a:r>
            <a:r>
              <a:rPr lang="en-US" sz="1600" dirty="0" err="1">
                <a:latin typeface="+mj-lt"/>
              </a:rPr>
              <a:t>sở</a:t>
            </a:r>
            <a:r>
              <a:rPr lang="en-US" sz="1600" dirty="0">
                <a:latin typeface="+mj-lt"/>
              </a:rPr>
              <a:t> </a:t>
            </a:r>
            <a:r>
              <a:rPr lang="en-US" sz="1600" dirty="0" err="1">
                <a:latin typeface="+mj-lt"/>
              </a:rPr>
              <a:t>dữ</a:t>
            </a:r>
            <a:r>
              <a:rPr lang="en-US" sz="1600" dirty="0">
                <a:latin typeface="+mj-lt"/>
              </a:rPr>
              <a:t> </a:t>
            </a:r>
            <a:r>
              <a:rPr lang="en-US" sz="1600" dirty="0" err="1">
                <a:latin typeface="+mj-lt"/>
              </a:rPr>
              <a:t>liệu</a:t>
            </a:r>
            <a:r>
              <a:rPr lang="en-US" sz="1600" dirty="0">
                <a:latin typeface="+mj-lt"/>
              </a:rPr>
              <a:t> </a:t>
            </a:r>
            <a:r>
              <a:rPr lang="en-US" sz="1600" dirty="0" err="1">
                <a:latin typeface="+mj-lt"/>
              </a:rPr>
              <a:t>hóa</a:t>
            </a:r>
            <a:r>
              <a:rPr lang="en-US" sz="1600" dirty="0">
                <a:latin typeface="+mj-lt"/>
              </a:rPr>
              <a:t> </a:t>
            </a:r>
            <a:r>
              <a:rPr lang="en-US" sz="1600" dirty="0" err="1">
                <a:latin typeface="+mj-lt"/>
              </a:rPr>
              <a:t>đơn</a:t>
            </a:r>
            <a:r>
              <a:rPr lang="en-US" sz="1600" dirty="0">
                <a:latin typeface="+mj-lt"/>
              </a:rPr>
              <a:t> </a:t>
            </a:r>
            <a:r>
              <a:rPr lang="en-US" sz="1600" dirty="0" err="1">
                <a:latin typeface="+mj-lt"/>
              </a:rPr>
              <a:t>và</a:t>
            </a:r>
            <a:r>
              <a:rPr lang="en-US" sz="1600" dirty="0">
                <a:latin typeface="+mj-lt"/>
              </a:rPr>
              <a:t> </a:t>
            </a:r>
            <a:r>
              <a:rPr lang="en-US" sz="1600" dirty="0" err="1">
                <a:latin typeface="+mj-lt"/>
              </a:rPr>
              <a:t>đăng</a:t>
            </a:r>
            <a:r>
              <a:rPr lang="en-US" sz="1600" dirty="0">
                <a:latin typeface="+mj-lt"/>
              </a:rPr>
              <a:t> </a:t>
            </a:r>
            <a:r>
              <a:rPr lang="en-US" sz="1600" dirty="0" err="1">
                <a:latin typeface="+mj-lt"/>
              </a:rPr>
              <a:t>tải</a:t>
            </a:r>
            <a:r>
              <a:rPr lang="en-US" sz="1600" dirty="0">
                <a:latin typeface="+mj-lt"/>
              </a:rPr>
              <a:t> </a:t>
            </a:r>
            <a:r>
              <a:rPr lang="en-US" sz="1600" dirty="0" err="1">
                <a:latin typeface="+mj-lt"/>
              </a:rPr>
              <a:t>trên</a:t>
            </a:r>
            <a:r>
              <a:rPr lang="en-US" sz="1600" dirty="0">
                <a:latin typeface="+mj-lt"/>
              </a:rPr>
              <a:t> </a:t>
            </a:r>
            <a:r>
              <a:rPr lang="en-US" sz="1600" dirty="0" err="1">
                <a:latin typeface="+mj-lt"/>
              </a:rPr>
              <a:t>Cổng</a:t>
            </a:r>
            <a:r>
              <a:rPr lang="en-US" sz="1600" dirty="0">
                <a:latin typeface="+mj-lt"/>
              </a:rPr>
              <a:t> </a:t>
            </a:r>
            <a:r>
              <a:rPr lang="en-US" sz="1600" dirty="0" err="1">
                <a:latin typeface="+mj-lt"/>
              </a:rPr>
              <a:t>thông</a:t>
            </a:r>
            <a:r>
              <a:rPr lang="en-US" sz="1600" dirty="0">
                <a:latin typeface="+mj-lt"/>
              </a:rPr>
              <a:t> tin </a:t>
            </a:r>
            <a:r>
              <a:rPr lang="en-US" sz="1600" dirty="0" err="1">
                <a:latin typeface="+mj-lt"/>
              </a:rPr>
              <a:t>điện</a:t>
            </a:r>
            <a:r>
              <a:rPr lang="en-US" sz="1600" dirty="0">
                <a:latin typeface="+mj-lt"/>
              </a:rPr>
              <a:t> </a:t>
            </a:r>
            <a:r>
              <a:rPr lang="en-US" sz="1600" dirty="0" err="1">
                <a:latin typeface="+mj-lt"/>
              </a:rPr>
              <a:t>tử</a:t>
            </a:r>
            <a:r>
              <a:rPr lang="en-US" sz="1600" dirty="0">
                <a:latin typeface="+mj-lt"/>
              </a:rPr>
              <a:t> </a:t>
            </a:r>
            <a:r>
              <a:rPr lang="en-US" sz="1600" dirty="0" err="1">
                <a:latin typeface="+mj-lt"/>
              </a:rPr>
              <a:t>của</a:t>
            </a:r>
            <a:r>
              <a:rPr lang="en-US" sz="1600" dirty="0">
                <a:latin typeface="+mj-lt"/>
              </a:rPr>
              <a:t> </a:t>
            </a:r>
            <a:r>
              <a:rPr lang="en-US" sz="1600" dirty="0" err="1">
                <a:latin typeface="+mj-lt"/>
              </a:rPr>
              <a:t>Tổng</a:t>
            </a:r>
            <a:r>
              <a:rPr lang="en-US" sz="1600" dirty="0">
                <a:latin typeface="+mj-lt"/>
              </a:rPr>
              <a:t> </a:t>
            </a:r>
            <a:r>
              <a:rPr lang="en-US" sz="1600" dirty="0" err="1">
                <a:latin typeface="+mj-lt"/>
              </a:rPr>
              <a:t>cục</a:t>
            </a:r>
            <a:r>
              <a:rPr lang="en-US" sz="1600" dirty="0">
                <a:latin typeface="+mj-lt"/>
              </a:rPr>
              <a:t> </a:t>
            </a:r>
            <a:r>
              <a:rPr lang="en-US" sz="1600" dirty="0" err="1">
                <a:latin typeface="+mj-lt"/>
              </a:rPr>
              <a:t>Thuế</a:t>
            </a:r>
            <a:r>
              <a:rPr lang="en-US" sz="1600" dirty="0">
                <a:latin typeface="+mj-lt"/>
              </a:rPr>
              <a:t> </a:t>
            </a:r>
            <a:r>
              <a:rPr lang="en-US" sz="1600" dirty="0" err="1">
                <a:latin typeface="+mj-lt"/>
              </a:rPr>
              <a:t>phục</a:t>
            </a:r>
            <a:r>
              <a:rPr lang="en-US" sz="1600" dirty="0">
                <a:latin typeface="+mj-lt"/>
              </a:rPr>
              <a:t> </a:t>
            </a:r>
            <a:r>
              <a:rPr lang="en-US" sz="1600" dirty="0" err="1">
                <a:latin typeface="+mj-lt"/>
              </a:rPr>
              <a:t>vụ</a:t>
            </a:r>
            <a:r>
              <a:rPr lang="en-US" sz="1600" dirty="0">
                <a:latin typeface="+mj-lt"/>
              </a:rPr>
              <a:t> </a:t>
            </a:r>
            <a:r>
              <a:rPr lang="en-US" sz="1600" dirty="0" err="1">
                <a:latin typeface="+mj-lt"/>
              </a:rPr>
              <a:t>việc</a:t>
            </a:r>
            <a:r>
              <a:rPr lang="en-US" sz="1600" dirty="0">
                <a:latin typeface="+mj-lt"/>
              </a:rPr>
              <a:t> </a:t>
            </a:r>
            <a:r>
              <a:rPr lang="en-US" sz="1600" dirty="0" err="1">
                <a:latin typeface="+mj-lt"/>
              </a:rPr>
              <a:t>tra</a:t>
            </a:r>
            <a:r>
              <a:rPr lang="en-US" sz="1600" dirty="0">
                <a:latin typeface="+mj-lt"/>
              </a:rPr>
              <a:t> </a:t>
            </a:r>
            <a:r>
              <a:rPr lang="en-US" sz="1600" dirty="0" err="1">
                <a:latin typeface="+mj-lt"/>
              </a:rPr>
              <a:t>cứu</a:t>
            </a:r>
            <a:r>
              <a:rPr lang="en-US" sz="1600" dirty="0">
                <a:latin typeface="+mj-lt"/>
              </a:rPr>
              <a:t> </a:t>
            </a:r>
            <a:r>
              <a:rPr lang="en-US" sz="1600" dirty="0" err="1">
                <a:latin typeface="+mj-lt"/>
              </a:rPr>
              <a:t>dữ</a:t>
            </a:r>
            <a:r>
              <a:rPr lang="en-US" sz="1600" dirty="0">
                <a:latin typeface="+mj-lt"/>
              </a:rPr>
              <a:t> </a:t>
            </a:r>
            <a:r>
              <a:rPr lang="en-US" sz="1600" dirty="0" err="1">
                <a:latin typeface="+mj-lt"/>
              </a:rPr>
              <a:t>liệu</a:t>
            </a:r>
            <a:r>
              <a:rPr lang="en-US" sz="1600" dirty="0">
                <a:latin typeface="+mj-lt"/>
              </a:rPr>
              <a:t> </a:t>
            </a:r>
            <a:r>
              <a:rPr lang="en-US" sz="1600" dirty="0" err="1">
                <a:latin typeface="+mj-lt"/>
              </a:rPr>
              <a:t>hóa</a:t>
            </a:r>
            <a:r>
              <a:rPr lang="en-US" sz="1600" dirty="0">
                <a:latin typeface="+mj-lt"/>
              </a:rPr>
              <a:t> </a:t>
            </a:r>
            <a:r>
              <a:rPr lang="en-US" sz="1600" dirty="0" err="1">
                <a:latin typeface="+mj-lt"/>
              </a:rPr>
              <a:t>đơn</a:t>
            </a:r>
            <a:r>
              <a:rPr lang="en-US" sz="1600" dirty="0">
                <a:latin typeface="+mj-lt"/>
              </a:rPr>
              <a:t>.</a:t>
            </a:r>
            <a:endParaRPr lang="vi-VN" sz="1600" dirty="0">
              <a:latin typeface="+mj-lt"/>
            </a:endParaRPr>
          </a:p>
          <a:p>
            <a:pPr marL="0" indent="0" algn="just">
              <a:buNone/>
            </a:pPr>
            <a:r>
              <a:rPr lang="en-US" sz="1600" dirty="0">
                <a:latin typeface="+mj-lt"/>
              </a:rPr>
              <a:t>(</a:t>
            </a:r>
            <a:r>
              <a:rPr lang="en-US" sz="1600" i="1" dirty="0" err="1">
                <a:latin typeface="+mj-lt"/>
              </a:rPr>
              <a:t>Khoản</a:t>
            </a:r>
            <a:r>
              <a:rPr lang="en-US" sz="1600" i="1" dirty="0">
                <a:latin typeface="+mj-lt"/>
              </a:rPr>
              <a:t> 1 </a:t>
            </a:r>
            <a:r>
              <a:rPr lang="en-US" sz="1600" i="1" dirty="0" err="1">
                <a:latin typeface="+mj-lt"/>
              </a:rPr>
              <a:t>Điều</a:t>
            </a:r>
            <a:r>
              <a:rPr lang="en-US" sz="1600" i="1" dirty="0">
                <a:latin typeface="+mj-lt"/>
              </a:rPr>
              <a:t> 12 </a:t>
            </a:r>
            <a:r>
              <a:rPr lang="nl-NL" sz="1600" i="1" dirty="0">
                <a:latin typeface="+mj-lt"/>
              </a:rPr>
              <a:t>Thông tư </a:t>
            </a:r>
            <a:r>
              <a:rPr lang="en-US" sz="1600" i="1" dirty="0" err="1">
                <a:latin typeface="+mj-lt"/>
              </a:rPr>
              <a:t>số</a:t>
            </a:r>
            <a:r>
              <a:rPr lang="en-US" sz="1600" i="1" dirty="0">
                <a:latin typeface="+mj-lt"/>
              </a:rPr>
              <a:t> 78/2021/TT-BTC</a:t>
            </a:r>
            <a:r>
              <a:rPr lang="en-US" sz="1600" dirty="0">
                <a:latin typeface="+mj-lt"/>
              </a:rPr>
              <a:t>)</a:t>
            </a:r>
            <a:endParaRPr lang="vi-VN" sz="1600" dirty="0">
              <a:latin typeface="+mj-lt"/>
            </a:endParaRPr>
          </a:p>
        </p:txBody>
      </p:sp>
      <p:grpSp>
        <p:nvGrpSpPr>
          <p:cNvPr id="4" name="Group 3"/>
          <p:cNvGrpSpPr/>
          <p:nvPr/>
        </p:nvGrpSpPr>
        <p:grpSpPr>
          <a:xfrm>
            <a:off x="1" y="0"/>
            <a:ext cx="10238215" cy="791308"/>
            <a:chOff x="1" y="0"/>
            <a:chExt cx="10238215"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766234" y="210988"/>
              <a:ext cx="9471982" cy="369332"/>
            </a:xfrm>
            <a:prstGeom prst="rect">
              <a:avLst/>
            </a:prstGeom>
          </p:spPr>
          <p:txBody>
            <a:bodyPr wrap="square">
              <a:spAutoFit/>
            </a:bodyPr>
            <a:lstStyle/>
            <a:p>
              <a:r>
                <a:rPr lang="en-US" b="1" dirty="0">
                  <a:latin typeface="+mj-lt"/>
                </a:rPr>
                <a:t>PHẦN 6 – HIỆU LỰC THI HÀNH VÀ XỬ LÝ CHUYỂN TIẾP</a:t>
              </a:r>
              <a:endParaRPr lang="en-US" dirty="0">
                <a:latin typeface="+mj-lt"/>
              </a:endParaRPr>
            </a:p>
          </p:txBody>
        </p:sp>
      </p:grpSp>
      <p:sp>
        <p:nvSpPr>
          <p:cNvPr id="7" name="Title 1"/>
          <p:cNvSpPr>
            <a:spLocks noGrp="1"/>
          </p:cNvSpPr>
          <p:nvPr>
            <p:ph type="title"/>
          </p:nvPr>
        </p:nvSpPr>
        <p:spPr>
          <a:xfrm>
            <a:off x="693746" y="864550"/>
            <a:ext cx="8596668" cy="726831"/>
          </a:xfrm>
        </p:spPr>
        <p:txBody>
          <a:bodyPr>
            <a:normAutofit/>
          </a:bodyPr>
          <a:lstStyle/>
          <a:p>
            <a:pPr algn="ctr"/>
            <a:r>
              <a:rPr lang="en-US" sz="3000" b="1" dirty="0">
                <a:solidFill>
                  <a:schemeClr val="accent5"/>
                </a:solidFill>
              </a:rPr>
              <a:t>XỬ LÝ CHUYỂN TIẾP</a:t>
            </a:r>
            <a:endParaRPr lang="vi-VN" sz="3000" b="1" dirty="0">
              <a:solidFill>
                <a:schemeClr val="accent5"/>
              </a:solidFill>
            </a:endParaRPr>
          </a:p>
        </p:txBody>
      </p:sp>
    </p:spTree>
    <p:extLst>
      <p:ext uri="{BB962C8B-B14F-4D97-AF65-F5344CB8AC3E}">
        <p14:creationId xmlns:p14="http://schemas.microsoft.com/office/powerpoint/2010/main" val="89071884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93746" y="2171701"/>
            <a:ext cx="8596668" cy="3441700"/>
          </a:xfrm>
        </p:spPr>
        <p:txBody>
          <a:bodyPr anchor="ctr" anchorCtr="0">
            <a:noAutofit/>
          </a:bodyPr>
          <a:lstStyle/>
          <a:p>
            <a:pPr marL="0" indent="0" algn="ctr">
              <a:buNone/>
            </a:pPr>
            <a:r>
              <a:rPr lang="en-US" b="1" dirty="0">
                <a:solidFill>
                  <a:srgbClr val="C00000"/>
                </a:solidFill>
                <a:latin typeface="+mj-lt"/>
              </a:rPr>
              <a:t>ĐỐI VỚI CƠ SỞ KINH DOANH MỚI THÀNH LẬP</a:t>
            </a:r>
            <a:endParaRPr lang="vi-VN" dirty="0">
              <a:solidFill>
                <a:srgbClr val="C00000"/>
              </a:solidFill>
              <a:latin typeface="+mj-lt"/>
            </a:endParaRPr>
          </a:p>
          <a:p>
            <a:pPr marL="0" indent="0" algn="just">
              <a:buNone/>
            </a:pPr>
            <a:r>
              <a:rPr lang="en-US" dirty="0">
                <a:latin typeface="+mj-lt"/>
              </a:rPr>
              <a:t>- </a:t>
            </a:r>
            <a:r>
              <a:rPr lang="en-US" dirty="0" err="1">
                <a:latin typeface="+mj-lt"/>
              </a:rPr>
              <a:t>Đối</a:t>
            </a:r>
            <a:r>
              <a:rPr lang="en-US" dirty="0">
                <a:latin typeface="+mj-lt"/>
              </a:rPr>
              <a:t> </a:t>
            </a:r>
            <a:r>
              <a:rPr lang="en-US" dirty="0" err="1">
                <a:latin typeface="+mj-lt"/>
              </a:rPr>
              <a:t>với</a:t>
            </a:r>
            <a:r>
              <a:rPr lang="en-US" dirty="0">
                <a:latin typeface="+mj-lt"/>
              </a:rPr>
              <a:t> </a:t>
            </a:r>
            <a:r>
              <a:rPr lang="en-US" dirty="0" err="1">
                <a:latin typeface="+mj-lt"/>
              </a:rPr>
              <a:t>cơ</a:t>
            </a:r>
            <a:r>
              <a:rPr lang="en-US" dirty="0">
                <a:latin typeface="+mj-lt"/>
              </a:rPr>
              <a:t> </a:t>
            </a:r>
            <a:r>
              <a:rPr lang="en-US" dirty="0" err="1">
                <a:latin typeface="+mj-lt"/>
              </a:rPr>
              <a:t>sở</a:t>
            </a:r>
            <a:r>
              <a:rPr lang="en-US" dirty="0">
                <a:latin typeface="+mj-lt"/>
              </a:rPr>
              <a:t> </a:t>
            </a:r>
            <a:r>
              <a:rPr lang="en-US" dirty="0" err="1">
                <a:latin typeface="+mj-lt"/>
              </a:rPr>
              <a:t>kinh</a:t>
            </a:r>
            <a:r>
              <a:rPr lang="en-US" dirty="0">
                <a:latin typeface="+mj-lt"/>
              </a:rPr>
              <a:t> </a:t>
            </a:r>
            <a:r>
              <a:rPr lang="en-US" dirty="0" err="1">
                <a:latin typeface="+mj-lt"/>
              </a:rPr>
              <a:t>doanh</a:t>
            </a:r>
            <a:r>
              <a:rPr lang="en-US" dirty="0">
                <a:latin typeface="+mj-lt"/>
              </a:rPr>
              <a:t> </a:t>
            </a:r>
            <a:r>
              <a:rPr lang="en-US" dirty="0" err="1">
                <a:latin typeface="+mj-lt"/>
              </a:rPr>
              <a:t>mới</a:t>
            </a:r>
            <a:r>
              <a:rPr lang="en-US" dirty="0">
                <a:latin typeface="+mj-lt"/>
              </a:rPr>
              <a:t> </a:t>
            </a:r>
            <a:r>
              <a:rPr lang="en-US" dirty="0" err="1">
                <a:latin typeface="+mj-lt"/>
              </a:rPr>
              <a:t>thành</a:t>
            </a:r>
            <a:r>
              <a:rPr lang="en-US" dirty="0">
                <a:latin typeface="+mj-lt"/>
              </a:rPr>
              <a:t> </a:t>
            </a:r>
            <a:r>
              <a:rPr lang="en-US" dirty="0" err="1">
                <a:latin typeface="+mj-lt"/>
              </a:rPr>
              <a:t>lập</a:t>
            </a:r>
            <a:r>
              <a:rPr lang="en-US" dirty="0">
                <a:latin typeface="+mj-lt"/>
              </a:rPr>
              <a:t> </a:t>
            </a:r>
            <a:r>
              <a:rPr lang="en-US" dirty="0" err="1">
                <a:latin typeface="+mj-lt"/>
              </a:rPr>
              <a:t>trong</a:t>
            </a:r>
            <a:r>
              <a:rPr lang="en-US" dirty="0">
                <a:latin typeface="+mj-lt"/>
              </a:rPr>
              <a:t> </a:t>
            </a:r>
            <a:r>
              <a:rPr lang="en-US" dirty="0" err="1">
                <a:latin typeface="+mj-lt"/>
              </a:rPr>
              <a:t>thời</a:t>
            </a:r>
            <a:r>
              <a:rPr lang="en-US" dirty="0">
                <a:latin typeface="+mj-lt"/>
              </a:rPr>
              <a:t> </a:t>
            </a:r>
            <a:r>
              <a:rPr lang="en-US" dirty="0" err="1">
                <a:latin typeface="+mj-lt"/>
              </a:rPr>
              <a:t>gian</a:t>
            </a:r>
            <a:r>
              <a:rPr lang="en-US" dirty="0">
                <a:latin typeface="+mj-lt"/>
              </a:rPr>
              <a:t> </a:t>
            </a:r>
            <a:r>
              <a:rPr lang="en-US" b="1" dirty="0" err="1">
                <a:latin typeface="+mj-lt"/>
              </a:rPr>
              <a:t>từ</a:t>
            </a:r>
            <a:r>
              <a:rPr lang="en-US" b="1" dirty="0">
                <a:latin typeface="+mj-lt"/>
              </a:rPr>
              <a:t> </a:t>
            </a:r>
            <a:r>
              <a:rPr lang="en-US" b="1" dirty="0" err="1">
                <a:latin typeface="+mj-lt"/>
              </a:rPr>
              <a:t>ngày</a:t>
            </a:r>
            <a:r>
              <a:rPr lang="en-US" b="1" dirty="0">
                <a:latin typeface="+mj-lt"/>
              </a:rPr>
              <a:t> </a:t>
            </a:r>
            <a:r>
              <a:rPr lang="en-US" b="1" dirty="0" err="1">
                <a:latin typeface="+mj-lt"/>
              </a:rPr>
              <a:t>Nghị</a:t>
            </a:r>
            <a:r>
              <a:rPr lang="en-US" b="1" dirty="0">
                <a:latin typeface="+mj-lt"/>
              </a:rPr>
              <a:t> </a:t>
            </a:r>
            <a:r>
              <a:rPr lang="en-US" b="1" dirty="0" err="1">
                <a:latin typeface="+mj-lt"/>
              </a:rPr>
              <a:t>định</a:t>
            </a:r>
            <a:r>
              <a:rPr lang="en-US" b="1" dirty="0">
                <a:latin typeface="+mj-lt"/>
              </a:rPr>
              <a:t> </a:t>
            </a:r>
            <a:r>
              <a:rPr lang="en-US" b="1" dirty="0" err="1">
                <a:latin typeface="+mj-lt"/>
              </a:rPr>
              <a:t>số</a:t>
            </a:r>
            <a:r>
              <a:rPr lang="en-US" b="1" dirty="0">
                <a:latin typeface="+mj-lt"/>
              </a:rPr>
              <a:t> 123/2020/NĐ-CP </a:t>
            </a:r>
            <a:r>
              <a:rPr lang="en-US" b="1" dirty="0" err="1">
                <a:latin typeface="+mj-lt"/>
              </a:rPr>
              <a:t>được</a:t>
            </a:r>
            <a:r>
              <a:rPr lang="en-US" b="1" dirty="0">
                <a:latin typeface="+mj-lt"/>
              </a:rPr>
              <a:t> ban </a:t>
            </a:r>
            <a:r>
              <a:rPr lang="en-US" b="1" dirty="0" err="1">
                <a:latin typeface="+mj-lt"/>
              </a:rPr>
              <a:t>hành</a:t>
            </a:r>
            <a:r>
              <a:rPr lang="en-US" b="1" dirty="0">
                <a:latin typeface="+mj-lt"/>
              </a:rPr>
              <a:t> </a:t>
            </a:r>
            <a:r>
              <a:rPr lang="en-US" b="1" dirty="0" err="1">
                <a:latin typeface="+mj-lt"/>
              </a:rPr>
              <a:t>đến</a:t>
            </a:r>
            <a:r>
              <a:rPr lang="en-US" b="1" dirty="0">
                <a:latin typeface="+mj-lt"/>
              </a:rPr>
              <a:t> </a:t>
            </a:r>
            <a:r>
              <a:rPr lang="en-US" b="1" dirty="0" err="1">
                <a:latin typeface="+mj-lt"/>
              </a:rPr>
              <a:t>ngày</a:t>
            </a:r>
            <a:r>
              <a:rPr lang="en-US" b="1" dirty="0">
                <a:latin typeface="+mj-lt"/>
              </a:rPr>
              <a:t> 30 </a:t>
            </a:r>
            <a:r>
              <a:rPr lang="en-US" b="1" dirty="0" err="1">
                <a:latin typeface="+mj-lt"/>
              </a:rPr>
              <a:t>tháng</a:t>
            </a:r>
            <a:r>
              <a:rPr lang="en-US" b="1" dirty="0">
                <a:latin typeface="+mj-lt"/>
              </a:rPr>
              <a:t> 6 </a:t>
            </a:r>
            <a:r>
              <a:rPr lang="en-US" b="1" dirty="0" err="1">
                <a:latin typeface="+mj-lt"/>
              </a:rPr>
              <a:t>năm</a:t>
            </a:r>
            <a:r>
              <a:rPr lang="en-US" b="1" dirty="0">
                <a:latin typeface="+mj-lt"/>
              </a:rPr>
              <a:t> 2022</a:t>
            </a:r>
            <a:r>
              <a:rPr lang="en-US" dirty="0">
                <a:latin typeface="+mj-lt"/>
              </a:rPr>
              <a:t>, </a:t>
            </a:r>
            <a:r>
              <a:rPr lang="en-US" dirty="0" err="1">
                <a:latin typeface="+mj-lt"/>
              </a:rPr>
              <a:t>trường</a:t>
            </a:r>
            <a:r>
              <a:rPr lang="en-US" dirty="0">
                <a:latin typeface="+mj-lt"/>
              </a:rPr>
              <a:t> </a:t>
            </a:r>
            <a:r>
              <a:rPr lang="en-US" dirty="0" err="1">
                <a:latin typeface="+mj-lt"/>
              </a:rPr>
              <a:t>hợp</a:t>
            </a:r>
            <a:r>
              <a:rPr lang="en-US" dirty="0">
                <a:latin typeface="+mj-lt"/>
              </a:rPr>
              <a:t> </a:t>
            </a:r>
            <a:r>
              <a:rPr lang="en-US" dirty="0" err="1">
                <a:latin typeface="+mj-lt"/>
              </a:rPr>
              <a:t>cơ</a:t>
            </a:r>
            <a:r>
              <a:rPr lang="en-US" dirty="0">
                <a:latin typeface="+mj-lt"/>
              </a:rPr>
              <a:t> </a:t>
            </a:r>
            <a:r>
              <a:rPr lang="en-US" dirty="0" err="1">
                <a:latin typeface="+mj-lt"/>
              </a:rPr>
              <a:t>quan</a:t>
            </a:r>
            <a:r>
              <a:rPr lang="en-US" dirty="0">
                <a:latin typeface="+mj-lt"/>
              </a:rPr>
              <a:t> </a:t>
            </a:r>
            <a:r>
              <a:rPr lang="en-US" dirty="0" err="1">
                <a:latin typeface="+mj-lt"/>
              </a:rPr>
              <a:t>thuế</a:t>
            </a:r>
            <a:r>
              <a:rPr lang="en-US" dirty="0">
                <a:latin typeface="+mj-lt"/>
              </a:rPr>
              <a:t> </a:t>
            </a:r>
            <a:r>
              <a:rPr lang="en-US" dirty="0" err="1">
                <a:latin typeface="+mj-lt"/>
              </a:rPr>
              <a:t>thông</a:t>
            </a:r>
            <a:r>
              <a:rPr lang="en-US" dirty="0">
                <a:latin typeface="+mj-lt"/>
              </a:rPr>
              <a:t> </a:t>
            </a:r>
            <a:r>
              <a:rPr lang="en-US" dirty="0" err="1">
                <a:latin typeface="+mj-lt"/>
              </a:rPr>
              <a:t>báo</a:t>
            </a:r>
            <a:r>
              <a:rPr lang="en-US" dirty="0">
                <a:latin typeface="+mj-lt"/>
              </a:rPr>
              <a:t> </a:t>
            </a:r>
            <a:r>
              <a:rPr lang="en-US" dirty="0" err="1">
                <a:latin typeface="+mj-lt"/>
              </a:rPr>
              <a:t>cơ</a:t>
            </a:r>
            <a:r>
              <a:rPr lang="en-US" dirty="0">
                <a:latin typeface="+mj-lt"/>
              </a:rPr>
              <a:t> </a:t>
            </a:r>
            <a:r>
              <a:rPr lang="en-US" dirty="0" err="1">
                <a:latin typeface="+mj-lt"/>
              </a:rPr>
              <a:t>sở</a:t>
            </a:r>
            <a:r>
              <a:rPr lang="en-US" dirty="0">
                <a:latin typeface="+mj-lt"/>
              </a:rPr>
              <a:t> </a:t>
            </a:r>
            <a:r>
              <a:rPr lang="en-US" dirty="0" err="1">
                <a:latin typeface="+mj-lt"/>
              </a:rPr>
              <a:t>kinh</a:t>
            </a:r>
            <a:r>
              <a:rPr lang="en-US" dirty="0">
                <a:latin typeface="+mj-lt"/>
              </a:rPr>
              <a:t> </a:t>
            </a:r>
            <a:r>
              <a:rPr lang="en-US" dirty="0" err="1">
                <a:latin typeface="+mj-lt"/>
              </a:rPr>
              <a:t>doanh</a:t>
            </a:r>
            <a:r>
              <a:rPr lang="en-US" dirty="0">
                <a:latin typeface="+mj-lt"/>
              </a:rPr>
              <a:t> </a:t>
            </a:r>
            <a:r>
              <a:rPr lang="en-US" dirty="0" err="1">
                <a:latin typeface="+mj-lt"/>
              </a:rPr>
              <a:t>thực</a:t>
            </a:r>
            <a:r>
              <a:rPr lang="en-US" dirty="0">
                <a:latin typeface="+mj-lt"/>
              </a:rPr>
              <a:t> </a:t>
            </a:r>
            <a:r>
              <a:rPr lang="en-US" dirty="0" err="1">
                <a:latin typeface="+mj-lt"/>
              </a:rPr>
              <a:t>hiện</a:t>
            </a:r>
            <a:r>
              <a:rPr lang="en-US" dirty="0">
                <a:latin typeface="+mj-lt"/>
              </a:rPr>
              <a:t> </a:t>
            </a:r>
            <a:r>
              <a:rPr lang="en-US" dirty="0" err="1">
                <a:latin typeface="+mj-lt"/>
              </a:rPr>
              <a:t>áp</a:t>
            </a:r>
            <a:r>
              <a:rPr lang="en-US" dirty="0">
                <a:latin typeface="+mj-lt"/>
              </a:rPr>
              <a:t> </a:t>
            </a:r>
            <a:r>
              <a:rPr lang="en-US" dirty="0" err="1">
                <a:latin typeface="+mj-lt"/>
              </a:rPr>
              <a:t>dụng</a:t>
            </a:r>
            <a:r>
              <a:rPr lang="en-US" dirty="0">
                <a:latin typeface="+mj-lt"/>
              </a:rPr>
              <a:t> </a:t>
            </a:r>
            <a:r>
              <a:rPr lang="en-US" dirty="0" err="1">
                <a:latin typeface="+mj-lt"/>
              </a:rPr>
              <a:t>hóa</a:t>
            </a:r>
            <a:r>
              <a:rPr lang="en-US" dirty="0">
                <a:latin typeface="+mj-lt"/>
              </a:rPr>
              <a:t> </a:t>
            </a:r>
            <a:r>
              <a:rPr lang="en-US" dirty="0" err="1">
                <a:latin typeface="+mj-lt"/>
              </a:rPr>
              <a:t>đơn</a:t>
            </a:r>
            <a:r>
              <a:rPr lang="en-US" dirty="0">
                <a:latin typeface="+mj-lt"/>
              </a:rPr>
              <a:t> </a:t>
            </a:r>
            <a:r>
              <a:rPr lang="en-US" dirty="0" err="1">
                <a:latin typeface="+mj-lt"/>
              </a:rPr>
              <a:t>điện</a:t>
            </a:r>
            <a:r>
              <a:rPr lang="en-US" dirty="0">
                <a:latin typeface="+mj-lt"/>
              </a:rPr>
              <a:t> </a:t>
            </a:r>
            <a:r>
              <a:rPr lang="en-US" dirty="0" err="1">
                <a:latin typeface="+mj-lt"/>
              </a:rPr>
              <a:t>tử</a:t>
            </a:r>
            <a:r>
              <a:rPr lang="en-US" dirty="0">
                <a:latin typeface="+mj-lt"/>
              </a:rPr>
              <a:t> </a:t>
            </a:r>
            <a:r>
              <a:rPr lang="en-US" dirty="0" err="1">
                <a:latin typeface="+mj-lt"/>
              </a:rPr>
              <a:t>theo</a:t>
            </a:r>
            <a:r>
              <a:rPr lang="en-US" dirty="0">
                <a:latin typeface="+mj-lt"/>
              </a:rPr>
              <a:t> </a:t>
            </a:r>
            <a:r>
              <a:rPr lang="en-US" dirty="0" err="1">
                <a:latin typeface="+mj-lt"/>
              </a:rPr>
              <a:t>quy</a:t>
            </a:r>
            <a:r>
              <a:rPr lang="en-US" dirty="0">
                <a:latin typeface="+mj-lt"/>
              </a:rPr>
              <a:t> </a:t>
            </a:r>
            <a:r>
              <a:rPr lang="en-US" dirty="0" err="1">
                <a:latin typeface="+mj-lt"/>
              </a:rPr>
              <a:t>định</a:t>
            </a:r>
            <a:r>
              <a:rPr lang="en-US" dirty="0">
                <a:latin typeface="+mj-lt"/>
              </a:rPr>
              <a:t> </a:t>
            </a:r>
            <a:r>
              <a:rPr lang="en-US" dirty="0" err="1">
                <a:latin typeface="+mj-lt"/>
              </a:rPr>
              <a:t>tại</a:t>
            </a:r>
            <a:r>
              <a:rPr lang="en-US" dirty="0">
                <a:latin typeface="+mj-lt"/>
              </a:rPr>
              <a:t> </a:t>
            </a:r>
            <a:r>
              <a:rPr lang="en-US" dirty="0" err="1">
                <a:latin typeface="+mj-lt"/>
              </a:rPr>
              <a:t>Nghị</a:t>
            </a:r>
            <a:r>
              <a:rPr lang="en-US" dirty="0">
                <a:latin typeface="+mj-lt"/>
              </a:rPr>
              <a:t> </a:t>
            </a:r>
            <a:r>
              <a:rPr lang="en-US" dirty="0" err="1">
                <a:latin typeface="+mj-lt"/>
              </a:rPr>
              <a:t>định</a:t>
            </a:r>
            <a:r>
              <a:rPr lang="en-US" dirty="0">
                <a:latin typeface="+mj-lt"/>
              </a:rPr>
              <a:t> </a:t>
            </a:r>
            <a:r>
              <a:rPr lang="en-US" dirty="0" err="1">
                <a:latin typeface="+mj-lt"/>
              </a:rPr>
              <a:t>số</a:t>
            </a:r>
            <a:r>
              <a:rPr lang="en-US" dirty="0">
                <a:latin typeface="+mj-lt"/>
              </a:rPr>
              <a:t> 123/2020/NĐ-CP </a:t>
            </a:r>
            <a:r>
              <a:rPr lang="en-US" dirty="0" err="1">
                <a:latin typeface="+mj-lt"/>
              </a:rPr>
              <a:t>thì</a:t>
            </a:r>
            <a:r>
              <a:rPr lang="en-US" dirty="0">
                <a:latin typeface="+mj-lt"/>
              </a:rPr>
              <a:t> </a:t>
            </a:r>
            <a:r>
              <a:rPr lang="en-US" dirty="0" err="1">
                <a:latin typeface="+mj-lt"/>
              </a:rPr>
              <a:t>cơ</a:t>
            </a:r>
            <a:r>
              <a:rPr lang="en-US" dirty="0">
                <a:latin typeface="+mj-lt"/>
              </a:rPr>
              <a:t> </a:t>
            </a:r>
            <a:r>
              <a:rPr lang="en-US" dirty="0" err="1">
                <a:latin typeface="+mj-lt"/>
              </a:rPr>
              <a:t>sở</a:t>
            </a:r>
            <a:r>
              <a:rPr lang="en-US" dirty="0">
                <a:latin typeface="+mj-lt"/>
              </a:rPr>
              <a:t> </a:t>
            </a:r>
            <a:r>
              <a:rPr lang="en-US" dirty="0" err="1">
                <a:latin typeface="+mj-lt"/>
              </a:rPr>
              <a:t>kinh</a:t>
            </a:r>
            <a:r>
              <a:rPr lang="en-US" dirty="0">
                <a:latin typeface="+mj-lt"/>
              </a:rPr>
              <a:t> </a:t>
            </a:r>
            <a:r>
              <a:rPr lang="en-US" dirty="0" err="1">
                <a:latin typeface="+mj-lt"/>
              </a:rPr>
              <a:t>doanh</a:t>
            </a:r>
            <a:r>
              <a:rPr lang="en-US" dirty="0">
                <a:latin typeface="+mj-lt"/>
              </a:rPr>
              <a:t> </a:t>
            </a:r>
            <a:r>
              <a:rPr lang="en-US" dirty="0" err="1">
                <a:latin typeface="+mj-lt"/>
              </a:rPr>
              <a:t>thực</a:t>
            </a:r>
            <a:r>
              <a:rPr lang="en-US" dirty="0">
                <a:latin typeface="+mj-lt"/>
              </a:rPr>
              <a:t> </a:t>
            </a:r>
            <a:r>
              <a:rPr lang="en-US" dirty="0" err="1">
                <a:latin typeface="+mj-lt"/>
              </a:rPr>
              <a:t>hiện</a:t>
            </a:r>
            <a:r>
              <a:rPr lang="en-US" dirty="0">
                <a:latin typeface="+mj-lt"/>
              </a:rPr>
              <a:t> </a:t>
            </a:r>
            <a:r>
              <a:rPr lang="en-US" dirty="0" err="1">
                <a:latin typeface="+mj-lt"/>
              </a:rPr>
              <a:t>theo</a:t>
            </a:r>
            <a:r>
              <a:rPr lang="en-US" dirty="0">
                <a:latin typeface="+mj-lt"/>
              </a:rPr>
              <a:t> </a:t>
            </a:r>
            <a:r>
              <a:rPr lang="en-US" dirty="0" err="1">
                <a:latin typeface="+mj-lt"/>
              </a:rPr>
              <a:t>hướng</a:t>
            </a:r>
            <a:r>
              <a:rPr lang="en-US" dirty="0">
                <a:latin typeface="+mj-lt"/>
              </a:rPr>
              <a:t> </a:t>
            </a:r>
            <a:r>
              <a:rPr lang="en-US" dirty="0" err="1">
                <a:latin typeface="+mj-lt"/>
              </a:rPr>
              <a:t>dẫn</a:t>
            </a:r>
            <a:r>
              <a:rPr lang="en-US" dirty="0">
                <a:latin typeface="+mj-lt"/>
              </a:rPr>
              <a:t> </a:t>
            </a:r>
            <a:r>
              <a:rPr lang="en-US" dirty="0" err="1">
                <a:latin typeface="+mj-lt"/>
              </a:rPr>
              <a:t>của</a:t>
            </a:r>
            <a:r>
              <a:rPr lang="en-US" dirty="0">
                <a:latin typeface="+mj-lt"/>
              </a:rPr>
              <a:t> </a:t>
            </a:r>
            <a:r>
              <a:rPr lang="en-US" dirty="0" err="1">
                <a:latin typeface="+mj-lt"/>
              </a:rPr>
              <a:t>cơ</a:t>
            </a:r>
            <a:r>
              <a:rPr lang="en-US" dirty="0">
                <a:latin typeface="+mj-lt"/>
              </a:rPr>
              <a:t> </a:t>
            </a:r>
            <a:r>
              <a:rPr lang="en-US" dirty="0" err="1">
                <a:latin typeface="+mj-lt"/>
              </a:rPr>
              <a:t>quan</a:t>
            </a:r>
            <a:r>
              <a:rPr lang="en-US" dirty="0">
                <a:latin typeface="+mj-lt"/>
              </a:rPr>
              <a:t> </a:t>
            </a:r>
            <a:r>
              <a:rPr lang="en-US" dirty="0" err="1">
                <a:latin typeface="+mj-lt"/>
              </a:rPr>
              <a:t>thuế</a:t>
            </a:r>
            <a:r>
              <a:rPr lang="en-US" dirty="0">
                <a:latin typeface="+mj-lt"/>
              </a:rPr>
              <a:t>. </a:t>
            </a:r>
            <a:r>
              <a:rPr lang="en-US" dirty="0" err="1">
                <a:latin typeface="+mj-lt"/>
              </a:rPr>
              <a:t>Trường</a:t>
            </a:r>
            <a:r>
              <a:rPr lang="en-US" dirty="0">
                <a:latin typeface="+mj-lt"/>
              </a:rPr>
              <a:t> </a:t>
            </a:r>
            <a:r>
              <a:rPr lang="en-US" dirty="0" err="1">
                <a:latin typeface="+mj-lt"/>
              </a:rPr>
              <a:t>hợp</a:t>
            </a:r>
            <a:r>
              <a:rPr lang="en-US" dirty="0">
                <a:latin typeface="+mj-lt"/>
              </a:rPr>
              <a:t> </a:t>
            </a:r>
            <a:r>
              <a:rPr lang="en-US" dirty="0" err="1">
                <a:latin typeface="+mj-lt"/>
              </a:rPr>
              <a:t>chưa</a:t>
            </a:r>
            <a:r>
              <a:rPr lang="en-US" dirty="0">
                <a:latin typeface="+mj-lt"/>
              </a:rPr>
              <a:t> </a:t>
            </a:r>
            <a:r>
              <a:rPr lang="en-US" dirty="0" err="1">
                <a:latin typeface="+mj-lt"/>
              </a:rPr>
              <a:t>đáp</a:t>
            </a:r>
            <a:r>
              <a:rPr lang="en-US" dirty="0">
                <a:latin typeface="+mj-lt"/>
              </a:rPr>
              <a:t> </a:t>
            </a:r>
            <a:r>
              <a:rPr lang="en-US" dirty="0" err="1">
                <a:latin typeface="+mj-lt"/>
              </a:rPr>
              <a:t>ứng</a:t>
            </a:r>
            <a:r>
              <a:rPr lang="en-US" dirty="0">
                <a:latin typeface="+mj-lt"/>
              </a:rPr>
              <a:t> </a:t>
            </a:r>
            <a:r>
              <a:rPr lang="en-US" dirty="0" err="1">
                <a:latin typeface="+mj-lt"/>
              </a:rPr>
              <a:t>điều</a:t>
            </a:r>
            <a:r>
              <a:rPr lang="en-US" dirty="0">
                <a:latin typeface="+mj-lt"/>
              </a:rPr>
              <a:t> </a:t>
            </a:r>
            <a:r>
              <a:rPr lang="en-US" dirty="0" err="1">
                <a:latin typeface="+mj-lt"/>
              </a:rPr>
              <a:t>kiện</a:t>
            </a:r>
            <a:r>
              <a:rPr lang="en-US" dirty="0">
                <a:latin typeface="+mj-lt"/>
              </a:rPr>
              <a:t> </a:t>
            </a:r>
            <a:r>
              <a:rPr lang="en-US" dirty="0" err="1">
                <a:latin typeface="+mj-lt"/>
              </a:rPr>
              <a:t>về</a:t>
            </a:r>
            <a:r>
              <a:rPr lang="en-US" dirty="0">
                <a:latin typeface="+mj-lt"/>
              </a:rPr>
              <a:t> </a:t>
            </a:r>
            <a:r>
              <a:rPr lang="en-US" dirty="0" err="1">
                <a:latin typeface="+mj-lt"/>
              </a:rPr>
              <a:t>hạ</a:t>
            </a:r>
            <a:r>
              <a:rPr lang="en-US" dirty="0">
                <a:latin typeface="+mj-lt"/>
              </a:rPr>
              <a:t> </a:t>
            </a:r>
            <a:r>
              <a:rPr lang="en-US" dirty="0" err="1">
                <a:latin typeface="+mj-lt"/>
              </a:rPr>
              <a:t>tầng</a:t>
            </a:r>
            <a:r>
              <a:rPr lang="en-US" dirty="0">
                <a:latin typeface="+mj-lt"/>
              </a:rPr>
              <a:t> </a:t>
            </a:r>
            <a:r>
              <a:rPr lang="en-US" dirty="0" err="1">
                <a:latin typeface="+mj-lt"/>
              </a:rPr>
              <a:t>công</a:t>
            </a:r>
            <a:r>
              <a:rPr lang="en-US" dirty="0">
                <a:latin typeface="+mj-lt"/>
              </a:rPr>
              <a:t> </a:t>
            </a:r>
            <a:r>
              <a:rPr lang="en-US" dirty="0" err="1">
                <a:latin typeface="+mj-lt"/>
              </a:rPr>
              <a:t>nghệ</a:t>
            </a:r>
            <a:r>
              <a:rPr lang="en-US" dirty="0">
                <a:latin typeface="+mj-lt"/>
              </a:rPr>
              <a:t> </a:t>
            </a:r>
            <a:r>
              <a:rPr lang="en-US" dirty="0" err="1">
                <a:latin typeface="+mj-lt"/>
              </a:rPr>
              <a:t>thông</a:t>
            </a:r>
            <a:r>
              <a:rPr lang="en-US" dirty="0">
                <a:latin typeface="+mj-lt"/>
              </a:rPr>
              <a:t> tin </a:t>
            </a:r>
            <a:r>
              <a:rPr lang="en-US" dirty="0" err="1">
                <a:latin typeface="+mj-lt"/>
              </a:rPr>
              <a:t>mà</a:t>
            </a:r>
            <a:r>
              <a:rPr lang="en-US" dirty="0">
                <a:latin typeface="+mj-lt"/>
              </a:rPr>
              <a:t> </a:t>
            </a:r>
            <a:r>
              <a:rPr lang="en-US" dirty="0" err="1">
                <a:latin typeface="+mj-lt"/>
              </a:rPr>
              <a:t>tiếp</a:t>
            </a:r>
            <a:r>
              <a:rPr lang="en-US" dirty="0">
                <a:latin typeface="+mj-lt"/>
              </a:rPr>
              <a:t> </a:t>
            </a:r>
            <a:r>
              <a:rPr lang="en-US" dirty="0" err="1">
                <a:latin typeface="+mj-lt"/>
              </a:rPr>
              <a:t>tục</a:t>
            </a:r>
            <a:r>
              <a:rPr lang="en-US" dirty="0">
                <a:latin typeface="+mj-lt"/>
              </a:rPr>
              <a:t> </a:t>
            </a:r>
            <a:r>
              <a:rPr lang="en-US" dirty="0" err="1">
                <a:latin typeface="+mj-lt"/>
              </a:rPr>
              <a:t>sử</a:t>
            </a:r>
            <a:r>
              <a:rPr lang="en-US" dirty="0">
                <a:latin typeface="+mj-lt"/>
              </a:rPr>
              <a:t> </a:t>
            </a:r>
            <a:r>
              <a:rPr lang="en-US" dirty="0" err="1">
                <a:latin typeface="+mj-lt"/>
              </a:rPr>
              <a:t>dụng</a:t>
            </a:r>
            <a:r>
              <a:rPr lang="en-US" dirty="0">
                <a:latin typeface="+mj-lt"/>
              </a:rPr>
              <a:t> </a:t>
            </a:r>
            <a:r>
              <a:rPr lang="en-US" dirty="0" err="1">
                <a:latin typeface="+mj-lt"/>
              </a:rPr>
              <a:t>hóa</a:t>
            </a:r>
            <a:r>
              <a:rPr lang="en-US" dirty="0">
                <a:latin typeface="+mj-lt"/>
              </a:rPr>
              <a:t> </a:t>
            </a:r>
            <a:r>
              <a:rPr lang="en-US" dirty="0" err="1">
                <a:latin typeface="+mj-lt"/>
              </a:rPr>
              <a:t>đơn</a:t>
            </a:r>
            <a:r>
              <a:rPr lang="en-US" dirty="0">
                <a:latin typeface="+mj-lt"/>
              </a:rPr>
              <a:t> </a:t>
            </a:r>
            <a:r>
              <a:rPr lang="en-US" dirty="0" err="1">
                <a:latin typeface="+mj-lt"/>
              </a:rPr>
              <a:t>theo</a:t>
            </a:r>
            <a:r>
              <a:rPr lang="en-US" dirty="0">
                <a:latin typeface="+mj-lt"/>
              </a:rPr>
              <a:t> </a:t>
            </a:r>
            <a:r>
              <a:rPr lang="en-US" dirty="0" err="1">
                <a:latin typeface="+mj-lt"/>
              </a:rPr>
              <a:t>quy</a:t>
            </a:r>
            <a:r>
              <a:rPr lang="en-US" dirty="0">
                <a:latin typeface="+mj-lt"/>
              </a:rPr>
              <a:t> </a:t>
            </a:r>
            <a:r>
              <a:rPr lang="en-US" dirty="0" err="1">
                <a:latin typeface="+mj-lt"/>
              </a:rPr>
              <a:t>định</a:t>
            </a:r>
            <a:r>
              <a:rPr lang="en-US" dirty="0">
                <a:latin typeface="+mj-lt"/>
              </a:rPr>
              <a:t> </a:t>
            </a:r>
            <a:r>
              <a:rPr lang="en-US" dirty="0" err="1">
                <a:latin typeface="+mj-lt"/>
              </a:rPr>
              <a:t>tại</a:t>
            </a:r>
            <a:r>
              <a:rPr lang="en-US" dirty="0">
                <a:latin typeface="+mj-lt"/>
              </a:rPr>
              <a:t> </a:t>
            </a:r>
            <a:r>
              <a:rPr lang="en-US" dirty="0" err="1">
                <a:latin typeface="+mj-lt"/>
              </a:rPr>
              <a:t>các</a:t>
            </a:r>
            <a:r>
              <a:rPr lang="en-US" dirty="0">
                <a:latin typeface="+mj-lt"/>
              </a:rPr>
              <a:t> </a:t>
            </a:r>
            <a:r>
              <a:rPr lang="en-US" dirty="0" err="1">
                <a:latin typeface="+mj-lt"/>
              </a:rPr>
              <a:t>Nghị</a:t>
            </a:r>
            <a:r>
              <a:rPr lang="en-US" dirty="0">
                <a:latin typeface="+mj-lt"/>
              </a:rPr>
              <a:t> </a:t>
            </a:r>
            <a:r>
              <a:rPr lang="en-US" dirty="0" err="1">
                <a:latin typeface="+mj-lt"/>
              </a:rPr>
              <a:t>định</a:t>
            </a:r>
            <a:r>
              <a:rPr lang="en-US" dirty="0">
                <a:latin typeface="+mj-lt"/>
              </a:rPr>
              <a:t>: </a:t>
            </a:r>
            <a:r>
              <a:rPr lang="en-US" dirty="0" err="1">
                <a:latin typeface="+mj-lt"/>
              </a:rPr>
              <a:t>số</a:t>
            </a:r>
            <a:r>
              <a:rPr lang="en-US" dirty="0">
                <a:latin typeface="+mj-lt"/>
              </a:rPr>
              <a:t> 51/2010/NĐ-CP </a:t>
            </a:r>
            <a:r>
              <a:rPr lang="en-US" dirty="0" err="1">
                <a:latin typeface="+mj-lt"/>
              </a:rPr>
              <a:t>ngày</a:t>
            </a:r>
            <a:r>
              <a:rPr lang="en-US" dirty="0">
                <a:latin typeface="+mj-lt"/>
              </a:rPr>
              <a:t> 14 </a:t>
            </a:r>
            <a:r>
              <a:rPr lang="en-US" dirty="0" err="1">
                <a:latin typeface="+mj-lt"/>
              </a:rPr>
              <a:t>tháng</a:t>
            </a:r>
            <a:r>
              <a:rPr lang="en-US" dirty="0">
                <a:latin typeface="+mj-lt"/>
              </a:rPr>
              <a:t> 5 </a:t>
            </a:r>
            <a:r>
              <a:rPr lang="en-US" dirty="0" err="1">
                <a:latin typeface="+mj-lt"/>
              </a:rPr>
              <a:t>năm</a:t>
            </a:r>
            <a:r>
              <a:rPr lang="en-US" dirty="0">
                <a:latin typeface="+mj-lt"/>
              </a:rPr>
              <a:t> 2010 </a:t>
            </a:r>
            <a:r>
              <a:rPr lang="en-US" dirty="0" err="1">
                <a:latin typeface="+mj-lt"/>
              </a:rPr>
              <a:t>và</a:t>
            </a:r>
            <a:r>
              <a:rPr lang="en-US" dirty="0">
                <a:latin typeface="+mj-lt"/>
              </a:rPr>
              <a:t> </a:t>
            </a:r>
            <a:r>
              <a:rPr lang="en-US" dirty="0" err="1">
                <a:latin typeface="+mj-lt"/>
              </a:rPr>
              <a:t>số</a:t>
            </a:r>
            <a:r>
              <a:rPr lang="en-US" dirty="0">
                <a:latin typeface="+mj-lt"/>
              </a:rPr>
              <a:t> 04/2014/NĐ-CP </a:t>
            </a:r>
            <a:r>
              <a:rPr lang="en-US" dirty="0" err="1">
                <a:latin typeface="+mj-lt"/>
              </a:rPr>
              <a:t>ngày</a:t>
            </a:r>
            <a:r>
              <a:rPr lang="en-US" dirty="0">
                <a:latin typeface="+mj-lt"/>
              </a:rPr>
              <a:t> 17 </a:t>
            </a:r>
            <a:r>
              <a:rPr lang="en-US" dirty="0" err="1">
                <a:latin typeface="+mj-lt"/>
              </a:rPr>
              <a:t>tháng</a:t>
            </a:r>
            <a:r>
              <a:rPr lang="en-US" dirty="0">
                <a:latin typeface="+mj-lt"/>
              </a:rPr>
              <a:t> 01 </a:t>
            </a:r>
            <a:r>
              <a:rPr lang="en-US" dirty="0" err="1">
                <a:latin typeface="+mj-lt"/>
              </a:rPr>
              <a:t>năm</a:t>
            </a:r>
            <a:r>
              <a:rPr lang="en-US" dirty="0">
                <a:latin typeface="+mj-lt"/>
              </a:rPr>
              <a:t> 2014 </a:t>
            </a:r>
            <a:r>
              <a:rPr lang="en-US" dirty="0" err="1">
                <a:latin typeface="+mj-lt"/>
              </a:rPr>
              <a:t>của</a:t>
            </a:r>
            <a:r>
              <a:rPr lang="en-US" dirty="0">
                <a:latin typeface="+mj-lt"/>
              </a:rPr>
              <a:t> </a:t>
            </a:r>
            <a:r>
              <a:rPr lang="en-US" dirty="0" err="1">
                <a:latin typeface="+mj-lt"/>
              </a:rPr>
              <a:t>Chính</a:t>
            </a:r>
            <a:r>
              <a:rPr lang="en-US" dirty="0">
                <a:latin typeface="+mj-lt"/>
              </a:rPr>
              <a:t> </a:t>
            </a:r>
            <a:r>
              <a:rPr lang="en-US" dirty="0" err="1">
                <a:latin typeface="+mj-lt"/>
              </a:rPr>
              <a:t>phủ</a:t>
            </a:r>
            <a:r>
              <a:rPr lang="en-US" dirty="0">
                <a:latin typeface="+mj-lt"/>
              </a:rPr>
              <a:t> </a:t>
            </a:r>
            <a:r>
              <a:rPr lang="en-US" dirty="0" err="1">
                <a:latin typeface="+mj-lt"/>
              </a:rPr>
              <a:t>quy</a:t>
            </a:r>
            <a:r>
              <a:rPr lang="en-US" dirty="0">
                <a:latin typeface="+mj-lt"/>
              </a:rPr>
              <a:t> </a:t>
            </a:r>
            <a:r>
              <a:rPr lang="en-US" dirty="0" err="1">
                <a:latin typeface="+mj-lt"/>
              </a:rPr>
              <a:t>định</a:t>
            </a:r>
            <a:r>
              <a:rPr lang="en-US" dirty="0">
                <a:latin typeface="+mj-lt"/>
              </a:rPr>
              <a:t> </a:t>
            </a:r>
            <a:r>
              <a:rPr lang="en-US" dirty="0" err="1">
                <a:latin typeface="+mj-lt"/>
              </a:rPr>
              <a:t>về</a:t>
            </a:r>
            <a:r>
              <a:rPr lang="en-US" dirty="0">
                <a:latin typeface="+mj-lt"/>
              </a:rPr>
              <a:t> </a:t>
            </a:r>
            <a:r>
              <a:rPr lang="en-US" dirty="0" err="1">
                <a:latin typeface="+mj-lt"/>
              </a:rPr>
              <a:t>hóa</a:t>
            </a:r>
            <a:r>
              <a:rPr lang="en-US" dirty="0">
                <a:latin typeface="+mj-lt"/>
              </a:rPr>
              <a:t> </a:t>
            </a:r>
            <a:r>
              <a:rPr lang="en-US" dirty="0" err="1">
                <a:latin typeface="+mj-lt"/>
              </a:rPr>
              <a:t>đơn</a:t>
            </a:r>
            <a:r>
              <a:rPr lang="en-US" dirty="0">
                <a:latin typeface="+mj-lt"/>
              </a:rPr>
              <a:t> </a:t>
            </a:r>
            <a:r>
              <a:rPr lang="en-US" dirty="0" err="1">
                <a:latin typeface="+mj-lt"/>
              </a:rPr>
              <a:t>bán</a:t>
            </a:r>
            <a:r>
              <a:rPr lang="en-US" dirty="0">
                <a:latin typeface="+mj-lt"/>
              </a:rPr>
              <a:t> </a:t>
            </a:r>
            <a:r>
              <a:rPr lang="en-US" dirty="0" err="1">
                <a:latin typeface="+mj-lt"/>
              </a:rPr>
              <a:t>hàng</a:t>
            </a:r>
            <a:r>
              <a:rPr lang="en-US" dirty="0">
                <a:latin typeface="+mj-lt"/>
              </a:rPr>
              <a:t> </a:t>
            </a:r>
            <a:r>
              <a:rPr lang="en-US" dirty="0" err="1">
                <a:latin typeface="+mj-lt"/>
              </a:rPr>
              <a:t>hóa</a:t>
            </a:r>
            <a:r>
              <a:rPr lang="en-US" dirty="0">
                <a:latin typeface="+mj-lt"/>
              </a:rPr>
              <a:t>, </a:t>
            </a:r>
            <a:r>
              <a:rPr lang="en-US" dirty="0" err="1">
                <a:latin typeface="+mj-lt"/>
              </a:rPr>
              <a:t>cung</a:t>
            </a:r>
            <a:r>
              <a:rPr lang="en-US" dirty="0">
                <a:latin typeface="+mj-lt"/>
              </a:rPr>
              <a:t> </a:t>
            </a:r>
            <a:r>
              <a:rPr lang="en-US" dirty="0" err="1">
                <a:latin typeface="+mj-lt"/>
              </a:rPr>
              <a:t>ứng</a:t>
            </a:r>
            <a:r>
              <a:rPr lang="en-US" dirty="0">
                <a:latin typeface="+mj-lt"/>
              </a:rPr>
              <a:t> </a:t>
            </a:r>
            <a:r>
              <a:rPr lang="en-US" dirty="0" err="1">
                <a:latin typeface="+mj-lt"/>
              </a:rPr>
              <a:t>dịch</a:t>
            </a:r>
            <a:r>
              <a:rPr lang="en-US" dirty="0">
                <a:latin typeface="+mj-lt"/>
              </a:rPr>
              <a:t> </a:t>
            </a:r>
            <a:r>
              <a:rPr lang="en-US" dirty="0" err="1">
                <a:latin typeface="+mj-lt"/>
              </a:rPr>
              <a:t>vụ</a:t>
            </a:r>
            <a:r>
              <a:rPr lang="en-US" dirty="0">
                <a:latin typeface="+mj-lt"/>
              </a:rPr>
              <a:t> </a:t>
            </a:r>
            <a:r>
              <a:rPr lang="en-US" dirty="0" err="1">
                <a:latin typeface="+mj-lt"/>
              </a:rPr>
              <a:t>thì</a:t>
            </a:r>
            <a:r>
              <a:rPr lang="en-US" dirty="0">
                <a:latin typeface="+mj-lt"/>
              </a:rPr>
              <a:t> </a:t>
            </a:r>
            <a:r>
              <a:rPr lang="en-US" dirty="0" err="1">
                <a:latin typeface="+mj-lt"/>
              </a:rPr>
              <a:t>thực</a:t>
            </a:r>
            <a:r>
              <a:rPr lang="en-US" dirty="0">
                <a:latin typeface="+mj-lt"/>
              </a:rPr>
              <a:t> </a:t>
            </a:r>
            <a:r>
              <a:rPr lang="en-US" dirty="0" err="1">
                <a:latin typeface="+mj-lt"/>
              </a:rPr>
              <a:t>hiện</a:t>
            </a:r>
            <a:r>
              <a:rPr lang="en-US" dirty="0">
                <a:latin typeface="+mj-lt"/>
              </a:rPr>
              <a:t> </a:t>
            </a:r>
            <a:r>
              <a:rPr lang="en-US" dirty="0" err="1">
                <a:latin typeface="+mj-lt"/>
              </a:rPr>
              <a:t>như</a:t>
            </a:r>
            <a:r>
              <a:rPr lang="en-US" dirty="0">
                <a:latin typeface="+mj-lt"/>
              </a:rPr>
              <a:t> </a:t>
            </a:r>
            <a:r>
              <a:rPr lang="en-US" dirty="0" err="1">
                <a:latin typeface="+mj-lt"/>
              </a:rPr>
              <a:t>các</a:t>
            </a:r>
            <a:r>
              <a:rPr lang="en-US" dirty="0">
                <a:latin typeface="+mj-lt"/>
              </a:rPr>
              <a:t> </a:t>
            </a:r>
            <a:r>
              <a:rPr lang="en-US" dirty="0" err="1">
                <a:latin typeface="+mj-lt"/>
              </a:rPr>
              <a:t>cơ</a:t>
            </a:r>
            <a:r>
              <a:rPr lang="en-US" dirty="0">
                <a:latin typeface="+mj-lt"/>
              </a:rPr>
              <a:t> </a:t>
            </a:r>
            <a:r>
              <a:rPr lang="en-US" dirty="0" err="1">
                <a:latin typeface="+mj-lt"/>
              </a:rPr>
              <a:t>sở</a:t>
            </a:r>
            <a:r>
              <a:rPr lang="en-US" dirty="0">
                <a:latin typeface="+mj-lt"/>
              </a:rPr>
              <a:t> </a:t>
            </a:r>
            <a:r>
              <a:rPr lang="en-US" dirty="0" err="1">
                <a:latin typeface="+mj-lt"/>
              </a:rPr>
              <a:t>kinh</a:t>
            </a:r>
            <a:r>
              <a:rPr lang="en-US" dirty="0">
                <a:latin typeface="+mj-lt"/>
              </a:rPr>
              <a:t> </a:t>
            </a:r>
            <a:r>
              <a:rPr lang="en-US" dirty="0" err="1">
                <a:latin typeface="+mj-lt"/>
              </a:rPr>
              <a:t>doanh</a:t>
            </a:r>
            <a:r>
              <a:rPr lang="en-US" dirty="0">
                <a:latin typeface="+mj-lt"/>
              </a:rPr>
              <a:t> </a:t>
            </a:r>
            <a:r>
              <a:rPr lang="en-US" dirty="0" err="1">
                <a:latin typeface="+mj-lt"/>
              </a:rPr>
              <a:t>nêu</a:t>
            </a:r>
            <a:r>
              <a:rPr lang="en-US" dirty="0">
                <a:latin typeface="+mj-lt"/>
              </a:rPr>
              <a:t> </a:t>
            </a:r>
            <a:r>
              <a:rPr lang="en-US" dirty="0" err="1">
                <a:latin typeface="+mj-lt"/>
              </a:rPr>
              <a:t>tại</a:t>
            </a:r>
            <a:r>
              <a:rPr lang="en-US" dirty="0">
                <a:latin typeface="+mj-lt"/>
              </a:rPr>
              <a:t> </a:t>
            </a:r>
            <a:r>
              <a:rPr lang="en-US" dirty="0" err="1">
                <a:latin typeface="+mj-lt"/>
              </a:rPr>
              <a:t>điểm</a:t>
            </a:r>
            <a:r>
              <a:rPr lang="en-US" dirty="0">
                <a:latin typeface="+mj-lt"/>
              </a:rPr>
              <a:t> </a:t>
            </a:r>
            <a:r>
              <a:rPr lang="en-US" dirty="0" err="1">
                <a:latin typeface="+mj-lt"/>
              </a:rPr>
              <a:t>trên</a:t>
            </a:r>
            <a:r>
              <a:rPr lang="en-US" dirty="0">
                <a:latin typeface="+mj-lt"/>
              </a:rPr>
              <a:t>.</a:t>
            </a:r>
            <a:endParaRPr lang="vi-VN" dirty="0">
              <a:latin typeface="+mj-lt"/>
            </a:endParaRPr>
          </a:p>
          <a:p>
            <a:pPr marL="0" indent="0" algn="just">
              <a:buNone/>
            </a:pPr>
            <a:r>
              <a:rPr lang="en-US" dirty="0">
                <a:latin typeface="+mj-lt"/>
              </a:rPr>
              <a:t>(</a:t>
            </a:r>
            <a:r>
              <a:rPr lang="en-US" i="1" dirty="0" err="1">
                <a:latin typeface="+mj-lt"/>
              </a:rPr>
              <a:t>Khoản</a:t>
            </a:r>
            <a:r>
              <a:rPr lang="en-US" i="1" dirty="0">
                <a:latin typeface="+mj-lt"/>
              </a:rPr>
              <a:t> 2 </a:t>
            </a:r>
            <a:r>
              <a:rPr lang="en-US" i="1" dirty="0" err="1">
                <a:latin typeface="+mj-lt"/>
              </a:rPr>
              <a:t>Điều</a:t>
            </a:r>
            <a:r>
              <a:rPr lang="en-US" i="1" dirty="0">
                <a:latin typeface="+mj-lt"/>
              </a:rPr>
              <a:t> 60 </a:t>
            </a:r>
            <a:r>
              <a:rPr lang="en-US" i="1" dirty="0" err="1">
                <a:latin typeface="+mj-lt"/>
              </a:rPr>
              <a:t>Nghị</a:t>
            </a:r>
            <a:r>
              <a:rPr lang="en-US" i="1" dirty="0">
                <a:latin typeface="+mj-lt"/>
              </a:rPr>
              <a:t> </a:t>
            </a:r>
            <a:r>
              <a:rPr lang="en-US" i="1" dirty="0" err="1">
                <a:latin typeface="+mj-lt"/>
              </a:rPr>
              <a:t>định</a:t>
            </a:r>
            <a:r>
              <a:rPr lang="en-US" i="1" dirty="0">
                <a:latin typeface="+mj-lt"/>
              </a:rPr>
              <a:t> </a:t>
            </a:r>
            <a:r>
              <a:rPr lang="en-US" i="1" dirty="0" err="1">
                <a:latin typeface="+mj-lt"/>
              </a:rPr>
              <a:t>số</a:t>
            </a:r>
            <a:r>
              <a:rPr lang="en-US" i="1" dirty="0">
                <a:latin typeface="+mj-lt"/>
              </a:rPr>
              <a:t> 123/2020/NĐ-CP</a:t>
            </a:r>
            <a:r>
              <a:rPr lang="en-US" dirty="0">
                <a:latin typeface="+mj-lt"/>
              </a:rPr>
              <a:t>)</a:t>
            </a:r>
            <a:endParaRPr lang="vi-VN" dirty="0">
              <a:latin typeface="+mj-lt"/>
            </a:endParaRPr>
          </a:p>
        </p:txBody>
      </p:sp>
      <p:grpSp>
        <p:nvGrpSpPr>
          <p:cNvPr id="4" name="Group 3"/>
          <p:cNvGrpSpPr/>
          <p:nvPr/>
        </p:nvGrpSpPr>
        <p:grpSpPr>
          <a:xfrm>
            <a:off x="1" y="0"/>
            <a:ext cx="10238215" cy="791308"/>
            <a:chOff x="1" y="0"/>
            <a:chExt cx="10238215"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766234" y="210988"/>
              <a:ext cx="9471982" cy="369332"/>
            </a:xfrm>
            <a:prstGeom prst="rect">
              <a:avLst/>
            </a:prstGeom>
          </p:spPr>
          <p:txBody>
            <a:bodyPr wrap="square">
              <a:spAutoFit/>
            </a:bodyPr>
            <a:lstStyle/>
            <a:p>
              <a:r>
                <a:rPr lang="en-US" b="1" dirty="0">
                  <a:latin typeface="+mj-lt"/>
                </a:rPr>
                <a:t>PHẦN 6 – HIỆU LỰC THI HÀNH VÀ XỬ LÝ CHUYỂN TIẾP</a:t>
              </a:r>
              <a:endParaRPr lang="en-US" dirty="0">
                <a:latin typeface="+mj-lt"/>
              </a:endParaRPr>
            </a:p>
          </p:txBody>
        </p:sp>
      </p:grpSp>
      <p:sp>
        <p:nvSpPr>
          <p:cNvPr id="7" name="Title 1"/>
          <p:cNvSpPr>
            <a:spLocks noGrp="1"/>
          </p:cNvSpPr>
          <p:nvPr>
            <p:ph type="title"/>
          </p:nvPr>
        </p:nvSpPr>
        <p:spPr>
          <a:xfrm>
            <a:off x="693746" y="915350"/>
            <a:ext cx="8596668" cy="726831"/>
          </a:xfrm>
        </p:spPr>
        <p:txBody>
          <a:bodyPr>
            <a:normAutofit/>
          </a:bodyPr>
          <a:lstStyle/>
          <a:p>
            <a:pPr algn="ctr"/>
            <a:r>
              <a:rPr lang="en-US" sz="3000" b="1" dirty="0">
                <a:solidFill>
                  <a:schemeClr val="accent5"/>
                </a:solidFill>
              </a:rPr>
              <a:t>XỬ LÝ CHUYỂN TIẾP</a:t>
            </a:r>
            <a:endParaRPr lang="vi-VN" sz="3000" b="1" dirty="0">
              <a:solidFill>
                <a:schemeClr val="accent5"/>
              </a:solidFill>
            </a:endParaRPr>
          </a:p>
        </p:txBody>
      </p:sp>
    </p:spTree>
    <p:extLst>
      <p:ext uri="{BB962C8B-B14F-4D97-AF65-F5344CB8AC3E}">
        <p14:creationId xmlns:p14="http://schemas.microsoft.com/office/powerpoint/2010/main" val="39937585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93746" y="1977212"/>
            <a:ext cx="8596668" cy="4252628"/>
          </a:xfrm>
        </p:spPr>
        <p:txBody>
          <a:bodyPr anchor="ctr" anchorCtr="0">
            <a:noAutofit/>
          </a:bodyPr>
          <a:lstStyle/>
          <a:p>
            <a:pPr algn="ctr">
              <a:buFontTx/>
              <a:buChar char="-"/>
            </a:pPr>
            <a:r>
              <a:rPr lang="en-US" b="1" dirty="0">
                <a:solidFill>
                  <a:srgbClr val="C00000"/>
                </a:solidFill>
                <a:latin typeface="+mj-lt"/>
              </a:rPr>
              <a:t>ĐỐI VỚI CƠ SỞ KINH DOANH MỚI THÀNH LẬP (TIẾP THEO)</a:t>
            </a:r>
            <a:endParaRPr lang="vi-VN" dirty="0">
              <a:solidFill>
                <a:srgbClr val="C00000"/>
              </a:solidFill>
              <a:latin typeface="+mj-lt"/>
            </a:endParaRPr>
          </a:p>
          <a:p>
            <a:pPr algn="just">
              <a:buFontTx/>
              <a:buChar char="-"/>
            </a:pPr>
            <a:endParaRPr lang="en-US" dirty="0">
              <a:latin typeface="+mj-lt"/>
            </a:endParaRPr>
          </a:p>
          <a:p>
            <a:pPr algn="just">
              <a:buFontTx/>
              <a:buChar char="-"/>
            </a:pPr>
            <a:r>
              <a:rPr lang="en-US" dirty="0" err="1">
                <a:latin typeface="+mj-lt"/>
              </a:rPr>
              <a:t>Đối</a:t>
            </a:r>
            <a:r>
              <a:rPr lang="en-US" dirty="0">
                <a:latin typeface="+mj-lt"/>
              </a:rPr>
              <a:t> </a:t>
            </a:r>
            <a:r>
              <a:rPr lang="en-US" dirty="0" err="1">
                <a:latin typeface="+mj-lt"/>
              </a:rPr>
              <a:t>với</a:t>
            </a:r>
            <a:r>
              <a:rPr lang="en-US" dirty="0">
                <a:latin typeface="+mj-lt"/>
              </a:rPr>
              <a:t> </a:t>
            </a:r>
            <a:r>
              <a:rPr lang="en-US" dirty="0" err="1">
                <a:latin typeface="+mj-lt"/>
              </a:rPr>
              <a:t>cơ</a:t>
            </a:r>
            <a:r>
              <a:rPr lang="en-US" dirty="0">
                <a:latin typeface="+mj-lt"/>
              </a:rPr>
              <a:t> </a:t>
            </a:r>
            <a:r>
              <a:rPr lang="en-US" dirty="0" err="1">
                <a:latin typeface="+mj-lt"/>
              </a:rPr>
              <a:t>sở</a:t>
            </a:r>
            <a:r>
              <a:rPr lang="en-US" dirty="0">
                <a:latin typeface="+mj-lt"/>
              </a:rPr>
              <a:t> </a:t>
            </a:r>
            <a:r>
              <a:rPr lang="en-US" dirty="0" err="1">
                <a:latin typeface="+mj-lt"/>
              </a:rPr>
              <a:t>kinh</a:t>
            </a:r>
            <a:r>
              <a:rPr lang="en-US" dirty="0">
                <a:latin typeface="+mj-lt"/>
              </a:rPr>
              <a:t> </a:t>
            </a:r>
            <a:r>
              <a:rPr lang="en-US" dirty="0" err="1">
                <a:latin typeface="+mj-lt"/>
              </a:rPr>
              <a:t>doanh</a:t>
            </a:r>
            <a:r>
              <a:rPr lang="en-US" dirty="0">
                <a:latin typeface="+mj-lt"/>
              </a:rPr>
              <a:t> </a:t>
            </a:r>
            <a:r>
              <a:rPr lang="en-US" dirty="0" err="1">
                <a:latin typeface="+mj-lt"/>
              </a:rPr>
              <a:t>mới</a:t>
            </a:r>
            <a:r>
              <a:rPr lang="en-US" dirty="0">
                <a:latin typeface="+mj-lt"/>
              </a:rPr>
              <a:t> </a:t>
            </a:r>
            <a:r>
              <a:rPr lang="en-US" dirty="0" err="1">
                <a:latin typeface="+mj-lt"/>
              </a:rPr>
              <a:t>thành</a:t>
            </a:r>
            <a:r>
              <a:rPr lang="en-US" dirty="0">
                <a:latin typeface="+mj-lt"/>
              </a:rPr>
              <a:t> </a:t>
            </a:r>
            <a:r>
              <a:rPr lang="en-US" dirty="0" err="1">
                <a:latin typeface="+mj-lt"/>
              </a:rPr>
              <a:t>lập</a:t>
            </a:r>
            <a:r>
              <a:rPr lang="en-US" dirty="0">
                <a:latin typeface="+mj-lt"/>
              </a:rPr>
              <a:t> </a:t>
            </a:r>
            <a:r>
              <a:rPr lang="en-US" dirty="0" err="1">
                <a:latin typeface="+mj-lt"/>
              </a:rPr>
              <a:t>trong</a:t>
            </a:r>
            <a:r>
              <a:rPr lang="en-US" dirty="0">
                <a:latin typeface="+mj-lt"/>
              </a:rPr>
              <a:t> </a:t>
            </a:r>
            <a:r>
              <a:rPr lang="en-US" dirty="0" err="1">
                <a:latin typeface="+mj-lt"/>
              </a:rPr>
              <a:t>thời</a:t>
            </a:r>
            <a:r>
              <a:rPr lang="en-US" dirty="0">
                <a:latin typeface="+mj-lt"/>
              </a:rPr>
              <a:t> </a:t>
            </a:r>
            <a:r>
              <a:rPr lang="en-US" dirty="0" err="1">
                <a:latin typeface="+mj-lt"/>
              </a:rPr>
              <a:t>gian</a:t>
            </a:r>
            <a:r>
              <a:rPr lang="en-US" dirty="0">
                <a:latin typeface="+mj-lt"/>
              </a:rPr>
              <a:t> </a:t>
            </a:r>
            <a:r>
              <a:rPr lang="en-US" b="1" dirty="0" err="1">
                <a:latin typeface="+mj-lt"/>
              </a:rPr>
              <a:t>từ</a:t>
            </a:r>
            <a:r>
              <a:rPr lang="en-US" b="1" dirty="0">
                <a:latin typeface="+mj-lt"/>
              </a:rPr>
              <a:t> </a:t>
            </a:r>
            <a:r>
              <a:rPr lang="en-US" b="1" dirty="0" err="1">
                <a:latin typeface="+mj-lt"/>
              </a:rPr>
              <a:t>ngày</a:t>
            </a:r>
            <a:r>
              <a:rPr lang="en-US" b="1" dirty="0">
                <a:latin typeface="+mj-lt"/>
              </a:rPr>
              <a:t> </a:t>
            </a:r>
            <a:r>
              <a:rPr lang="en-US" b="1" dirty="0" err="1">
                <a:latin typeface="+mj-lt"/>
              </a:rPr>
              <a:t>Thông</a:t>
            </a:r>
            <a:r>
              <a:rPr lang="en-US" b="1" dirty="0">
                <a:latin typeface="+mj-lt"/>
              </a:rPr>
              <a:t> </a:t>
            </a:r>
            <a:r>
              <a:rPr lang="en-US" b="1" dirty="0" err="1">
                <a:latin typeface="+mj-lt"/>
              </a:rPr>
              <a:t>tư</a:t>
            </a:r>
            <a:r>
              <a:rPr lang="en-US" b="1" dirty="0">
                <a:latin typeface="+mj-lt"/>
              </a:rPr>
              <a:t> </a:t>
            </a:r>
            <a:r>
              <a:rPr lang="en-US" b="1" dirty="0" err="1">
                <a:latin typeface="+mj-lt"/>
              </a:rPr>
              <a:t>số</a:t>
            </a:r>
            <a:r>
              <a:rPr lang="en-US" b="1" dirty="0">
                <a:latin typeface="+mj-lt"/>
              </a:rPr>
              <a:t> 78/2021/TT-BTC </a:t>
            </a:r>
            <a:r>
              <a:rPr lang="en-US" b="1" dirty="0" err="1">
                <a:latin typeface="+mj-lt"/>
              </a:rPr>
              <a:t>được</a:t>
            </a:r>
            <a:r>
              <a:rPr lang="en-US" b="1" dirty="0">
                <a:latin typeface="+mj-lt"/>
              </a:rPr>
              <a:t> ban </a:t>
            </a:r>
            <a:r>
              <a:rPr lang="en-US" b="1" dirty="0" err="1">
                <a:latin typeface="+mj-lt"/>
              </a:rPr>
              <a:t>hành</a:t>
            </a:r>
            <a:r>
              <a:rPr lang="en-US" b="1" dirty="0">
                <a:latin typeface="+mj-lt"/>
              </a:rPr>
              <a:t> </a:t>
            </a:r>
            <a:r>
              <a:rPr lang="en-US" b="1" dirty="0" err="1">
                <a:latin typeface="+mj-lt"/>
              </a:rPr>
              <a:t>đến</a:t>
            </a:r>
            <a:r>
              <a:rPr lang="en-US" b="1" dirty="0">
                <a:latin typeface="+mj-lt"/>
              </a:rPr>
              <a:t> </a:t>
            </a:r>
            <a:r>
              <a:rPr lang="en-US" b="1" dirty="0" err="1">
                <a:latin typeface="+mj-lt"/>
              </a:rPr>
              <a:t>hết</a:t>
            </a:r>
            <a:r>
              <a:rPr lang="en-US" b="1" dirty="0">
                <a:latin typeface="+mj-lt"/>
              </a:rPr>
              <a:t> </a:t>
            </a:r>
            <a:r>
              <a:rPr lang="en-US" b="1" dirty="0" err="1">
                <a:latin typeface="+mj-lt"/>
              </a:rPr>
              <a:t>ngày</a:t>
            </a:r>
            <a:r>
              <a:rPr lang="en-US" b="1" dirty="0">
                <a:latin typeface="+mj-lt"/>
              </a:rPr>
              <a:t> 30 </a:t>
            </a:r>
            <a:r>
              <a:rPr lang="en-US" b="1" dirty="0" err="1">
                <a:latin typeface="+mj-lt"/>
              </a:rPr>
              <a:t>tháng</a:t>
            </a:r>
            <a:r>
              <a:rPr lang="en-US" b="1" dirty="0">
                <a:latin typeface="+mj-lt"/>
              </a:rPr>
              <a:t> 6 </a:t>
            </a:r>
            <a:r>
              <a:rPr lang="en-US" b="1" dirty="0" err="1">
                <a:latin typeface="+mj-lt"/>
              </a:rPr>
              <a:t>năm</a:t>
            </a:r>
            <a:r>
              <a:rPr lang="en-US" b="1" dirty="0">
                <a:latin typeface="+mj-lt"/>
              </a:rPr>
              <a:t> 2022</a:t>
            </a:r>
            <a:r>
              <a:rPr lang="en-US" dirty="0">
                <a:latin typeface="+mj-lt"/>
              </a:rPr>
              <a:t>, </a:t>
            </a:r>
            <a:r>
              <a:rPr lang="en-US" dirty="0" err="1">
                <a:latin typeface="+mj-lt"/>
              </a:rPr>
              <a:t>trường</a:t>
            </a:r>
            <a:r>
              <a:rPr lang="en-US" dirty="0">
                <a:latin typeface="+mj-lt"/>
              </a:rPr>
              <a:t> </a:t>
            </a:r>
            <a:r>
              <a:rPr lang="en-US" dirty="0" err="1">
                <a:latin typeface="+mj-lt"/>
              </a:rPr>
              <a:t>hợp</a:t>
            </a:r>
            <a:r>
              <a:rPr lang="en-US" dirty="0">
                <a:latin typeface="+mj-lt"/>
              </a:rPr>
              <a:t> </a:t>
            </a:r>
            <a:r>
              <a:rPr lang="en-US" dirty="0" err="1">
                <a:latin typeface="+mj-lt"/>
              </a:rPr>
              <a:t>cơ</a:t>
            </a:r>
            <a:r>
              <a:rPr lang="en-US" dirty="0">
                <a:latin typeface="+mj-lt"/>
              </a:rPr>
              <a:t> </a:t>
            </a:r>
            <a:r>
              <a:rPr lang="en-US" dirty="0" err="1">
                <a:latin typeface="+mj-lt"/>
              </a:rPr>
              <a:t>quan</a:t>
            </a:r>
            <a:r>
              <a:rPr lang="en-US" dirty="0">
                <a:latin typeface="+mj-lt"/>
              </a:rPr>
              <a:t> </a:t>
            </a:r>
            <a:r>
              <a:rPr lang="en-US" dirty="0" err="1">
                <a:latin typeface="+mj-lt"/>
              </a:rPr>
              <a:t>thuế</a:t>
            </a:r>
            <a:r>
              <a:rPr lang="en-US" dirty="0">
                <a:latin typeface="+mj-lt"/>
              </a:rPr>
              <a:t> </a:t>
            </a:r>
            <a:r>
              <a:rPr lang="en-US" dirty="0" err="1">
                <a:latin typeface="+mj-lt"/>
              </a:rPr>
              <a:t>thông</a:t>
            </a:r>
            <a:r>
              <a:rPr lang="en-US" dirty="0">
                <a:latin typeface="+mj-lt"/>
              </a:rPr>
              <a:t> </a:t>
            </a:r>
            <a:r>
              <a:rPr lang="en-US" dirty="0" err="1">
                <a:latin typeface="+mj-lt"/>
              </a:rPr>
              <a:t>báo</a:t>
            </a:r>
            <a:r>
              <a:rPr lang="en-US" dirty="0">
                <a:latin typeface="+mj-lt"/>
              </a:rPr>
              <a:t> </a:t>
            </a:r>
            <a:r>
              <a:rPr lang="en-US" dirty="0" err="1">
                <a:latin typeface="+mj-lt"/>
              </a:rPr>
              <a:t>cơ</a:t>
            </a:r>
            <a:r>
              <a:rPr lang="en-US" dirty="0">
                <a:latin typeface="+mj-lt"/>
              </a:rPr>
              <a:t> </a:t>
            </a:r>
            <a:r>
              <a:rPr lang="en-US" dirty="0" err="1">
                <a:latin typeface="+mj-lt"/>
              </a:rPr>
              <a:t>sở</a:t>
            </a:r>
            <a:r>
              <a:rPr lang="en-US" dirty="0">
                <a:latin typeface="+mj-lt"/>
              </a:rPr>
              <a:t> </a:t>
            </a:r>
            <a:r>
              <a:rPr lang="en-US" dirty="0" err="1">
                <a:latin typeface="+mj-lt"/>
              </a:rPr>
              <a:t>kinh</a:t>
            </a:r>
            <a:r>
              <a:rPr lang="en-US" dirty="0">
                <a:latin typeface="+mj-lt"/>
              </a:rPr>
              <a:t> </a:t>
            </a:r>
            <a:r>
              <a:rPr lang="en-US" dirty="0" err="1">
                <a:latin typeface="+mj-lt"/>
              </a:rPr>
              <a:t>doanh</a:t>
            </a:r>
            <a:r>
              <a:rPr lang="en-US" dirty="0">
                <a:latin typeface="+mj-lt"/>
              </a:rPr>
              <a:t> </a:t>
            </a:r>
            <a:r>
              <a:rPr lang="en-US" dirty="0" err="1">
                <a:latin typeface="+mj-lt"/>
              </a:rPr>
              <a:t>thực</a:t>
            </a:r>
            <a:r>
              <a:rPr lang="en-US" dirty="0">
                <a:latin typeface="+mj-lt"/>
              </a:rPr>
              <a:t> </a:t>
            </a:r>
            <a:r>
              <a:rPr lang="en-US" dirty="0" err="1">
                <a:latin typeface="+mj-lt"/>
              </a:rPr>
              <a:t>hiện</a:t>
            </a:r>
            <a:r>
              <a:rPr lang="en-US" dirty="0">
                <a:latin typeface="+mj-lt"/>
              </a:rPr>
              <a:t> </a:t>
            </a:r>
            <a:r>
              <a:rPr lang="en-US" dirty="0" err="1">
                <a:latin typeface="+mj-lt"/>
              </a:rPr>
              <a:t>áp</a:t>
            </a:r>
            <a:r>
              <a:rPr lang="en-US" dirty="0">
                <a:latin typeface="+mj-lt"/>
              </a:rPr>
              <a:t> </a:t>
            </a:r>
            <a:r>
              <a:rPr lang="en-US" dirty="0" err="1">
                <a:latin typeface="+mj-lt"/>
              </a:rPr>
              <a:t>dụng</a:t>
            </a:r>
            <a:r>
              <a:rPr lang="en-US" dirty="0">
                <a:latin typeface="+mj-lt"/>
              </a:rPr>
              <a:t> </a:t>
            </a:r>
            <a:r>
              <a:rPr lang="en-US" dirty="0" err="1">
                <a:latin typeface="+mj-lt"/>
              </a:rPr>
              <a:t>hóa</a:t>
            </a:r>
            <a:r>
              <a:rPr lang="en-US" dirty="0">
                <a:latin typeface="+mj-lt"/>
              </a:rPr>
              <a:t> </a:t>
            </a:r>
            <a:r>
              <a:rPr lang="en-US" dirty="0" err="1">
                <a:latin typeface="+mj-lt"/>
              </a:rPr>
              <a:t>đơn</a:t>
            </a:r>
            <a:r>
              <a:rPr lang="en-US" dirty="0">
                <a:latin typeface="+mj-lt"/>
              </a:rPr>
              <a:t> </a:t>
            </a:r>
            <a:r>
              <a:rPr lang="en-US" dirty="0" err="1">
                <a:latin typeface="+mj-lt"/>
              </a:rPr>
              <a:t>điện</a:t>
            </a:r>
            <a:r>
              <a:rPr lang="en-US" dirty="0">
                <a:latin typeface="+mj-lt"/>
              </a:rPr>
              <a:t> </a:t>
            </a:r>
            <a:r>
              <a:rPr lang="en-US" dirty="0" err="1">
                <a:latin typeface="+mj-lt"/>
              </a:rPr>
              <a:t>tử</a:t>
            </a:r>
            <a:r>
              <a:rPr lang="en-US" dirty="0">
                <a:latin typeface="+mj-lt"/>
              </a:rPr>
              <a:t> </a:t>
            </a:r>
            <a:r>
              <a:rPr lang="en-US" dirty="0" err="1">
                <a:latin typeface="+mj-lt"/>
              </a:rPr>
              <a:t>theo</a:t>
            </a:r>
            <a:r>
              <a:rPr lang="en-US" dirty="0">
                <a:latin typeface="+mj-lt"/>
              </a:rPr>
              <a:t> </a:t>
            </a:r>
            <a:r>
              <a:rPr lang="en-US" dirty="0" err="1">
                <a:latin typeface="+mj-lt"/>
              </a:rPr>
              <a:t>quy</a:t>
            </a:r>
            <a:r>
              <a:rPr lang="en-US" dirty="0">
                <a:latin typeface="+mj-lt"/>
              </a:rPr>
              <a:t> </a:t>
            </a:r>
            <a:r>
              <a:rPr lang="en-US" dirty="0" err="1">
                <a:latin typeface="+mj-lt"/>
              </a:rPr>
              <a:t>định</a:t>
            </a:r>
            <a:r>
              <a:rPr lang="en-US" dirty="0">
                <a:latin typeface="+mj-lt"/>
              </a:rPr>
              <a:t> </a:t>
            </a:r>
            <a:r>
              <a:rPr lang="en-US" dirty="0" err="1">
                <a:latin typeface="+mj-lt"/>
              </a:rPr>
              <a:t>tại</a:t>
            </a:r>
            <a:r>
              <a:rPr lang="en-US" dirty="0">
                <a:latin typeface="+mj-lt"/>
              </a:rPr>
              <a:t> </a:t>
            </a:r>
            <a:r>
              <a:rPr lang="en-US" dirty="0" err="1">
                <a:latin typeface="+mj-lt"/>
              </a:rPr>
              <a:t>Nghị</a:t>
            </a:r>
            <a:r>
              <a:rPr lang="en-US" dirty="0">
                <a:latin typeface="+mj-lt"/>
              </a:rPr>
              <a:t> </a:t>
            </a:r>
            <a:r>
              <a:rPr lang="en-US" dirty="0" err="1">
                <a:latin typeface="+mj-lt"/>
              </a:rPr>
              <a:t>định</a:t>
            </a:r>
            <a:r>
              <a:rPr lang="en-US" dirty="0">
                <a:latin typeface="+mj-lt"/>
              </a:rPr>
              <a:t> </a:t>
            </a:r>
            <a:r>
              <a:rPr lang="en-US" dirty="0" err="1">
                <a:latin typeface="+mj-lt"/>
              </a:rPr>
              <a:t>số</a:t>
            </a:r>
            <a:r>
              <a:rPr lang="en-US" dirty="0">
                <a:latin typeface="+mj-lt"/>
              </a:rPr>
              <a:t> 123/2020/NĐ-CP, </a:t>
            </a:r>
            <a:r>
              <a:rPr lang="en-US" dirty="0" err="1">
                <a:latin typeface="+mj-lt"/>
              </a:rPr>
              <a:t>Nghị</a:t>
            </a:r>
            <a:r>
              <a:rPr lang="en-US" dirty="0">
                <a:latin typeface="+mj-lt"/>
              </a:rPr>
              <a:t> </a:t>
            </a:r>
            <a:r>
              <a:rPr lang="en-US" dirty="0" err="1">
                <a:latin typeface="+mj-lt"/>
              </a:rPr>
              <a:t>định</a:t>
            </a:r>
            <a:r>
              <a:rPr lang="en-US" dirty="0">
                <a:latin typeface="+mj-lt"/>
              </a:rPr>
              <a:t> </a:t>
            </a:r>
            <a:r>
              <a:rPr lang="en-US" dirty="0" err="1">
                <a:latin typeface="+mj-lt"/>
              </a:rPr>
              <a:t>số</a:t>
            </a:r>
            <a:r>
              <a:rPr lang="en-US" dirty="0">
                <a:latin typeface="+mj-lt"/>
              </a:rPr>
              <a:t> 119/2018/NĐ-CP </a:t>
            </a:r>
            <a:r>
              <a:rPr lang="en-US" dirty="0" err="1">
                <a:latin typeface="+mj-lt"/>
              </a:rPr>
              <a:t>ngày</a:t>
            </a:r>
            <a:r>
              <a:rPr lang="en-US" dirty="0">
                <a:latin typeface="+mj-lt"/>
              </a:rPr>
              <a:t> 12/9/2018, </a:t>
            </a:r>
            <a:r>
              <a:rPr lang="en-US" dirty="0" err="1">
                <a:latin typeface="+mj-lt"/>
              </a:rPr>
              <a:t>Thông</a:t>
            </a:r>
            <a:r>
              <a:rPr lang="en-US" dirty="0">
                <a:latin typeface="+mj-lt"/>
              </a:rPr>
              <a:t> </a:t>
            </a:r>
            <a:r>
              <a:rPr lang="en-US" dirty="0" err="1">
                <a:latin typeface="+mj-lt"/>
              </a:rPr>
              <a:t>tư</a:t>
            </a:r>
            <a:r>
              <a:rPr lang="en-US" dirty="0">
                <a:latin typeface="+mj-lt"/>
              </a:rPr>
              <a:t> </a:t>
            </a:r>
            <a:r>
              <a:rPr lang="en-US" dirty="0" err="1">
                <a:latin typeface="+mj-lt"/>
              </a:rPr>
              <a:t>số</a:t>
            </a:r>
            <a:r>
              <a:rPr lang="en-US" dirty="0">
                <a:latin typeface="+mj-lt"/>
              </a:rPr>
              <a:t> 68/2019/TT-BTC </a:t>
            </a:r>
            <a:r>
              <a:rPr lang="en-US" dirty="0" err="1">
                <a:latin typeface="+mj-lt"/>
              </a:rPr>
              <a:t>và</a:t>
            </a:r>
            <a:r>
              <a:rPr lang="en-US" dirty="0">
                <a:latin typeface="+mj-lt"/>
              </a:rPr>
              <a:t> </a:t>
            </a:r>
            <a:r>
              <a:rPr lang="en-US" dirty="0" err="1">
                <a:latin typeface="+mj-lt"/>
              </a:rPr>
              <a:t>Thông</a:t>
            </a:r>
            <a:r>
              <a:rPr lang="en-US" dirty="0">
                <a:latin typeface="+mj-lt"/>
              </a:rPr>
              <a:t> </a:t>
            </a:r>
            <a:r>
              <a:rPr lang="en-US" dirty="0" err="1">
                <a:latin typeface="+mj-lt"/>
              </a:rPr>
              <a:t>tư</a:t>
            </a:r>
            <a:r>
              <a:rPr lang="en-US" dirty="0">
                <a:latin typeface="+mj-lt"/>
              </a:rPr>
              <a:t> </a:t>
            </a:r>
            <a:r>
              <a:rPr lang="en-US" dirty="0" err="1">
                <a:latin typeface="+mj-lt"/>
              </a:rPr>
              <a:t>số</a:t>
            </a:r>
            <a:r>
              <a:rPr lang="en-US" dirty="0">
                <a:latin typeface="+mj-lt"/>
              </a:rPr>
              <a:t> 78/2021/TT-BTC </a:t>
            </a:r>
            <a:r>
              <a:rPr lang="en-US" dirty="0" err="1">
                <a:latin typeface="+mj-lt"/>
              </a:rPr>
              <a:t>thì</a:t>
            </a:r>
            <a:r>
              <a:rPr lang="en-US" dirty="0">
                <a:latin typeface="+mj-lt"/>
              </a:rPr>
              <a:t> </a:t>
            </a:r>
            <a:r>
              <a:rPr lang="en-US" dirty="0" err="1">
                <a:latin typeface="+mj-lt"/>
              </a:rPr>
              <a:t>cơ</a:t>
            </a:r>
            <a:r>
              <a:rPr lang="en-US" dirty="0">
                <a:latin typeface="+mj-lt"/>
              </a:rPr>
              <a:t> </a:t>
            </a:r>
            <a:r>
              <a:rPr lang="en-US" dirty="0" err="1">
                <a:latin typeface="+mj-lt"/>
              </a:rPr>
              <a:t>sở</a:t>
            </a:r>
            <a:r>
              <a:rPr lang="en-US" dirty="0">
                <a:latin typeface="+mj-lt"/>
              </a:rPr>
              <a:t> </a:t>
            </a:r>
            <a:r>
              <a:rPr lang="en-US" dirty="0" err="1">
                <a:latin typeface="+mj-lt"/>
              </a:rPr>
              <a:t>kinh</a:t>
            </a:r>
            <a:r>
              <a:rPr lang="en-US" dirty="0">
                <a:latin typeface="+mj-lt"/>
              </a:rPr>
              <a:t> </a:t>
            </a:r>
            <a:r>
              <a:rPr lang="en-US" dirty="0" err="1">
                <a:latin typeface="+mj-lt"/>
              </a:rPr>
              <a:t>doanh</a:t>
            </a:r>
            <a:r>
              <a:rPr lang="en-US" dirty="0">
                <a:latin typeface="+mj-lt"/>
              </a:rPr>
              <a:t> </a:t>
            </a:r>
            <a:r>
              <a:rPr lang="en-US" dirty="0" err="1">
                <a:latin typeface="+mj-lt"/>
              </a:rPr>
              <a:t>thực</a:t>
            </a:r>
            <a:r>
              <a:rPr lang="en-US" dirty="0">
                <a:latin typeface="+mj-lt"/>
              </a:rPr>
              <a:t> </a:t>
            </a:r>
            <a:r>
              <a:rPr lang="en-US" dirty="0" err="1">
                <a:latin typeface="+mj-lt"/>
              </a:rPr>
              <a:t>hiện</a:t>
            </a:r>
            <a:r>
              <a:rPr lang="en-US" dirty="0">
                <a:latin typeface="+mj-lt"/>
              </a:rPr>
              <a:t> </a:t>
            </a:r>
            <a:r>
              <a:rPr lang="en-US" dirty="0" err="1">
                <a:latin typeface="+mj-lt"/>
              </a:rPr>
              <a:t>theo</a:t>
            </a:r>
            <a:r>
              <a:rPr lang="en-US" dirty="0">
                <a:latin typeface="+mj-lt"/>
              </a:rPr>
              <a:t> </a:t>
            </a:r>
            <a:r>
              <a:rPr lang="en-US" dirty="0" err="1">
                <a:latin typeface="+mj-lt"/>
              </a:rPr>
              <a:t>hướng</a:t>
            </a:r>
            <a:r>
              <a:rPr lang="en-US" dirty="0">
                <a:latin typeface="+mj-lt"/>
              </a:rPr>
              <a:t> </a:t>
            </a:r>
            <a:r>
              <a:rPr lang="en-US" dirty="0" err="1">
                <a:latin typeface="+mj-lt"/>
              </a:rPr>
              <a:t>dẫn</a:t>
            </a:r>
            <a:r>
              <a:rPr lang="en-US" dirty="0">
                <a:latin typeface="+mj-lt"/>
              </a:rPr>
              <a:t> </a:t>
            </a:r>
            <a:r>
              <a:rPr lang="en-US" dirty="0" err="1">
                <a:latin typeface="+mj-lt"/>
              </a:rPr>
              <a:t>của</a:t>
            </a:r>
            <a:r>
              <a:rPr lang="en-US" dirty="0">
                <a:latin typeface="+mj-lt"/>
              </a:rPr>
              <a:t> </a:t>
            </a:r>
            <a:r>
              <a:rPr lang="en-US" dirty="0" err="1">
                <a:latin typeface="+mj-lt"/>
              </a:rPr>
              <a:t>cơ</a:t>
            </a:r>
            <a:r>
              <a:rPr lang="en-US" dirty="0">
                <a:latin typeface="+mj-lt"/>
              </a:rPr>
              <a:t> </a:t>
            </a:r>
            <a:r>
              <a:rPr lang="en-US" dirty="0" err="1">
                <a:latin typeface="+mj-lt"/>
              </a:rPr>
              <a:t>quan</a:t>
            </a:r>
            <a:r>
              <a:rPr lang="en-US" dirty="0">
                <a:latin typeface="+mj-lt"/>
              </a:rPr>
              <a:t> </a:t>
            </a:r>
            <a:r>
              <a:rPr lang="en-US" dirty="0" err="1">
                <a:latin typeface="+mj-lt"/>
              </a:rPr>
              <a:t>thuế</a:t>
            </a:r>
            <a:r>
              <a:rPr lang="en-US" dirty="0">
                <a:latin typeface="+mj-lt"/>
              </a:rPr>
              <a:t>. </a:t>
            </a:r>
            <a:r>
              <a:rPr lang="en-US" dirty="0" err="1">
                <a:latin typeface="+mj-lt"/>
              </a:rPr>
              <a:t>Trường</a:t>
            </a:r>
            <a:r>
              <a:rPr lang="en-US" dirty="0">
                <a:latin typeface="+mj-lt"/>
              </a:rPr>
              <a:t> </a:t>
            </a:r>
            <a:r>
              <a:rPr lang="en-US" dirty="0" err="1">
                <a:latin typeface="+mj-lt"/>
              </a:rPr>
              <a:t>hợp</a:t>
            </a:r>
            <a:r>
              <a:rPr lang="en-US" dirty="0">
                <a:latin typeface="+mj-lt"/>
              </a:rPr>
              <a:t> </a:t>
            </a:r>
            <a:r>
              <a:rPr lang="en-US" dirty="0" err="1">
                <a:latin typeface="+mj-lt"/>
              </a:rPr>
              <a:t>chưa</a:t>
            </a:r>
            <a:r>
              <a:rPr lang="en-US" dirty="0">
                <a:latin typeface="+mj-lt"/>
              </a:rPr>
              <a:t> </a:t>
            </a:r>
            <a:r>
              <a:rPr lang="en-US" dirty="0" err="1">
                <a:latin typeface="+mj-lt"/>
              </a:rPr>
              <a:t>đáp</a:t>
            </a:r>
            <a:r>
              <a:rPr lang="en-US" dirty="0">
                <a:latin typeface="+mj-lt"/>
              </a:rPr>
              <a:t> </a:t>
            </a:r>
            <a:r>
              <a:rPr lang="en-US" dirty="0" err="1">
                <a:latin typeface="+mj-lt"/>
              </a:rPr>
              <a:t>ứng</a:t>
            </a:r>
            <a:r>
              <a:rPr lang="en-US" dirty="0">
                <a:latin typeface="+mj-lt"/>
              </a:rPr>
              <a:t> </a:t>
            </a:r>
            <a:r>
              <a:rPr lang="en-US" dirty="0" err="1">
                <a:latin typeface="+mj-lt"/>
              </a:rPr>
              <a:t>điều</a:t>
            </a:r>
            <a:r>
              <a:rPr lang="en-US" dirty="0">
                <a:latin typeface="+mj-lt"/>
              </a:rPr>
              <a:t> </a:t>
            </a:r>
            <a:r>
              <a:rPr lang="en-US" dirty="0" err="1">
                <a:latin typeface="+mj-lt"/>
              </a:rPr>
              <a:t>kiện</a:t>
            </a:r>
            <a:r>
              <a:rPr lang="en-US" dirty="0">
                <a:latin typeface="+mj-lt"/>
              </a:rPr>
              <a:t> </a:t>
            </a:r>
            <a:r>
              <a:rPr lang="en-US" dirty="0" err="1">
                <a:latin typeface="+mj-lt"/>
              </a:rPr>
              <a:t>về</a:t>
            </a:r>
            <a:r>
              <a:rPr lang="en-US" dirty="0">
                <a:latin typeface="+mj-lt"/>
              </a:rPr>
              <a:t> </a:t>
            </a:r>
            <a:r>
              <a:rPr lang="en-US" dirty="0" err="1">
                <a:latin typeface="+mj-lt"/>
              </a:rPr>
              <a:t>hạ</a:t>
            </a:r>
            <a:r>
              <a:rPr lang="en-US" dirty="0">
                <a:latin typeface="+mj-lt"/>
              </a:rPr>
              <a:t> </a:t>
            </a:r>
            <a:r>
              <a:rPr lang="en-US" dirty="0" err="1">
                <a:latin typeface="+mj-lt"/>
              </a:rPr>
              <a:t>tầng</a:t>
            </a:r>
            <a:r>
              <a:rPr lang="en-US" dirty="0">
                <a:latin typeface="+mj-lt"/>
              </a:rPr>
              <a:t> </a:t>
            </a:r>
            <a:r>
              <a:rPr lang="en-US" dirty="0" err="1">
                <a:latin typeface="+mj-lt"/>
              </a:rPr>
              <a:t>công</a:t>
            </a:r>
            <a:r>
              <a:rPr lang="en-US" dirty="0">
                <a:latin typeface="+mj-lt"/>
              </a:rPr>
              <a:t> </a:t>
            </a:r>
            <a:r>
              <a:rPr lang="en-US" dirty="0" err="1">
                <a:latin typeface="+mj-lt"/>
              </a:rPr>
              <a:t>nghệ</a:t>
            </a:r>
            <a:r>
              <a:rPr lang="en-US" dirty="0">
                <a:latin typeface="+mj-lt"/>
              </a:rPr>
              <a:t> </a:t>
            </a:r>
            <a:r>
              <a:rPr lang="en-US" dirty="0" err="1">
                <a:latin typeface="+mj-lt"/>
              </a:rPr>
              <a:t>thông</a:t>
            </a:r>
            <a:r>
              <a:rPr lang="en-US" dirty="0">
                <a:latin typeface="+mj-lt"/>
              </a:rPr>
              <a:t> tin </a:t>
            </a:r>
            <a:r>
              <a:rPr lang="en-US" dirty="0" err="1">
                <a:latin typeface="+mj-lt"/>
              </a:rPr>
              <a:t>mà</a:t>
            </a:r>
            <a:r>
              <a:rPr lang="en-US" dirty="0">
                <a:latin typeface="+mj-lt"/>
              </a:rPr>
              <a:t> </a:t>
            </a:r>
            <a:r>
              <a:rPr lang="en-US" dirty="0" err="1">
                <a:latin typeface="+mj-lt"/>
              </a:rPr>
              <a:t>tiếp</a:t>
            </a:r>
            <a:r>
              <a:rPr lang="en-US" dirty="0">
                <a:latin typeface="+mj-lt"/>
              </a:rPr>
              <a:t> </a:t>
            </a:r>
            <a:r>
              <a:rPr lang="en-US" dirty="0" err="1">
                <a:latin typeface="+mj-lt"/>
              </a:rPr>
              <a:t>tục</a:t>
            </a:r>
            <a:r>
              <a:rPr lang="en-US" dirty="0">
                <a:latin typeface="+mj-lt"/>
              </a:rPr>
              <a:t> </a:t>
            </a:r>
            <a:r>
              <a:rPr lang="en-US" dirty="0" err="1">
                <a:latin typeface="+mj-lt"/>
              </a:rPr>
              <a:t>sử</a:t>
            </a:r>
            <a:r>
              <a:rPr lang="en-US" dirty="0">
                <a:latin typeface="+mj-lt"/>
              </a:rPr>
              <a:t> </a:t>
            </a:r>
            <a:r>
              <a:rPr lang="en-US" dirty="0" err="1">
                <a:latin typeface="+mj-lt"/>
              </a:rPr>
              <a:t>dụng</a:t>
            </a:r>
            <a:r>
              <a:rPr lang="en-US" dirty="0">
                <a:latin typeface="+mj-lt"/>
              </a:rPr>
              <a:t> </a:t>
            </a:r>
            <a:r>
              <a:rPr lang="en-US" dirty="0" err="1">
                <a:latin typeface="+mj-lt"/>
              </a:rPr>
              <a:t>hóa</a:t>
            </a:r>
            <a:r>
              <a:rPr lang="en-US" dirty="0">
                <a:latin typeface="+mj-lt"/>
              </a:rPr>
              <a:t> </a:t>
            </a:r>
            <a:r>
              <a:rPr lang="en-US" dirty="0" err="1">
                <a:latin typeface="+mj-lt"/>
              </a:rPr>
              <a:t>đơn</a:t>
            </a:r>
            <a:r>
              <a:rPr lang="en-US" dirty="0">
                <a:latin typeface="+mj-lt"/>
              </a:rPr>
              <a:t> </a:t>
            </a:r>
            <a:r>
              <a:rPr lang="en-US" dirty="0" err="1">
                <a:latin typeface="+mj-lt"/>
              </a:rPr>
              <a:t>theo</a:t>
            </a:r>
            <a:r>
              <a:rPr lang="en-US" dirty="0">
                <a:latin typeface="+mj-lt"/>
              </a:rPr>
              <a:t> </a:t>
            </a:r>
            <a:r>
              <a:rPr lang="en-US" dirty="0" err="1">
                <a:latin typeface="+mj-lt"/>
              </a:rPr>
              <a:t>quy</a:t>
            </a:r>
            <a:r>
              <a:rPr lang="en-US" dirty="0">
                <a:latin typeface="+mj-lt"/>
              </a:rPr>
              <a:t> </a:t>
            </a:r>
            <a:r>
              <a:rPr lang="en-US" dirty="0" err="1">
                <a:latin typeface="+mj-lt"/>
              </a:rPr>
              <a:t>định</a:t>
            </a:r>
            <a:r>
              <a:rPr lang="en-US" dirty="0">
                <a:latin typeface="+mj-lt"/>
              </a:rPr>
              <a:t> </a:t>
            </a:r>
            <a:r>
              <a:rPr lang="en-US" dirty="0" err="1">
                <a:latin typeface="+mj-lt"/>
              </a:rPr>
              <a:t>tại</a:t>
            </a:r>
            <a:r>
              <a:rPr lang="en-US" dirty="0">
                <a:latin typeface="+mj-lt"/>
              </a:rPr>
              <a:t>  </a:t>
            </a:r>
            <a:r>
              <a:rPr lang="en-US" dirty="0" err="1">
                <a:latin typeface="+mj-lt"/>
              </a:rPr>
              <a:t>Nghị</a:t>
            </a:r>
            <a:r>
              <a:rPr lang="en-US" dirty="0">
                <a:latin typeface="+mj-lt"/>
              </a:rPr>
              <a:t> </a:t>
            </a:r>
            <a:r>
              <a:rPr lang="en-US" dirty="0" err="1">
                <a:latin typeface="+mj-lt"/>
              </a:rPr>
              <a:t>định</a:t>
            </a:r>
            <a:r>
              <a:rPr lang="en-US" dirty="0">
                <a:latin typeface="+mj-lt"/>
              </a:rPr>
              <a:t> </a:t>
            </a:r>
            <a:r>
              <a:rPr lang="en-US" dirty="0" err="1">
                <a:latin typeface="+mj-lt"/>
              </a:rPr>
              <a:t>số</a:t>
            </a:r>
            <a:r>
              <a:rPr lang="en-US" dirty="0">
                <a:latin typeface="+mj-lt"/>
              </a:rPr>
              <a:t> 51/2010/NĐ-CP </a:t>
            </a:r>
            <a:r>
              <a:rPr lang="en-US" dirty="0" err="1">
                <a:latin typeface="+mj-lt"/>
              </a:rPr>
              <a:t>ngày</a:t>
            </a:r>
            <a:r>
              <a:rPr lang="en-US" dirty="0">
                <a:latin typeface="+mj-lt"/>
              </a:rPr>
              <a:t> 14/5/2010 </a:t>
            </a:r>
            <a:r>
              <a:rPr lang="en-US" dirty="0" err="1">
                <a:latin typeface="+mj-lt"/>
              </a:rPr>
              <a:t>và</a:t>
            </a:r>
            <a:r>
              <a:rPr lang="en-US" dirty="0">
                <a:latin typeface="+mj-lt"/>
              </a:rPr>
              <a:t> </a:t>
            </a:r>
            <a:r>
              <a:rPr lang="en-US" dirty="0" err="1">
                <a:latin typeface="+mj-lt"/>
              </a:rPr>
              <a:t>Nghị</a:t>
            </a:r>
            <a:r>
              <a:rPr lang="en-US" dirty="0">
                <a:latin typeface="+mj-lt"/>
              </a:rPr>
              <a:t> </a:t>
            </a:r>
            <a:r>
              <a:rPr lang="en-US" dirty="0" err="1">
                <a:latin typeface="+mj-lt"/>
              </a:rPr>
              <a:t>định</a:t>
            </a:r>
            <a:r>
              <a:rPr lang="en-US" dirty="0">
                <a:latin typeface="+mj-lt"/>
              </a:rPr>
              <a:t> </a:t>
            </a:r>
            <a:r>
              <a:rPr lang="en-US" dirty="0" err="1">
                <a:latin typeface="+mj-lt"/>
              </a:rPr>
              <a:t>số</a:t>
            </a:r>
            <a:r>
              <a:rPr lang="en-US" dirty="0">
                <a:latin typeface="+mj-lt"/>
              </a:rPr>
              <a:t> 04/2014/NĐ-CP </a:t>
            </a:r>
            <a:r>
              <a:rPr lang="en-US" dirty="0" err="1">
                <a:latin typeface="+mj-lt"/>
              </a:rPr>
              <a:t>ngày</a:t>
            </a:r>
            <a:r>
              <a:rPr lang="en-US" dirty="0">
                <a:latin typeface="+mj-lt"/>
              </a:rPr>
              <a:t> 17/01/2014 </a:t>
            </a:r>
            <a:r>
              <a:rPr lang="en-US" dirty="0" err="1">
                <a:latin typeface="+mj-lt"/>
              </a:rPr>
              <a:t>của</a:t>
            </a:r>
            <a:r>
              <a:rPr lang="en-US" dirty="0">
                <a:latin typeface="+mj-lt"/>
              </a:rPr>
              <a:t> </a:t>
            </a:r>
            <a:r>
              <a:rPr lang="en-US" dirty="0" err="1">
                <a:latin typeface="+mj-lt"/>
              </a:rPr>
              <a:t>Chính</a:t>
            </a:r>
            <a:r>
              <a:rPr lang="en-US" dirty="0">
                <a:latin typeface="+mj-lt"/>
              </a:rPr>
              <a:t> </a:t>
            </a:r>
            <a:r>
              <a:rPr lang="en-US" dirty="0" err="1">
                <a:latin typeface="+mj-lt"/>
              </a:rPr>
              <a:t>phủ</a:t>
            </a:r>
            <a:r>
              <a:rPr lang="en-US" dirty="0">
                <a:latin typeface="+mj-lt"/>
              </a:rPr>
              <a:t> </a:t>
            </a:r>
            <a:r>
              <a:rPr lang="en-US" dirty="0" err="1">
                <a:latin typeface="+mj-lt"/>
              </a:rPr>
              <a:t>quy</a:t>
            </a:r>
            <a:r>
              <a:rPr lang="en-US" dirty="0">
                <a:latin typeface="+mj-lt"/>
              </a:rPr>
              <a:t> </a:t>
            </a:r>
            <a:r>
              <a:rPr lang="en-US" dirty="0" err="1">
                <a:latin typeface="+mj-lt"/>
              </a:rPr>
              <a:t>định</a:t>
            </a:r>
            <a:r>
              <a:rPr lang="en-US" dirty="0">
                <a:latin typeface="+mj-lt"/>
              </a:rPr>
              <a:t> </a:t>
            </a:r>
            <a:r>
              <a:rPr lang="en-US" dirty="0" err="1">
                <a:latin typeface="+mj-lt"/>
              </a:rPr>
              <a:t>về</a:t>
            </a:r>
            <a:r>
              <a:rPr lang="en-US" dirty="0">
                <a:latin typeface="+mj-lt"/>
              </a:rPr>
              <a:t> </a:t>
            </a:r>
            <a:r>
              <a:rPr lang="en-US" dirty="0" err="1">
                <a:latin typeface="+mj-lt"/>
              </a:rPr>
              <a:t>hóa</a:t>
            </a:r>
            <a:r>
              <a:rPr lang="en-US" dirty="0">
                <a:latin typeface="+mj-lt"/>
              </a:rPr>
              <a:t> </a:t>
            </a:r>
            <a:r>
              <a:rPr lang="en-US" dirty="0" err="1">
                <a:latin typeface="+mj-lt"/>
              </a:rPr>
              <a:t>đơn</a:t>
            </a:r>
            <a:r>
              <a:rPr lang="en-US" dirty="0">
                <a:latin typeface="+mj-lt"/>
              </a:rPr>
              <a:t> </a:t>
            </a:r>
            <a:r>
              <a:rPr lang="en-US" dirty="0" err="1">
                <a:latin typeface="+mj-lt"/>
              </a:rPr>
              <a:t>bán</a:t>
            </a:r>
            <a:r>
              <a:rPr lang="en-US" dirty="0">
                <a:latin typeface="+mj-lt"/>
              </a:rPr>
              <a:t> </a:t>
            </a:r>
            <a:r>
              <a:rPr lang="en-US" dirty="0" err="1">
                <a:latin typeface="+mj-lt"/>
              </a:rPr>
              <a:t>hàng</a:t>
            </a:r>
            <a:r>
              <a:rPr lang="en-US" dirty="0">
                <a:latin typeface="+mj-lt"/>
              </a:rPr>
              <a:t> </a:t>
            </a:r>
            <a:r>
              <a:rPr lang="en-US" dirty="0" err="1">
                <a:latin typeface="+mj-lt"/>
              </a:rPr>
              <a:t>hóa</a:t>
            </a:r>
            <a:r>
              <a:rPr lang="en-US" dirty="0">
                <a:latin typeface="+mj-lt"/>
              </a:rPr>
              <a:t>, </a:t>
            </a:r>
            <a:r>
              <a:rPr lang="en-US" dirty="0" err="1">
                <a:latin typeface="+mj-lt"/>
              </a:rPr>
              <a:t>cung</a:t>
            </a:r>
            <a:r>
              <a:rPr lang="en-US" dirty="0">
                <a:latin typeface="+mj-lt"/>
              </a:rPr>
              <a:t> </a:t>
            </a:r>
            <a:r>
              <a:rPr lang="en-US" dirty="0" err="1">
                <a:latin typeface="+mj-lt"/>
              </a:rPr>
              <a:t>ứng</a:t>
            </a:r>
            <a:r>
              <a:rPr lang="en-US" dirty="0">
                <a:latin typeface="+mj-lt"/>
              </a:rPr>
              <a:t> </a:t>
            </a:r>
            <a:r>
              <a:rPr lang="en-US" dirty="0" err="1">
                <a:latin typeface="+mj-lt"/>
              </a:rPr>
              <a:t>dịch</a:t>
            </a:r>
            <a:r>
              <a:rPr lang="en-US" dirty="0">
                <a:latin typeface="+mj-lt"/>
              </a:rPr>
              <a:t> </a:t>
            </a:r>
            <a:r>
              <a:rPr lang="en-US" dirty="0" err="1">
                <a:latin typeface="+mj-lt"/>
              </a:rPr>
              <a:t>vụ</a:t>
            </a:r>
            <a:r>
              <a:rPr lang="en-US" dirty="0">
                <a:latin typeface="+mj-lt"/>
              </a:rPr>
              <a:t> </a:t>
            </a:r>
            <a:r>
              <a:rPr lang="en-US" dirty="0" err="1">
                <a:latin typeface="+mj-lt"/>
              </a:rPr>
              <a:t>thì</a:t>
            </a:r>
            <a:r>
              <a:rPr lang="en-US" dirty="0">
                <a:latin typeface="+mj-lt"/>
              </a:rPr>
              <a:t> </a:t>
            </a:r>
            <a:r>
              <a:rPr lang="en-US" dirty="0" err="1">
                <a:latin typeface="+mj-lt"/>
              </a:rPr>
              <a:t>thực</a:t>
            </a:r>
            <a:r>
              <a:rPr lang="en-US" dirty="0">
                <a:latin typeface="+mj-lt"/>
              </a:rPr>
              <a:t> </a:t>
            </a:r>
            <a:r>
              <a:rPr lang="en-US" dirty="0" err="1">
                <a:latin typeface="+mj-lt"/>
              </a:rPr>
              <a:t>hiện</a:t>
            </a:r>
            <a:r>
              <a:rPr lang="en-US" dirty="0">
                <a:latin typeface="+mj-lt"/>
              </a:rPr>
              <a:t> </a:t>
            </a:r>
            <a:r>
              <a:rPr lang="en-US" dirty="0" err="1">
                <a:latin typeface="+mj-lt"/>
              </a:rPr>
              <a:t>như</a:t>
            </a:r>
            <a:r>
              <a:rPr lang="en-US" dirty="0">
                <a:latin typeface="+mj-lt"/>
              </a:rPr>
              <a:t> </a:t>
            </a:r>
            <a:r>
              <a:rPr lang="en-US" dirty="0" err="1">
                <a:latin typeface="+mj-lt"/>
              </a:rPr>
              <a:t>các</a:t>
            </a:r>
            <a:r>
              <a:rPr lang="en-US" dirty="0">
                <a:latin typeface="+mj-lt"/>
              </a:rPr>
              <a:t> </a:t>
            </a:r>
            <a:r>
              <a:rPr lang="en-US" dirty="0" err="1">
                <a:latin typeface="+mj-lt"/>
              </a:rPr>
              <a:t>cơ</a:t>
            </a:r>
            <a:r>
              <a:rPr lang="en-US" dirty="0">
                <a:latin typeface="+mj-lt"/>
              </a:rPr>
              <a:t> </a:t>
            </a:r>
            <a:r>
              <a:rPr lang="en-US" dirty="0" err="1">
                <a:latin typeface="+mj-lt"/>
              </a:rPr>
              <a:t>sở</a:t>
            </a:r>
            <a:r>
              <a:rPr lang="en-US" dirty="0">
                <a:latin typeface="+mj-lt"/>
              </a:rPr>
              <a:t> </a:t>
            </a:r>
            <a:r>
              <a:rPr lang="en-US" dirty="0" err="1">
                <a:latin typeface="+mj-lt"/>
              </a:rPr>
              <a:t>kinh</a:t>
            </a:r>
            <a:r>
              <a:rPr lang="en-US" dirty="0">
                <a:latin typeface="+mj-lt"/>
              </a:rPr>
              <a:t> </a:t>
            </a:r>
            <a:r>
              <a:rPr lang="en-US" dirty="0" err="1">
                <a:latin typeface="+mj-lt"/>
              </a:rPr>
              <a:t>doanh</a:t>
            </a:r>
            <a:r>
              <a:rPr lang="en-US" dirty="0">
                <a:latin typeface="+mj-lt"/>
              </a:rPr>
              <a:t> </a:t>
            </a:r>
            <a:r>
              <a:rPr lang="en-US" dirty="0" err="1">
                <a:latin typeface="+mj-lt"/>
              </a:rPr>
              <a:t>nêu</a:t>
            </a:r>
            <a:r>
              <a:rPr lang="en-US" dirty="0">
                <a:latin typeface="+mj-lt"/>
              </a:rPr>
              <a:t> </a:t>
            </a:r>
            <a:r>
              <a:rPr lang="en-US" dirty="0" err="1">
                <a:latin typeface="+mj-lt"/>
              </a:rPr>
              <a:t>tại</a:t>
            </a:r>
            <a:r>
              <a:rPr lang="en-US" dirty="0">
                <a:latin typeface="+mj-lt"/>
              </a:rPr>
              <a:t> </a:t>
            </a:r>
            <a:r>
              <a:rPr lang="en-US" dirty="0" err="1">
                <a:latin typeface="+mj-lt"/>
              </a:rPr>
              <a:t>khoản</a:t>
            </a:r>
            <a:r>
              <a:rPr lang="en-US" dirty="0">
                <a:latin typeface="+mj-lt"/>
              </a:rPr>
              <a:t> 1 </a:t>
            </a:r>
            <a:r>
              <a:rPr lang="en-US" dirty="0" err="1">
                <a:latin typeface="+mj-lt"/>
              </a:rPr>
              <a:t>Điều</a:t>
            </a:r>
            <a:r>
              <a:rPr lang="en-US" dirty="0">
                <a:latin typeface="+mj-lt"/>
              </a:rPr>
              <a:t> 12 </a:t>
            </a:r>
            <a:r>
              <a:rPr lang="nl-NL" dirty="0">
                <a:latin typeface="+mj-lt"/>
              </a:rPr>
              <a:t>Thông tư </a:t>
            </a:r>
            <a:r>
              <a:rPr lang="en-US" dirty="0" err="1">
                <a:latin typeface="+mj-lt"/>
              </a:rPr>
              <a:t>số</a:t>
            </a:r>
            <a:r>
              <a:rPr lang="en-US" dirty="0">
                <a:latin typeface="+mj-lt"/>
              </a:rPr>
              <a:t> 78/2021/TT-BTC.</a:t>
            </a:r>
          </a:p>
          <a:p>
            <a:pPr algn="just">
              <a:buFontTx/>
              <a:buChar char="-"/>
            </a:pPr>
            <a:r>
              <a:rPr lang="en-US" dirty="0">
                <a:latin typeface="+mj-lt"/>
              </a:rPr>
              <a:t>(</a:t>
            </a:r>
            <a:r>
              <a:rPr lang="en-US" i="1" dirty="0" err="1">
                <a:latin typeface="+mj-lt"/>
              </a:rPr>
              <a:t>Khoản</a:t>
            </a:r>
            <a:r>
              <a:rPr lang="en-US" i="1" dirty="0">
                <a:latin typeface="+mj-lt"/>
              </a:rPr>
              <a:t> 2 </a:t>
            </a:r>
            <a:r>
              <a:rPr lang="en-US" i="1" dirty="0" err="1">
                <a:latin typeface="+mj-lt"/>
              </a:rPr>
              <a:t>Điều</a:t>
            </a:r>
            <a:r>
              <a:rPr lang="en-US" i="1" dirty="0">
                <a:latin typeface="+mj-lt"/>
              </a:rPr>
              <a:t> 12 </a:t>
            </a:r>
            <a:r>
              <a:rPr lang="nl-NL" i="1" dirty="0">
                <a:latin typeface="+mj-lt"/>
              </a:rPr>
              <a:t>Thông tư </a:t>
            </a:r>
            <a:r>
              <a:rPr lang="en-US" i="1" dirty="0" err="1">
                <a:latin typeface="+mj-lt"/>
              </a:rPr>
              <a:t>số</a:t>
            </a:r>
            <a:r>
              <a:rPr lang="en-US" i="1" dirty="0">
                <a:latin typeface="+mj-lt"/>
              </a:rPr>
              <a:t> 78/2021/TT-BTC</a:t>
            </a:r>
            <a:r>
              <a:rPr lang="en-US" dirty="0">
                <a:latin typeface="+mj-lt"/>
              </a:rPr>
              <a:t>)</a:t>
            </a:r>
            <a:endParaRPr lang="vi-VN" dirty="0">
              <a:latin typeface="+mj-lt"/>
            </a:endParaRPr>
          </a:p>
          <a:p>
            <a:pPr algn="just">
              <a:buFontTx/>
              <a:buChar char="-"/>
            </a:pPr>
            <a:endParaRPr lang="vi-VN" sz="2000" dirty="0">
              <a:latin typeface="Cambria" panose="02040503050406030204" pitchFamily="18" charset="0"/>
            </a:endParaRPr>
          </a:p>
        </p:txBody>
      </p:sp>
      <p:grpSp>
        <p:nvGrpSpPr>
          <p:cNvPr id="4" name="Group 3"/>
          <p:cNvGrpSpPr/>
          <p:nvPr/>
        </p:nvGrpSpPr>
        <p:grpSpPr>
          <a:xfrm>
            <a:off x="1" y="0"/>
            <a:ext cx="10238215" cy="791308"/>
            <a:chOff x="1" y="0"/>
            <a:chExt cx="10238215" cy="791308"/>
          </a:xfrm>
        </p:grpSpPr>
        <p:pic>
          <p:nvPicPr>
            <p:cNvPr id="5" name="Picture 4"/>
            <p:cNvPicPr>
              <a:picLocks noChangeAspect="1"/>
            </p:cNvPicPr>
            <p:nvPr/>
          </p:nvPicPr>
          <p:blipFill>
            <a:blip r:embed="rId2"/>
            <a:stretch>
              <a:fillRect/>
            </a:stretch>
          </p:blipFill>
          <p:spPr>
            <a:xfrm>
              <a:off x="1" y="0"/>
              <a:ext cx="954717" cy="791308"/>
            </a:xfrm>
            <a:prstGeom prst="rect">
              <a:avLst/>
            </a:prstGeom>
          </p:spPr>
        </p:pic>
        <p:sp>
          <p:nvSpPr>
            <p:cNvPr id="6" name="Rectangle 5"/>
            <p:cNvSpPr/>
            <p:nvPr/>
          </p:nvSpPr>
          <p:spPr>
            <a:xfrm>
              <a:off x="766234" y="210988"/>
              <a:ext cx="9471982" cy="369332"/>
            </a:xfrm>
            <a:prstGeom prst="rect">
              <a:avLst/>
            </a:prstGeom>
          </p:spPr>
          <p:txBody>
            <a:bodyPr wrap="square">
              <a:spAutoFit/>
            </a:bodyPr>
            <a:lstStyle/>
            <a:p>
              <a:r>
                <a:rPr lang="en-US" b="1" dirty="0">
                  <a:latin typeface="+mj-lt"/>
                </a:rPr>
                <a:t>PHẦN 6 – HIỆU LỰC THI HÀNH VÀ XỬ LÝ CHUYỂN TIẾP</a:t>
              </a:r>
              <a:endParaRPr lang="en-US" dirty="0">
                <a:latin typeface="+mj-lt"/>
              </a:endParaRPr>
            </a:p>
          </p:txBody>
        </p:sp>
      </p:grpSp>
      <p:sp>
        <p:nvSpPr>
          <p:cNvPr id="7" name="Title 1"/>
          <p:cNvSpPr>
            <a:spLocks noGrp="1"/>
          </p:cNvSpPr>
          <p:nvPr>
            <p:ph type="title"/>
          </p:nvPr>
        </p:nvSpPr>
        <p:spPr>
          <a:xfrm>
            <a:off x="693746" y="915350"/>
            <a:ext cx="8596668" cy="726831"/>
          </a:xfrm>
        </p:spPr>
        <p:txBody>
          <a:bodyPr>
            <a:normAutofit/>
          </a:bodyPr>
          <a:lstStyle/>
          <a:p>
            <a:pPr algn="ctr"/>
            <a:r>
              <a:rPr lang="en-US" sz="3000" b="1" dirty="0">
                <a:solidFill>
                  <a:schemeClr val="accent5"/>
                </a:solidFill>
              </a:rPr>
              <a:t>XỬ LÝ CHUYỂN TIẾP</a:t>
            </a:r>
            <a:endParaRPr lang="vi-VN" sz="3000" b="1" dirty="0">
              <a:solidFill>
                <a:schemeClr val="accent5"/>
              </a:solidFill>
            </a:endParaRPr>
          </a:p>
        </p:txBody>
      </p:sp>
    </p:spTree>
    <p:extLst>
      <p:ext uri="{BB962C8B-B14F-4D97-AF65-F5344CB8AC3E}">
        <p14:creationId xmlns:p14="http://schemas.microsoft.com/office/powerpoint/2010/main" val="215240803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252025"/>
            <a:ext cx="8596668" cy="2253175"/>
          </a:xfrm>
        </p:spPr>
        <p:txBody>
          <a:bodyPr vert="horz" anchor="ctr" anchorCtr="0">
            <a:noAutofit/>
          </a:bodyPr>
          <a:lstStyle/>
          <a:p>
            <a:pPr marL="0" indent="0" algn="ctr">
              <a:buNone/>
            </a:pPr>
            <a:r>
              <a:rPr lang="en-US" sz="4800" b="1" dirty="0">
                <a:solidFill>
                  <a:schemeClr val="tx1"/>
                </a:solidFill>
                <a:latin typeface="+mj-lt"/>
              </a:rPr>
              <a:t>TRÂN TRỌNG CẢM ƠN!</a:t>
            </a:r>
          </a:p>
        </p:txBody>
      </p:sp>
    </p:spTree>
    <p:extLst>
      <p:ext uri="{BB962C8B-B14F-4D97-AF65-F5344CB8AC3E}">
        <p14:creationId xmlns:p14="http://schemas.microsoft.com/office/powerpoint/2010/main" val="184249321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252025"/>
            <a:ext cx="8596668" cy="2202375"/>
          </a:xfrm>
        </p:spPr>
        <p:txBody>
          <a:bodyPr vert="horz" anchor="ctr" anchorCtr="0">
            <a:noAutofit/>
          </a:bodyPr>
          <a:lstStyle/>
          <a:p>
            <a:pPr marL="0" indent="0" algn="ctr">
              <a:buNone/>
            </a:pPr>
            <a:r>
              <a:rPr lang="en-US" sz="4800" b="1" dirty="0">
                <a:solidFill>
                  <a:schemeClr val="tx1"/>
                </a:solidFill>
                <a:latin typeface="+mj-lt"/>
              </a:rPr>
              <a:t>CÂU HỎI VÀ GIẢI ĐÁP</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1250" y="4051300"/>
            <a:ext cx="2857500" cy="1600200"/>
          </a:xfrm>
          <a:prstGeom prst="rect">
            <a:avLst/>
          </a:prstGeom>
        </p:spPr>
      </p:pic>
    </p:spTree>
    <p:extLst>
      <p:ext uri="{BB962C8B-B14F-4D97-AF65-F5344CB8AC3E}">
        <p14:creationId xmlns:p14="http://schemas.microsoft.com/office/powerpoint/2010/main" val="389960229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6070EC7B8CDA46B67D0AB247BB0995" ma:contentTypeVersion="17" ma:contentTypeDescription="Create a new document." ma:contentTypeScope="" ma:versionID="6208f6ef4f99ac4220cc73d428f7a3be">
  <xsd:schema xmlns:xsd="http://www.w3.org/2001/XMLSchema" xmlns:xs="http://www.w3.org/2001/XMLSchema" xmlns:p="http://schemas.microsoft.com/office/2006/metadata/properties" xmlns:ns2="3841c666-fd63-40bc-beef-ced2745222d3" xmlns:ns3="097e1a6a-fc06-45b2-8873-15e0270064ac" xmlns:ns4="4243d5be-521d-4052-81ca-f0f31ea6f2da" targetNamespace="http://schemas.microsoft.com/office/2006/metadata/properties" ma:root="true" ma:fieldsID="811c77fad17e661c7daf78d2eb917f1e" ns2:_="" ns3:_="" ns4:_="">
    <xsd:import namespace="3841c666-fd63-40bc-beef-ced2745222d3"/>
    <xsd:import namespace="097e1a6a-fc06-45b2-8873-15e0270064ac"/>
    <xsd:import namespace="4243d5be-521d-4052-81ca-f0f31ea6f2d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41c666-fd63-40bc-beef-ced2745222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97e1a6a-fc06-45b2-8873-15e0270064ac"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243d5be-521d-4052-81ca-f0f31ea6f2da"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a735b32c-89d7-4def-8826-2e55c195f91e}" ma:internalName="TaxCatchAll" ma:showField="CatchAllData" ma:web="097e1a6a-fc06-45b2-8873-15e0270064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841c666-fd63-40bc-beef-ced2745222d3">
      <Terms xmlns="http://schemas.microsoft.com/office/infopath/2007/PartnerControls"/>
    </lcf76f155ced4ddcb4097134ff3c332f>
    <TaxCatchAll xmlns="4243d5be-521d-4052-81ca-f0f31ea6f2da" xsi:nil="true"/>
  </documentManagement>
</p:properties>
</file>

<file path=customXml/itemProps1.xml><?xml version="1.0" encoding="utf-8"?>
<ds:datastoreItem xmlns:ds="http://schemas.openxmlformats.org/officeDocument/2006/customXml" ds:itemID="{C7996CF8-AA88-4634-BB66-8D4793BD5B98}"/>
</file>

<file path=customXml/itemProps2.xml><?xml version="1.0" encoding="utf-8"?>
<ds:datastoreItem xmlns:ds="http://schemas.openxmlformats.org/officeDocument/2006/customXml" ds:itemID="{B4FB8955-D99A-457D-9F52-56B769CC93E4}"/>
</file>

<file path=customXml/itemProps3.xml><?xml version="1.0" encoding="utf-8"?>
<ds:datastoreItem xmlns:ds="http://schemas.openxmlformats.org/officeDocument/2006/customXml" ds:itemID="{4A5AC99A-DD16-4CF3-AFE5-7AA95799E985}"/>
</file>

<file path=docProps/app.xml><?xml version="1.0" encoding="utf-8"?>
<Properties xmlns="http://schemas.openxmlformats.org/officeDocument/2006/extended-properties" xmlns:vt="http://schemas.openxmlformats.org/officeDocument/2006/docPropsVTypes">
  <Template>Facet</Template>
  <TotalTime>2502</TotalTime>
  <Words>16411</Words>
  <Application>Microsoft Office PowerPoint</Application>
  <PresentationFormat>Widescreen</PresentationFormat>
  <Paragraphs>676</Paragraphs>
  <Slides>109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109</vt:i4>
      </vt:variant>
    </vt:vector>
  </HeadingPairs>
  <TitlesOfParts>
    <vt:vector size="115" baseType="lpstr">
      <vt:lpstr>Arial</vt:lpstr>
      <vt:lpstr>Calibri</vt:lpstr>
      <vt:lpstr>Cambria</vt:lpstr>
      <vt:lpstr>Times New Roman</vt:lpstr>
      <vt:lpstr>Wingdings 3</vt:lpstr>
      <vt:lpstr>Facet</vt:lpstr>
      <vt:lpstr>CỤC THUẾ TỈNH QUẢNG NINH  TẬP HUẤN  HÓA ĐƠN ĐIỆN TỬ</vt:lpstr>
      <vt:lpstr>CĂN CỨ PHÁP LÝ</vt:lpstr>
      <vt:lpstr>NỘI DUNG</vt:lpstr>
      <vt:lpstr>  LỜI GIỚI THIỆU     </vt:lpstr>
      <vt:lpstr>LỜI GIỚI THIỆU</vt:lpstr>
      <vt:lpstr>PHẦN 1 – TỔNG QUAN CHUNG VỀ HÓA ĐƠN, CHỨNG TỪ - HÓA ĐƠN     </vt:lpstr>
      <vt:lpstr> HÓA ĐƠN ĐIỆN TỬ</vt:lpstr>
      <vt:lpstr> HÓA ĐƠN ĐIỆN TỬ CÓ MÃ CỦA CQT</vt:lpstr>
      <vt:lpstr>HÓA ĐƠN ĐIỆN TỬ KHÔNG MÃ CỦA CQT</vt:lpstr>
      <vt:lpstr>HÓA ĐƠN ĐƯỢC KHỞI TẠO TỪ MÁY TÍNH TIỀN </vt:lpstr>
      <vt:lpstr> CHUYỂN ĐỔI</vt:lpstr>
      <vt:lpstr>CHỨNG TỪ</vt:lpstr>
      <vt:lpstr>HÌNH THỨC CHỨNG TỪ </vt:lpstr>
      <vt:lpstr>CHỨNG TỪ ĐIỆN TỬ</vt:lpstr>
      <vt:lpstr> ĐĂNG KÝ SỬ DỤNG HĐĐT, BLĐT VỚI CQT</vt:lpstr>
      <vt:lpstr>ĐĂNG KÝ SỬ DỤNG HĐĐT, BLĐT VỚI CQT</vt:lpstr>
      <vt:lpstr>PHẦN 2 – QUY ĐỊNH VỀ HÓA ĐƠN   </vt:lpstr>
      <vt:lpstr>PHẦN 2: QUY ĐỊNH VỀ HÓA ĐƠN</vt:lpstr>
      <vt:lpstr>PowerPoint Presentation</vt:lpstr>
      <vt:lpstr>THỜI ĐIỂM LẬP HÓA ĐƠN </vt:lpstr>
      <vt:lpstr>THỜI ĐIỂM LẬP HÓA ĐƠN ĐỐI VỚI MỘT SỐ TRƯỜNG HỢP CỤ THỂ</vt:lpstr>
      <vt:lpstr>PowerPoint Presentation</vt:lpstr>
      <vt:lpstr>B. QUY ĐỊNH VỀ HÓA ĐƠN ĐIỆN TỬ (TIẾP) </vt:lpstr>
      <vt:lpstr>PowerPoint Presentation</vt:lpstr>
      <vt:lpstr> ĐỐI TƯỢNG ÁP DỤNG - HĐĐT KHÔNG CÓ MÃ CỦA CQT</vt:lpstr>
      <vt:lpstr>ĐỐI TƯỢNG ÁP DỤNG – HĐĐT CÓ MÃ CỦA CQT KHỞI TẠO TỪ MÁY TÍNH TIỀN CÓ KẾT NỐI CHUYỂN DỮ LIỆU VỚI CQT</vt:lpstr>
      <vt:lpstr>CÁC TRƯỜNG HỢP SỬ DỤNG HĐĐT PHẢI TRẢ TIỀN/KHÔNG PHẢI TRẢ TIỀN DỊCH VỤ</vt:lpstr>
      <vt:lpstr>3. ỦY NHIỆM LẬP HĐĐT</vt:lpstr>
      <vt:lpstr>HỢP ĐỒNG HOẶC THỎA THUẬN ỦY NHIỆM</vt:lpstr>
      <vt:lpstr>THÔNG BÁO VỚI CQT VỀ VIỆC ỦY NHIỆM LẬP HĐĐT </vt:lpstr>
      <vt:lpstr>4. ĐỊNH DẠNG HĐĐT</vt:lpstr>
      <vt:lpstr>5. NỘI DUNG HÓA ĐƠN  KÝ HIỆU MẪU SỐ HÓA ĐƠN, KÝ HIỆU HÓA ĐƠN</vt:lpstr>
      <vt:lpstr>5. NỘI DUNG HÓA ĐƠN  KÝ HIỆU MẪU SỐ HÓA ĐƠN, KÝ HIỆU HÓA ĐƠN – HÓA ĐƠN ĐIỆN TỬ </vt:lpstr>
      <vt:lpstr>PowerPoint Presentation</vt:lpstr>
      <vt:lpstr>PowerPoint Presentation</vt:lpstr>
      <vt:lpstr>PowerPoint Presentation</vt:lpstr>
      <vt:lpstr>PowerPoint Presentation</vt:lpstr>
      <vt:lpstr>6. CẤP HÓA ĐƠN ĐIỆN TỬ CÓ MÃ CỦA CQT THEO TỪNG LẦN PHÁT SINH</vt:lpstr>
      <vt:lpstr>6. HĐĐT CÓ MÃ CỦA CQT THEO TỪNG LẦN PHÁT SINH (TIẾP THEO)</vt:lpstr>
      <vt:lpstr>6. HĐĐT CÓ MÃ CỦA CQT THEO TỪNG LẦN PHÁT SINH (TIẾP THEO)</vt:lpstr>
      <vt:lpstr>TRÌNH TỰ THỦ TỤC</vt:lpstr>
      <vt:lpstr>XÁC ĐỊNH CQT CẤP HĐĐT CỦA CQT THEO TỪNG LẦN PHÁT SINH</vt:lpstr>
      <vt:lpstr>7. NGỪNG SỬ DỤNG HĐĐT</vt:lpstr>
      <vt:lpstr> 7 TRƯỜNG HỢP NGỪNG SỬ DỤNG HĐĐT </vt:lpstr>
      <vt:lpstr>TRÌNH TỰ THỰC HIỆN</vt:lpstr>
      <vt:lpstr>8. LẬP HÓA ĐƠN ĐIỆN TỬ</vt:lpstr>
      <vt:lpstr>LẬP HĐĐT CÓ MÃ CỦA CQT</vt:lpstr>
      <vt:lpstr>LẬP HĐĐT CÓ MÃ CỦA CQT (TIẾP THEO)</vt:lpstr>
      <vt:lpstr>LẬP HĐĐT KHÔNG CÓ MÃ CỦA CQT  </vt:lpstr>
      <vt:lpstr>9. XỬ LÝ HĐĐT CÓ SAI SÓT </vt:lpstr>
      <vt:lpstr>Trường hợp HĐĐT có sai sót đã gửi cho người mua (HĐĐT có mã của CQT hoặc HĐĐT không có mã của CQT)</vt:lpstr>
      <vt:lpstr>PowerPoint Presentation</vt:lpstr>
      <vt:lpstr>PowerPoint Presentation</vt:lpstr>
      <vt:lpstr>PowerPoint Presentation</vt:lpstr>
      <vt:lpstr>Trường hợp cơ quan thuế phát hiện hóa đơn điện tử có sai sót</vt:lpstr>
      <vt:lpstr>PowerPoint Presentation</vt:lpstr>
      <vt:lpstr>10. XỬ LÝ SỰ CỐ - HĐĐT CÓ MÃ CỦA CQT</vt:lpstr>
      <vt:lpstr>Trường hợp hệ thống cấp mã của cơ quan thuế gặp sự cố</vt:lpstr>
      <vt:lpstr>Trường hợp do lỗi hệ thống hạ tầng kỹ thuật của tổ chức cung cấp dịch vụ hóa đơn điện tử</vt:lpstr>
      <vt:lpstr>Trường hợp Cổng thông tin điện tử của Tổng cục Thuế gặp lỗi kỹ thuật chưa tiếp nhận được dữ liệu hóa đơn điện tử không có mã</vt:lpstr>
      <vt:lpstr>11. TRÁCH NHIỆM – NGƯỜI BÁN – HĐĐT CÓ MÃ CỦA CQT </vt:lpstr>
      <vt:lpstr>12.TRÁCH NHIỆM – NGƯỜI BÁN – HĐĐT KHÔNG CÓ MÃ CỦA CQT</vt:lpstr>
      <vt:lpstr>CHUYỂN DỮ LIỆU HĐĐT KHÔNG CÓ MÃ CỦA CQT</vt:lpstr>
      <vt:lpstr>CHUYỂN DỮ LIỆU HĐĐT KHÔNG CÓ MÃ CỦA CQT (TIẾP THEO)</vt:lpstr>
      <vt:lpstr>CHUYỂN DỮ LIỆU HĐĐT KHÔNG CÓ MÃ CỦA CQT (TIẾP THEO)</vt:lpstr>
      <vt:lpstr>CHUYỂN DỮ LIỆU HĐĐT KHÔNG CÓ MÃ CỦA CQT (TIẾP THEO)</vt:lpstr>
      <vt:lpstr>13. TRÁCH NHIỆM – NGƯỜI BÁN – HĐĐT KHỞI TẠO TỪ MÁY TÍNH TIỀN</vt:lpstr>
      <vt:lpstr>14. TIÊU CHÍ LỰA CHỌN TỔ CHỨC CUNG CẤP DỊCH VỤ HÓA ĐƠN, DỊCH VỤ KẾT NỐI TRUYỀN NHẬN</vt:lpstr>
      <vt:lpstr>TIÊU CHÍ – TỔ CHỨC CUNG CẤP GIẢI PHÁP HĐĐT</vt:lpstr>
      <vt:lpstr>TIÊU CHÍ – TỔ CHỨC CUNG CẤP DỊCH VỤ NHẬN, TRUYỀN, LƯU TRỮ HĐ</vt:lpstr>
      <vt:lpstr>TIÊU CHÍ – TỔ CHỨC CUNG CẤP DỊCH VỤ NHẬN, TRUYỀN, LƯU TRỮ HĐ</vt:lpstr>
      <vt:lpstr>ĐĂNG TẢI THÔNG TIN CỦA TỔ CHỨC CUNG CẤP GIẢI PHÁP HĐĐT</vt:lpstr>
      <vt:lpstr> LỰA CHỌN TỔ CHỨC CUNG CẤPDỊCH VỤ HĐĐT ĐỂ KÝ KẾT HỢP ĐỒNG CUNG CẤP DỊCH VỤ NHẬN, TRUYỀN, LƯU TRỮ DỮ LIỆU HĐĐT VỚI CQT</vt:lpstr>
      <vt:lpstr>PHẦN 3 – QUY ĐỊNH VỀ  CHỨNG TỪ   </vt:lpstr>
      <vt:lpstr>PowerPoint Presentation</vt:lpstr>
      <vt:lpstr>A. QUY ĐỊNH CHUNG</vt:lpstr>
      <vt:lpstr>THỜI ĐIỂM LẬP CHỨNG TỪ </vt:lpstr>
      <vt:lpstr>MẪU HIỂN THỊ CHỨNG TỪ ĐIỆN TỬ</vt:lpstr>
      <vt:lpstr>B. CHỨNG TỪ ĐIỆN TỬ</vt:lpstr>
      <vt:lpstr>PowerPoint Presentation</vt:lpstr>
      <vt:lpstr>PHẦN 4 – QUY ĐỊNH XÂY DỰNG, TRA CỨU THÔNG TIN HÓA ĐƠN, CHỨNG TỪ    </vt:lpstr>
      <vt:lpstr>PowerPoint Presentation</vt:lpstr>
      <vt:lpstr>PowerPoint Presentation</vt:lpstr>
      <vt:lpstr>A. CƠ SỞ DỮ LIỆU VỀ HÓA ĐƠN ĐIỆN TỬ</vt:lpstr>
      <vt:lpstr>PowerPoint Presentation</vt:lpstr>
      <vt:lpstr>PowerPoint Presentation</vt:lpstr>
      <vt:lpstr>B. XÂY DỰNG THÔNG TIN HÓA ĐƠN, CHỨNG TỪ</vt:lpstr>
      <vt:lpstr>XÂY DỰNG HẠ TẦNG KỸ THUẬT   </vt:lpstr>
      <vt:lpstr>XÂY DỰNG, THU THẬP, XỬ LÝ VÀ QUẢN LÝ </vt:lpstr>
      <vt:lpstr>C. TRA CỨU, CUNG CẤP, SỬ DỤNG THÔNG TIN HĐĐT</vt:lpstr>
      <vt:lpstr>TRA CỨU</vt:lpstr>
      <vt:lpstr>ĐỐI TƯỢNG CUNG CẤP, SỬ DỤNG HĐĐT</vt:lpstr>
      <vt:lpstr>HÌNH THỨC KHAI THÁC</vt:lpstr>
      <vt:lpstr>CÔNG BỐ, TRA CỨU</vt:lpstr>
      <vt:lpstr>ĐĂNG KÝ, BỔ SUNG, CHẤM DỨT</vt:lpstr>
      <vt:lpstr>PowerPoint Presentation</vt:lpstr>
      <vt:lpstr>TRÁCH NHIỆM CỦA TỔNG CỤC THUẾ TRÁCH NHIỆM CỦA BÊN SỬ DỤNG THÔNG TIN</vt:lpstr>
      <vt:lpstr>PHẦN 5 – QUY ĐỊNH VỀ QUYỀN, NGHĨA VỤ, TRÁCH NHIỆM CỦA CÁC TỔ CHỨC, CÁ NHÂN TRONG QUẢN LÝ, SỬ DỤNG HÓA ĐƠN, CHỨNG TỪ</vt:lpstr>
      <vt:lpstr>PowerPoint Presentation</vt:lpstr>
      <vt:lpstr>PowerPoint Presentation</vt:lpstr>
      <vt:lpstr>TRÁCH NHIỆM CHIA SẺ, KẾT NỐI</vt:lpstr>
      <vt:lpstr>PHẦN 6 – HIỆU LỰC THI HÀNH VÀ XỬ LÝ CHUYỂN TIẾP</vt:lpstr>
      <vt:lpstr>HIỆU LỰC THI HÀNH</vt:lpstr>
      <vt:lpstr>XỬ LÝ CHUYỂN TIẾP</vt:lpstr>
      <vt:lpstr>XỬ LÝ CHUYỂN TIẾP</vt:lpstr>
      <vt:lpstr>XỬ LÝ CHUYỂN TIẾP</vt:lpstr>
      <vt:lpstr>XỬ LÝ CHUYỂN TIẾP</vt:lpstr>
      <vt:lpstr>PowerPoint Presentation</vt:lpstr>
      <vt:lpstr>PowerPoint Presentation</vt:lpstr>
    </vt:vector>
  </TitlesOfParts>
  <Company>TCT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TÀI LIỆU TẬP HUẤN</dc:title>
  <dc:creator>Kim Hue</dc:creator>
  <cp:lastModifiedBy>Tong cuc Thue</cp:lastModifiedBy>
  <cp:revision>168</cp:revision>
  <cp:lastPrinted>2021-10-04T10:47:32Z</cp:lastPrinted>
  <dcterms:created xsi:type="dcterms:W3CDTF">2021-09-30T13:41:00Z</dcterms:created>
  <dcterms:modified xsi:type="dcterms:W3CDTF">2021-11-02T01:13:35Z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0x0101008E6070EC7B8CDA46B67D0AB247BB0995</vt:lpwstr>
  </property>
</Properties>
</file>