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18.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84"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D5E"/>
    <a:srgbClr val="EAA8E1"/>
    <a:srgbClr val="FF3399"/>
    <a:srgbClr val="9F2190"/>
    <a:srgbClr val="B826A7"/>
    <a:srgbClr val="D933D9"/>
    <a:srgbClr val="FF4780"/>
    <a:srgbClr val="B482DA"/>
    <a:srgbClr val="FF85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B996CA2-4873-403D-8597-B260AB297DDD}" type="datetimeFigureOut">
              <a:rPr lang="en-US" smtClean="0"/>
              <a:t>11/25/2021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53685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996CA2-4873-403D-8597-B260AB297DDD}" type="datetimeFigureOut">
              <a:rPr lang="en-US" smtClean="0"/>
              <a:t>11/25/2021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1275114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B996CA2-4873-403D-8597-B260AB297DDD}" type="datetimeFigureOut">
              <a:rPr lang="en-US" smtClean="0"/>
              <a:t>11/25/2021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208919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B996CA2-4873-403D-8597-B260AB297DDD}" type="datetimeFigureOut">
              <a:rPr lang="en-US" smtClean="0"/>
              <a:t>11/25/2021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3884225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996CA2-4873-403D-8597-B260AB297DDD}" type="datetimeFigureOut">
              <a:rPr lang="en-US" smtClean="0"/>
              <a:t>11/25/2021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3950664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B996CA2-4873-403D-8597-B260AB297DDD}" type="datetimeFigureOut">
              <a:rPr lang="en-US" smtClean="0"/>
              <a:t>11/25/2021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725297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996CA2-4873-403D-8597-B260AB297DDD}" type="datetimeFigureOut">
              <a:rPr lang="en-US" smtClean="0"/>
              <a:t>11/25/2021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1557792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996CA2-4873-403D-8597-B260AB297DDD}" type="datetimeFigureOut">
              <a:rPr lang="en-US" smtClean="0"/>
              <a:t>11/25/2021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2169622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996CA2-4873-403D-8597-B260AB297DDD}" type="datetimeFigureOut">
              <a:rPr lang="en-US" smtClean="0"/>
              <a:t>11/25/2021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1074558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996CA2-4873-403D-8597-B260AB297DDD}" type="datetimeFigureOut">
              <a:rPr lang="en-US" smtClean="0"/>
              <a:t>11/25/2021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423695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996CA2-4873-403D-8597-B260AB297DDD}" type="datetimeFigureOut">
              <a:rPr lang="en-US" smtClean="0"/>
              <a:t>11/25/2021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225579-731F-439F-A071-E1E56BD6F630}" type="slidenum">
              <a:rPr lang="en-US" smtClean="0"/>
              <a:t>‹#›</a:t>
            </a:fld>
            <a:endParaRPr lang="en-US"/>
          </a:p>
        </p:txBody>
      </p:sp>
    </p:spTree>
    <p:extLst>
      <p:ext uri="{BB962C8B-B14F-4D97-AF65-F5344CB8AC3E}">
        <p14:creationId xmlns:p14="http://schemas.microsoft.com/office/powerpoint/2010/main" val="1967991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996CA2-4873-403D-8597-B260AB297DDD}" type="datetimeFigureOut">
              <a:rPr lang="en-US" smtClean="0"/>
              <a:t>11/25/2021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225579-731F-439F-A071-E1E56BD6F630}" type="slidenum">
              <a:rPr lang="en-US" smtClean="0"/>
              <a:t>‹#›</a:t>
            </a:fld>
            <a:endParaRPr lang="en-US"/>
          </a:p>
        </p:txBody>
      </p:sp>
    </p:spTree>
    <p:extLst>
      <p:ext uri="{BB962C8B-B14F-4D97-AF65-F5344CB8AC3E}">
        <p14:creationId xmlns:p14="http://schemas.microsoft.com/office/powerpoint/2010/main" val="2523538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2000"/>
          </a:schemeClr>
        </a:solidFill>
        <a:effectLst/>
      </p:bgPr>
    </p:bg>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5840" y="950576"/>
            <a:ext cx="1140044" cy="1133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hape 491"/>
          <p:cNvSpPr txBox="1">
            <a:spLocks noGrp="1"/>
          </p:cNvSpPr>
          <p:nvPr>
            <p:ph type="ctrTitle" idx="4294967295"/>
          </p:nvPr>
        </p:nvSpPr>
        <p:spPr>
          <a:xfrm>
            <a:off x="431074" y="2882871"/>
            <a:ext cx="11588092" cy="1617785"/>
          </a:xfrm>
          <a:prstGeom prst="rect">
            <a:avLst/>
          </a:prstGeom>
          <a:noFill/>
          <a:ln>
            <a:noFill/>
          </a:ln>
        </p:spPr>
        <p:txBody>
          <a:bodyPr lIns="91425" tIns="91425" rIns="91425" bIns="91425" anchor="b" anchorCtr="0">
            <a:noAutofit/>
          </a:bodyPr>
          <a:lstStyle/>
          <a:p>
            <a:pPr lvl="0" algn="ctr">
              <a:spcBef>
                <a:spcPts val="11400"/>
              </a:spcBef>
            </a:pPr>
            <a:r>
              <a:rPr lang="en-US" sz="3200" b="1" smtClean="0">
                <a:solidFill>
                  <a:schemeClr val="accent5">
                    <a:lumMod val="50000"/>
                  </a:schemeClr>
                </a:solidFill>
                <a:latin typeface="Arial" panose="020B0604020202020204" pitchFamily="34" charset="0"/>
                <a:cs typeface="Arial" panose="020B0604020202020204" pitchFamily="34" charset="0"/>
              </a:rPr>
              <a:t>MỘT SỐ NỘI DUNG VỀ HÓA ĐƠN ĐIỆN TỬ</a:t>
            </a:r>
            <a:br>
              <a:rPr lang="en-US" sz="3200" b="1" smtClean="0">
                <a:solidFill>
                  <a:schemeClr val="accent5">
                    <a:lumMod val="50000"/>
                  </a:schemeClr>
                </a:solidFill>
                <a:latin typeface="Arial" panose="020B0604020202020204" pitchFamily="34" charset="0"/>
                <a:cs typeface="Arial" panose="020B0604020202020204" pitchFamily="34" charset="0"/>
              </a:rPr>
            </a:br>
            <a:r>
              <a:rPr lang="en-US" sz="3200" smtClean="0">
                <a:solidFill>
                  <a:schemeClr val="accent5">
                    <a:lumMod val="50000"/>
                  </a:schemeClr>
                </a:solidFill>
                <a:latin typeface="Arial" panose="020B0604020202020204" pitchFamily="34" charset="0"/>
                <a:cs typeface="Arial" panose="020B0604020202020204" pitchFamily="34" charset="0"/>
              </a:rPr>
              <a:t>theo quy định tại Luật Quản lý thuế số 38/2019/QH14, </a:t>
            </a:r>
            <a:br>
              <a:rPr lang="en-US" sz="3200" smtClean="0">
                <a:solidFill>
                  <a:schemeClr val="accent5">
                    <a:lumMod val="50000"/>
                  </a:schemeClr>
                </a:solidFill>
                <a:latin typeface="Arial" panose="020B0604020202020204" pitchFamily="34" charset="0"/>
                <a:cs typeface="Arial" panose="020B0604020202020204" pitchFamily="34" charset="0"/>
              </a:rPr>
            </a:br>
            <a:r>
              <a:rPr lang="en-US" sz="3200" smtClean="0">
                <a:solidFill>
                  <a:schemeClr val="accent5">
                    <a:lumMod val="50000"/>
                  </a:schemeClr>
                </a:solidFill>
                <a:latin typeface="Arial" panose="020B0604020202020204" pitchFamily="34" charset="0"/>
                <a:cs typeface="Arial" panose="020B0604020202020204" pitchFamily="34" charset="0"/>
              </a:rPr>
              <a:t>Nghị định 123/2020/NĐ-CP và Thông tư số 78/2021/TT-BTC</a:t>
            </a:r>
            <a:endParaRPr lang="en" sz="3200" dirty="0">
              <a:solidFill>
                <a:schemeClr val="accent5">
                  <a:lumMod val="50000"/>
                </a:schemeClr>
              </a:solidFill>
              <a:latin typeface="Arial" panose="020B0604020202020204" pitchFamily="34" charset="0"/>
              <a:cs typeface="Arial" panose="020B0604020202020204" pitchFamily="34" charset="0"/>
            </a:endParaRPr>
          </a:p>
        </p:txBody>
      </p:sp>
      <p:sp>
        <p:nvSpPr>
          <p:cNvPr id="20" name="Shape 491"/>
          <p:cNvSpPr txBox="1">
            <a:spLocks noGrp="1"/>
          </p:cNvSpPr>
          <p:nvPr>
            <p:ph type="ctrTitle" idx="4294967295"/>
          </p:nvPr>
        </p:nvSpPr>
        <p:spPr>
          <a:xfrm>
            <a:off x="3571052" y="2031380"/>
            <a:ext cx="4983719" cy="476294"/>
          </a:xfrm>
          <a:prstGeom prst="rect">
            <a:avLst/>
          </a:prstGeom>
          <a:noFill/>
          <a:ln>
            <a:noFill/>
          </a:ln>
        </p:spPr>
        <p:txBody>
          <a:bodyPr lIns="91425" tIns="91425" rIns="91425" bIns="91425" anchor="b" anchorCtr="0">
            <a:noAutofit/>
          </a:bodyPr>
          <a:lstStyle/>
          <a:p>
            <a:pPr lvl="0" algn="ctr">
              <a:spcBef>
                <a:spcPts val="11400"/>
              </a:spcBef>
            </a:pPr>
            <a:r>
              <a:rPr lang="en" sz="2000" b="1" smtClean="0">
                <a:solidFill>
                  <a:srgbClr val="FF0000"/>
                </a:solidFill>
                <a:latin typeface="Times New Roman" panose="02020603050405020304" pitchFamily="18" charset="0"/>
                <a:cs typeface="Times New Roman" panose="02020603050405020304" pitchFamily="18" charset="0"/>
              </a:rPr>
              <a:t>CỤC THUẾ TỈNH PHÚ THỌ</a:t>
            </a:r>
            <a:endParaRPr lang="en" sz="2000" b="1" dirty="0">
              <a:solidFill>
                <a:srgbClr val="FF0000"/>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4345917" y="6164629"/>
            <a:ext cx="4335463" cy="368300"/>
          </a:xfrm>
          <a:prstGeom prst="rect">
            <a:avLst/>
          </a:prstGeom>
          <a:noFill/>
        </p:spPr>
        <p:txBody>
          <a:bodyPr>
            <a:spAutoFit/>
          </a:bodyPr>
          <a:lstStyle/>
          <a:p>
            <a:pPr>
              <a:defRPr/>
            </a:pPr>
            <a:r>
              <a:rPr lang="en-US" b="1" i="1">
                <a:solidFill>
                  <a:schemeClr val="accent2">
                    <a:lumMod val="50000"/>
                  </a:schemeClr>
                </a:solidFill>
                <a:latin typeface="Arial" panose="020B0604020202020204" pitchFamily="34" charset="0"/>
                <a:cs typeface="Arial" panose="020B0604020202020204" pitchFamily="34" charset="0"/>
              </a:rPr>
              <a:t>Phú Thọ, ngày </a:t>
            </a:r>
            <a:r>
              <a:rPr lang="en-US" b="1" i="1" smtClean="0">
                <a:solidFill>
                  <a:schemeClr val="accent2">
                    <a:lumMod val="50000"/>
                  </a:schemeClr>
                </a:solidFill>
                <a:latin typeface="Arial" panose="020B0604020202020204" pitchFamily="34" charset="0"/>
                <a:cs typeface="Arial" panose="020B0604020202020204" pitchFamily="34" charset="0"/>
              </a:rPr>
              <a:t>24 </a:t>
            </a:r>
            <a:r>
              <a:rPr lang="en-US" b="1" i="1">
                <a:solidFill>
                  <a:schemeClr val="accent2">
                    <a:lumMod val="50000"/>
                  </a:schemeClr>
                </a:solidFill>
                <a:latin typeface="Arial" panose="020B0604020202020204" pitchFamily="34" charset="0"/>
                <a:cs typeface="Arial" panose="020B0604020202020204" pitchFamily="34" charset="0"/>
              </a:rPr>
              <a:t>tháng 11 năm 2021</a:t>
            </a:r>
          </a:p>
        </p:txBody>
      </p:sp>
    </p:spTree>
    <p:extLst>
      <p:ext uri="{BB962C8B-B14F-4D97-AF65-F5344CB8AC3E}">
        <p14:creationId xmlns:p14="http://schemas.microsoft.com/office/powerpoint/2010/main" val="268019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object 24"/>
          <p:cNvGrpSpPr>
            <a:grpSpLocks/>
          </p:cNvGrpSpPr>
          <p:nvPr/>
        </p:nvGrpSpPr>
        <p:grpSpPr bwMode="auto">
          <a:xfrm>
            <a:off x="4788572" y="4544175"/>
            <a:ext cx="6771834" cy="793070"/>
            <a:chOff x="1606680" y="3868323"/>
            <a:chExt cx="7346435" cy="1041592"/>
          </a:xfrm>
          <a:solidFill>
            <a:schemeClr val="accent3">
              <a:lumMod val="60000"/>
              <a:lumOff val="40000"/>
            </a:schemeClr>
          </a:solidFill>
          <a:scene3d>
            <a:camera prst="orthographicFront">
              <a:rot lat="0" lon="0" rev="0"/>
            </a:camera>
            <a:lightRig rig="balanced" dir="t">
              <a:rot lat="0" lon="0" rev="8700000"/>
            </a:lightRig>
          </a:scene3d>
        </p:grpSpPr>
        <p:sp>
          <p:nvSpPr>
            <p:cNvPr id="70" name="object 25"/>
            <p:cNvSpPr>
              <a:spLocks noChangeArrowheads="1"/>
            </p:cNvSpPr>
            <p:nvPr/>
          </p:nvSpPr>
          <p:spPr bwMode="auto">
            <a:xfrm>
              <a:off x="1606680" y="3868323"/>
              <a:ext cx="7346435" cy="1041592"/>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71" name="object 26"/>
            <p:cNvSpPr>
              <a:spLocks/>
            </p:cNvSpPr>
            <p:nvPr/>
          </p:nvSpPr>
          <p:spPr bwMode="auto">
            <a:xfrm>
              <a:off x="1644777" y="3885788"/>
              <a:ext cx="7270240" cy="965378"/>
            </a:xfrm>
            <a:custGeom>
              <a:avLst/>
              <a:gdLst>
                <a:gd name="T0" fmla="*/ 7109841 w 7270750"/>
                <a:gd name="T1" fmla="*/ 0 h 965200"/>
                <a:gd name="T2" fmla="*/ 160908 w 7270750"/>
                <a:gd name="T3" fmla="*/ 0 h 965200"/>
                <a:gd name="T4" fmla="*/ 118121 w 7270750"/>
                <a:gd name="T5" fmla="*/ 5745 h 965200"/>
                <a:gd name="T6" fmla="*/ 79680 w 7270750"/>
                <a:gd name="T7" fmla="*/ 21961 h 965200"/>
                <a:gd name="T8" fmla="*/ 47116 w 7270750"/>
                <a:gd name="T9" fmla="*/ 47117 h 965200"/>
                <a:gd name="T10" fmla="*/ 21961 w 7270750"/>
                <a:gd name="T11" fmla="*/ 79680 h 965200"/>
                <a:gd name="T12" fmla="*/ 5745 w 7270750"/>
                <a:gd name="T13" fmla="*/ 118121 h 965200"/>
                <a:gd name="T14" fmla="*/ 0 w 7270750"/>
                <a:gd name="T15" fmla="*/ 160908 h 965200"/>
                <a:gd name="T16" fmla="*/ 0 w 7270750"/>
                <a:gd name="T17" fmla="*/ 804291 h 965200"/>
                <a:gd name="T18" fmla="*/ 5745 w 7270750"/>
                <a:gd name="T19" fmla="*/ 847078 h 965200"/>
                <a:gd name="T20" fmla="*/ 21961 w 7270750"/>
                <a:gd name="T21" fmla="*/ 885519 h 965200"/>
                <a:gd name="T22" fmla="*/ 47117 w 7270750"/>
                <a:gd name="T23" fmla="*/ 918083 h 965200"/>
                <a:gd name="T24" fmla="*/ 79680 w 7270750"/>
                <a:gd name="T25" fmla="*/ 943238 h 965200"/>
                <a:gd name="T26" fmla="*/ 118121 w 7270750"/>
                <a:gd name="T27" fmla="*/ 959454 h 965200"/>
                <a:gd name="T28" fmla="*/ 160908 w 7270750"/>
                <a:gd name="T29" fmla="*/ 965200 h 965200"/>
                <a:gd name="T30" fmla="*/ 7109841 w 7270750"/>
                <a:gd name="T31" fmla="*/ 965200 h 965200"/>
                <a:gd name="T32" fmla="*/ 7152628 w 7270750"/>
                <a:gd name="T33" fmla="*/ 959454 h 965200"/>
                <a:gd name="T34" fmla="*/ 7191069 w 7270750"/>
                <a:gd name="T35" fmla="*/ 943238 h 965200"/>
                <a:gd name="T36" fmla="*/ 7223633 w 7270750"/>
                <a:gd name="T37" fmla="*/ 918083 h 965200"/>
                <a:gd name="T38" fmla="*/ 7248788 w 7270750"/>
                <a:gd name="T39" fmla="*/ 885519 h 965200"/>
                <a:gd name="T40" fmla="*/ 7265004 w 7270750"/>
                <a:gd name="T41" fmla="*/ 847078 h 965200"/>
                <a:gd name="T42" fmla="*/ 7270750 w 7270750"/>
                <a:gd name="T43" fmla="*/ 804291 h 965200"/>
                <a:gd name="T44" fmla="*/ 7270750 w 7270750"/>
                <a:gd name="T45" fmla="*/ 160908 h 965200"/>
                <a:gd name="T46" fmla="*/ 7265004 w 7270750"/>
                <a:gd name="T47" fmla="*/ 118121 h 965200"/>
                <a:gd name="T48" fmla="*/ 7248788 w 7270750"/>
                <a:gd name="T49" fmla="*/ 79680 h 965200"/>
                <a:gd name="T50" fmla="*/ 7223633 w 7270750"/>
                <a:gd name="T51" fmla="*/ 47117 h 965200"/>
                <a:gd name="T52" fmla="*/ 7191069 w 7270750"/>
                <a:gd name="T53" fmla="*/ 21961 h 965200"/>
                <a:gd name="T54" fmla="*/ 7152628 w 7270750"/>
                <a:gd name="T55" fmla="*/ 5745 h 965200"/>
                <a:gd name="T56" fmla="*/ 7109841 w 7270750"/>
                <a:gd name="T57" fmla="*/ 0 h 965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270750" h="965200">
                  <a:moveTo>
                    <a:pt x="7109841" y="0"/>
                  </a:moveTo>
                  <a:lnTo>
                    <a:pt x="160908" y="0"/>
                  </a:lnTo>
                  <a:lnTo>
                    <a:pt x="118121" y="5745"/>
                  </a:lnTo>
                  <a:lnTo>
                    <a:pt x="79680" y="21961"/>
                  </a:lnTo>
                  <a:lnTo>
                    <a:pt x="47116" y="47117"/>
                  </a:lnTo>
                  <a:lnTo>
                    <a:pt x="21961" y="79680"/>
                  </a:lnTo>
                  <a:lnTo>
                    <a:pt x="5745" y="118121"/>
                  </a:lnTo>
                  <a:lnTo>
                    <a:pt x="0" y="160908"/>
                  </a:lnTo>
                  <a:lnTo>
                    <a:pt x="0" y="804291"/>
                  </a:lnTo>
                  <a:lnTo>
                    <a:pt x="5745" y="847078"/>
                  </a:lnTo>
                  <a:lnTo>
                    <a:pt x="21961" y="885519"/>
                  </a:lnTo>
                  <a:lnTo>
                    <a:pt x="47117" y="918083"/>
                  </a:lnTo>
                  <a:lnTo>
                    <a:pt x="79680" y="943238"/>
                  </a:lnTo>
                  <a:lnTo>
                    <a:pt x="118121" y="959454"/>
                  </a:lnTo>
                  <a:lnTo>
                    <a:pt x="160908" y="965200"/>
                  </a:lnTo>
                  <a:lnTo>
                    <a:pt x="7109841" y="965200"/>
                  </a:lnTo>
                  <a:lnTo>
                    <a:pt x="7152628" y="959454"/>
                  </a:lnTo>
                  <a:lnTo>
                    <a:pt x="7191069" y="943238"/>
                  </a:lnTo>
                  <a:lnTo>
                    <a:pt x="7223633" y="918083"/>
                  </a:lnTo>
                  <a:lnTo>
                    <a:pt x="7248788" y="885519"/>
                  </a:lnTo>
                  <a:lnTo>
                    <a:pt x="7265004" y="847078"/>
                  </a:lnTo>
                  <a:lnTo>
                    <a:pt x="7270750" y="804291"/>
                  </a:lnTo>
                  <a:lnTo>
                    <a:pt x="7270750" y="160908"/>
                  </a:lnTo>
                  <a:lnTo>
                    <a:pt x="7265004" y="118121"/>
                  </a:lnTo>
                  <a:lnTo>
                    <a:pt x="7248788" y="79680"/>
                  </a:lnTo>
                  <a:lnTo>
                    <a:pt x="7223633" y="47117"/>
                  </a:lnTo>
                  <a:lnTo>
                    <a:pt x="7191069" y="21961"/>
                  </a:lnTo>
                  <a:lnTo>
                    <a:pt x="7152628" y="5745"/>
                  </a:lnTo>
                  <a:lnTo>
                    <a:pt x="7109841" y="0"/>
                  </a:lnTo>
                  <a:close/>
                </a:path>
              </a:pathLst>
            </a:cu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round/>
                  <a:headEnd/>
                  <a:tailEnd/>
                </a14:hiddenLine>
              </a:ext>
            </a:extLst>
          </p:spPr>
          <p:txBody>
            <a:bodyPr lIns="0" tIns="0" rIns="0" bIns="0"/>
            <a:lstStyle/>
            <a:p>
              <a:pPr eaLnBrk="0" fontAlgn="base" hangingPunct="0">
                <a:spcBef>
                  <a:spcPct val="0"/>
                </a:spcBef>
                <a:spcAft>
                  <a:spcPct val="0"/>
                </a:spcAft>
                <a:defRPr/>
              </a:pPr>
              <a:endParaRPr lang="en-US" sz="1800" kern="1200">
                <a:solidFill>
                  <a:srgbClr val="2B166E"/>
                </a:solidFill>
                <a:latin typeface="Arial" pitchFamily="34" charset="0"/>
                <a:ea typeface="+mn-ea"/>
                <a:cs typeface="Arial" pitchFamily="34" charset="0"/>
              </a:endParaRPr>
            </a:p>
          </p:txBody>
        </p:sp>
      </p:grpSp>
      <p:grpSp>
        <p:nvGrpSpPr>
          <p:cNvPr id="44" name="object 10"/>
          <p:cNvGrpSpPr>
            <a:grpSpLocks/>
          </p:cNvGrpSpPr>
          <p:nvPr/>
        </p:nvGrpSpPr>
        <p:grpSpPr bwMode="auto">
          <a:xfrm>
            <a:off x="4827736" y="2357335"/>
            <a:ext cx="6778109" cy="907021"/>
            <a:chOff x="3430651" y="1371600"/>
            <a:chExt cx="5900483" cy="946402"/>
          </a:xfrm>
          <a:solidFill>
            <a:schemeClr val="accent3">
              <a:lumMod val="60000"/>
              <a:lumOff val="40000"/>
            </a:schemeClr>
          </a:solidFill>
          <a:scene3d>
            <a:camera prst="orthographicFront">
              <a:rot lat="0" lon="0" rev="0"/>
            </a:camera>
            <a:lightRig rig="balanced" dir="t">
              <a:rot lat="0" lon="0" rev="8700000"/>
            </a:lightRig>
          </a:scene3d>
        </p:grpSpPr>
        <p:sp>
          <p:nvSpPr>
            <p:cNvPr id="46" name="object 12"/>
            <p:cNvSpPr>
              <a:spLocks noChangeArrowheads="1"/>
            </p:cNvSpPr>
            <p:nvPr/>
          </p:nvSpPr>
          <p:spPr bwMode="auto">
            <a:xfrm>
              <a:off x="3430651" y="1371600"/>
              <a:ext cx="5900483" cy="946402"/>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marL="1658938"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fontAlgn="base">
                <a:spcBef>
                  <a:spcPts val="100"/>
                </a:spcBef>
                <a:spcAft>
                  <a:spcPct val="0"/>
                </a:spcAft>
                <a:buClrTx/>
                <a:buFontTx/>
                <a:buNone/>
              </a:pPr>
              <a:r>
                <a:rPr lang="vi-VN" altLang="en-US" sz="1800" kern="1200" smtClean="0">
                  <a:solidFill>
                    <a:srgbClr val="2B166D"/>
                  </a:solidFill>
                  <a:latin typeface="Times New Roman" pitchFamily="18" charset="0"/>
                  <a:ea typeface="+mn-ea"/>
                  <a:cs typeface="Times New Roman" pitchFamily="18" charset="0"/>
                </a:rPr>
                <a:t>Tiết kiệm thời gian, không gian,</a:t>
              </a:r>
              <a:r>
                <a:rPr lang="en-US" altLang="en-US" sz="1800" kern="1200" smtClean="0">
                  <a:solidFill>
                    <a:srgbClr val="2B166D"/>
                  </a:solidFill>
                  <a:latin typeface="Times New Roman" pitchFamily="18" charset="0"/>
                  <a:ea typeface="+mn-ea"/>
                  <a:cs typeface="Times New Roman" pitchFamily="18" charset="0"/>
                </a:rPr>
                <a:t> nhân lực và chi phí</a:t>
              </a:r>
              <a:endParaRPr lang="en-US" altLang="en-US" sz="1800" kern="1200" smtClean="0">
                <a:solidFill>
                  <a:srgbClr val="2B166E"/>
                </a:solidFill>
                <a:latin typeface="Times New Roman" pitchFamily="18" charset="0"/>
                <a:ea typeface="+mn-ea"/>
                <a:cs typeface="Times New Roman" pitchFamily="18" charset="0"/>
              </a:endParaRPr>
            </a:p>
          </p:txBody>
        </p:sp>
        <p:sp>
          <p:nvSpPr>
            <p:cNvPr id="48" name="object 15"/>
            <p:cNvSpPr>
              <a:spLocks noChangeArrowheads="1"/>
            </p:cNvSpPr>
            <p:nvPr/>
          </p:nvSpPr>
          <p:spPr bwMode="auto">
            <a:xfrm>
              <a:off x="3689603" y="1473707"/>
              <a:ext cx="1025651" cy="818388"/>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49" name="object 16"/>
            <p:cNvSpPr>
              <a:spLocks noChangeArrowheads="1"/>
            </p:cNvSpPr>
            <p:nvPr/>
          </p:nvSpPr>
          <p:spPr bwMode="auto">
            <a:xfrm>
              <a:off x="3703700" y="1487423"/>
              <a:ext cx="1035938" cy="830579"/>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grpSp>
      <p:grpSp>
        <p:nvGrpSpPr>
          <p:cNvPr id="50" name="object 17"/>
          <p:cNvGrpSpPr>
            <a:grpSpLocks/>
          </p:cNvGrpSpPr>
          <p:nvPr/>
        </p:nvGrpSpPr>
        <p:grpSpPr bwMode="auto">
          <a:xfrm>
            <a:off x="4803161" y="3485677"/>
            <a:ext cx="6802684" cy="844153"/>
            <a:chOff x="3310507" y="2572905"/>
            <a:chExt cx="5609085" cy="1125448"/>
          </a:xfrm>
          <a:solidFill>
            <a:schemeClr val="accent3">
              <a:lumMod val="60000"/>
              <a:lumOff val="40000"/>
            </a:schemeClr>
          </a:solidFill>
          <a:scene3d>
            <a:camera prst="orthographicFront">
              <a:rot lat="0" lon="0" rev="0"/>
            </a:camera>
            <a:lightRig rig="balanced" dir="t">
              <a:rot lat="0" lon="0" rev="8700000"/>
            </a:lightRig>
          </a:scene3d>
        </p:grpSpPr>
        <p:sp>
          <p:nvSpPr>
            <p:cNvPr id="51" name="object 18"/>
            <p:cNvSpPr>
              <a:spLocks noChangeArrowheads="1"/>
            </p:cNvSpPr>
            <p:nvPr/>
          </p:nvSpPr>
          <p:spPr bwMode="auto">
            <a:xfrm>
              <a:off x="3310507" y="2572905"/>
              <a:ext cx="5609085" cy="1125448"/>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52" name="object 19"/>
            <p:cNvSpPr>
              <a:spLocks noChangeArrowheads="1"/>
            </p:cNvSpPr>
            <p:nvPr/>
          </p:nvSpPr>
          <p:spPr bwMode="auto">
            <a:xfrm>
              <a:off x="3348101" y="2590800"/>
              <a:ext cx="5534025" cy="1049401"/>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54" name="object 22"/>
            <p:cNvSpPr>
              <a:spLocks noChangeArrowheads="1"/>
            </p:cNvSpPr>
            <p:nvPr/>
          </p:nvSpPr>
          <p:spPr bwMode="auto">
            <a:xfrm>
              <a:off x="3459480" y="2700528"/>
              <a:ext cx="1086612" cy="870203"/>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55" name="object 23"/>
            <p:cNvSpPr>
              <a:spLocks noChangeArrowheads="1"/>
            </p:cNvSpPr>
            <p:nvPr/>
          </p:nvSpPr>
          <p:spPr bwMode="auto">
            <a:xfrm>
              <a:off x="3473450" y="2714625"/>
              <a:ext cx="1098550" cy="880490"/>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grpSp>
      <p:grpSp>
        <p:nvGrpSpPr>
          <p:cNvPr id="60" name="object 30"/>
          <p:cNvGrpSpPr>
            <a:grpSpLocks/>
          </p:cNvGrpSpPr>
          <p:nvPr/>
        </p:nvGrpSpPr>
        <p:grpSpPr bwMode="auto">
          <a:xfrm>
            <a:off x="4788572" y="5526631"/>
            <a:ext cx="6771834" cy="870153"/>
            <a:chOff x="1597152" y="5180076"/>
            <a:chExt cx="7365492" cy="1059180"/>
          </a:xfrm>
          <a:solidFill>
            <a:schemeClr val="accent3">
              <a:lumMod val="60000"/>
              <a:lumOff val="40000"/>
            </a:schemeClr>
          </a:solidFill>
          <a:scene3d>
            <a:camera prst="orthographicFront">
              <a:rot lat="0" lon="0" rev="0"/>
            </a:camera>
            <a:lightRig rig="balanced" dir="t">
              <a:rot lat="0" lon="0" rev="8700000"/>
            </a:lightRig>
          </a:scene3d>
        </p:grpSpPr>
        <p:sp>
          <p:nvSpPr>
            <p:cNvPr id="61" name="object 31"/>
            <p:cNvSpPr>
              <a:spLocks noChangeArrowheads="1"/>
            </p:cNvSpPr>
            <p:nvPr/>
          </p:nvSpPr>
          <p:spPr bwMode="auto">
            <a:xfrm>
              <a:off x="1597152" y="5180076"/>
              <a:ext cx="7365492" cy="1059180"/>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62" name="object 32"/>
            <p:cNvSpPr>
              <a:spLocks noChangeArrowheads="1"/>
            </p:cNvSpPr>
            <p:nvPr/>
          </p:nvSpPr>
          <p:spPr bwMode="auto">
            <a:xfrm>
              <a:off x="1644650" y="5207000"/>
              <a:ext cx="7270750" cy="965200"/>
            </a:xfrm>
            <a:prstGeom prst="rect">
              <a:avLst/>
            </a:prstGeom>
            <a:grp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grpSp>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200" b="1" smtClean="0">
                <a:solidFill>
                  <a:schemeClr val="accent1">
                    <a:lumMod val="50000"/>
                  </a:schemeClr>
                </a:solidFill>
              </a:rPr>
              <a:t>LỢI ÍCH KHI SỬ DỤNG HÓA ĐƠN ĐIỆN TỬ</a:t>
            </a:r>
            <a:endParaRPr lang="en-US" sz="2200" b="1">
              <a:solidFill>
                <a:schemeClr val="accent1">
                  <a:lumMod val="50000"/>
                </a:schemeClr>
              </a:solidFill>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31"/>
          <p:cNvGrpSpPr>
            <a:grpSpLocks/>
          </p:cNvGrpSpPr>
          <p:nvPr/>
        </p:nvGrpSpPr>
        <p:grpSpPr bwMode="auto">
          <a:xfrm>
            <a:off x="417090" y="1223890"/>
            <a:ext cx="3870233" cy="3362872"/>
            <a:chOff x="728" y="477"/>
            <a:chExt cx="3874" cy="3447"/>
          </a:xfrm>
        </p:grpSpPr>
        <p:sp>
          <p:nvSpPr>
            <p:cNvPr id="18" name="Oval 4"/>
            <p:cNvSpPr>
              <a:spLocks noChangeArrowheads="1"/>
            </p:cNvSpPr>
            <p:nvPr/>
          </p:nvSpPr>
          <p:spPr bwMode="gray">
            <a:xfrm>
              <a:off x="3381" y="1327"/>
              <a:ext cx="468" cy="130"/>
            </a:xfrm>
            <a:prstGeom prst="ellipse">
              <a:avLst/>
            </a:prstGeom>
            <a:gradFill rotWithShape="1">
              <a:gsLst>
                <a:gs pos="0">
                  <a:srgbClr val="B2B2B2"/>
                </a:gs>
                <a:gs pos="100000">
                  <a:srgbClr val="FFFF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lgn="ctr" eaLnBrk="1" hangingPunct="1">
                <a:spcBef>
                  <a:spcPct val="0"/>
                </a:spcBef>
                <a:buClrTx/>
                <a:buFontTx/>
                <a:buNone/>
              </a:pPr>
              <a:endParaRPr lang="en-US" altLang="en-US" sz="1800">
                <a:solidFill>
                  <a:schemeClr val="tx1"/>
                </a:solidFill>
              </a:endParaRPr>
            </a:p>
          </p:txBody>
        </p:sp>
        <p:sp>
          <p:nvSpPr>
            <p:cNvPr id="19" name="Oval 5"/>
            <p:cNvSpPr>
              <a:spLocks noChangeArrowheads="1"/>
            </p:cNvSpPr>
            <p:nvPr/>
          </p:nvSpPr>
          <p:spPr bwMode="gray">
            <a:xfrm>
              <a:off x="2571" y="2389"/>
              <a:ext cx="792" cy="220"/>
            </a:xfrm>
            <a:prstGeom prst="ellipse">
              <a:avLst/>
            </a:prstGeom>
            <a:gradFill rotWithShape="1">
              <a:gsLst>
                <a:gs pos="0">
                  <a:srgbClr val="B2B2B2"/>
                </a:gs>
                <a:gs pos="100000">
                  <a:srgbClr val="FFFF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lgn="ctr" eaLnBrk="1" hangingPunct="1">
                <a:spcBef>
                  <a:spcPct val="0"/>
                </a:spcBef>
                <a:buClrTx/>
                <a:buFontTx/>
                <a:buNone/>
              </a:pPr>
              <a:endParaRPr lang="en-US" altLang="en-US" sz="1800">
                <a:solidFill>
                  <a:schemeClr val="tx1"/>
                </a:solidFill>
              </a:endParaRPr>
            </a:p>
          </p:txBody>
        </p:sp>
        <p:sp>
          <p:nvSpPr>
            <p:cNvPr id="20" name="Oval 7"/>
            <p:cNvSpPr>
              <a:spLocks noChangeArrowheads="1"/>
            </p:cNvSpPr>
            <p:nvPr/>
          </p:nvSpPr>
          <p:spPr bwMode="gray">
            <a:xfrm>
              <a:off x="1059" y="2806"/>
              <a:ext cx="933" cy="259"/>
            </a:xfrm>
            <a:prstGeom prst="ellipse">
              <a:avLst/>
            </a:prstGeom>
            <a:gradFill rotWithShape="1">
              <a:gsLst>
                <a:gs pos="0">
                  <a:srgbClr val="B2B2B2"/>
                </a:gs>
                <a:gs pos="100000">
                  <a:srgbClr val="FFFF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lgn="ctr" eaLnBrk="1" hangingPunct="1">
                <a:spcBef>
                  <a:spcPct val="0"/>
                </a:spcBef>
                <a:buClrTx/>
                <a:buFontTx/>
                <a:buNone/>
              </a:pPr>
              <a:endParaRPr lang="en-US" altLang="en-US" sz="1800">
                <a:solidFill>
                  <a:schemeClr val="tx1"/>
                </a:solidFill>
              </a:endParaRPr>
            </a:p>
          </p:txBody>
        </p:sp>
        <p:sp>
          <p:nvSpPr>
            <p:cNvPr id="21" name="Rectangle 8"/>
            <p:cNvSpPr>
              <a:spLocks noChangeArrowheads="1"/>
            </p:cNvSpPr>
            <p:nvPr/>
          </p:nvSpPr>
          <p:spPr bwMode="gray">
            <a:xfrm rot="14407266">
              <a:off x="2972" y="2508"/>
              <a:ext cx="1073" cy="163"/>
            </a:xfrm>
            <a:prstGeom prst="rect">
              <a:avLst/>
            </a:prstGeom>
            <a:gradFill rotWithShape="1">
              <a:gsLst>
                <a:gs pos="0">
                  <a:srgbClr val="454545"/>
                </a:gs>
                <a:gs pos="50000">
                  <a:srgbClr val="969696"/>
                </a:gs>
                <a:gs pos="100000">
                  <a:srgbClr val="454545"/>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sp>
          <p:nvSpPr>
            <p:cNvPr id="22" name="Rectangle 9"/>
            <p:cNvSpPr>
              <a:spLocks noChangeArrowheads="1"/>
            </p:cNvSpPr>
            <p:nvPr/>
          </p:nvSpPr>
          <p:spPr bwMode="gray">
            <a:xfrm rot="-743917">
              <a:off x="1845" y="2038"/>
              <a:ext cx="636" cy="109"/>
            </a:xfrm>
            <a:prstGeom prst="rect">
              <a:avLst/>
            </a:prstGeom>
            <a:gradFill rotWithShape="1">
              <a:gsLst>
                <a:gs pos="0">
                  <a:srgbClr val="454545"/>
                </a:gs>
                <a:gs pos="50000">
                  <a:srgbClr val="969696"/>
                </a:gs>
                <a:gs pos="100000">
                  <a:srgbClr val="454545"/>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grpSp>
          <p:nvGrpSpPr>
            <p:cNvPr id="23" name="Group 10"/>
            <p:cNvGrpSpPr>
              <a:grpSpLocks/>
            </p:cNvGrpSpPr>
            <p:nvPr/>
          </p:nvGrpSpPr>
          <p:grpSpPr bwMode="auto">
            <a:xfrm>
              <a:off x="2436" y="1203"/>
              <a:ext cx="1141" cy="1169"/>
              <a:chOff x="2433" y="1234"/>
              <a:chExt cx="1141" cy="1169"/>
            </a:xfrm>
          </p:grpSpPr>
          <p:sp>
            <p:nvSpPr>
              <p:cNvPr id="39" name="Rectangle 11"/>
              <p:cNvSpPr>
                <a:spLocks noChangeArrowheads="1"/>
              </p:cNvSpPr>
              <p:nvPr/>
            </p:nvSpPr>
            <p:spPr bwMode="gray">
              <a:xfrm rot="-3205350">
                <a:off x="3175" y="1380"/>
                <a:ext cx="376" cy="83"/>
              </a:xfrm>
              <a:prstGeom prst="rect">
                <a:avLst/>
              </a:prstGeom>
              <a:gradFill rotWithShape="1">
                <a:gsLst>
                  <a:gs pos="0">
                    <a:srgbClr val="454545"/>
                  </a:gs>
                  <a:gs pos="50000">
                    <a:srgbClr val="969696"/>
                  </a:gs>
                  <a:gs pos="100000">
                    <a:srgbClr val="454545"/>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grpSp>
            <p:nvGrpSpPr>
              <p:cNvPr id="40" name="Group 12"/>
              <p:cNvGrpSpPr>
                <a:grpSpLocks/>
              </p:cNvGrpSpPr>
              <p:nvPr/>
            </p:nvGrpSpPr>
            <p:grpSpPr bwMode="auto">
              <a:xfrm>
                <a:off x="2433" y="1401"/>
                <a:ext cx="1141" cy="1002"/>
                <a:chOff x="2016" y="1920"/>
                <a:chExt cx="1891" cy="1680"/>
              </a:xfrm>
            </p:grpSpPr>
            <p:sp>
              <p:nvSpPr>
                <p:cNvPr id="42" name="Oval 13"/>
                <p:cNvSpPr>
                  <a:spLocks noChangeArrowheads="1"/>
                </p:cNvSpPr>
                <p:nvPr/>
              </p:nvSpPr>
              <p:spPr bwMode="gray">
                <a:xfrm>
                  <a:off x="2016" y="1920"/>
                  <a:ext cx="1891" cy="1680"/>
                </a:xfrm>
                <a:prstGeom prst="ellipse">
                  <a:avLst/>
                </a:prstGeom>
                <a:gradFill rotWithShape="1">
                  <a:gsLst>
                    <a:gs pos="0">
                      <a:srgbClr val="33CCCC"/>
                    </a:gs>
                    <a:gs pos="100000">
                      <a:srgbClr val="124646"/>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sp>
              <p:nvSpPr>
                <p:cNvPr id="43" name="Freeform 14"/>
                <p:cNvSpPr>
                  <a:spLocks/>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33CCCC"/>
                    </a:gs>
                  </a:gsLst>
                  <a:lin ang="5400000" scaled="1"/>
                </a:gradFill>
                <a:ln>
                  <a:noFill/>
                </a:ln>
                <a:extLst>
                  <a:ext uri="{91240B29-F687-4F45-9708-019B960494DF}">
                    <a14:hiddenLine xmlns:a14="http://schemas.microsoft.com/office/drawing/2010/main" w="0">
                      <a:solidFill>
                        <a:srgbClr val="BBF6EE"/>
                      </a:solidFill>
                      <a:prstDash val="solid"/>
                      <a:round/>
                      <a:headEnd/>
                      <a:tailEnd/>
                    </a14:hiddenLine>
                  </a:ext>
                </a:extLst>
              </p:spPr>
              <p:txBody>
                <a:bodyPr/>
                <a:lstStyle/>
                <a:p>
                  <a:endParaRPr lang="en-US"/>
                </a:p>
              </p:txBody>
            </p:sp>
          </p:grpSp>
          <p:sp>
            <p:nvSpPr>
              <p:cNvPr id="41" name="Text Box 15"/>
              <p:cNvSpPr txBox="1">
                <a:spLocks noChangeArrowheads="1"/>
              </p:cNvSpPr>
              <p:nvPr/>
            </p:nvSpPr>
            <p:spPr bwMode="gray">
              <a:xfrm>
                <a:off x="2673" y="1692"/>
                <a:ext cx="681"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2300" b="1" i="1" smtClean="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Lợi ích</a:t>
                </a:r>
                <a:endParaRPr lang="en-US" sz="2300" b="1" i="1">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pSp>
        <p:grpSp>
          <p:nvGrpSpPr>
            <p:cNvPr id="24" name="Group 16"/>
            <p:cNvGrpSpPr>
              <a:grpSpLocks/>
            </p:cNvGrpSpPr>
            <p:nvPr/>
          </p:nvGrpSpPr>
          <p:grpSpPr bwMode="auto">
            <a:xfrm>
              <a:off x="3303" y="477"/>
              <a:ext cx="1225" cy="1178"/>
              <a:chOff x="3300" y="508"/>
              <a:chExt cx="1225" cy="1178"/>
            </a:xfrm>
          </p:grpSpPr>
          <p:grpSp>
            <p:nvGrpSpPr>
              <p:cNvPr id="35" name="Group 17"/>
              <p:cNvGrpSpPr>
                <a:grpSpLocks/>
              </p:cNvGrpSpPr>
              <p:nvPr/>
            </p:nvGrpSpPr>
            <p:grpSpPr bwMode="auto">
              <a:xfrm>
                <a:off x="3300" y="508"/>
                <a:ext cx="1225" cy="1178"/>
                <a:chOff x="1953" y="973"/>
                <a:chExt cx="3753" cy="3643"/>
              </a:xfrm>
            </p:grpSpPr>
            <p:sp>
              <p:nvSpPr>
                <p:cNvPr id="37" name="Oval 18"/>
                <p:cNvSpPr>
                  <a:spLocks noChangeArrowheads="1"/>
                </p:cNvSpPr>
                <p:nvPr/>
              </p:nvSpPr>
              <p:spPr bwMode="gray">
                <a:xfrm>
                  <a:off x="1953" y="973"/>
                  <a:ext cx="3753" cy="3643"/>
                </a:xfrm>
                <a:prstGeom prst="ellipse">
                  <a:avLst/>
                </a:prstGeom>
                <a:gradFill rotWithShape="1">
                  <a:gsLst>
                    <a:gs pos="0">
                      <a:srgbClr val="CCCC00"/>
                    </a:gs>
                    <a:gs pos="100000">
                      <a:srgbClr val="5D5D00"/>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sp>
              <p:nvSpPr>
                <p:cNvPr id="38" name="Freeform 19"/>
                <p:cNvSpPr>
                  <a:spLocks/>
                </p:cNvSpPr>
                <p:nvPr/>
              </p:nvSpPr>
              <p:spPr bwMode="gray">
                <a:xfrm>
                  <a:off x="2793" y="997"/>
                  <a:ext cx="1889" cy="835"/>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CCCC00"/>
                    </a:gs>
                  </a:gsLst>
                  <a:lin ang="5400000" scaled="1"/>
                </a:gradFill>
                <a:ln>
                  <a:noFill/>
                </a:ln>
                <a:extLst>
                  <a:ext uri="{91240B29-F687-4F45-9708-019B960494DF}">
                    <a14:hiddenLine xmlns:a14="http://schemas.microsoft.com/office/drawing/2010/main" w="0">
                      <a:solidFill>
                        <a:srgbClr val="BBF6EE"/>
                      </a:solidFill>
                      <a:prstDash val="solid"/>
                      <a:round/>
                      <a:headEnd/>
                      <a:tailEnd/>
                    </a14:hiddenLine>
                  </a:ext>
                </a:extLst>
              </p:spPr>
              <p:txBody>
                <a:bodyPr/>
                <a:lstStyle/>
                <a:p>
                  <a:endParaRPr lang="en-US"/>
                </a:p>
              </p:txBody>
            </p:sp>
          </p:grpSp>
          <p:sp>
            <p:nvSpPr>
              <p:cNvPr id="36" name="Text Box 20"/>
              <p:cNvSpPr txBox="1">
                <a:spLocks noChangeArrowheads="1"/>
              </p:cNvSpPr>
              <p:nvPr/>
            </p:nvSpPr>
            <p:spPr bwMode="gray">
              <a:xfrm>
                <a:off x="3377" y="637"/>
                <a:ext cx="1105"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1800" b="1" smtClean="0">
                    <a:solidFill>
                      <a:srgbClr val="FFFFFF"/>
                    </a:solidFill>
                    <a:latin typeface="Times New Roman" panose="02020603050405020304" pitchFamily="18" charset="0"/>
                    <a:cs typeface="Times New Roman" panose="02020603050405020304" pitchFamily="18" charset="0"/>
                  </a:rPr>
                  <a:t>Đối với </a:t>
                </a:r>
              </a:p>
              <a:p>
                <a:pPr algn="ctr">
                  <a:defRPr/>
                </a:pPr>
                <a:r>
                  <a:rPr lang="en-US" sz="1800" b="1" smtClean="0">
                    <a:solidFill>
                      <a:srgbClr val="FFFFFF"/>
                    </a:solidFill>
                    <a:latin typeface="Times New Roman" panose="02020603050405020304" pitchFamily="18" charset="0"/>
                    <a:cs typeface="Times New Roman" panose="02020603050405020304" pitchFamily="18" charset="0"/>
                  </a:rPr>
                  <a:t>Cơ quan Thuế</a:t>
                </a:r>
                <a:endParaRPr lang="en-US" sz="1800" b="1">
                  <a:solidFill>
                    <a:srgbClr val="FFFFFF"/>
                  </a:solidFill>
                  <a:latin typeface="Times New Roman" panose="02020603050405020304" pitchFamily="18" charset="0"/>
                  <a:cs typeface="Times New Roman" panose="02020603050405020304" pitchFamily="18" charset="0"/>
                </a:endParaRPr>
              </a:p>
            </p:txBody>
          </p:sp>
        </p:grpSp>
        <p:grpSp>
          <p:nvGrpSpPr>
            <p:cNvPr id="25" name="Group 21"/>
            <p:cNvGrpSpPr>
              <a:grpSpLocks/>
            </p:cNvGrpSpPr>
            <p:nvPr/>
          </p:nvGrpSpPr>
          <p:grpSpPr bwMode="auto">
            <a:xfrm>
              <a:off x="728" y="1620"/>
              <a:ext cx="1286" cy="1128"/>
              <a:chOff x="725" y="1651"/>
              <a:chExt cx="1286" cy="1128"/>
            </a:xfrm>
          </p:grpSpPr>
          <p:grpSp>
            <p:nvGrpSpPr>
              <p:cNvPr id="31" name="Group 22"/>
              <p:cNvGrpSpPr>
                <a:grpSpLocks/>
              </p:cNvGrpSpPr>
              <p:nvPr/>
            </p:nvGrpSpPr>
            <p:grpSpPr bwMode="auto">
              <a:xfrm>
                <a:off x="725" y="1651"/>
                <a:ext cx="1286" cy="1128"/>
                <a:chOff x="1730" y="1920"/>
                <a:chExt cx="1966" cy="1680"/>
              </a:xfrm>
            </p:grpSpPr>
            <p:sp>
              <p:nvSpPr>
                <p:cNvPr id="33" name="Oval 23"/>
                <p:cNvSpPr>
                  <a:spLocks noChangeArrowheads="1"/>
                </p:cNvSpPr>
                <p:nvPr/>
              </p:nvSpPr>
              <p:spPr bwMode="gray">
                <a:xfrm>
                  <a:off x="1730" y="1920"/>
                  <a:ext cx="1966" cy="1680"/>
                </a:xfrm>
                <a:prstGeom prst="ellipse">
                  <a:avLst/>
                </a:prstGeom>
                <a:gradFill rotWithShape="1">
                  <a:gsLst>
                    <a:gs pos="0">
                      <a:srgbClr val="FFCC66"/>
                    </a:gs>
                    <a:gs pos="100000">
                      <a:srgbClr val="B9944A"/>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sp>
              <p:nvSpPr>
                <p:cNvPr id="34" name="Freeform 24"/>
                <p:cNvSpPr>
                  <a:spLocks/>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CC66"/>
                    </a:gs>
                  </a:gsLst>
                  <a:lin ang="5400000" scaled="1"/>
                </a:gradFill>
                <a:ln>
                  <a:noFill/>
                </a:ln>
                <a:extLst>
                  <a:ext uri="{91240B29-F687-4F45-9708-019B960494DF}">
                    <a14:hiddenLine xmlns:a14="http://schemas.microsoft.com/office/drawing/2010/main" w="0">
                      <a:solidFill>
                        <a:srgbClr val="BBF6EE"/>
                      </a:solidFill>
                      <a:prstDash val="solid"/>
                      <a:round/>
                      <a:headEnd/>
                      <a:tailEnd/>
                    </a14:hiddenLine>
                  </a:ext>
                </a:extLst>
              </p:spPr>
              <p:txBody>
                <a:bodyPr/>
                <a:lstStyle/>
                <a:p>
                  <a:endParaRPr lang="en-US"/>
                </a:p>
              </p:txBody>
            </p:sp>
          </p:grpSp>
          <p:sp>
            <p:nvSpPr>
              <p:cNvPr id="32" name="Text Box 25"/>
              <p:cNvSpPr txBox="1">
                <a:spLocks noChangeArrowheads="1"/>
              </p:cNvSpPr>
              <p:nvPr/>
            </p:nvSpPr>
            <p:spPr bwMode="gray">
              <a:xfrm>
                <a:off x="1060" y="1829"/>
                <a:ext cx="578"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1800" b="1" smtClean="0">
                    <a:solidFill>
                      <a:srgbClr val="FFFFFF"/>
                    </a:solidFill>
                    <a:latin typeface="Times New Roman" panose="02020603050405020304" pitchFamily="18" charset="0"/>
                    <a:cs typeface="Times New Roman" panose="02020603050405020304" pitchFamily="18" charset="0"/>
                  </a:rPr>
                  <a:t>Đối với</a:t>
                </a:r>
              </a:p>
              <a:p>
                <a:pPr algn="ctr">
                  <a:defRPr/>
                </a:pPr>
                <a:r>
                  <a:rPr lang="en-US" sz="1800" b="1" smtClean="0">
                    <a:solidFill>
                      <a:srgbClr val="FFFFFF"/>
                    </a:solidFill>
                    <a:latin typeface="Times New Roman" panose="02020603050405020304" pitchFamily="18" charset="0"/>
                    <a:cs typeface="Times New Roman" panose="02020603050405020304" pitchFamily="18" charset="0"/>
                  </a:rPr>
                  <a:t> Xã hội</a:t>
                </a:r>
                <a:endParaRPr lang="en-US" sz="1800" b="1">
                  <a:solidFill>
                    <a:srgbClr val="FFFFFF"/>
                  </a:solidFill>
                  <a:latin typeface="Times New Roman" panose="02020603050405020304" pitchFamily="18" charset="0"/>
                  <a:cs typeface="Times New Roman" panose="02020603050405020304" pitchFamily="18" charset="0"/>
                </a:endParaRPr>
              </a:p>
            </p:txBody>
          </p:sp>
        </p:grpSp>
        <p:grpSp>
          <p:nvGrpSpPr>
            <p:cNvPr id="26" name="Group 26"/>
            <p:cNvGrpSpPr>
              <a:grpSpLocks/>
            </p:cNvGrpSpPr>
            <p:nvPr/>
          </p:nvGrpSpPr>
          <p:grpSpPr bwMode="auto">
            <a:xfrm>
              <a:off x="2977" y="2671"/>
              <a:ext cx="1625" cy="1253"/>
              <a:chOff x="2974" y="2702"/>
              <a:chExt cx="1625" cy="1253"/>
            </a:xfrm>
          </p:grpSpPr>
          <p:grpSp>
            <p:nvGrpSpPr>
              <p:cNvPr id="27" name="Group 27"/>
              <p:cNvGrpSpPr>
                <a:grpSpLocks/>
              </p:cNvGrpSpPr>
              <p:nvPr/>
            </p:nvGrpSpPr>
            <p:grpSpPr bwMode="auto">
              <a:xfrm>
                <a:off x="2974" y="2702"/>
                <a:ext cx="1625" cy="1253"/>
                <a:chOff x="1613" y="2265"/>
                <a:chExt cx="2152" cy="1680"/>
              </a:xfrm>
            </p:grpSpPr>
            <p:sp>
              <p:nvSpPr>
                <p:cNvPr id="29" name="Oval 28"/>
                <p:cNvSpPr>
                  <a:spLocks noChangeArrowheads="1"/>
                </p:cNvSpPr>
                <p:nvPr/>
              </p:nvSpPr>
              <p:spPr bwMode="gray">
                <a:xfrm>
                  <a:off x="1613" y="2265"/>
                  <a:ext cx="2152" cy="1680"/>
                </a:xfrm>
                <a:prstGeom prst="ellipse">
                  <a:avLst/>
                </a:prstGeom>
                <a:gradFill rotWithShape="1">
                  <a:gsLst>
                    <a:gs pos="0">
                      <a:srgbClr val="9942E0"/>
                    </a:gs>
                    <a:gs pos="100000">
                      <a:srgbClr val="53247A"/>
                    </a:gs>
                  </a:gsLst>
                  <a:lin ang="54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sy="50000" kx="-2453608" rotWithShape="0">
                          <a:schemeClr val="bg2">
                            <a:alpha val="50000"/>
                          </a:schemeClr>
                        </a:outerShdw>
                      </a:effectLst>
                    </a14:hiddenEffects>
                  </a:ext>
                </a:extLst>
              </p:spPr>
              <p:txBody>
                <a:bodyPr wrap="none" anchor="ctr"/>
                <a:lstStyle>
                  <a:lvl1pPr>
                    <a:spcBef>
                      <a:spcPct val="20000"/>
                    </a:spcBef>
                    <a:buClr>
                      <a:schemeClr val="tx2"/>
                    </a:buClr>
                    <a:buFont typeface="Wingdings" pitchFamily="2" charset="2"/>
                    <a:buChar char="§"/>
                    <a:defRPr sz="2800">
                      <a:solidFill>
                        <a:schemeClr val="tx2"/>
                      </a:solidFill>
                      <a:latin typeface="Arial" pitchFamily="34" charset="0"/>
                    </a:defRPr>
                  </a:lvl1pPr>
                  <a:lvl2pPr marL="742950" indent="-285750">
                    <a:spcBef>
                      <a:spcPct val="20000"/>
                    </a:spcBef>
                    <a:buClr>
                      <a:schemeClr val="accent1"/>
                    </a:buClr>
                    <a:buFont typeface="Wingdings" pitchFamily="2" charset="2"/>
                    <a:buChar char="§"/>
                    <a:defRPr sz="2400">
                      <a:solidFill>
                        <a:schemeClr val="tx1"/>
                      </a:solidFill>
                      <a:latin typeface="Arial" pitchFamily="34" charset="0"/>
                    </a:defRPr>
                  </a:lvl2pPr>
                  <a:lvl3pPr marL="1143000" indent="-228600">
                    <a:spcBef>
                      <a:spcPct val="20000"/>
                    </a:spcBef>
                    <a:buClr>
                      <a:schemeClr val="tx1"/>
                    </a:buClr>
                    <a:buChar char="•"/>
                    <a:defRPr sz="2000">
                      <a:solidFill>
                        <a:schemeClr val="tx1"/>
                      </a:solidFill>
                      <a:latin typeface="Arial" pitchFamily="34" charset="0"/>
                    </a:defRPr>
                  </a:lvl3pPr>
                  <a:lvl4pPr marL="1600200" indent="-228600">
                    <a:spcBef>
                      <a:spcPct val="20000"/>
                    </a:spcBef>
                    <a:buChar char="–"/>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eaLnBrk="1" hangingPunct="1">
                    <a:spcBef>
                      <a:spcPct val="0"/>
                    </a:spcBef>
                    <a:buClrTx/>
                    <a:buFontTx/>
                    <a:buNone/>
                  </a:pPr>
                  <a:endParaRPr lang="en-US" altLang="en-US" sz="1800">
                    <a:solidFill>
                      <a:schemeClr val="tx1"/>
                    </a:solidFill>
                  </a:endParaRPr>
                </a:p>
              </p:txBody>
            </p:sp>
            <p:sp>
              <p:nvSpPr>
                <p:cNvPr id="30" name="Freeform 29"/>
                <p:cNvSpPr>
                  <a:spLocks/>
                </p:cNvSpPr>
                <p:nvPr/>
              </p:nvSpPr>
              <p:spPr bwMode="gray">
                <a:xfrm>
                  <a:off x="1962" y="2293"/>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9942E0"/>
                    </a:gs>
                  </a:gsLst>
                  <a:lin ang="5400000" scaled="1"/>
                </a:gradFill>
                <a:ln>
                  <a:noFill/>
                </a:ln>
                <a:effectLst/>
                <a:extLst>
                  <a:ext uri="{91240B29-F687-4F45-9708-019B960494DF}">
                    <a14:hiddenLine xmlns:a14="http://schemas.microsoft.com/office/drawing/2010/main" w="0">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8" name="Text Box 30"/>
              <p:cNvSpPr txBox="1">
                <a:spLocks noChangeArrowheads="1"/>
              </p:cNvSpPr>
              <p:nvPr/>
            </p:nvSpPr>
            <p:spPr bwMode="gray">
              <a:xfrm>
                <a:off x="3289" y="2949"/>
                <a:ext cx="1008"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1800" b="1" smtClean="0">
                    <a:solidFill>
                      <a:srgbClr val="FFFFFF"/>
                    </a:solidFill>
                    <a:latin typeface="Times New Roman" panose="02020603050405020304" pitchFamily="18" charset="0"/>
                    <a:ea typeface="Tahoma" panose="020B0604030504040204" pitchFamily="34" charset="0"/>
                    <a:cs typeface="Times New Roman" panose="02020603050405020304" pitchFamily="18" charset="0"/>
                  </a:rPr>
                  <a:t>Đối với </a:t>
                </a:r>
              </a:p>
              <a:p>
                <a:pPr algn="ctr">
                  <a:defRPr/>
                </a:pPr>
                <a:r>
                  <a:rPr lang="en-US" sz="1800" b="1" smtClean="0">
                    <a:solidFill>
                      <a:srgbClr val="FFFFFF"/>
                    </a:solidFill>
                    <a:latin typeface="Times New Roman" panose="02020603050405020304" pitchFamily="18" charset="0"/>
                    <a:ea typeface="Tahoma" panose="020B0604030504040204" pitchFamily="34" charset="0"/>
                    <a:cs typeface="Times New Roman" panose="02020603050405020304" pitchFamily="18" charset="0"/>
                  </a:rPr>
                  <a:t>Doanh nghiệp</a:t>
                </a:r>
                <a:endParaRPr lang="en-US" sz="1800" b="1">
                  <a:solidFill>
                    <a:srgbClr val="FFFFFF"/>
                  </a:solidFill>
                  <a:latin typeface="Times New Roman" panose="02020603050405020304" pitchFamily="18" charset="0"/>
                  <a:ea typeface="Tahoma" panose="020B0604030504040204" pitchFamily="34" charset="0"/>
                  <a:cs typeface="Times New Roman" panose="02020603050405020304" pitchFamily="18" charset="0"/>
                </a:endParaRPr>
              </a:p>
            </p:txBody>
          </p:sp>
        </p:grpSp>
      </p:grpSp>
      <p:sp>
        <p:nvSpPr>
          <p:cNvPr id="64" name="object 35"/>
          <p:cNvSpPr txBox="1">
            <a:spLocks noChangeArrowheads="1"/>
          </p:cNvSpPr>
          <p:nvPr/>
        </p:nvSpPr>
        <p:spPr bwMode="auto">
          <a:xfrm>
            <a:off x="5807283" y="5715580"/>
            <a:ext cx="5545345" cy="88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700" rIns="0" bIns="0">
            <a:spAutoFit/>
          </a:bodyPr>
          <a:lstStyle>
            <a:lvl1pPr marL="287338"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l" fontAlgn="base">
              <a:spcBef>
                <a:spcPct val="0"/>
              </a:spcBef>
              <a:spcAft>
                <a:spcPct val="0"/>
              </a:spcAft>
              <a:buClrTx/>
              <a:buFontTx/>
              <a:buNone/>
            </a:pPr>
            <a:r>
              <a:rPr lang="en-US" altLang="en-US" sz="1800" kern="1200" smtClean="0">
                <a:solidFill>
                  <a:srgbClr val="2B166D"/>
                </a:solidFill>
                <a:latin typeface="Times New Roman" pitchFamily="18" charset="0"/>
                <a:ea typeface="+mn-ea"/>
                <a:cs typeface="Times New Roman" pitchFamily="18" charset="0"/>
              </a:rPr>
              <a:t>Tạo sự yên tâm cho người mua hàng hóa, dịch vụ </a:t>
            </a:r>
            <a:r>
              <a:rPr lang="en-US" altLang="en-US" sz="2000" i="1" kern="1200" smtClean="0">
                <a:solidFill>
                  <a:srgbClr val="2B166D"/>
                </a:solidFill>
                <a:latin typeface="Times New Roman" pitchFamily="18" charset="0"/>
                <a:ea typeface="+mn-ea"/>
                <a:cs typeface="Times New Roman" pitchFamily="18" charset="0"/>
              </a:rPr>
              <a:t>Đảm bảo độ chính xác cao, an toàn</a:t>
            </a:r>
          </a:p>
          <a:p>
            <a:pPr algn="l" fontAlgn="base">
              <a:spcBef>
                <a:spcPts val="10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grpSp>
        <p:nvGrpSpPr>
          <p:cNvPr id="65" name="object 36"/>
          <p:cNvGrpSpPr>
            <a:grpSpLocks/>
          </p:cNvGrpSpPr>
          <p:nvPr/>
        </p:nvGrpSpPr>
        <p:grpSpPr bwMode="auto">
          <a:xfrm>
            <a:off x="4898035" y="4647996"/>
            <a:ext cx="1154749" cy="689249"/>
            <a:chOff x="1924811" y="3951732"/>
            <a:chExt cx="882650" cy="818515"/>
          </a:xfrm>
        </p:grpSpPr>
        <p:sp>
          <p:nvSpPr>
            <p:cNvPr id="66" name="object 37"/>
            <p:cNvSpPr>
              <a:spLocks noChangeArrowheads="1"/>
            </p:cNvSpPr>
            <p:nvPr/>
          </p:nvSpPr>
          <p:spPr bwMode="auto">
            <a:xfrm>
              <a:off x="1924811" y="3951732"/>
              <a:ext cx="856488" cy="79248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67" name="object 38"/>
            <p:cNvSpPr>
              <a:spLocks noChangeArrowheads="1"/>
            </p:cNvSpPr>
            <p:nvPr/>
          </p:nvSpPr>
          <p:spPr bwMode="auto">
            <a:xfrm>
              <a:off x="1938400" y="3965575"/>
              <a:ext cx="868807" cy="804544"/>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grpSp>
      <p:sp>
        <p:nvSpPr>
          <p:cNvPr id="68" name="Rectangle 2"/>
          <p:cNvSpPr>
            <a:spLocks noChangeArrowheads="1"/>
          </p:cNvSpPr>
          <p:nvPr/>
        </p:nvSpPr>
        <p:spPr bwMode="auto">
          <a:xfrm>
            <a:off x="5807282" y="4591226"/>
            <a:ext cx="554534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7338"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l" fontAlgn="base">
              <a:spcBef>
                <a:spcPct val="0"/>
              </a:spcBef>
              <a:spcAft>
                <a:spcPct val="0"/>
              </a:spcAft>
              <a:buClrTx/>
              <a:buFontTx/>
              <a:buNone/>
            </a:pPr>
            <a:r>
              <a:rPr lang="en-US" altLang="en-US" sz="1800" kern="1200" smtClean="0">
                <a:solidFill>
                  <a:srgbClr val="2B166D"/>
                </a:solidFill>
                <a:latin typeface="Times New Roman" pitchFamily="18" charset="0"/>
                <a:ea typeface="+mn-ea"/>
                <a:cs typeface="Times New Roman" pitchFamily="18" charset="0"/>
              </a:rPr>
              <a:t>Giảm thiểu và khắc phục rủi ro làm mất, hỏng, cháy khi sử dụng hóa đơn giấy</a:t>
            </a:r>
          </a:p>
        </p:txBody>
      </p:sp>
      <p:grpSp>
        <p:nvGrpSpPr>
          <p:cNvPr id="73" name="object 39"/>
          <p:cNvGrpSpPr>
            <a:grpSpLocks/>
          </p:cNvGrpSpPr>
          <p:nvPr/>
        </p:nvGrpSpPr>
        <p:grpSpPr bwMode="auto">
          <a:xfrm>
            <a:off x="4919784" y="5670383"/>
            <a:ext cx="1098773" cy="741172"/>
            <a:chOff x="1938527" y="5271515"/>
            <a:chExt cx="852169" cy="843280"/>
          </a:xfrm>
        </p:grpSpPr>
        <p:sp>
          <p:nvSpPr>
            <p:cNvPr id="74" name="object 40"/>
            <p:cNvSpPr>
              <a:spLocks noChangeArrowheads="1"/>
            </p:cNvSpPr>
            <p:nvPr/>
          </p:nvSpPr>
          <p:spPr bwMode="auto">
            <a:xfrm>
              <a:off x="1938527" y="5271515"/>
              <a:ext cx="827532" cy="818388"/>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sp>
          <p:nvSpPr>
            <p:cNvPr id="75" name="object 41"/>
            <p:cNvSpPr>
              <a:spLocks noChangeArrowheads="1"/>
            </p:cNvSpPr>
            <p:nvPr/>
          </p:nvSpPr>
          <p:spPr bwMode="auto">
            <a:xfrm>
              <a:off x="1952624" y="5286374"/>
              <a:ext cx="837819" cy="827913"/>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fontAlgn="base">
                <a:spcBef>
                  <a:spcPct val="0"/>
                </a:spcBef>
                <a:spcAft>
                  <a:spcPct val="0"/>
                </a:spcAft>
                <a:buClrTx/>
                <a:buFontTx/>
                <a:buNone/>
              </a:pPr>
              <a:endParaRPr lang="en-US" altLang="en-US" sz="1800" b="0" kern="1200" smtClean="0">
                <a:solidFill>
                  <a:srgbClr val="2B166E"/>
                </a:solidFill>
                <a:latin typeface="Times New Roman" pitchFamily="18" charset="0"/>
                <a:ea typeface="+mn-ea"/>
                <a:cs typeface="Times New Roman" pitchFamily="18" charset="0"/>
              </a:endParaRPr>
            </a:p>
          </p:txBody>
        </p:sp>
      </p:grpSp>
      <p:sp>
        <p:nvSpPr>
          <p:cNvPr id="76" name="Rectangle 1"/>
          <p:cNvSpPr>
            <a:spLocks noChangeArrowheads="1"/>
          </p:cNvSpPr>
          <p:nvPr/>
        </p:nvSpPr>
        <p:spPr bwMode="auto">
          <a:xfrm>
            <a:off x="6102512" y="3498343"/>
            <a:ext cx="5250116"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fontAlgn="base">
              <a:lnSpc>
                <a:spcPts val="2588"/>
              </a:lnSpc>
              <a:spcBef>
                <a:spcPts val="600"/>
              </a:spcBef>
              <a:spcAft>
                <a:spcPct val="0"/>
              </a:spcAft>
              <a:buClrTx/>
              <a:buFontTx/>
              <a:buNone/>
            </a:pPr>
            <a:r>
              <a:rPr lang="en-US" altLang="en-US" sz="1800" kern="1200" smtClean="0">
                <a:solidFill>
                  <a:srgbClr val="2B166D"/>
                </a:solidFill>
                <a:latin typeface="Times New Roman" pitchFamily="18" charset="0"/>
                <a:ea typeface="+mn-ea"/>
                <a:cs typeface="Times New Roman" pitchFamily="18" charset="0"/>
              </a:rPr>
              <a:t>Giảm thời gian tuân thủ thủ tục hành chính thuế </a:t>
            </a:r>
            <a:endParaRPr lang="en-US" altLang="en-US" sz="1800" i="1" kern="1200" smtClean="0">
              <a:solidFill>
                <a:srgbClr val="2B166D"/>
              </a:solidFill>
              <a:latin typeface="Times New Roman" pitchFamily="18" charset="0"/>
              <a:ea typeface="+mn-ea"/>
              <a:cs typeface="Times New Roman" pitchFamily="18" charset="0"/>
            </a:endParaRPr>
          </a:p>
        </p:txBody>
      </p:sp>
      <p:pic>
        <p:nvPicPr>
          <p:cNvPr id="2" name="Picture 1"/>
          <p:cNvPicPr>
            <a:picLocks noChangeAspect="1"/>
          </p:cNvPicPr>
          <p:nvPr/>
        </p:nvPicPr>
        <p:blipFill>
          <a:blip r:embed="rId7"/>
          <a:stretch>
            <a:fillRect/>
          </a:stretch>
        </p:blipFill>
        <p:spPr>
          <a:xfrm>
            <a:off x="4983184" y="2512588"/>
            <a:ext cx="1072989" cy="621846"/>
          </a:xfrm>
          <a:prstGeom prst="rect">
            <a:avLst/>
          </a:prstGeom>
        </p:spPr>
      </p:pic>
      <p:pic>
        <p:nvPicPr>
          <p:cNvPr id="3" name="Picture 2"/>
          <p:cNvPicPr>
            <a:picLocks noChangeAspect="1"/>
          </p:cNvPicPr>
          <p:nvPr/>
        </p:nvPicPr>
        <p:blipFill>
          <a:blip r:embed="rId8"/>
          <a:stretch>
            <a:fillRect/>
          </a:stretch>
        </p:blipFill>
        <p:spPr>
          <a:xfrm>
            <a:off x="4955410" y="3592036"/>
            <a:ext cx="1097375" cy="658425"/>
          </a:xfrm>
          <a:prstGeom prst="rect">
            <a:avLst/>
          </a:prstGeom>
        </p:spPr>
      </p:pic>
      <p:cxnSp>
        <p:nvCxnSpPr>
          <p:cNvPr id="77" name="Straight Arrow Connector 76"/>
          <p:cNvCxnSpPr>
            <a:stCxn id="29" idx="7"/>
            <a:endCxn id="46" idx="1"/>
          </p:cNvCxnSpPr>
          <p:nvPr/>
        </p:nvCxnSpPr>
        <p:spPr>
          <a:xfrm flipV="1">
            <a:off x="4049579" y="2810846"/>
            <a:ext cx="778157" cy="732516"/>
          </a:xfrm>
          <a:prstGeom prst="straightConnector1">
            <a:avLst/>
          </a:prstGeom>
          <a:ln w="57150">
            <a:solidFill>
              <a:srgbClr val="7030A0"/>
            </a:solidFill>
            <a:prstDash val="sysDash"/>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29" idx="6"/>
            <a:endCxn id="51" idx="1"/>
          </p:cNvCxnSpPr>
          <p:nvPr/>
        </p:nvCxnSpPr>
        <p:spPr>
          <a:xfrm flipV="1">
            <a:off x="4287323" y="3907754"/>
            <a:ext cx="515838" cy="67799"/>
          </a:xfrm>
          <a:prstGeom prst="straightConnector1">
            <a:avLst/>
          </a:prstGeom>
          <a:ln w="57150">
            <a:solidFill>
              <a:srgbClr val="7030A0"/>
            </a:solidFill>
            <a:prstDash val="sysDash"/>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29" idx="5"/>
            <a:endCxn id="70" idx="1"/>
          </p:cNvCxnSpPr>
          <p:nvPr/>
        </p:nvCxnSpPr>
        <p:spPr>
          <a:xfrm>
            <a:off x="4049579" y="4407743"/>
            <a:ext cx="738993" cy="532967"/>
          </a:xfrm>
          <a:prstGeom prst="straightConnector1">
            <a:avLst/>
          </a:prstGeom>
          <a:ln w="57150">
            <a:solidFill>
              <a:srgbClr val="7030A0"/>
            </a:solidFill>
            <a:prstDash val="sysDash"/>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endCxn id="61" idx="1"/>
          </p:cNvCxnSpPr>
          <p:nvPr/>
        </p:nvCxnSpPr>
        <p:spPr>
          <a:xfrm>
            <a:off x="3756074" y="4529850"/>
            <a:ext cx="1032498" cy="1431858"/>
          </a:xfrm>
          <a:prstGeom prst="straightConnector1">
            <a:avLst/>
          </a:prstGeom>
          <a:ln w="57150">
            <a:solidFill>
              <a:srgbClr val="7030A0"/>
            </a:solidFill>
            <a:prstDash val="sysDash"/>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2" name="Oval 71"/>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9980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200" b="1">
                <a:solidFill>
                  <a:schemeClr val="accent1">
                    <a:lumMod val="50000"/>
                  </a:schemeClr>
                </a:solidFill>
              </a:rPr>
              <a:t>NỘI DUNG CHÍNH VỀ HÓA ĐƠN ĐIỆN TỬ:</a:t>
            </a: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 name="Content Placeholder 2"/>
          <p:cNvSpPr txBox="1">
            <a:spLocks/>
          </p:cNvSpPr>
          <p:nvPr/>
        </p:nvSpPr>
        <p:spPr>
          <a:xfrm>
            <a:off x="878729" y="1153082"/>
            <a:ext cx="10825764" cy="5097462"/>
          </a:xfrm>
          <a:prstGeom prst="rect">
            <a:avLst/>
          </a:prstGeom>
          <a:solidFill>
            <a:schemeClr val="accent3">
              <a:lumMod val="20000"/>
              <a:lumOff val="80000"/>
            </a:schemeClr>
          </a:solidFill>
          <a:ln w="76200">
            <a:solidFill>
              <a:schemeClr val="tx1"/>
            </a:solidFill>
            <a:prstDash val="sysDash"/>
          </a:ln>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charset="2"/>
              <a:buNone/>
              <a:defRPr/>
            </a:pPr>
            <a:endParaRPr lang="en-US" b="1" smtClean="0">
              <a:solidFill>
                <a:schemeClr val="tx1">
                  <a:lumMod val="75000"/>
                  <a:lumOff val="25000"/>
                </a:schemeClr>
              </a:solidFill>
              <a:latin typeface="Times New Roman" panose="02020603050405020304" pitchFamily="18" charset="0"/>
              <a:cs typeface="Times New Roman" panose="02020603050405020304" pitchFamily="18" charset="0"/>
            </a:endParaRPr>
          </a:p>
          <a:p>
            <a:pPr>
              <a:buFont typeface="Wingdings 3" charset="2"/>
              <a:buChar char=""/>
              <a:defRPr/>
            </a:pPr>
            <a:endParaRPr lang="en-US" sz="1600" dirty="0" smtClean="0">
              <a:solidFill>
                <a:schemeClr val="tx1">
                  <a:lumMod val="75000"/>
                  <a:lumOff val="25000"/>
                </a:schemeClr>
              </a:solidFill>
              <a:latin typeface="Times New Roman" panose="02020603050405020304" pitchFamily="18" charset="0"/>
              <a:cs typeface="Times New Roman" panose="02020603050405020304" pitchFamily="18" charset="0"/>
            </a:endParaRPr>
          </a:p>
        </p:txBody>
      </p:sp>
      <p:graphicFrame>
        <p:nvGraphicFramePr>
          <p:cNvPr id="82" name="Table 81"/>
          <p:cNvGraphicFramePr>
            <a:graphicFrameLocks noGrp="1"/>
          </p:cNvGraphicFramePr>
          <p:nvPr>
            <p:extLst>
              <p:ext uri="{D42A27DB-BD31-4B8C-83A1-F6EECF244321}">
                <p14:modId xmlns:p14="http://schemas.microsoft.com/office/powerpoint/2010/main" val="3189676734"/>
              </p:ext>
            </p:extLst>
          </p:nvPr>
        </p:nvGraphicFramePr>
        <p:xfrm>
          <a:off x="1517403" y="1217208"/>
          <a:ext cx="9835223" cy="4724400"/>
        </p:xfrm>
        <a:graphic>
          <a:graphicData uri="http://schemas.openxmlformats.org/drawingml/2006/table">
            <a:tbl>
              <a:tblPr firstRow="1" bandRow="1">
                <a:tableStyleId>{5C22544A-7EE6-4342-B048-85BDC9FD1C3A}</a:tableStyleId>
              </a:tblPr>
              <a:tblGrid>
                <a:gridCol w="5090293">
                  <a:extLst>
                    <a:ext uri="{9D8B030D-6E8A-4147-A177-3AD203B41FA5}">
                      <a16:colId xmlns:a16="http://schemas.microsoft.com/office/drawing/2014/main" val="759680492"/>
                    </a:ext>
                  </a:extLst>
                </a:gridCol>
                <a:gridCol w="4744930">
                  <a:extLst>
                    <a:ext uri="{9D8B030D-6E8A-4147-A177-3AD203B41FA5}">
                      <a16:colId xmlns:a16="http://schemas.microsoft.com/office/drawing/2014/main" val="1772145284"/>
                    </a:ext>
                  </a:extLst>
                </a:gridCol>
              </a:tblGrid>
              <a:tr h="0">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US" sz="2200" dirty="0">
                        <a:solidFill>
                          <a:schemeClr val="accent1">
                            <a:lumMod val="50000"/>
                          </a:schemeClr>
                        </a:solidFill>
                        <a:effectLst>
                          <a:outerShdw blurRad="38100" dist="38100" dir="2700000" algn="tl">
                            <a:srgbClr val="000000">
                              <a:alpha val="43137"/>
                            </a:srgbClr>
                          </a:outerShdw>
                        </a:effectLst>
                      </a:endParaRPr>
                    </a:p>
                  </a:txBody>
                  <a:tcPr marL="91431" marR="91431">
                    <a:noFill/>
                  </a:tcPr>
                </a:tc>
                <a:tc hMerge="1">
                  <a:txBody>
                    <a:bodyPr/>
                    <a:lstStyle/>
                    <a:p>
                      <a:pPr algn="ctr"/>
                      <a:endParaRPr lang="en-US" sz="1800" dirty="0"/>
                    </a:p>
                  </a:txBody>
                  <a:tcPr marL="91433" marR="91433" marT="45723" marB="45723">
                    <a:noFill/>
                  </a:tcPr>
                </a:tc>
                <a:extLst>
                  <a:ext uri="{0D108BD9-81ED-4DB2-BD59-A6C34878D82A}">
                    <a16:rowId xmlns:a16="http://schemas.microsoft.com/office/drawing/2014/main" val="606207149"/>
                  </a:ext>
                </a:extLst>
              </a:tr>
              <a:tr h="3993092">
                <a:tc>
                  <a:txBody>
                    <a:bodyPr/>
                    <a:lstStyle/>
                    <a:p>
                      <a:pPr eaLnBrk="1" fontAlgn="auto" hangingPunct="1">
                        <a:lnSpc>
                          <a:spcPct val="120000"/>
                        </a:lnSpc>
                        <a:spcBef>
                          <a:spcPts val="800"/>
                        </a:spcBef>
                        <a:spcAft>
                          <a:spcPts val="0"/>
                        </a:spcAft>
                        <a:buFont typeface="Wingdings 3" charset="2"/>
                        <a:buNone/>
                        <a:defRPr/>
                      </a:pPr>
                      <a:r>
                        <a:rPr lang="en-US" sz="1800" b="1" dirty="0" smtClean="0">
                          <a:solidFill>
                            <a:srgbClr val="183D5E"/>
                          </a:solidFill>
                          <a:latin typeface="Times New Roman" panose="02020603050405020304" pitchFamily="18" charset="0"/>
                          <a:cs typeface="Times New Roman" panose="02020603050405020304" pitchFamily="18" charset="0"/>
                        </a:rPr>
                        <a:t>1. ĐỐI TƯỢNG SỬ </a:t>
                      </a:r>
                      <a:r>
                        <a:rPr lang="en-US" sz="1800" b="1" smtClean="0">
                          <a:solidFill>
                            <a:srgbClr val="183D5E"/>
                          </a:solidFill>
                          <a:latin typeface="Times New Roman" panose="02020603050405020304" pitchFamily="18" charset="0"/>
                          <a:cs typeface="Times New Roman" panose="02020603050405020304" pitchFamily="18" charset="0"/>
                        </a:rPr>
                        <a:t>DỤNG HĐĐT</a:t>
                      </a:r>
                      <a:endParaRPr lang="en-US" sz="1800" b="1" dirty="0" smtClean="0">
                        <a:solidFill>
                          <a:srgbClr val="183D5E"/>
                        </a:solidFill>
                        <a:latin typeface="Times New Roman" panose="02020603050405020304" pitchFamily="18" charset="0"/>
                        <a:cs typeface="Times New Roman" panose="02020603050405020304" pitchFamily="18" charset="0"/>
                      </a:endParaRPr>
                    </a:p>
                    <a:p>
                      <a:pPr eaLnBrk="1" fontAlgn="auto" hangingPunct="1">
                        <a:lnSpc>
                          <a:spcPct val="120000"/>
                        </a:lnSpc>
                        <a:spcBef>
                          <a:spcPts val="800"/>
                        </a:spcBef>
                        <a:spcAft>
                          <a:spcPts val="0"/>
                        </a:spcAft>
                        <a:buFont typeface="Wingdings 3" charset="2"/>
                        <a:buNone/>
                        <a:defRPr/>
                      </a:pPr>
                      <a:r>
                        <a:rPr lang="en-US" sz="1800" b="1" dirty="0" smtClean="0">
                          <a:solidFill>
                            <a:srgbClr val="183D5E"/>
                          </a:solidFill>
                          <a:latin typeface="Times New Roman" panose="02020603050405020304" pitchFamily="18" charset="0"/>
                          <a:cs typeface="Times New Roman" panose="02020603050405020304" pitchFamily="18" charset="0"/>
                        </a:rPr>
                        <a:t>2. CÁC LOẠI HÓA ĐƠN ĐIỆN TỬ</a:t>
                      </a:r>
                    </a:p>
                    <a:p>
                      <a:pPr eaLnBrk="1" fontAlgn="auto" hangingPunct="1">
                        <a:lnSpc>
                          <a:spcPct val="120000"/>
                        </a:lnSpc>
                        <a:spcBef>
                          <a:spcPts val="800"/>
                        </a:spcBef>
                        <a:spcAft>
                          <a:spcPts val="0"/>
                        </a:spcAft>
                        <a:buFont typeface="Wingdings 3" charset="2"/>
                        <a:buNone/>
                        <a:defRPr/>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3. ĐIỀU KIỆN SỬ DỤNG HĐ ĐT</a:t>
                      </a: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4. HỦY CÁC HĐ ĐÃ TBPH THEO NĐ 51</a:t>
                      </a: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5. NGUYÊN TẮC </a:t>
                      </a:r>
                      <a:r>
                        <a:rPr lang="en-US" sz="1800" b="1" kern="1200" smtClean="0">
                          <a:solidFill>
                            <a:srgbClr val="183D5E"/>
                          </a:solidFill>
                          <a:latin typeface="Times New Roman" panose="02020603050405020304" pitchFamily="18" charset="0"/>
                          <a:ea typeface="+mn-ea"/>
                          <a:cs typeface="Times New Roman" panose="02020603050405020304" pitchFamily="18" charset="0"/>
                        </a:rPr>
                        <a:t>LẬP HĐĐT</a:t>
                      </a:r>
                      <a:endParaRPr lang="en-US" sz="1800" b="1" kern="1200" dirty="0" smtClean="0">
                        <a:solidFill>
                          <a:srgbClr val="183D5E"/>
                        </a:solidFill>
                        <a:latin typeface="Times New Roman" panose="02020603050405020304" pitchFamily="18" charset="0"/>
                        <a:ea typeface="+mn-ea"/>
                        <a:cs typeface="Times New Roman" panose="02020603050405020304" pitchFamily="18" charset="0"/>
                      </a:endParaRP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6. </a:t>
                      </a:r>
                      <a:r>
                        <a:rPr lang="en-US" sz="1800" b="1" kern="1200" smtClean="0">
                          <a:solidFill>
                            <a:srgbClr val="183D5E"/>
                          </a:solidFill>
                          <a:latin typeface="Times New Roman" panose="02020603050405020304" pitchFamily="18" charset="0"/>
                          <a:ea typeface="+mn-ea"/>
                          <a:cs typeface="Times New Roman" panose="02020603050405020304" pitchFamily="18" charset="0"/>
                        </a:rPr>
                        <a:t>THỜI ĐIỂM LẬP HĐĐT</a:t>
                      </a:r>
                      <a:endParaRPr lang="en-US" sz="1800" b="1" kern="1200" dirty="0" smtClean="0">
                        <a:solidFill>
                          <a:srgbClr val="183D5E"/>
                        </a:solidFill>
                        <a:latin typeface="Times New Roman" panose="02020603050405020304" pitchFamily="18" charset="0"/>
                        <a:ea typeface="+mn-ea"/>
                        <a:cs typeface="Times New Roman" panose="02020603050405020304" pitchFamily="18" charset="0"/>
                      </a:endParaRPr>
                    </a:p>
                    <a:p>
                      <a:pPr eaLnBrk="1" fontAlgn="auto" hangingPunct="1">
                        <a:lnSpc>
                          <a:spcPct val="120000"/>
                        </a:lnSpc>
                        <a:spcBef>
                          <a:spcPts val="800"/>
                        </a:spcBef>
                        <a:spcAft>
                          <a:spcPts val="0"/>
                        </a:spcAft>
                        <a:buFont typeface="Wingdings 3" charset="2"/>
                        <a:buNone/>
                        <a:defRPr/>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7. ỦY NHIỆM </a:t>
                      </a:r>
                      <a:r>
                        <a:rPr lang="en-US" sz="1800" b="1" smtClean="0">
                          <a:solidFill>
                            <a:schemeClr val="accent1">
                              <a:lumMod val="75000"/>
                            </a:schemeClr>
                          </a:solidFill>
                          <a:latin typeface="Times New Roman" panose="02020603050405020304" pitchFamily="18" charset="0"/>
                          <a:cs typeface="Times New Roman" panose="02020603050405020304" pitchFamily="18" charset="0"/>
                        </a:rPr>
                        <a:t>LẬP HĐĐT</a:t>
                      </a:r>
                      <a:endParaRPr lang="en-US" sz="18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8 . NỘI </a:t>
                      </a:r>
                      <a:r>
                        <a:rPr lang="en-US" sz="1800" b="1" kern="1200" smtClean="0">
                          <a:solidFill>
                            <a:srgbClr val="183D5E"/>
                          </a:solidFill>
                          <a:latin typeface="Times New Roman" panose="02020603050405020304" pitchFamily="18" charset="0"/>
                          <a:ea typeface="+mn-ea"/>
                          <a:cs typeface="Times New Roman" panose="02020603050405020304" pitchFamily="18" charset="0"/>
                        </a:rPr>
                        <a:t>DUNG HĐĐT</a:t>
                      </a:r>
                      <a:endParaRPr lang="en-US" sz="1800" b="1" kern="1200" dirty="0" smtClean="0">
                        <a:solidFill>
                          <a:srgbClr val="183D5E"/>
                        </a:solidFill>
                        <a:latin typeface="Times New Roman" panose="02020603050405020304" pitchFamily="18" charset="0"/>
                        <a:ea typeface="+mn-ea"/>
                        <a:cs typeface="Times New Roman" panose="02020603050405020304" pitchFamily="18" charset="0"/>
                      </a:endParaRPr>
                    </a:p>
                    <a:p>
                      <a:pPr eaLnBrk="1" fontAlgn="auto" hangingPunct="1">
                        <a:lnSpc>
                          <a:spcPct val="120000"/>
                        </a:lnSpc>
                        <a:spcBef>
                          <a:spcPts val="800"/>
                        </a:spcBef>
                        <a:spcAft>
                          <a:spcPts val="0"/>
                        </a:spcAft>
                        <a:buFont typeface="Wingdings 3" charset="2"/>
                        <a:buNone/>
                        <a:defRPr/>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9. ĐỊNH </a:t>
                      </a:r>
                      <a:r>
                        <a:rPr lang="en-US" sz="1800" b="1" smtClean="0">
                          <a:solidFill>
                            <a:schemeClr val="accent1">
                              <a:lumMod val="75000"/>
                            </a:schemeClr>
                          </a:solidFill>
                          <a:latin typeface="Times New Roman" panose="02020603050405020304" pitchFamily="18" charset="0"/>
                          <a:cs typeface="Times New Roman" panose="02020603050405020304" pitchFamily="18" charset="0"/>
                        </a:rPr>
                        <a:t>DẠNG HĐĐT</a:t>
                      </a:r>
                      <a:endParaRPr lang="en-US" sz="18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10. LẬP HÓA ĐƠN ĐIỆN TỬ</a:t>
                      </a:r>
                      <a:endParaRPr lang="en-US" sz="1800" b="1" kern="1200" dirty="0">
                        <a:solidFill>
                          <a:srgbClr val="183D5E"/>
                        </a:solidFill>
                        <a:latin typeface="Times New Roman" panose="02020603050405020304" pitchFamily="18" charset="0"/>
                        <a:ea typeface="+mn-ea"/>
                        <a:cs typeface="Times New Roman" panose="02020603050405020304" pitchFamily="18" charset="0"/>
                      </a:endParaRPr>
                    </a:p>
                  </a:txBody>
                  <a:tcPr marL="91431" marR="91431">
                    <a:noFill/>
                  </a:tcPr>
                </a:tc>
                <a:tc>
                  <a:txBody>
                    <a:bodyPr/>
                    <a:lstStyle/>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11. CHUYỂN DỮ </a:t>
                      </a:r>
                      <a:r>
                        <a:rPr lang="en-US" sz="1800" b="1" kern="1200" smtClean="0">
                          <a:solidFill>
                            <a:srgbClr val="183D5E"/>
                          </a:solidFill>
                          <a:latin typeface="Times New Roman" panose="02020603050405020304" pitchFamily="18" charset="0"/>
                          <a:ea typeface="+mn-ea"/>
                          <a:cs typeface="Times New Roman" panose="02020603050405020304" pitchFamily="18" charset="0"/>
                        </a:rPr>
                        <a:t>LIỆU HĐĐT</a:t>
                      </a:r>
                      <a:endParaRPr lang="en-US" sz="1800" b="1" kern="1200" dirty="0" smtClean="0">
                        <a:solidFill>
                          <a:srgbClr val="183D5E"/>
                        </a:solidFill>
                        <a:latin typeface="Times New Roman" panose="02020603050405020304" pitchFamily="18" charset="0"/>
                        <a:ea typeface="+mn-ea"/>
                        <a:cs typeface="Times New Roman" panose="02020603050405020304" pitchFamily="18" charset="0"/>
                      </a:endParaRP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12. XỬ LÝ SỰ CỐ</a:t>
                      </a:r>
                    </a:p>
                    <a:p>
                      <a:pPr marL="0" algn="l" defTabSz="914400" rtl="0" eaLnBrk="1" fontAlgn="auto" latinLnBrk="0" hangingPunct="1">
                        <a:lnSpc>
                          <a:spcPct val="120000"/>
                        </a:lnSpc>
                        <a:spcBef>
                          <a:spcPts val="800"/>
                        </a:spcBef>
                        <a:spcAft>
                          <a:spcPts val="0"/>
                        </a:spcAft>
                        <a:buFont typeface="Wingdings 3" charset="2"/>
                        <a:buNone/>
                        <a:defRPr/>
                      </a:pPr>
                      <a:r>
                        <a:rPr lang="en-US" sz="1800" b="1" kern="1200" dirty="0" smtClean="0">
                          <a:solidFill>
                            <a:srgbClr val="183D5E"/>
                          </a:solidFill>
                          <a:latin typeface="Times New Roman" panose="02020603050405020304" pitchFamily="18" charset="0"/>
                          <a:ea typeface="+mn-ea"/>
                          <a:cs typeface="Times New Roman" panose="02020603050405020304" pitchFamily="18" charset="0"/>
                        </a:rPr>
                        <a:t>13. XỬ LÝ SAI SÓT</a:t>
                      </a:r>
                    </a:p>
                    <a:p>
                      <a:pPr eaLnBrk="1" fontAlgn="auto" hangingPunct="1">
                        <a:lnSpc>
                          <a:spcPct val="120000"/>
                        </a:lnSpc>
                        <a:spcBef>
                          <a:spcPts val="800"/>
                        </a:spcBef>
                        <a:spcAft>
                          <a:spcPts val="0"/>
                        </a:spcAft>
                        <a:buFont typeface="Wingdings 3" charset="2"/>
                        <a:buNone/>
                        <a:defRPr/>
                      </a:pPr>
                      <a:r>
                        <a:rPr lang="en-US" sz="1800" b="1" dirty="0" smtClean="0">
                          <a:solidFill>
                            <a:schemeClr val="accent1">
                              <a:lumMod val="75000"/>
                            </a:schemeClr>
                          </a:solidFill>
                          <a:latin typeface="Times New Roman" panose="02020603050405020304" pitchFamily="18" charset="0"/>
                          <a:cs typeface="Times New Roman" panose="02020603050405020304" pitchFamily="18" charset="0"/>
                        </a:rPr>
                        <a:t>14. XỬ</a:t>
                      </a:r>
                      <a:r>
                        <a:rPr lang="en-US" sz="1800" b="1" baseline="0" dirty="0" smtClean="0">
                          <a:solidFill>
                            <a:schemeClr val="accent1">
                              <a:lumMod val="75000"/>
                            </a:schemeClr>
                          </a:solidFill>
                          <a:latin typeface="Times New Roman" panose="02020603050405020304" pitchFamily="18" charset="0"/>
                          <a:cs typeface="Times New Roman" panose="02020603050405020304" pitchFamily="18" charset="0"/>
                        </a:rPr>
                        <a:t> LÝ HĐ ĐÃ LẬP THEO NĐ 51</a:t>
                      </a:r>
                    </a:p>
                    <a:p>
                      <a:pPr eaLnBrk="1" fontAlgn="auto" hangingPunct="1">
                        <a:lnSpc>
                          <a:spcPct val="120000"/>
                        </a:lnSpc>
                        <a:spcBef>
                          <a:spcPts val="800"/>
                        </a:spcBef>
                        <a:spcAft>
                          <a:spcPts val="0"/>
                        </a:spcAft>
                        <a:buFont typeface="Wingdings 3" charset="2"/>
                        <a:buNone/>
                        <a:defRPr/>
                      </a:pPr>
                      <a:r>
                        <a:rPr lang="en-US" sz="1800" b="1" baseline="0" dirty="0" smtClean="0">
                          <a:solidFill>
                            <a:schemeClr val="accent1">
                              <a:lumMod val="75000"/>
                            </a:schemeClr>
                          </a:solidFill>
                          <a:latin typeface="Times New Roman" panose="02020603050405020304" pitchFamily="18" charset="0"/>
                          <a:cs typeface="Times New Roman" panose="02020603050405020304" pitchFamily="18" charset="0"/>
                        </a:rPr>
                        <a:t>15. SỬ </a:t>
                      </a:r>
                      <a:r>
                        <a:rPr lang="en-US" sz="1800" b="1" baseline="0" smtClean="0">
                          <a:solidFill>
                            <a:schemeClr val="accent1">
                              <a:lumMod val="75000"/>
                            </a:schemeClr>
                          </a:solidFill>
                          <a:latin typeface="Times New Roman" panose="02020603050405020304" pitchFamily="18" charset="0"/>
                          <a:cs typeface="Times New Roman" panose="02020603050405020304" pitchFamily="18" charset="0"/>
                        </a:rPr>
                        <a:t>DỤNG HĐĐT </a:t>
                      </a:r>
                      <a:r>
                        <a:rPr lang="en-US" sz="1800" b="1" baseline="0" dirty="0" smtClean="0">
                          <a:solidFill>
                            <a:schemeClr val="accent1">
                              <a:lumMod val="75000"/>
                            </a:schemeClr>
                          </a:solidFill>
                          <a:latin typeface="Times New Roman" panose="02020603050405020304" pitchFamily="18" charset="0"/>
                          <a:cs typeface="Times New Roman" panose="02020603050405020304" pitchFamily="18" charset="0"/>
                        </a:rPr>
                        <a:t>THEO TỪNG LẦN PHÁT SINH</a:t>
                      </a:r>
                    </a:p>
                    <a:p>
                      <a:pPr eaLnBrk="1" fontAlgn="auto" hangingPunct="1">
                        <a:lnSpc>
                          <a:spcPct val="120000"/>
                        </a:lnSpc>
                        <a:spcBef>
                          <a:spcPts val="800"/>
                        </a:spcBef>
                        <a:spcAft>
                          <a:spcPts val="0"/>
                        </a:spcAft>
                        <a:buFont typeface="Wingdings 3" charset="2"/>
                        <a:buNone/>
                        <a:defRPr/>
                      </a:pPr>
                      <a:r>
                        <a:rPr lang="en-US" sz="1800" b="1" baseline="0" dirty="0" smtClean="0">
                          <a:solidFill>
                            <a:schemeClr val="accent1">
                              <a:lumMod val="75000"/>
                            </a:schemeClr>
                          </a:solidFill>
                          <a:latin typeface="Times New Roman" panose="02020603050405020304" pitchFamily="18" charset="0"/>
                          <a:cs typeface="Times New Roman" panose="02020603050405020304" pitchFamily="18" charset="0"/>
                        </a:rPr>
                        <a:t>16. BẢO QUẢN LƯU </a:t>
                      </a:r>
                      <a:r>
                        <a:rPr lang="en-US" sz="1800" b="1" baseline="0" smtClean="0">
                          <a:solidFill>
                            <a:schemeClr val="accent1">
                              <a:lumMod val="75000"/>
                            </a:schemeClr>
                          </a:solidFill>
                          <a:latin typeface="Times New Roman" panose="02020603050405020304" pitchFamily="18" charset="0"/>
                          <a:cs typeface="Times New Roman" panose="02020603050405020304" pitchFamily="18" charset="0"/>
                        </a:rPr>
                        <a:t>TRỮ HĐĐT</a:t>
                      </a:r>
                      <a:endParaRPr lang="en-US" sz="1800" b="1" baseline="0" dirty="0" smtClean="0">
                        <a:solidFill>
                          <a:schemeClr val="accent1">
                            <a:lumMod val="75000"/>
                          </a:schemeClr>
                        </a:solidFill>
                        <a:latin typeface="Times New Roman" panose="02020603050405020304" pitchFamily="18" charset="0"/>
                        <a:cs typeface="Times New Roman" panose="02020603050405020304" pitchFamily="18" charset="0"/>
                      </a:endParaRPr>
                    </a:p>
                    <a:p>
                      <a:pPr eaLnBrk="1" fontAlgn="auto" hangingPunct="1">
                        <a:lnSpc>
                          <a:spcPct val="120000"/>
                        </a:lnSpc>
                        <a:spcBef>
                          <a:spcPts val="800"/>
                        </a:spcBef>
                        <a:spcAft>
                          <a:spcPts val="0"/>
                        </a:spcAft>
                        <a:buFont typeface="Wingdings 3" charset="2"/>
                        <a:buNone/>
                        <a:defRPr/>
                      </a:pPr>
                      <a:r>
                        <a:rPr lang="en-US" sz="1800" b="1" baseline="0" dirty="0" smtClean="0">
                          <a:solidFill>
                            <a:srgbClr val="183D5E"/>
                          </a:solidFill>
                          <a:latin typeface="Times New Roman" panose="02020603050405020304" pitchFamily="18" charset="0"/>
                          <a:cs typeface="Times New Roman" panose="02020603050405020304" pitchFamily="18" charset="0"/>
                        </a:rPr>
                        <a:t>17. CHUYỂN ĐỔI HĐ ĐT </a:t>
                      </a:r>
                      <a:r>
                        <a:rPr lang="en-US" sz="1800" b="1" kern="1200" dirty="0" smtClean="0">
                          <a:solidFill>
                            <a:srgbClr val="183D5E"/>
                          </a:solidFill>
                          <a:latin typeface="Times New Roman" panose="02020603050405020304" pitchFamily="18" charset="0"/>
                          <a:ea typeface="+mn-ea"/>
                          <a:cs typeface="Times New Roman" panose="02020603050405020304" pitchFamily="18" charset="0"/>
                        </a:rPr>
                        <a:t>THÀNH</a:t>
                      </a:r>
                      <a:r>
                        <a:rPr lang="en-US" sz="1800" b="1" baseline="0" dirty="0" smtClean="0">
                          <a:solidFill>
                            <a:srgbClr val="183D5E"/>
                          </a:solidFill>
                          <a:latin typeface="Times New Roman" panose="02020603050405020304" pitchFamily="18" charset="0"/>
                          <a:cs typeface="Times New Roman" panose="02020603050405020304" pitchFamily="18" charset="0"/>
                        </a:rPr>
                        <a:t> HĐ GIẤY</a:t>
                      </a:r>
                      <a:endParaRPr lang="en-US" sz="1800" dirty="0">
                        <a:solidFill>
                          <a:srgbClr val="183D5E"/>
                        </a:solidFill>
                      </a:endParaRPr>
                    </a:p>
                  </a:txBody>
                  <a:tcPr marL="91431" marR="91431">
                    <a:noFill/>
                  </a:tcPr>
                </a:tc>
                <a:extLst>
                  <a:ext uri="{0D108BD9-81ED-4DB2-BD59-A6C34878D82A}">
                    <a16:rowId xmlns:a16="http://schemas.microsoft.com/office/drawing/2014/main" val="996891648"/>
                  </a:ext>
                </a:extLst>
              </a:tr>
            </a:tbl>
          </a:graphicData>
        </a:graphic>
      </p:graphicFrame>
    </p:spTree>
    <p:extLst>
      <p:ext uri="{BB962C8B-B14F-4D97-AF65-F5344CB8AC3E}">
        <p14:creationId xmlns:p14="http://schemas.microsoft.com/office/powerpoint/2010/main" val="269152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smtClean="0">
                <a:solidFill>
                  <a:schemeClr val="accent1">
                    <a:lumMod val="50000"/>
                  </a:schemeClr>
                </a:solidFill>
                <a:latin typeface="Arial (Body)"/>
              </a:rPr>
              <a:t>1. CĂN CỨ PHÁP LÝ, </a:t>
            </a:r>
            <a:r>
              <a:rPr lang="vi-VN" sz="2200" b="1" smtClean="0">
                <a:solidFill>
                  <a:schemeClr val="accent1">
                    <a:lumMod val="50000"/>
                  </a:schemeClr>
                </a:solidFill>
              </a:rPr>
              <a:t>LỘ TRÌNH TRIỂN KHAI</a:t>
            </a:r>
            <a:r>
              <a:rPr lang="en-US" sz="2200" b="1" smtClean="0">
                <a:solidFill>
                  <a:schemeClr val="accent1">
                    <a:lumMod val="50000"/>
                  </a:schemeClr>
                </a:solidFill>
              </a:rPr>
              <a:t> </a:t>
            </a:r>
            <a:r>
              <a:rPr lang="en-US" sz="2200" b="1" smtClean="0">
                <a:solidFill>
                  <a:schemeClr val="accent1">
                    <a:lumMod val="50000"/>
                  </a:schemeClr>
                </a:solidFill>
                <a:latin typeface="Arial" panose="020B0604020202020204" pitchFamily="34" charset="0"/>
                <a:cs typeface="Arial" panose="020B0604020202020204" pitchFamily="34" charset="0"/>
              </a:rPr>
              <a:t>HÓA ĐƠN ĐIỆN TỬ</a:t>
            </a:r>
            <a:endParaRPr lang="vi-VN" sz="2200" b="1" smtClean="0">
              <a:solidFill>
                <a:schemeClr val="accent1">
                  <a:lumMod val="50000"/>
                </a:schemeClr>
              </a:solidFill>
              <a:latin typeface="Arial" panose="020B0604020202020204" pitchFamily="34" charset="0"/>
              <a:cs typeface="Arial" panose="020B0604020202020204" pitchFamily="34" charset="0"/>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p:cNvGrpSpPr/>
          <p:nvPr/>
        </p:nvGrpSpPr>
        <p:grpSpPr>
          <a:xfrm>
            <a:off x="748352" y="2182058"/>
            <a:ext cx="10646478" cy="1475539"/>
            <a:chOff x="381000" y="2279648"/>
            <a:chExt cx="6931900" cy="1702931"/>
          </a:xfrm>
        </p:grpSpPr>
        <p:grpSp>
          <p:nvGrpSpPr>
            <p:cNvPr id="80" name="Group 3"/>
            <p:cNvGrpSpPr>
              <a:grpSpLocks/>
            </p:cNvGrpSpPr>
            <p:nvPr/>
          </p:nvGrpSpPr>
          <p:grpSpPr bwMode="auto">
            <a:xfrm>
              <a:off x="381000" y="2279648"/>
              <a:ext cx="6931900" cy="1702931"/>
              <a:chOff x="445640" y="2413159"/>
              <a:chExt cx="7024642" cy="1552829"/>
            </a:xfrm>
          </p:grpSpPr>
          <p:sp>
            <p:nvSpPr>
              <p:cNvPr id="88" name="Google Shape;207;p27"/>
              <p:cNvSpPr>
                <a:spLocks noChangeArrowheads="1"/>
              </p:cNvSpPr>
              <p:nvPr/>
            </p:nvSpPr>
            <p:spPr bwMode="auto">
              <a:xfrm>
                <a:off x="445640" y="2803232"/>
                <a:ext cx="1969237" cy="772685"/>
              </a:xfrm>
              <a:prstGeom prst="chevron">
                <a:avLst>
                  <a:gd name="adj" fmla="val 44848"/>
                </a:avLst>
              </a:prstGeom>
              <a:solidFill>
                <a:srgbClr val="1ED4D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b="0">
                  <a:solidFill>
                    <a:srgbClr val="000000"/>
                  </a:solidFill>
                  <a:sym typeface="Arial" panose="020B0604020202020204" pitchFamily="34" charset="0"/>
                </a:endParaRPr>
              </a:p>
            </p:txBody>
          </p:sp>
          <p:sp>
            <p:nvSpPr>
              <p:cNvPr id="89" name="Google Shape;208;p27">
                <a:extLst/>
              </p:cNvPr>
              <p:cNvSpPr>
                <a:spLocks noChangeArrowheads="1"/>
              </p:cNvSpPr>
              <p:nvPr/>
            </p:nvSpPr>
            <p:spPr bwMode="auto">
              <a:xfrm>
                <a:off x="1276923" y="2803750"/>
                <a:ext cx="1969461" cy="771651"/>
              </a:xfrm>
              <a:prstGeom prst="chevron">
                <a:avLst>
                  <a:gd name="adj" fmla="val 44851"/>
                </a:avLst>
              </a:prstGeom>
              <a:solidFill>
                <a:schemeClr val="accent1">
                  <a:lumMod val="60000"/>
                  <a:lumOff val="40000"/>
                </a:schemeClr>
              </a:solidFill>
              <a:ln>
                <a:noFill/>
              </a:ln>
              <a:extLst/>
            </p:spPr>
            <p:txBody>
              <a:bodyPr lIns="91425" tIns="45700" rIns="91425" bIns="45700" anchor="ctr"/>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ClrTx/>
                  <a:buFontTx/>
                  <a:buNone/>
                  <a:defRPr/>
                </a:pPr>
                <a:endParaRPr lang="en-US" altLang="en-US" sz="1800" b="0" smtClean="0">
                  <a:solidFill>
                    <a:srgbClr val="000000"/>
                  </a:solidFill>
                  <a:ea typeface="DejaVu Sans"/>
                  <a:sym typeface="Arial" pitchFamily="34" charset="0"/>
                </a:endParaRPr>
              </a:p>
            </p:txBody>
          </p:sp>
          <p:sp>
            <p:nvSpPr>
              <p:cNvPr id="90" name="Google Shape;209;p27"/>
              <p:cNvSpPr>
                <a:spLocks noChangeArrowheads="1"/>
              </p:cNvSpPr>
              <p:nvPr/>
            </p:nvSpPr>
            <p:spPr bwMode="auto">
              <a:xfrm>
                <a:off x="2190816" y="2803232"/>
                <a:ext cx="1969237" cy="772685"/>
              </a:xfrm>
              <a:prstGeom prst="chevron">
                <a:avLst>
                  <a:gd name="adj" fmla="val 44848"/>
                </a:avLst>
              </a:prstGeom>
              <a:solidFill>
                <a:srgbClr val="5B9BD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en-US" altLang="en-US" sz="1800" b="0">
                  <a:solidFill>
                    <a:srgbClr val="000000"/>
                  </a:solidFill>
                  <a:sym typeface="Arial" panose="020B0604020202020204" pitchFamily="34" charset="0"/>
                </a:endParaRPr>
              </a:p>
            </p:txBody>
          </p:sp>
          <p:sp>
            <p:nvSpPr>
              <p:cNvPr id="91" name="Google Shape;210;p27"/>
              <p:cNvSpPr>
                <a:spLocks/>
              </p:cNvSpPr>
              <p:nvPr/>
            </p:nvSpPr>
            <p:spPr bwMode="auto">
              <a:xfrm rot="5400000">
                <a:off x="5454506" y="1950213"/>
                <a:ext cx="1552829" cy="2478722"/>
              </a:xfrm>
              <a:custGeom>
                <a:avLst/>
                <a:gdLst>
                  <a:gd name="T0" fmla="*/ 0 w 120000"/>
                  <a:gd name="T1" fmla="*/ 2147483646 h 120000"/>
                  <a:gd name="T2" fmla="*/ 2147483646 w 120000"/>
                  <a:gd name="T3" fmla="*/ 0 h 120000"/>
                  <a:gd name="T4" fmla="*/ 2147483646 w 120000"/>
                  <a:gd name="T5" fmla="*/ 2147483646 h 120000"/>
                  <a:gd name="T6" fmla="*/ 2147483646 w 120000"/>
                  <a:gd name="T7" fmla="*/ 2147483646 h 120000"/>
                  <a:gd name="T8" fmla="*/ 2147483646 w 120000"/>
                  <a:gd name="T9" fmla="*/ 2147483646 h 120000"/>
                  <a:gd name="T10" fmla="*/ 2147483646 w 120000"/>
                  <a:gd name="T11" fmla="*/ 2147483646 h 120000"/>
                  <a:gd name="T12" fmla="*/ 2147483646 w 120000"/>
                  <a:gd name="T13" fmla="*/ 2147483646 h 120000"/>
                  <a:gd name="T14" fmla="*/ 2147483646 w 120000"/>
                  <a:gd name="T15" fmla="*/ 2147483646 h 120000"/>
                  <a:gd name="T16" fmla="*/ 2147483646 w 120000"/>
                  <a:gd name="T17" fmla="*/ 2147483646 h 120000"/>
                  <a:gd name="T18" fmla="*/ 2147483646 w 120000"/>
                  <a:gd name="T19" fmla="*/ 2147483646 h 120000"/>
                  <a:gd name="T20" fmla="*/ 0 w 120000"/>
                  <a:gd name="T21" fmla="*/ 2147483646 h 12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000"/>
                  <a:gd name="T34" fmla="*/ 0 h 120000"/>
                  <a:gd name="T35" fmla="*/ 120000 w 120000"/>
                  <a:gd name="T36" fmla="*/ 120000 h 1200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000" h="120000" extrusionOk="0">
                    <a:moveTo>
                      <a:pt x="0" y="43855"/>
                    </a:moveTo>
                    <a:lnTo>
                      <a:pt x="59999" y="0"/>
                    </a:lnTo>
                    <a:lnTo>
                      <a:pt x="119999" y="43855"/>
                    </a:lnTo>
                    <a:lnTo>
                      <a:pt x="90000" y="43855"/>
                    </a:lnTo>
                    <a:lnTo>
                      <a:pt x="90000" y="120000"/>
                    </a:lnTo>
                    <a:lnTo>
                      <a:pt x="89842" y="120000"/>
                    </a:lnTo>
                    <a:lnTo>
                      <a:pt x="59999" y="99376"/>
                    </a:lnTo>
                    <a:lnTo>
                      <a:pt x="30157" y="120000"/>
                    </a:lnTo>
                    <a:lnTo>
                      <a:pt x="29999" y="120000"/>
                    </a:lnTo>
                    <a:lnTo>
                      <a:pt x="29999" y="43855"/>
                    </a:lnTo>
                    <a:lnTo>
                      <a:pt x="0" y="43855"/>
                    </a:lnTo>
                    <a:close/>
                  </a:path>
                </a:pathLst>
              </a:custGeom>
              <a:solidFill>
                <a:srgbClr val="E62949"/>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nchor="ctr"/>
              <a:lstStyle/>
              <a:p>
                <a:endParaRPr lang="en-US"/>
              </a:p>
            </p:txBody>
          </p:sp>
          <p:sp>
            <p:nvSpPr>
              <p:cNvPr id="92" name="Google Shape;209;p27">
                <a:extLst/>
              </p:cNvPr>
              <p:cNvSpPr>
                <a:spLocks noChangeArrowheads="1"/>
              </p:cNvSpPr>
              <p:nvPr/>
            </p:nvSpPr>
            <p:spPr bwMode="auto">
              <a:xfrm>
                <a:off x="3563846" y="2803750"/>
                <a:ext cx="1969462" cy="771651"/>
              </a:xfrm>
              <a:prstGeom prst="chevron">
                <a:avLst>
                  <a:gd name="adj" fmla="val 44851"/>
                </a:avLst>
              </a:prstGeom>
              <a:solidFill>
                <a:srgbClr val="FF85AB"/>
              </a:solidFill>
              <a:ln>
                <a:noFill/>
              </a:ln>
              <a:extLst/>
            </p:spPr>
            <p:txBody>
              <a:bodyPr lIns="91425" tIns="45700" rIns="91425" bIns="45700" anchor="ctr"/>
              <a:lstStyle>
                <a:lvl1pPr algn="just">
                  <a:spcBef>
                    <a:spcPct val="20000"/>
                  </a:spcBef>
                  <a:buClr>
                    <a:schemeClr val="hlink"/>
                  </a:buClr>
                  <a:buFont typeface="Wingdings" pitchFamily="2" charset="2"/>
                  <a:buChar char="v"/>
                  <a:defRPr sz="2800" b="1">
                    <a:solidFill>
                      <a:schemeClr val="accent2"/>
                    </a:solidFill>
                    <a:latin typeface="Arial" pitchFamily="34" charset="0"/>
                  </a:defRPr>
                </a:lvl1pPr>
                <a:lvl2pPr marL="742950" indent="-285750" algn="just">
                  <a:spcBef>
                    <a:spcPct val="20000"/>
                  </a:spcBef>
                  <a:buClr>
                    <a:schemeClr val="accent1"/>
                  </a:buClr>
                  <a:buFont typeface="Wingdings" pitchFamily="2" charset="2"/>
                  <a:buChar char="§"/>
                  <a:defRPr sz="2800">
                    <a:solidFill>
                      <a:schemeClr val="tx1"/>
                    </a:solidFill>
                    <a:latin typeface="Arial" pitchFamily="34" charset="0"/>
                  </a:defRPr>
                </a:lvl2pPr>
                <a:lvl3pPr marL="1143000" indent="-228600" algn="just">
                  <a:spcBef>
                    <a:spcPct val="20000"/>
                  </a:spcBef>
                  <a:buClr>
                    <a:schemeClr val="tx1"/>
                  </a:buClr>
                  <a:buChar char="•"/>
                  <a:defRPr sz="2400">
                    <a:solidFill>
                      <a:schemeClr val="tx1"/>
                    </a:solidFill>
                    <a:latin typeface="Arial" pitchFamily="34" charset="0"/>
                  </a:defRPr>
                </a:lvl3pPr>
                <a:lvl4pPr marL="1600200" indent="-228600" algn="just">
                  <a:spcBef>
                    <a:spcPct val="20000"/>
                  </a:spcBef>
                  <a:buChar char="–"/>
                  <a:defRPr sz="2000">
                    <a:solidFill>
                      <a:schemeClr val="tx1"/>
                    </a:solidFill>
                    <a:latin typeface="Arial" pitchFamily="34" charset="0"/>
                  </a:defRPr>
                </a:lvl4pPr>
                <a:lvl5pPr marL="2057400" indent="-228600" algn="just">
                  <a:spcBef>
                    <a:spcPct val="20000"/>
                  </a:spcBef>
                  <a:buChar char="»"/>
                  <a:defRPr sz="2000">
                    <a:solidFill>
                      <a:schemeClr val="tx1"/>
                    </a:solidFill>
                    <a:latin typeface="Arial" pitchFamily="34" charset="0"/>
                  </a:defRPr>
                </a:lvl5pPr>
                <a:lvl6pPr marL="2514600" indent="-228600" algn="just" eaLnBrk="0" fontAlgn="base" hangingPunct="0">
                  <a:spcBef>
                    <a:spcPct val="20000"/>
                  </a:spcBef>
                  <a:spcAft>
                    <a:spcPct val="0"/>
                  </a:spcAft>
                  <a:buChar char="»"/>
                  <a:defRPr sz="2000">
                    <a:solidFill>
                      <a:schemeClr val="tx1"/>
                    </a:solidFill>
                    <a:latin typeface="Arial" pitchFamily="34" charset="0"/>
                  </a:defRPr>
                </a:lvl6pPr>
                <a:lvl7pPr marL="2971800" indent="-228600" algn="just" eaLnBrk="0" fontAlgn="base" hangingPunct="0">
                  <a:spcBef>
                    <a:spcPct val="20000"/>
                  </a:spcBef>
                  <a:spcAft>
                    <a:spcPct val="0"/>
                  </a:spcAft>
                  <a:buChar char="»"/>
                  <a:defRPr sz="2000">
                    <a:solidFill>
                      <a:schemeClr val="tx1"/>
                    </a:solidFill>
                    <a:latin typeface="Arial" pitchFamily="34" charset="0"/>
                  </a:defRPr>
                </a:lvl7pPr>
                <a:lvl8pPr marL="3429000" indent="-228600" algn="just" eaLnBrk="0" fontAlgn="base" hangingPunct="0">
                  <a:spcBef>
                    <a:spcPct val="20000"/>
                  </a:spcBef>
                  <a:spcAft>
                    <a:spcPct val="0"/>
                  </a:spcAft>
                  <a:buChar char="»"/>
                  <a:defRPr sz="2000">
                    <a:solidFill>
                      <a:schemeClr val="tx1"/>
                    </a:solidFill>
                    <a:latin typeface="Arial" pitchFamily="34" charset="0"/>
                  </a:defRPr>
                </a:lvl8pPr>
                <a:lvl9pPr marL="3886200" indent="-228600" algn="just"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ClrTx/>
                  <a:buFontTx/>
                  <a:buNone/>
                  <a:defRPr/>
                </a:pPr>
                <a:endParaRPr lang="en-US" altLang="en-US" sz="1800" b="0" smtClean="0">
                  <a:solidFill>
                    <a:srgbClr val="000000"/>
                  </a:solidFill>
                  <a:ea typeface="DejaVu Sans"/>
                  <a:sym typeface="Arial" pitchFamily="34" charset="0"/>
                </a:endParaRPr>
              </a:p>
            </p:txBody>
          </p:sp>
        </p:grpSp>
        <p:sp>
          <p:nvSpPr>
            <p:cNvPr id="86" name="Google Shape;220;p27"/>
            <p:cNvSpPr txBox="1">
              <a:spLocks noChangeArrowheads="1"/>
            </p:cNvSpPr>
            <p:nvPr/>
          </p:nvSpPr>
          <p:spPr bwMode="auto">
            <a:xfrm>
              <a:off x="3641092" y="2973259"/>
              <a:ext cx="1679575" cy="27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0" rIns="91425" bIns="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600" smtClean="0">
                  <a:solidFill>
                    <a:srgbClr val="FFFFFF"/>
                  </a:solidFill>
                  <a:latin typeface="Times New Roman" panose="02020603050405020304" pitchFamily="18" charset="0"/>
                  <a:cs typeface="Times New Roman" panose="02020603050405020304" pitchFamily="18" charset="0"/>
                  <a:sym typeface="Arial" panose="020B0604020202020204" pitchFamily="34" charset="0"/>
                </a:rPr>
                <a:t>11/2021</a:t>
              </a:r>
              <a:endParaRPr lang="en-US" altLang="en-US" sz="1800" b="0">
                <a:solidFill>
                  <a:srgbClr val="FFFFFF"/>
                </a:solidFill>
                <a:latin typeface="Times New Roman" panose="02020603050405020304" pitchFamily="18" charset="0"/>
                <a:cs typeface="Times New Roman" panose="02020603050405020304" pitchFamily="18" charset="0"/>
              </a:endParaRPr>
            </a:p>
          </p:txBody>
        </p:sp>
        <p:sp>
          <p:nvSpPr>
            <p:cNvPr id="87" name="Google Shape;220;p27"/>
            <p:cNvSpPr txBox="1">
              <a:spLocks noChangeArrowheads="1"/>
            </p:cNvSpPr>
            <p:nvPr/>
          </p:nvSpPr>
          <p:spPr bwMode="auto">
            <a:xfrm>
              <a:off x="5550935" y="2954268"/>
              <a:ext cx="1677916" cy="27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0" rIns="91425" bIns="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600">
                  <a:solidFill>
                    <a:srgbClr val="FFFFFF"/>
                  </a:solidFill>
                  <a:latin typeface="Times New Roman" panose="02020603050405020304" pitchFamily="18" charset="0"/>
                  <a:cs typeface="Times New Roman" panose="02020603050405020304" pitchFamily="18" charset="0"/>
                  <a:sym typeface="Arial" panose="020B0604020202020204" pitchFamily="34" charset="0"/>
                </a:rPr>
                <a:t>01/</a:t>
              </a:r>
              <a:r>
                <a:rPr lang="vi-VN" altLang="en-US" sz="1600">
                  <a:solidFill>
                    <a:srgbClr val="FFFFFF"/>
                  </a:solidFill>
                  <a:latin typeface="Times New Roman" panose="02020603050405020304" pitchFamily="18" charset="0"/>
                  <a:cs typeface="Times New Roman" panose="02020603050405020304" pitchFamily="18" charset="0"/>
                  <a:sym typeface="Arial" panose="020B0604020202020204" pitchFamily="34" charset="0"/>
                </a:rPr>
                <a:t>7</a:t>
              </a:r>
              <a:r>
                <a:rPr lang="en-US" altLang="en-US" sz="1600">
                  <a:solidFill>
                    <a:srgbClr val="FFFFFF"/>
                  </a:solidFill>
                  <a:latin typeface="Times New Roman" panose="02020603050405020304" pitchFamily="18" charset="0"/>
                  <a:cs typeface="Times New Roman" panose="02020603050405020304" pitchFamily="18" charset="0"/>
                  <a:sym typeface="Arial" panose="020B0604020202020204" pitchFamily="34" charset="0"/>
                </a:rPr>
                <a:t>/202</a:t>
              </a:r>
              <a:r>
                <a:rPr lang="vi-VN" altLang="en-US" sz="1600">
                  <a:solidFill>
                    <a:srgbClr val="FFFFFF"/>
                  </a:solidFill>
                  <a:latin typeface="Times New Roman" panose="02020603050405020304" pitchFamily="18" charset="0"/>
                  <a:cs typeface="Times New Roman" panose="02020603050405020304" pitchFamily="18" charset="0"/>
                  <a:sym typeface="Arial" panose="020B0604020202020204" pitchFamily="34" charset="0"/>
                </a:rPr>
                <a:t>2</a:t>
              </a:r>
              <a:endParaRPr lang="en-US" altLang="en-US" sz="1800" b="0">
                <a:solidFill>
                  <a:srgbClr val="FFFFFF"/>
                </a:solidFill>
                <a:latin typeface="Times New Roman" panose="02020603050405020304" pitchFamily="18" charset="0"/>
                <a:cs typeface="Times New Roman" panose="02020603050405020304" pitchFamily="18" charset="0"/>
              </a:endParaRPr>
            </a:p>
          </p:txBody>
        </p:sp>
        <p:sp>
          <p:nvSpPr>
            <p:cNvPr id="94" name="Google Shape;220;p27"/>
            <p:cNvSpPr txBox="1">
              <a:spLocks noChangeArrowheads="1"/>
            </p:cNvSpPr>
            <p:nvPr/>
          </p:nvSpPr>
          <p:spPr bwMode="auto">
            <a:xfrm>
              <a:off x="2128117" y="3006624"/>
              <a:ext cx="1679575" cy="27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0" rIns="91425" bIns="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600" smtClean="0">
                  <a:solidFill>
                    <a:srgbClr val="FFFFFF"/>
                  </a:solidFill>
                  <a:latin typeface="Times New Roman" panose="02020603050405020304" pitchFamily="18" charset="0"/>
                  <a:cs typeface="Times New Roman" panose="02020603050405020304" pitchFamily="18" charset="0"/>
                  <a:sym typeface="Arial" panose="020B0604020202020204" pitchFamily="34" charset="0"/>
                </a:rPr>
                <a:t>10/2021</a:t>
              </a:r>
              <a:endParaRPr lang="en-US" altLang="en-US" sz="1800" b="0">
                <a:solidFill>
                  <a:srgbClr val="FFFFFF"/>
                </a:solidFill>
                <a:latin typeface="Times New Roman" panose="02020603050405020304" pitchFamily="18" charset="0"/>
                <a:cs typeface="Times New Roman" panose="02020603050405020304" pitchFamily="18" charset="0"/>
              </a:endParaRPr>
            </a:p>
          </p:txBody>
        </p:sp>
      </p:grpSp>
      <p:sp>
        <p:nvSpPr>
          <p:cNvPr id="93" name="Rectangle 6"/>
          <p:cNvSpPr>
            <a:spLocks noChangeArrowheads="1"/>
          </p:cNvSpPr>
          <p:nvPr/>
        </p:nvSpPr>
        <p:spPr bwMode="auto">
          <a:xfrm>
            <a:off x="1136469" y="1104519"/>
            <a:ext cx="403637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600" smtClean="0">
                <a:solidFill>
                  <a:srgbClr val="103088"/>
                </a:solidFill>
                <a:latin typeface="Times New Roman" panose="02020603050405020304" pitchFamily="18" charset="0"/>
                <a:cs typeface="Times New Roman" panose="02020603050405020304" pitchFamily="18" charset="0"/>
                <a:sym typeface="Arial" panose="020B0604020202020204" pitchFamily="34" charset="0"/>
              </a:rPr>
              <a:t>Nghị </a:t>
            </a:r>
            <a:r>
              <a:rPr lang="en-US" altLang="en-US" sz="1600">
                <a:solidFill>
                  <a:srgbClr val="103088"/>
                </a:solidFill>
                <a:latin typeface="Times New Roman" panose="02020603050405020304" pitchFamily="18" charset="0"/>
                <a:cs typeface="Times New Roman" panose="02020603050405020304" pitchFamily="18" charset="0"/>
                <a:sym typeface="Arial" panose="020B0604020202020204" pitchFamily="34" charset="0"/>
              </a:rPr>
              <a:t>định</a:t>
            </a:r>
            <a:r>
              <a:rPr lang="vi-VN" altLang="en-US" sz="1600">
                <a:solidFill>
                  <a:srgbClr val="103088"/>
                </a:solidFill>
                <a:latin typeface="Times New Roman" panose="02020603050405020304" pitchFamily="18" charset="0"/>
                <a:cs typeface="Times New Roman" panose="02020603050405020304" pitchFamily="18" charset="0"/>
                <a:sym typeface="Arial" panose="020B0604020202020204" pitchFamily="34" charset="0"/>
              </a:rPr>
              <a:t> </a:t>
            </a:r>
            <a:r>
              <a:rPr lang="en-US" altLang="en-US" sz="1600" smtClean="0">
                <a:solidFill>
                  <a:srgbClr val="103088"/>
                </a:solidFill>
                <a:latin typeface="Times New Roman" panose="02020603050405020304" pitchFamily="18" charset="0"/>
                <a:cs typeface="Times New Roman" panose="02020603050405020304" pitchFamily="18" charset="0"/>
                <a:sym typeface="Arial" panose="020B0604020202020204" pitchFamily="34" charset="0"/>
              </a:rPr>
              <a:t>số 51/2010</a:t>
            </a:r>
            <a:r>
              <a:rPr lang="vi-VN" altLang="en-US" sz="1600" smtClean="0">
                <a:solidFill>
                  <a:srgbClr val="103088"/>
                </a:solidFill>
                <a:latin typeface="Times New Roman" panose="02020603050405020304" pitchFamily="18" charset="0"/>
                <a:cs typeface="Times New Roman" panose="02020603050405020304" pitchFamily="18" charset="0"/>
                <a:sym typeface="Arial" panose="020B0604020202020204" pitchFamily="34" charset="0"/>
              </a:rPr>
              <a:t>/NĐ-CP</a:t>
            </a:r>
            <a:endParaRPr lang="vi-VN" altLang="en-US" sz="1600">
              <a:solidFill>
                <a:srgbClr val="103088"/>
              </a:solidFill>
              <a:latin typeface="Times New Roman" panose="02020603050405020304" pitchFamily="18" charset="0"/>
              <a:cs typeface="Times New Roman" panose="02020603050405020304" pitchFamily="18" charset="0"/>
              <a:sym typeface="Arial" panose="020B0604020202020204" pitchFamily="34" charset="0"/>
            </a:endParaRPr>
          </a:p>
          <a:p>
            <a:pPr algn="ctr" eaLnBrk="1" hangingPunct="1">
              <a:spcBef>
                <a:spcPct val="0"/>
              </a:spcBef>
              <a:buClrTx/>
              <a:buFontTx/>
              <a:buNone/>
            </a:pPr>
            <a:r>
              <a:rPr lang="en-US" altLang="en-US" sz="1600" smtClean="0">
                <a:solidFill>
                  <a:srgbClr val="103088"/>
                </a:solidFill>
                <a:latin typeface="Times New Roman" panose="02020603050405020304" pitchFamily="18" charset="0"/>
                <a:cs typeface="Times New Roman" panose="02020603050405020304" pitchFamily="18" charset="0"/>
                <a:sym typeface="Arial" panose="020B0604020202020204" pitchFamily="34" charset="0"/>
              </a:rPr>
              <a:t>Nghị </a:t>
            </a:r>
            <a:r>
              <a:rPr lang="en-US" altLang="en-US" sz="1600">
                <a:solidFill>
                  <a:srgbClr val="103088"/>
                </a:solidFill>
                <a:latin typeface="Times New Roman" panose="02020603050405020304" pitchFamily="18" charset="0"/>
                <a:cs typeface="Times New Roman" panose="02020603050405020304" pitchFamily="18" charset="0"/>
                <a:sym typeface="Arial" panose="020B0604020202020204" pitchFamily="34" charset="0"/>
              </a:rPr>
              <a:t>định </a:t>
            </a:r>
            <a:r>
              <a:rPr lang="en-US" altLang="en-US" sz="1600" smtClean="0">
                <a:solidFill>
                  <a:srgbClr val="103088"/>
                </a:solidFill>
                <a:latin typeface="Times New Roman" panose="02020603050405020304" pitchFamily="18" charset="0"/>
                <a:cs typeface="Times New Roman" panose="02020603050405020304" pitchFamily="18" charset="0"/>
                <a:sym typeface="Arial" panose="020B0604020202020204" pitchFamily="34" charset="0"/>
              </a:rPr>
              <a:t>số 04/2014/NĐ-CP</a:t>
            </a:r>
          </a:p>
          <a:p>
            <a:pPr algn="ctr" eaLnBrk="1" hangingPunct="1">
              <a:spcBef>
                <a:spcPct val="0"/>
              </a:spcBef>
              <a:buClrTx/>
              <a:buFontTx/>
              <a:buNone/>
            </a:pPr>
            <a:r>
              <a:rPr lang="en-US" altLang="en-US" sz="1600" smtClean="0">
                <a:solidFill>
                  <a:srgbClr val="103088"/>
                </a:solidFill>
                <a:latin typeface="Times New Roman" panose="02020603050405020304" pitchFamily="18" charset="0"/>
                <a:cs typeface="Times New Roman" panose="02020603050405020304" pitchFamily="18" charset="0"/>
                <a:sym typeface="Arial" panose="020B0604020202020204" pitchFamily="34" charset="0"/>
              </a:rPr>
              <a:t>Thông tư số 39/2014/TT-BTC </a:t>
            </a:r>
          </a:p>
          <a:p>
            <a:pPr algn="ctr">
              <a:spcBef>
                <a:spcPct val="0"/>
              </a:spcBef>
              <a:buClrTx/>
              <a:buNone/>
            </a:pPr>
            <a:r>
              <a:rPr lang="en-US" altLang="en-US" sz="1600">
                <a:solidFill>
                  <a:srgbClr val="103088"/>
                </a:solidFill>
                <a:latin typeface="Times New Roman" panose="02020603050405020304" pitchFamily="18" charset="0"/>
                <a:cs typeface="Times New Roman" panose="02020603050405020304" pitchFamily="18" charset="0"/>
                <a:sym typeface="Arial" panose="020B0604020202020204" pitchFamily="34" charset="0"/>
              </a:rPr>
              <a:t>Thông tư số 32/2011/TT-BTC</a:t>
            </a:r>
          </a:p>
        </p:txBody>
      </p:sp>
      <p:sp>
        <p:nvSpPr>
          <p:cNvPr id="4" name="Rectangle 3"/>
          <p:cNvSpPr/>
          <p:nvPr/>
        </p:nvSpPr>
        <p:spPr>
          <a:xfrm>
            <a:off x="5755420" y="1050180"/>
            <a:ext cx="4463008" cy="1200329"/>
          </a:xfrm>
          <a:prstGeom prst="rect">
            <a:avLst/>
          </a:prstGeom>
        </p:spPr>
        <p:txBody>
          <a:bodyPr wrap="square">
            <a:spAutoFit/>
          </a:bodyPr>
          <a:lstStyle/>
          <a:p>
            <a:pPr algn="ctr"/>
            <a:r>
              <a:rPr lang="en-US" b="1" smtClean="0">
                <a:solidFill>
                  <a:srgbClr val="C00000"/>
                </a:solidFill>
                <a:latin typeface="Times New Roman" panose="02020603050405020304" pitchFamily="18" charset="0"/>
                <a:cs typeface="Times New Roman" panose="02020603050405020304" pitchFamily="18" charset="0"/>
              </a:rPr>
              <a:t>Luật QLT số 38/2019/QH14 </a:t>
            </a:r>
          </a:p>
          <a:p>
            <a:pPr algn="ctr"/>
            <a:r>
              <a:rPr lang="en-US" altLang="en-US" b="1" smtClean="0">
                <a:solidFill>
                  <a:srgbClr val="C00000"/>
                </a:solidFill>
                <a:latin typeface="Times New Roman" panose="02020603050405020304" pitchFamily="18" charset="0"/>
                <a:ea typeface="DejaVu Sans"/>
                <a:cs typeface="Times New Roman" panose="02020603050405020304" pitchFamily="18" charset="0"/>
                <a:sym typeface="Arial" panose="020B0604020202020204" pitchFamily="34" charset="0"/>
              </a:rPr>
              <a:t>Nghị </a:t>
            </a:r>
            <a:r>
              <a:rPr lang="en-US" altLang="en-US" b="1">
                <a:solidFill>
                  <a:srgbClr val="C00000"/>
                </a:solidFill>
                <a:latin typeface="Times New Roman" panose="02020603050405020304" pitchFamily="18" charset="0"/>
                <a:ea typeface="DejaVu Sans"/>
                <a:cs typeface="Times New Roman" panose="02020603050405020304" pitchFamily="18" charset="0"/>
                <a:sym typeface="Arial" panose="020B0604020202020204" pitchFamily="34" charset="0"/>
              </a:rPr>
              <a:t>định 123/2020</a:t>
            </a:r>
            <a:r>
              <a:rPr lang="vi-VN" altLang="en-US" b="1" smtClean="0">
                <a:solidFill>
                  <a:srgbClr val="C00000"/>
                </a:solidFill>
                <a:latin typeface="Times New Roman" panose="02020603050405020304" pitchFamily="18" charset="0"/>
                <a:ea typeface="DejaVu Sans"/>
                <a:cs typeface="Times New Roman" panose="02020603050405020304" pitchFamily="18" charset="0"/>
                <a:sym typeface="Arial" panose="020B0604020202020204" pitchFamily="34" charset="0"/>
              </a:rPr>
              <a:t>/NĐ-CP</a:t>
            </a:r>
            <a:endParaRPr lang="en-US" altLang="en-US" b="1" smtClean="0">
              <a:solidFill>
                <a:srgbClr val="C00000"/>
              </a:solidFill>
              <a:latin typeface="Times New Roman" panose="02020603050405020304" pitchFamily="18" charset="0"/>
              <a:ea typeface="DejaVu Sans"/>
              <a:cs typeface="Times New Roman" panose="02020603050405020304" pitchFamily="18" charset="0"/>
              <a:sym typeface="Arial" panose="020B0604020202020204" pitchFamily="34" charset="0"/>
            </a:endParaRPr>
          </a:p>
          <a:p>
            <a:pPr algn="ctr"/>
            <a:r>
              <a:rPr lang="vi-VN" b="1">
                <a:solidFill>
                  <a:srgbClr val="C00000"/>
                </a:solidFill>
                <a:latin typeface="Times New Roman" panose="02020603050405020304" pitchFamily="18" charset="0"/>
                <a:cs typeface="Times New Roman" panose="02020603050405020304" pitchFamily="18" charset="0"/>
              </a:rPr>
              <a:t>Thông tư</a:t>
            </a:r>
            <a:r>
              <a:rPr lang="en-US" b="1">
                <a:solidFill>
                  <a:srgbClr val="C00000"/>
                </a:solidFill>
                <a:latin typeface="Times New Roman" panose="02020603050405020304" pitchFamily="18" charset="0"/>
                <a:cs typeface="Times New Roman" panose="02020603050405020304" pitchFamily="18" charset="0"/>
              </a:rPr>
              <a:t> số </a:t>
            </a:r>
            <a:r>
              <a:rPr lang="vi-VN" b="1">
                <a:solidFill>
                  <a:srgbClr val="C00000"/>
                </a:solidFill>
                <a:latin typeface="Times New Roman" panose="02020603050405020304" pitchFamily="18" charset="0"/>
                <a:cs typeface="Times New Roman" panose="02020603050405020304" pitchFamily="18" charset="0"/>
              </a:rPr>
              <a:t> 78/2021/TT-BTC</a:t>
            </a:r>
            <a:endParaRPr lang="en-US" altLang="en-US" b="1" smtClean="0">
              <a:solidFill>
                <a:srgbClr val="C00000"/>
              </a:solidFill>
              <a:latin typeface="Times New Roman" panose="02020603050405020304" pitchFamily="18" charset="0"/>
              <a:ea typeface="DejaVu Sans"/>
              <a:cs typeface="Times New Roman" panose="02020603050405020304" pitchFamily="18" charset="0"/>
              <a:sym typeface="Arial" panose="020B0604020202020204" pitchFamily="34" charset="0"/>
            </a:endParaRPr>
          </a:p>
          <a:p>
            <a:pPr algn="ctr"/>
            <a:r>
              <a:rPr lang="en-US" b="1" smtClean="0">
                <a:solidFill>
                  <a:srgbClr val="C00000"/>
                </a:solidFill>
                <a:latin typeface="Times New Roman" panose="02020603050405020304" pitchFamily="18" charset="0"/>
                <a:cs typeface="Times New Roman" panose="02020603050405020304" pitchFamily="18" charset="0"/>
                <a:sym typeface="Arial" panose="020B0604020202020204" pitchFamily="34" charset="0"/>
              </a:rPr>
              <a:t>Quyết định 1838/QĐ-BTC ngày 20/9/2021</a:t>
            </a:r>
            <a:endParaRPr lang="en-US" b="1">
              <a:solidFill>
                <a:srgbClr val="C00000"/>
              </a:solidFill>
              <a:latin typeface="Times New Roman" panose="02020603050405020304" pitchFamily="18" charset="0"/>
              <a:cs typeface="Times New Roman" panose="02020603050405020304" pitchFamily="18" charset="0"/>
            </a:endParaRPr>
          </a:p>
        </p:txBody>
      </p:sp>
      <p:sp>
        <p:nvSpPr>
          <p:cNvPr id="95" name="Google Shape;217;p27"/>
          <p:cNvSpPr txBox="1">
            <a:spLocks noChangeArrowheads="1"/>
          </p:cNvSpPr>
          <p:nvPr/>
        </p:nvSpPr>
        <p:spPr bwMode="auto">
          <a:xfrm>
            <a:off x="5471206" y="3516294"/>
            <a:ext cx="2431769" cy="2863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0" rIns="91425" bIns="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smtClean="0">
                <a:solidFill>
                  <a:srgbClr val="FF3399"/>
                </a:solidFill>
                <a:latin typeface="Times New Roman" panose="02020603050405020304" pitchFamily="18" charset="0"/>
                <a:ea typeface="DejaVu Sans"/>
                <a:cs typeface="Times New Roman" panose="02020603050405020304" pitchFamily="18" charset="0"/>
                <a:sym typeface="Arial" panose="020B0604020202020204" pitchFamily="34" charset="0"/>
              </a:rPr>
              <a:t>- Áp </a:t>
            </a:r>
            <a:r>
              <a:rPr lang="en-US" altLang="en-US" sz="1800">
                <a:solidFill>
                  <a:srgbClr val="FF3399"/>
                </a:solidFill>
                <a:latin typeface="Times New Roman" panose="02020603050405020304" pitchFamily="18" charset="0"/>
                <a:ea typeface="DejaVu Sans"/>
                <a:cs typeface="Times New Roman" panose="02020603050405020304" pitchFamily="18" charset="0"/>
                <a:sym typeface="Arial" panose="020B0604020202020204" pitchFamily="34" charset="0"/>
              </a:rPr>
              <a:t>dụng 06 tỉnh, thành (Hà Nội, Hồ Chí Minh, Hải Phòng, Quảng Ninh, </a:t>
            </a:r>
            <a:r>
              <a:rPr lang="en-US" altLang="en-US" sz="1800" u="sng">
                <a:solidFill>
                  <a:srgbClr val="FF3399"/>
                </a:solidFill>
                <a:latin typeface="Times New Roman" panose="02020603050405020304" pitchFamily="18" charset="0"/>
                <a:ea typeface="DejaVu Sans"/>
                <a:cs typeface="Times New Roman" panose="02020603050405020304" pitchFamily="18" charset="0"/>
                <a:sym typeface="Arial" panose="020B0604020202020204" pitchFamily="34" charset="0"/>
              </a:rPr>
              <a:t>Phú Thọ, </a:t>
            </a:r>
            <a:r>
              <a:rPr lang="en-US" altLang="en-US" sz="1800">
                <a:solidFill>
                  <a:srgbClr val="FF3399"/>
                </a:solidFill>
                <a:latin typeface="Times New Roman" panose="02020603050405020304" pitchFamily="18" charset="0"/>
                <a:ea typeface="DejaVu Sans"/>
                <a:cs typeface="Times New Roman" panose="02020603050405020304" pitchFamily="18" charset="0"/>
                <a:sym typeface="Arial" panose="020B0604020202020204" pitchFamily="34" charset="0"/>
              </a:rPr>
              <a:t>Bình Định</a:t>
            </a:r>
            <a:r>
              <a:rPr lang="en-US" altLang="en-US" sz="1800" smtClean="0">
                <a:solidFill>
                  <a:srgbClr val="FF3399"/>
                </a:solidFill>
                <a:latin typeface="Times New Roman" panose="02020603050405020304" pitchFamily="18" charset="0"/>
                <a:ea typeface="DejaVu Sans"/>
                <a:cs typeface="Times New Roman" panose="02020603050405020304" pitchFamily="18" charset="0"/>
                <a:sym typeface="Arial" panose="020B0604020202020204" pitchFamily="34" charset="0"/>
              </a:rPr>
              <a:t>)</a:t>
            </a:r>
          </a:p>
          <a:p>
            <a:pPr algn="ctr" eaLnBrk="1" hangingPunct="1">
              <a:spcBef>
                <a:spcPct val="0"/>
              </a:spcBef>
              <a:buClrTx/>
              <a:buFontTx/>
              <a:buNone/>
            </a:pPr>
            <a:r>
              <a:rPr lang="en-US" altLang="en-US" sz="1800" smtClean="0">
                <a:solidFill>
                  <a:srgbClr val="FF3399"/>
                </a:solidFill>
                <a:latin typeface="Times New Roman" panose="02020603050405020304" pitchFamily="18" charset="0"/>
                <a:ea typeface="DejaVu Sans"/>
                <a:cs typeface="Times New Roman" panose="02020603050405020304" pitchFamily="18" charset="0"/>
                <a:sym typeface="Arial" panose="020B0604020202020204" pitchFamily="34" charset="0"/>
              </a:rPr>
              <a:t>- Khuyến khích  NNT đáp ứng điều kiện sử dụng HĐ ĐT theo NĐ 123 áp dụng trước 01/7/2022</a:t>
            </a:r>
            <a:endParaRPr lang="en-US" altLang="en-US" sz="1800">
              <a:solidFill>
                <a:srgbClr val="FF3399"/>
              </a:solidFill>
              <a:latin typeface="Times New Roman" panose="02020603050405020304" pitchFamily="18" charset="0"/>
              <a:ea typeface="DejaVu Sans"/>
              <a:cs typeface="Times New Roman" panose="02020603050405020304" pitchFamily="18" charset="0"/>
            </a:endParaRPr>
          </a:p>
        </p:txBody>
      </p:sp>
      <p:sp>
        <p:nvSpPr>
          <p:cNvPr id="96" name="Google Shape;217;p27"/>
          <p:cNvSpPr txBox="1">
            <a:spLocks noChangeArrowheads="1"/>
          </p:cNvSpPr>
          <p:nvPr/>
        </p:nvSpPr>
        <p:spPr bwMode="auto">
          <a:xfrm>
            <a:off x="8164206" y="3564532"/>
            <a:ext cx="1813008" cy="888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0" rIns="91425" bIns="0" anchor="ctr"/>
          <a:lstStyle>
            <a:lvl1pPr algn="just">
              <a:spcBef>
                <a:spcPct val="20000"/>
              </a:spcBef>
              <a:buClr>
                <a:schemeClr val="hlink"/>
              </a:buClr>
              <a:buFont typeface="Wingdings" panose="05000000000000000000" pitchFamily="2" charset="2"/>
              <a:buChar char="v"/>
              <a:defRPr sz="2800" b="1">
                <a:solidFill>
                  <a:schemeClr val="accent2"/>
                </a:solidFill>
                <a:latin typeface="Arial" panose="020B0604020202020204" pitchFamily="34" charset="0"/>
              </a:defRPr>
            </a:lvl1pPr>
            <a:lvl2pPr marL="742950" indent="-285750" algn="just">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just">
              <a:spcBef>
                <a:spcPct val="20000"/>
              </a:spcBef>
              <a:buClr>
                <a:schemeClr val="tx1"/>
              </a:buClr>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None/>
            </a:pPr>
            <a:r>
              <a:rPr lang="en-US" altLang="en-US" sz="1800">
                <a:solidFill>
                  <a:srgbClr val="FF0066"/>
                </a:solidFill>
                <a:latin typeface="Times New Roman" panose="02020603050405020304" pitchFamily="18" charset="0"/>
                <a:cs typeface="Times New Roman" panose="02020603050405020304" pitchFamily="18" charset="0"/>
                <a:sym typeface="Arial" panose="020B0604020202020204" pitchFamily="34" charset="0"/>
              </a:rPr>
              <a:t>Áp dụng cho 57 tỉnh, thành còn lại</a:t>
            </a:r>
            <a:r>
              <a:rPr lang="en-US" altLang="en-US" sz="1800" smtClean="0">
                <a:solidFill>
                  <a:srgbClr val="FF0066"/>
                </a:solidFill>
                <a:latin typeface="Times New Roman" panose="02020603050405020304" pitchFamily="18" charset="0"/>
                <a:cs typeface="Times New Roman" panose="02020603050405020304" pitchFamily="18" charset="0"/>
                <a:sym typeface="Arial" panose="020B0604020202020204" pitchFamily="34" charset="0"/>
              </a:rPr>
              <a:t>.</a:t>
            </a:r>
            <a:endParaRPr lang="en-US" altLang="en-US" sz="1800">
              <a:solidFill>
                <a:srgbClr val="FF0066"/>
              </a:solidFill>
              <a:latin typeface="Times New Roman" panose="02020603050405020304" pitchFamily="18" charset="0"/>
              <a:cs typeface="Times New Roman" panose="02020603050405020304" pitchFamily="18" charset="0"/>
              <a:sym typeface="Arial" panose="020B0604020202020204" pitchFamily="34" charset="0"/>
            </a:endParaRPr>
          </a:p>
        </p:txBody>
      </p:sp>
      <p:sp>
        <p:nvSpPr>
          <p:cNvPr id="97" name="Google Shape;231;p27"/>
          <p:cNvSpPr txBox="1">
            <a:spLocks noChangeArrowheads="1"/>
          </p:cNvSpPr>
          <p:nvPr/>
        </p:nvSpPr>
        <p:spPr bwMode="auto">
          <a:xfrm>
            <a:off x="748352" y="3657598"/>
            <a:ext cx="3955269" cy="1220608"/>
          </a:xfrm>
          <a:prstGeom prst="rect">
            <a:avLst/>
          </a:prstGeom>
          <a:noFill/>
          <a:ln>
            <a:noFill/>
          </a:ln>
          <a:extLst/>
        </p:spPr>
        <p:txBody>
          <a:bodyPr lIns="91425" tIns="45700" rIns="91425" bIns="45700"/>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DejaVu Sans"/>
                <a:cs typeface="DejaVu Sans"/>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DejaVu Sans"/>
                <a:cs typeface="DejaVu Sans"/>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DejaVu Sans"/>
                <a:cs typeface="DejaVu Sans"/>
              </a:defRPr>
            </a:lvl3pPr>
            <a:lvl4pPr marL="16002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DejaVu Sans"/>
                <a:cs typeface="DejaVu Sans"/>
              </a:defRPr>
            </a:lvl4pPr>
            <a:lvl5pPr marL="20574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DejaVu Sans"/>
                <a:cs typeface="DejaVu Sans"/>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Arial" panose="020B0604020202020204" pitchFamily="34" charset="0"/>
                <a:ea typeface="DejaVu Sans"/>
                <a:cs typeface="DejaVu Sans"/>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Arial" panose="020B0604020202020204" pitchFamily="34" charset="0"/>
                <a:ea typeface="DejaVu Sans"/>
                <a:cs typeface="DejaVu Sans"/>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Arial" panose="020B0604020202020204" pitchFamily="34" charset="0"/>
                <a:ea typeface="DejaVu Sans"/>
                <a:cs typeface="DejaVu Sans"/>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Arial" panose="020B0604020202020204" pitchFamily="34" charset="0"/>
                <a:ea typeface="DejaVu Sans"/>
                <a:cs typeface="DejaVu Sans"/>
              </a:defRPr>
            </a:lvl9pPr>
          </a:lstStyle>
          <a:p>
            <a:pPr algn="ctr" eaLnBrk="1" hangingPunct="1">
              <a:lnSpc>
                <a:spcPct val="100000"/>
              </a:lnSpc>
              <a:spcBef>
                <a:spcPct val="0"/>
              </a:spcBef>
              <a:buFontTx/>
              <a:buNone/>
              <a:defRPr/>
            </a:pPr>
            <a:r>
              <a:rPr lang="en-US" altLang="en-US" sz="1600" b="1" dirty="0" err="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Hướng</a:t>
            </a:r>
            <a:r>
              <a:rPr lang="en-US" altLang="en-US" sz="1600" b="1" dirty="0"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en-US" sz="1600" b="1" dirty="0" err="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dẫn</a:t>
            </a:r>
            <a:r>
              <a:rPr lang="en-US" altLang="en-US" sz="1600" b="1" dirty="0"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vi-VN" altLang="en-US" sz="1600" b="1" dirty="0"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DN áp </a:t>
            </a:r>
            <a:r>
              <a:rPr lang="vi-VN" altLang="en-US" sz="1600" b="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dụng</a:t>
            </a:r>
            <a:r>
              <a:rPr lang="en-US" altLang="en-US" sz="1600" b="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sz="1600" b="1" spc="-1" smtClean="0">
                <a:solidFill>
                  <a:schemeClr val="accent5">
                    <a:lumMod val="75000"/>
                  </a:schemeClr>
                </a:solidFill>
                <a:latin typeface="Times New Roman" panose="02020603050405020304" pitchFamily="18" charset="0"/>
                <a:cs typeface="Times New Roman" panose="02020603050405020304" pitchFamily="18" charset="0"/>
              </a:rPr>
              <a:t>HĐĐT theo TT 32/2011/TT-BTC h</a:t>
            </a:r>
            <a:r>
              <a:rPr lang="en-US" altLang="en-US" sz="1600" b="1" spc="-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iệu </a:t>
            </a:r>
            <a:r>
              <a:rPr lang="en-US" altLang="en-US" sz="1600" b="1" spc="-1" err="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lực</a:t>
            </a:r>
            <a:r>
              <a:rPr lang="en-US" altLang="en-US" sz="1600" b="1" spc="-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 01/5/2011 và TT và NĐ hướng dẫn về HĐ;</a:t>
            </a:r>
          </a:p>
          <a:p>
            <a:pPr algn="ctr" eaLnBrk="1" hangingPunct="1">
              <a:lnSpc>
                <a:spcPct val="100000"/>
              </a:lnSpc>
              <a:spcBef>
                <a:spcPct val="0"/>
              </a:spcBef>
              <a:buFontTx/>
              <a:buNone/>
              <a:defRPr/>
            </a:pPr>
            <a:r>
              <a:rPr lang="en-US" altLang="en-US" sz="1600" b="1" spc="-1"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rPr>
              <a:t>NNT có thể sử dụng Hóa đơn giấy và hóa đơn điện tử song song</a:t>
            </a:r>
            <a:endParaRPr lang="en-US" altLang="en-US" sz="1600" b="1" dirty="0" smtClean="0">
              <a:solidFill>
                <a:schemeClr val="accent5">
                  <a:lumMod val="75000"/>
                </a:schemeClr>
              </a:solidFill>
              <a:latin typeface="Times New Roman" panose="02020603050405020304" pitchFamily="18" charset="0"/>
              <a:cs typeface="Times New Roman" panose="02020603050405020304" pitchFamily="18" charset="0"/>
              <a:sym typeface="Arial" panose="020B0604020202020204" pitchFamily="34" charset="0"/>
            </a:endParaRPr>
          </a:p>
        </p:txBody>
      </p:sp>
      <p:cxnSp>
        <p:nvCxnSpPr>
          <p:cNvPr id="45" name="Straight Connector 44"/>
          <p:cNvCxnSpPr/>
          <p:nvPr/>
        </p:nvCxnSpPr>
        <p:spPr>
          <a:xfrm>
            <a:off x="5471206" y="3286451"/>
            <a:ext cx="0" cy="3255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8167849" y="3286451"/>
            <a:ext cx="0" cy="3255026"/>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5807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smtClean="0">
                <a:solidFill>
                  <a:schemeClr val="accent1">
                    <a:lumMod val="50000"/>
                  </a:schemeClr>
                </a:solidFill>
                <a:latin typeface="Arial (Body)"/>
              </a:rPr>
              <a:t>2</a:t>
            </a:r>
            <a:r>
              <a:rPr lang="en-US" sz="2200" b="1" smtClean="0">
                <a:solidFill>
                  <a:schemeClr val="accent1">
                    <a:lumMod val="50000"/>
                  </a:schemeClr>
                </a:solidFill>
              </a:rPr>
              <a:t>. </a:t>
            </a:r>
            <a:r>
              <a:rPr lang="vi-VN" sz="2200" b="1" smtClean="0">
                <a:solidFill>
                  <a:schemeClr val="accent1">
                    <a:lumMod val="50000"/>
                  </a:schemeClr>
                </a:solidFill>
              </a:rPr>
              <a:t>ĐỐI TƯỢNG SỬ DỤNG HÓA ĐƠN ĐIỆN TỬ</a:t>
            </a: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2"/>
          <p:cNvSpPr txBox="1">
            <a:spLocks/>
          </p:cNvSpPr>
          <p:nvPr/>
        </p:nvSpPr>
        <p:spPr>
          <a:xfrm>
            <a:off x="955123" y="4284933"/>
            <a:ext cx="2543175" cy="1209105"/>
          </a:xfrm>
          <a:prstGeom prst="rect">
            <a:avLst/>
          </a:prstGeom>
          <a:solidFill>
            <a:srgbClr val="EAA8E1"/>
          </a:solidFill>
          <a:ln w="28575">
            <a:solidFill>
              <a:schemeClr val="accent5">
                <a:lumMod val="75000"/>
              </a:schemeClr>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charset="2"/>
              <a:buNone/>
              <a:defRPr/>
            </a:pPr>
            <a:r>
              <a:rPr lang="en-US" sz="2200" b="1" i="1" smtClean="0">
                <a:solidFill>
                  <a:schemeClr val="tx1">
                    <a:lumMod val="75000"/>
                    <a:lumOff val="25000"/>
                  </a:schemeClr>
                </a:solidFill>
                <a:latin typeface="Times New Roman" panose="02020603050405020304" pitchFamily="18" charset="0"/>
                <a:cs typeface="Times New Roman" panose="02020603050405020304" pitchFamily="18" charset="0"/>
              </a:rPr>
              <a:t>H</a:t>
            </a:r>
            <a:r>
              <a:rPr lang="vi-VN" sz="2200" b="1" i="1" smtClean="0">
                <a:solidFill>
                  <a:schemeClr val="tx1">
                    <a:lumMod val="75000"/>
                    <a:lumOff val="25000"/>
                  </a:schemeClr>
                </a:solidFill>
                <a:latin typeface="Times New Roman" panose="02020603050405020304" pitchFamily="18" charset="0"/>
                <a:cs typeface="Times New Roman" panose="02020603050405020304" pitchFamily="18" charset="0"/>
              </a:rPr>
              <a:t>óa đơn điện tử có mã của cơ quan thuế</a:t>
            </a:r>
            <a:endParaRPr lang="en-US" sz="2200" smtClean="0">
              <a:solidFill>
                <a:schemeClr val="tx1">
                  <a:lumMod val="75000"/>
                  <a:lumOff val="25000"/>
                </a:schemeClr>
              </a:solidFill>
              <a:latin typeface="Times New Roman" panose="02020603050405020304" pitchFamily="18" charset="0"/>
              <a:cs typeface="Times New Roman" panose="02020603050405020304" pitchFamily="18" charset="0"/>
            </a:endParaRPr>
          </a:p>
          <a:p>
            <a:pPr>
              <a:buFont typeface="Wingdings 3" charset="2"/>
              <a:buChar char=""/>
              <a:defRPr/>
            </a:pPr>
            <a:endParaRPr lang="en-US" sz="22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0" name="Content Placeholder 2"/>
          <p:cNvSpPr txBox="1">
            <a:spLocks/>
          </p:cNvSpPr>
          <p:nvPr/>
        </p:nvSpPr>
        <p:spPr>
          <a:xfrm>
            <a:off x="4309695" y="4266688"/>
            <a:ext cx="2544763" cy="1227350"/>
          </a:xfrm>
          <a:prstGeom prst="rect">
            <a:avLst/>
          </a:prstGeom>
          <a:solidFill>
            <a:srgbClr val="EAA8E1"/>
          </a:solidFill>
          <a:ln w="28575">
            <a:solidFill>
              <a:schemeClr val="accent5">
                <a:lumMod val="75000"/>
              </a:schemeClr>
            </a:solidFill>
          </a:ln>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charset="2"/>
              <a:buNone/>
              <a:defRPr/>
            </a:pPr>
            <a:r>
              <a:rPr lang="en-US" sz="2200" b="1" i="1" smtClean="0">
                <a:solidFill>
                  <a:schemeClr val="tx1">
                    <a:lumMod val="75000"/>
                    <a:lumOff val="25000"/>
                  </a:schemeClr>
                </a:solidFill>
                <a:latin typeface="Times New Roman" panose="02020603050405020304" pitchFamily="18" charset="0"/>
                <a:cs typeface="Times New Roman" panose="02020603050405020304" pitchFamily="18" charset="0"/>
              </a:rPr>
              <a:t> H</a:t>
            </a:r>
            <a:r>
              <a:rPr lang="vi-VN" sz="2200" b="1" i="1" smtClean="0">
                <a:solidFill>
                  <a:schemeClr val="tx1">
                    <a:lumMod val="75000"/>
                    <a:lumOff val="25000"/>
                  </a:schemeClr>
                </a:solidFill>
                <a:latin typeface="Times New Roman" panose="02020603050405020304" pitchFamily="18" charset="0"/>
                <a:cs typeface="Times New Roman" panose="02020603050405020304" pitchFamily="18" charset="0"/>
              </a:rPr>
              <a:t>óa đơn điện tử </a:t>
            </a:r>
            <a:r>
              <a:rPr lang="en-US" sz="2200" b="1" i="1" smtClean="0">
                <a:solidFill>
                  <a:schemeClr val="tx1">
                    <a:lumMod val="75000"/>
                    <a:lumOff val="25000"/>
                  </a:schemeClr>
                </a:solidFill>
                <a:latin typeface="Times New Roman" panose="02020603050405020304" pitchFamily="18" charset="0"/>
                <a:cs typeface="Times New Roman" panose="02020603050405020304" pitchFamily="18" charset="0"/>
              </a:rPr>
              <a:t>không</a:t>
            </a:r>
            <a:r>
              <a:rPr lang="vi-VN" sz="2200" b="1" i="1" smtClean="0">
                <a:solidFill>
                  <a:schemeClr val="tx1">
                    <a:lumMod val="75000"/>
                    <a:lumOff val="25000"/>
                  </a:schemeClr>
                </a:solidFill>
                <a:latin typeface="Times New Roman" panose="02020603050405020304" pitchFamily="18" charset="0"/>
                <a:cs typeface="Times New Roman" panose="02020603050405020304" pitchFamily="18" charset="0"/>
              </a:rPr>
              <a:t> mã của cơ quan thuế</a:t>
            </a:r>
            <a:endParaRPr lang="en-US" sz="2200" smtClean="0">
              <a:solidFill>
                <a:schemeClr val="tx1">
                  <a:lumMod val="75000"/>
                  <a:lumOff val="25000"/>
                </a:schemeClr>
              </a:solidFill>
              <a:latin typeface="Times New Roman" panose="02020603050405020304" pitchFamily="18" charset="0"/>
              <a:cs typeface="Times New Roman" panose="02020603050405020304" pitchFamily="18" charset="0"/>
            </a:endParaRPr>
          </a:p>
          <a:p>
            <a:pPr>
              <a:buFont typeface="Wingdings 3" charset="2"/>
              <a:buChar char=""/>
              <a:defRPr/>
            </a:pPr>
            <a:endParaRPr lang="en-US" sz="2200" dirty="0">
              <a:solidFill>
                <a:schemeClr val="tx1">
                  <a:lumMod val="75000"/>
                  <a:lumOff val="25000"/>
                </a:schemeClr>
              </a:solidFill>
            </a:endParaRPr>
          </a:p>
        </p:txBody>
      </p:sp>
      <p:sp>
        <p:nvSpPr>
          <p:cNvPr id="31" name="Content Placeholder 2"/>
          <p:cNvSpPr txBox="1">
            <a:spLocks/>
          </p:cNvSpPr>
          <p:nvPr/>
        </p:nvSpPr>
        <p:spPr>
          <a:xfrm>
            <a:off x="7665855" y="4228588"/>
            <a:ext cx="2967037" cy="1265450"/>
          </a:xfrm>
          <a:prstGeom prst="rect">
            <a:avLst/>
          </a:prstGeom>
          <a:solidFill>
            <a:srgbClr val="EAA8E1"/>
          </a:solidFill>
          <a:ln w="28575">
            <a:solidFill>
              <a:schemeClr val="accent5">
                <a:lumMod val="75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3" charset="2"/>
              <a:buNone/>
              <a:defRPr/>
            </a:pPr>
            <a:r>
              <a:rPr lang="en-US" sz="2200" b="1" i="1" smtClean="0">
                <a:solidFill>
                  <a:schemeClr val="tx1">
                    <a:lumMod val="75000"/>
                    <a:lumOff val="25000"/>
                  </a:schemeClr>
                </a:solidFill>
                <a:latin typeface="Times New Roman" panose="02020603050405020304" pitchFamily="18" charset="0"/>
                <a:cs typeface="Times New Roman" panose="02020603050405020304" pitchFamily="18" charset="0"/>
              </a:rPr>
              <a:t>H</a:t>
            </a:r>
            <a:r>
              <a:rPr lang="vi-VN" sz="2200" b="1" i="1" smtClean="0">
                <a:solidFill>
                  <a:schemeClr val="tx1">
                    <a:lumMod val="75000"/>
                    <a:lumOff val="25000"/>
                  </a:schemeClr>
                </a:solidFill>
                <a:latin typeface="Times New Roman" panose="02020603050405020304" pitchFamily="18" charset="0"/>
                <a:cs typeface="Times New Roman" panose="02020603050405020304" pitchFamily="18" charset="0"/>
              </a:rPr>
              <a:t>óa đơn điện tử </a:t>
            </a:r>
            <a:r>
              <a:rPr lang="en-US" sz="2200" b="1" i="1" smtClean="0">
                <a:solidFill>
                  <a:schemeClr val="tx1">
                    <a:lumMod val="75000"/>
                    <a:lumOff val="25000"/>
                  </a:schemeClr>
                </a:solidFill>
                <a:latin typeface="Times New Roman" panose="02020603050405020304" pitchFamily="18" charset="0"/>
                <a:cs typeface="Times New Roman" panose="02020603050405020304" pitchFamily="18" charset="0"/>
              </a:rPr>
              <a:t>được khởi tạo từ máy tính tiền kết nối chuyển dữ liệu đến CQT</a:t>
            </a:r>
            <a:endParaRPr lang="en-US" sz="2200" smtClean="0">
              <a:solidFill>
                <a:schemeClr val="tx1">
                  <a:lumMod val="75000"/>
                  <a:lumOff val="25000"/>
                </a:schemeClr>
              </a:solidFill>
              <a:latin typeface="Times New Roman" panose="02020603050405020304" pitchFamily="18" charset="0"/>
              <a:cs typeface="Times New Roman" panose="02020603050405020304" pitchFamily="18" charset="0"/>
            </a:endParaRPr>
          </a:p>
          <a:p>
            <a:pPr>
              <a:buFont typeface="Wingdings 3" charset="2"/>
              <a:buChar char=""/>
              <a:defRPr/>
            </a:pPr>
            <a:endParaRPr lang="en-US" sz="2200" dirty="0">
              <a:solidFill>
                <a:schemeClr val="tx1">
                  <a:lumMod val="75000"/>
                  <a:lumOff val="25000"/>
                </a:schemeClr>
              </a:solidFill>
            </a:endParaRPr>
          </a:p>
        </p:txBody>
      </p:sp>
      <p:sp>
        <p:nvSpPr>
          <p:cNvPr id="32" name="Content Placeholder 2"/>
          <p:cNvSpPr txBox="1">
            <a:spLocks/>
          </p:cNvSpPr>
          <p:nvPr/>
        </p:nvSpPr>
        <p:spPr>
          <a:xfrm>
            <a:off x="515938" y="1077188"/>
            <a:ext cx="10928350" cy="21443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1800" smtClean="0">
                <a:latin typeface="Arial" panose="020B0604020202020204" pitchFamily="34" charset="0"/>
                <a:cs typeface="Arial" panose="020B0604020202020204" pitchFamily="34" charset="0"/>
              </a:rPr>
              <a:t>Căn cứ Điều 60 Nghị định số 123/2020/NĐ-CP ngày 19/10/2020 của Chính phủ, Điều 12 Thông tư số 78/2021/TT-BTC ngày 17/9/2021 của Bộ Tài chính thì Doanh nghiệp, tổ chức kinh tế, hộ, cá nhân kinh doanh </a:t>
            </a:r>
            <a:r>
              <a:rPr lang="en-US" altLang="en-US" sz="1800" b="1" smtClean="0">
                <a:latin typeface="Arial" panose="020B0604020202020204" pitchFamily="34" charset="0"/>
                <a:cs typeface="Arial" panose="020B0604020202020204" pitchFamily="34" charset="0"/>
              </a:rPr>
              <a:t>thuộc các địa bàn đã đáp ứng điều kiện về cơ sở hạ tầng để triển khai hóa đơn điện tử và được cơ quan thuế thông báo</a:t>
            </a:r>
            <a:r>
              <a:rPr lang="en-US" altLang="en-US" sz="1800" smtClean="0">
                <a:latin typeface="Arial" panose="020B0604020202020204" pitchFamily="34" charset="0"/>
                <a:cs typeface="Arial" panose="020B0604020202020204" pitchFamily="34" charset="0"/>
              </a:rPr>
              <a:t> thực hiện áp dụng hóa đơn điện tử theo quy định tại Nghị định số 123/2020/NĐ-CP, Thông tư số 78/2021/TT-BTC sẽ thực hiện áp dụng hóa đơn điện tử  theo các nội dung của NĐ và TT nói trên.</a:t>
            </a:r>
            <a:endParaRPr lang="en-US" altLang="en-US" sz="1800">
              <a:latin typeface="Arial" panose="020B0604020202020204" pitchFamily="34" charset="0"/>
              <a:cs typeface="Arial" panose="020B0604020202020204" pitchFamily="34" charset="0"/>
            </a:endParaRPr>
          </a:p>
        </p:txBody>
      </p:sp>
      <p:sp>
        <p:nvSpPr>
          <p:cNvPr id="33" name="Content Placeholder 2"/>
          <p:cNvSpPr txBox="1">
            <a:spLocks/>
          </p:cNvSpPr>
          <p:nvPr/>
        </p:nvSpPr>
        <p:spPr>
          <a:xfrm>
            <a:off x="4309695" y="2841673"/>
            <a:ext cx="2544763" cy="911769"/>
          </a:xfrm>
          <a:prstGeom prst="rect">
            <a:avLst/>
          </a:prstGeom>
          <a:solidFill>
            <a:srgbClr val="FFC000"/>
          </a:solidFill>
          <a:ln w="28575">
            <a:solidFill>
              <a:schemeClr val="accent5">
                <a:lumMod val="75000"/>
              </a:schemeClr>
            </a:solidFill>
          </a:ln>
        </p:spPr>
        <p:txBody>
          <a:bodyPr>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fontAlgn="auto">
              <a:lnSpc>
                <a:spcPct val="250000"/>
              </a:lnSpc>
              <a:spcBef>
                <a:spcPts val="2400"/>
              </a:spcBef>
              <a:buFont typeface="Wingdings 3" charset="2"/>
              <a:buNone/>
              <a:defRPr/>
            </a:pPr>
            <a:r>
              <a:rPr lang="en-US" sz="2200" b="1" i="1" dirty="0" smtClean="0">
                <a:latin typeface="Times New Roman" panose="02020603050405020304" pitchFamily="18" charset="0"/>
                <a:cs typeface="Times New Roman" panose="02020603050405020304" pitchFamily="18" charset="0"/>
              </a:rPr>
              <a:t>H</a:t>
            </a:r>
            <a:r>
              <a:rPr lang="vi-VN" sz="2200" b="1" i="1" dirty="0" smtClean="0">
                <a:latin typeface="Times New Roman" panose="02020603050405020304" pitchFamily="18" charset="0"/>
                <a:cs typeface="Times New Roman" panose="02020603050405020304" pitchFamily="18" charset="0"/>
              </a:rPr>
              <a:t>óa đơn điện tử </a:t>
            </a:r>
            <a:endParaRPr lang="en-US" sz="2200" dirty="0">
              <a:latin typeface="Times New Roman" panose="02020603050405020304" pitchFamily="18" charset="0"/>
              <a:cs typeface="Times New Roman" panose="02020603050405020304" pitchFamily="18" charset="0"/>
            </a:endParaRPr>
          </a:p>
        </p:txBody>
      </p:sp>
      <p:cxnSp>
        <p:nvCxnSpPr>
          <p:cNvPr id="14" name="Elbow Connector 13"/>
          <p:cNvCxnSpPr>
            <a:stCxn id="33" idx="3"/>
            <a:endCxn id="31" idx="0"/>
          </p:cNvCxnSpPr>
          <p:nvPr/>
        </p:nvCxnSpPr>
        <p:spPr>
          <a:xfrm>
            <a:off x="6854458" y="3297558"/>
            <a:ext cx="2294916" cy="931030"/>
          </a:xfrm>
          <a:prstGeom prst="bentConnector2">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a:stCxn id="33" idx="1"/>
            <a:endCxn id="29" idx="0"/>
          </p:cNvCxnSpPr>
          <p:nvPr/>
        </p:nvCxnSpPr>
        <p:spPr>
          <a:xfrm rot="10800000" flipV="1">
            <a:off x="2226711" y="3297557"/>
            <a:ext cx="2082984" cy="987375"/>
          </a:xfrm>
          <a:prstGeom prst="bentConnector2">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33" idx="2"/>
            <a:endCxn id="30" idx="0"/>
          </p:cNvCxnSpPr>
          <p:nvPr/>
        </p:nvCxnSpPr>
        <p:spPr>
          <a:xfrm>
            <a:off x="5582077" y="3753442"/>
            <a:ext cx="0" cy="513246"/>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1547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smtClean="0">
                <a:solidFill>
                  <a:schemeClr val="accent1">
                    <a:lumMod val="50000"/>
                  </a:schemeClr>
                </a:solidFill>
                <a:latin typeface="Arial (Body)"/>
              </a:rPr>
              <a:t>2.1. </a:t>
            </a:r>
            <a:r>
              <a:rPr lang="vi-VN" sz="2200" b="1" smtClean="0">
                <a:solidFill>
                  <a:schemeClr val="accent1">
                    <a:lumMod val="50000"/>
                  </a:schemeClr>
                </a:solidFill>
              </a:rPr>
              <a:t>ĐỐI TƯỢNG SỬ DỤNG HÓA ĐƠN ĐIỆN TỬ</a:t>
            </a:r>
            <a:r>
              <a:rPr lang="en-US" sz="2200" b="1" smtClean="0">
                <a:solidFill>
                  <a:schemeClr val="accent1">
                    <a:lumMod val="50000"/>
                  </a:schemeClr>
                </a:solidFill>
              </a:rPr>
              <a:t> </a:t>
            </a:r>
            <a:r>
              <a:rPr lang="en-US" sz="2200" b="1" smtClean="0">
                <a:solidFill>
                  <a:schemeClr val="accent1">
                    <a:lumMod val="50000"/>
                  </a:schemeClr>
                </a:solidFill>
                <a:latin typeface="Arial (Body)"/>
              </a:rPr>
              <a:t>CÓ MÃ CỦA CQT</a:t>
            </a:r>
            <a:endParaRPr lang="vi-VN" sz="22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2"/>
          <p:cNvSpPr txBox="1">
            <a:spLocks/>
          </p:cNvSpPr>
          <p:nvPr/>
        </p:nvSpPr>
        <p:spPr>
          <a:xfrm>
            <a:off x="515938" y="1077188"/>
            <a:ext cx="10928350" cy="21443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altLang="en-US" sz="1800">
              <a:latin typeface="Arial" panose="020B0604020202020204" pitchFamily="34" charset="0"/>
              <a:cs typeface="Arial" panose="020B0604020202020204" pitchFamily="34" charset="0"/>
            </a:endParaRPr>
          </a:p>
        </p:txBody>
      </p:sp>
      <p:sp>
        <p:nvSpPr>
          <p:cNvPr id="20" name="Content Placeholder 2"/>
          <p:cNvSpPr txBox="1">
            <a:spLocks/>
          </p:cNvSpPr>
          <p:nvPr/>
        </p:nvSpPr>
        <p:spPr>
          <a:xfrm>
            <a:off x="3003161" y="1043021"/>
            <a:ext cx="8729663" cy="630238"/>
          </a:xfrm>
          <a:prstGeom prst="rect">
            <a:avLst/>
          </a:prstGeom>
          <a:solidFill>
            <a:srgbClr val="EAA8E1"/>
          </a:solidFill>
          <a:ln>
            <a:solidFill>
              <a:srgbClr val="0C94B4"/>
            </a:solidFill>
            <a:prstDash val="dash"/>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buFont typeface="Wingdings 3" charset="2"/>
              <a:buNone/>
              <a:defRPr/>
            </a:pPr>
            <a:r>
              <a:rPr lang="en-US" sz="1600" smtClean="0">
                <a:solidFill>
                  <a:schemeClr val="tx1">
                    <a:lumMod val="75000"/>
                    <a:lumOff val="25000"/>
                  </a:schemeClr>
                </a:solidFill>
                <a:latin typeface="Arial" panose="020B0604020202020204" pitchFamily="34" charset="0"/>
                <a:cs typeface="Arial" panose="020B0604020202020204" pitchFamily="34" charset="0"/>
              </a:rPr>
              <a:t>DN, TCKT </a:t>
            </a:r>
            <a:r>
              <a:rPr lang="vi-VN" sz="1600" smtClean="0">
                <a:solidFill>
                  <a:schemeClr val="tx1">
                    <a:lumMod val="75000"/>
                    <a:lumOff val="25000"/>
                  </a:schemeClr>
                </a:solidFill>
                <a:cs typeface="Arial" panose="020B0604020202020204" pitchFamily="34" charset="0"/>
              </a:rPr>
              <a:t>sử dụng </a:t>
            </a:r>
            <a:r>
              <a:rPr lang="en-US" sz="1600" smtClean="0">
                <a:solidFill>
                  <a:schemeClr val="tx1">
                    <a:lumMod val="75000"/>
                    <a:lumOff val="25000"/>
                  </a:schemeClr>
                </a:solidFill>
                <a:latin typeface="Arial" panose="020B0604020202020204" pitchFamily="34" charset="0"/>
                <a:cs typeface="Arial" panose="020B0604020202020204" pitchFamily="34" charset="0"/>
              </a:rPr>
              <a:t>HĐ ĐT </a:t>
            </a:r>
            <a:r>
              <a:rPr lang="vi-VN" sz="1600" smtClean="0">
                <a:solidFill>
                  <a:schemeClr val="tx1">
                    <a:lumMod val="75000"/>
                    <a:lumOff val="25000"/>
                  </a:schemeClr>
                </a:solidFill>
                <a:cs typeface="Arial" panose="020B0604020202020204" pitchFamily="34" charset="0"/>
              </a:rPr>
              <a:t>có mã của </a:t>
            </a:r>
            <a:r>
              <a:rPr lang="en-US" sz="1600" smtClean="0">
                <a:solidFill>
                  <a:schemeClr val="tx1">
                    <a:lumMod val="75000"/>
                    <a:lumOff val="25000"/>
                  </a:schemeClr>
                </a:solidFill>
                <a:latin typeface="Arial" panose="020B0604020202020204" pitchFamily="34" charset="0"/>
                <a:cs typeface="Arial" panose="020B0604020202020204" pitchFamily="34" charset="0"/>
              </a:rPr>
              <a:t>CQT</a:t>
            </a:r>
            <a:r>
              <a:rPr lang="vi-VN" sz="1600" smtClean="0">
                <a:solidFill>
                  <a:schemeClr val="tx1">
                    <a:lumMod val="75000"/>
                    <a:lumOff val="25000"/>
                  </a:schemeClr>
                </a:solidFill>
                <a:cs typeface="Arial" panose="020B0604020202020204" pitchFamily="34" charset="0"/>
              </a:rPr>
              <a:t> khi bán hàng hóa, cung cấp</a:t>
            </a:r>
            <a:r>
              <a:rPr lang="en-US" sz="1600" smtClean="0">
                <a:solidFill>
                  <a:schemeClr val="tx1">
                    <a:lumMod val="75000"/>
                    <a:lumOff val="25000"/>
                  </a:schemeClr>
                </a:solidFill>
                <a:latin typeface="Arial" panose="020B0604020202020204" pitchFamily="34" charset="0"/>
                <a:cs typeface="Arial" panose="020B0604020202020204" pitchFamily="34" charset="0"/>
              </a:rPr>
              <a:t> </a:t>
            </a:r>
            <a:r>
              <a:rPr lang="vi-VN" sz="1600" smtClean="0">
                <a:solidFill>
                  <a:schemeClr val="tx1">
                    <a:lumMod val="75000"/>
                    <a:lumOff val="25000"/>
                  </a:schemeClr>
                </a:solidFill>
                <a:cs typeface="Arial" panose="020B0604020202020204" pitchFamily="34" charset="0"/>
              </a:rPr>
              <a:t>(Khoản 1 Điều 91 Luật Quản lý thuế)</a:t>
            </a:r>
            <a:endParaRPr lang="en-US" sz="1600" smtClean="0">
              <a:solidFill>
                <a:schemeClr val="tx1">
                  <a:lumMod val="75000"/>
                  <a:lumOff val="25000"/>
                </a:schemeClr>
              </a:solidFill>
              <a:latin typeface="Arial" panose="020B0604020202020204" pitchFamily="34" charset="0"/>
              <a:cs typeface="Arial" panose="020B0604020202020204" pitchFamily="34" charset="0"/>
            </a:endParaRPr>
          </a:p>
          <a:p>
            <a:pPr>
              <a:lnSpc>
                <a:spcPct val="170000"/>
              </a:lnSpc>
              <a:buFont typeface="Wingdings 3" charset="2"/>
              <a:buChar char=""/>
              <a:defRPr/>
            </a:pPr>
            <a:endParaRPr lang="en-US" dirty="0">
              <a:solidFill>
                <a:schemeClr val="tx1">
                  <a:lumMod val="75000"/>
                  <a:lumOff val="25000"/>
                </a:schemeClr>
              </a:solidFill>
            </a:endParaRPr>
          </a:p>
        </p:txBody>
      </p:sp>
      <p:sp>
        <p:nvSpPr>
          <p:cNvPr id="22" name="Content Placeholder 2"/>
          <p:cNvSpPr txBox="1">
            <a:spLocks/>
          </p:cNvSpPr>
          <p:nvPr/>
        </p:nvSpPr>
        <p:spPr>
          <a:xfrm>
            <a:off x="754855" y="1959890"/>
            <a:ext cx="941387" cy="2637895"/>
          </a:xfrm>
          <a:prstGeom prst="rect">
            <a:avLst/>
          </a:prstGeom>
          <a:solidFill>
            <a:schemeClr val="accent4">
              <a:lumMod val="60000"/>
              <a:lumOff val="40000"/>
            </a:schemeClr>
          </a:solidFill>
          <a:ln w="38100">
            <a:solidFill>
              <a:srgbClr val="0C94B4"/>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70000"/>
              </a:lnSpc>
              <a:buFont typeface="Wingdings 3" panose="05040102010807070707" pitchFamily="18" charset="2"/>
              <a:buNone/>
            </a:pPr>
            <a:r>
              <a:rPr lang="en-US" altLang="en-US" sz="1600" b="1" smtClean="0">
                <a:latin typeface="Times New Roman" panose="02020603050405020304" pitchFamily="18" charset="0"/>
                <a:cs typeface="Times New Roman" panose="02020603050405020304" pitchFamily="18" charset="0"/>
              </a:rPr>
              <a:t>HĐ ĐT CÓ MÃ CỦA CƠ QUAN THUẾ</a:t>
            </a:r>
            <a:endParaRPr lang="en-US" altLang="en-US" sz="1600" b="1">
              <a:latin typeface="Times New Roman" panose="02020603050405020304" pitchFamily="18" charset="0"/>
              <a:cs typeface="Times New Roman" panose="02020603050405020304" pitchFamily="18" charset="0"/>
            </a:endParaRPr>
          </a:p>
        </p:txBody>
      </p:sp>
      <p:sp>
        <p:nvSpPr>
          <p:cNvPr id="23" name="Content Placeholder 2"/>
          <p:cNvSpPr txBox="1">
            <a:spLocks/>
          </p:cNvSpPr>
          <p:nvPr/>
        </p:nvSpPr>
        <p:spPr>
          <a:xfrm>
            <a:off x="3003159" y="1828714"/>
            <a:ext cx="8729663" cy="974725"/>
          </a:xfrm>
          <a:prstGeom prst="rect">
            <a:avLst/>
          </a:prstGeom>
          <a:solidFill>
            <a:srgbClr val="D0F4FC"/>
          </a:solidFill>
          <a:ln>
            <a:solidFill>
              <a:schemeClr val="accent1">
                <a:lumMod val="75000"/>
              </a:schemeClr>
            </a:solidFill>
            <a:prstDash val="dash"/>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Wingdings 3" panose="05040102010807070707" pitchFamily="18" charset="2"/>
              <a:buNone/>
            </a:pPr>
            <a:r>
              <a:rPr lang="en-US" altLang="en-US" sz="1600" smtClean="0">
                <a:latin typeface="Arial" panose="020B0604020202020204" pitchFamily="34" charset="0"/>
                <a:cs typeface="Arial" panose="020B0604020202020204" pitchFamily="34" charset="0"/>
              </a:rPr>
              <a:t>DN </a:t>
            </a:r>
            <a:r>
              <a:rPr lang="en-US" altLang="en-US" sz="1600">
                <a:solidFill>
                  <a:schemeClr val="tx1">
                    <a:lumMod val="75000"/>
                    <a:lumOff val="25000"/>
                  </a:schemeClr>
                </a:solidFill>
                <a:cs typeface="Arial" panose="020B0604020202020204" pitchFamily="34" charset="0"/>
              </a:rPr>
              <a:t>thuộc</a:t>
            </a:r>
            <a:r>
              <a:rPr lang="en-US" altLang="en-US" sz="1600" smtClean="0">
                <a:latin typeface="Arial" panose="020B0604020202020204" pitchFamily="34" charset="0"/>
                <a:cs typeface="Arial" panose="020B0604020202020204" pitchFamily="34" charset="0"/>
              </a:rPr>
              <a:t> đối tượng nêu tại Khoản 2 Điều 91 Luật Quản lý thuế đang </a:t>
            </a:r>
            <a:r>
              <a:rPr lang="vi-VN" altLang="en-US" sz="1600" smtClean="0">
                <a:cs typeface="Arial" panose="020B0604020202020204" pitchFamily="34" charset="0"/>
              </a:rPr>
              <a:t>sử dụng </a:t>
            </a:r>
            <a:r>
              <a:rPr lang="en-US" altLang="en-US" sz="1600" smtClean="0">
                <a:latin typeface="Arial" panose="020B0604020202020204" pitchFamily="34" charset="0"/>
                <a:cs typeface="Arial" panose="020B0604020202020204" pitchFamily="34" charset="0"/>
              </a:rPr>
              <a:t>HĐ ĐT </a:t>
            </a:r>
            <a:r>
              <a:rPr lang="vi-VN" altLang="en-US" sz="1600" smtClean="0">
                <a:cs typeface="Arial" panose="020B0604020202020204" pitchFamily="34" charset="0"/>
              </a:rPr>
              <a:t>không mã có nhu cầu chuyển đổi sử dụng </a:t>
            </a:r>
            <a:r>
              <a:rPr lang="en-US" altLang="en-US" sz="1600" smtClean="0">
                <a:latin typeface="Arial" panose="020B0604020202020204" pitchFamily="34" charset="0"/>
                <a:cs typeface="Arial" panose="020B0604020202020204" pitchFamily="34" charset="0"/>
              </a:rPr>
              <a:t>HĐ ĐT </a:t>
            </a:r>
            <a:r>
              <a:rPr lang="vi-VN" altLang="en-US" sz="1600" smtClean="0">
                <a:cs typeface="Arial" panose="020B0604020202020204" pitchFamily="34" charset="0"/>
              </a:rPr>
              <a:t>có mã của </a:t>
            </a:r>
            <a:r>
              <a:rPr lang="en-US" altLang="en-US" sz="1600" smtClean="0">
                <a:latin typeface="Arial" panose="020B0604020202020204" pitchFamily="34" charset="0"/>
                <a:cs typeface="Arial" panose="020B0604020202020204" pitchFamily="34" charset="0"/>
              </a:rPr>
              <a:t>CQT </a:t>
            </a:r>
            <a:r>
              <a:rPr lang="vi-VN" altLang="en-US" sz="1600" smtClean="0">
                <a:cs typeface="Arial" panose="020B0604020202020204" pitchFamily="34" charset="0"/>
              </a:rPr>
              <a:t>(Khoản 1 Điều 6 Thông tư số 78/2021/TT-BTC)</a:t>
            </a:r>
            <a:endParaRPr lang="en-US" altLang="en-US" sz="1600">
              <a:latin typeface="Arial" panose="020B0604020202020204" pitchFamily="34" charset="0"/>
              <a:cs typeface="Arial" panose="020B0604020202020204" pitchFamily="34" charset="0"/>
            </a:endParaRPr>
          </a:p>
        </p:txBody>
      </p:sp>
      <p:sp>
        <p:nvSpPr>
          <p:cNvPr id="24" name="Content Placeholder 2"/>
          <p:cNvSpPr txBox="1">
            <a:spLocks/>
          </p:cNvSpPr>
          <p:nvPr/>
        </p:nvSpPr>
        <p:spPr>
          <a:xfrm>
            <a:off x="3003159" y="4671791"/>
            <a:ext cx="8729663" cy="1676400"/>
          </a:xfrm>
          <a:prstGeom prst="rect">
            <a:avLst/>
          </a:prstGeom>
          <a:solidFill>
            <a:srgbClr val="EAA8E1"/>
          </a:solidFill>
          <a:ln>
            <a:solidFill>
              <a:schemeClr val="accent1">
                <a:lumMod val="75000"/>
              </a:schemeClr>
            </a:solidFill>
            <a:prstDash val="dash"/>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Wingdings 3" panose="05040102010807070707" pitchFamily="18" charset="2"/>
              <a:buNone/>
            </a:pPr>
            <a:r>
              <a:rPr lang="en-US" altLang="en-US" sz="1600" smtClean="0"/>
              <a:t>HKD, CNKD </a:t>
            </a:r>
            <a:r>
              <a:rPr lang="vi-VN" altLang="en-US" sz="1600" smtClean="0"/>
              <a:t>không đáp ứng điều kiện phải sử dụng </a:t>
            </a:r>
            <a:r>
              <a:rPr lang="en-US" altLang="en-US" sz="1600" smtClean="0"/>
              <a:t>HĐ ĐT </a:t>
            </a:r>
            <a:r>
              <a:rPr lang="vi-VN" altLang="en-US" sz="1600" smtClean="0"/>
              <a:t>có mã của </a:t>
            </a:r>
            <a:r>
              <a:rPr lang="en-US" altLang="en-US" sz="1600" smtClean="0"/>
              <a:t>CQT </a:t>
            </a:r>
            <a:r>
              <a:rPr lang="vi-VN" altLang="en-US" sz="1600" smtClean="0"/>
              <a:t>quy định tại khoản 1 và khoản 3 Điều Điều 91 Luật Quản lý thuế 2019 nhưng cần có hóa đơn để giao cho khách hàng hoặc trường hợp doanh nghiệp, tổ chức kinh tế, tổ chức khác được cơ quan thuế chấp nhận cấp </a:t>
            </a:r>
            <a:r>
              <a:rPr lang="en-US" altLang="en-US" sz="1600" smtClean="0"/>
              <a:t>HĐ ĐT </a:t>
            </a:r>
            <a:r>
              <a:rPr lang="vi-VN" altLang="en-US" sz="1600" smtClean="0"/>
              <a:t>để giao cho khách hàng thì được </a:t>
            </a:r>
            <a:r>
              <a:rPr lang="en-US" altLang="en-US" sz="1600" smtClean="0"/>
              <a:t>CQT </a:t>
            </a:r>
            <a:r>
              <a:rPr lang="vi-VN" altLang="en-US" sz="1600" smtClean="0"/>
              <a:t>cấp </a:t>
            </a:r>
            <a:r>
              <a:rPr lang="en-US" altLang="en-US" sz="1600" smtClean="0"/>
              <a:t>HĐ ĐT</a:t>
            </a:r>
            <a:r>
              <a:rPr lang="vi-VN" altLang="en-US" sz="1600" smtClean="0"/>
              <a:t>có mã theo từng lần phát sinh và phải khai thuế, nộp thuế trước khi </a:t>
            </a:r>
            <a:r>
              <a:rPr lang="en-US" altLang="en-US" sz="1600" smtClean="0"/>
              <a:t>CQT </a:t>
            </a:r>
            <a:r>
              <a:rPr lang="vi-VN" altLang="en-US" sz="1600" smtClean="0"/>
              <a:t>cấp </a:t>
            </a:r>
            <a:r>
              <a:rPr lang="en-US" altLang="en-US" sz="1600" smtClean="0"/>
              <a:t>HĐ ĐT</a:t>
            </a:r>
            <a:r>
              <a:rPr lang="vi-VN" altLang="en-US" sz="1600" smtClean="0"/>
              <a:t>theo từng lần phát sinh.</a:t>
            </a:r>
            <a:endParaRPr lang="en-US" altLang="en-US" sz="1600"/>
          </a:p>
        </p:txBody>
      </p:sp>
      <p:sp>
        <p:nvSpPr>
          <p:cNvPr id="25" name="Content Placeholder 2"/>
          <p:cNvSpPr txBox="1">
            <a:spLocks/>
          </p:cNvSpPr>
          <p:nvPr/>
        </p:nvSpPr>
        <p:spPr bwMode="auto">
          <a:xfrm>
            <a:off x="3003160" y="2937005"/>
            <a:ext cx="8729663" cy="500062"/>
          </a:xfrm>
          <a:prstGeom prst="rect">
            <a:avLst/>
          </a:prstGeom>
          <a:solidFill>
            <a:srgbClr val="EAA8E1"/>
          </a:solidFill>
          <a:ln w="9525">
            <a:solidFill>
              <a:srgbClr val="000000"/>
            </a:solidFill>
            <a:prstDash val="dash"/>
            <a:miter lim="800000"/>
            <a:headEnd/>
            <a:tailEnd/>
          </a:ln>
        </p:spPr>
        <p:txBody>
          <a:bodyPr/>
          <a:lstStyle>
            <a:lvl1pPr defTabSz="4572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defTabSz="45720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defTabSz="4572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defTabSz="4572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defTabSz="4572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lnSpc>
                <a:spcPct val="110000"/>
              </a:lnSpc>
              <a:buSzPct val="80000"/>
              <a:buFont typeface="Wingdings 3" panose="05040102010807070707" pitchFamily="18" charset="2"/>
              <a:buNone/>
            </a:pPr>
            <a:r>
              <a:rPr lang="vi-VN" altLang="en-US" sz="1600">
                <a:latin typeface="Arial" panose="020B0604020202020204" pitchFamily="34" charset="0"/>
              </a:rPr>
              <a:t>Doanh nghiệp </a:t>
            </a:r>
            <a:r>
              <a:rPr lang="vi-VN" altLang="en-US" sz="1600">
                <a:solidFill>
                  <a:schemeClr val="tx1">
                    <a:lumMod val="75000"/>
                    <a:lumOff val="25000"/>
                  </a:schemeClr>
                </a:solidFill>
                <a:latin typeface="+mn-lt"/>
                <a:cs typeface="Arial" panose="020B0604020202020204" pitchFamily="34" charset="0"/>
              </a:rPr>
              <a:t>rủi</a:t>
            </a:r>
            <a:r>
              <a:rPr lang="vi-VN" altLang="en-US" sz="1600">
                <a:latin typeface="Arial" panose="020B0604020202020204" pitchFamily="34" charset="0"/>
              </a:rPr>
              <a:t> ro cao về thuế</a:t>
            </a:r>
            <a:r>
              <a:rPr lang="en-US" altLang="en-US" sz="1600">
                <a:latin typeface="Trebuchet MS" panose="020B0603020202020204" pitchFamily="34" charset="0"/>
              </a:rPr>
              <a:t> (</a:t>
            </a:r>
            <a:r>
              <a:rPr lang="vi-VN" altLang="en-US" sz="1600">
                <a:latin typeface="Arial" panose="020B0604020202020204" pitchFamily="34" charset="0"/>
              </a:rPr>
              <a:t>Khoản 2 Điều 5 Thông tư 78/2021/TT-BTC)</a:t>
            </a:r>
            <a:r>
              <a:rPr lang="en-US" altLang="en-US" sz="1600">
                <a:latin typeface="Trebuchet MS" panose="020B0603020202020204" pitchFamily="34" charset="0"/>
              </a:rPr>
              <a:t> </a:t>
            </a:r>
          </a:p>
        </p:txBody>
      </p:sp>
      <p:sp>
        <p:nvSpPr>
          <p:cNvPr id="26" name="Content Placeholder 2"/>
          <p:cNvSpPr txBox="1">
            <a:spLocks/>
          </p:cNvSpPr>
          <p:nvPr/>
        </p:nvSpPr>
        <p:spPr bwMode="auto">
          <a:xfrm>
            <a:off x="3003160" y="3604350"/>
            <a:ext cx="8729663" cy="903287"/>
          </a:xfrm>
          <a:prstGeom prst="rect">
            <a:avLst/>
          </a:prstGeom>
          <a:solidFill>
            <a:srgbClr val="D0F4FC"/>
          </a:solidFill>
          <a:ln w="9525">
            <a:solidFill>
              <a:srgbClr val="000000"/>
            </a:solidFill>
            <a:prstDash val="dash"/>
            <a:miter lim="800000"/>
            <a:headEnd/>
            <a:tailEnd/>
          </a:ln>
          <a:extLst/>
        </p:spPr>
        <p:txBody>
          <a:bodyPr/>
          <a:lstStyle>
            <a:lvl1pPr defTabSz="4572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lnSpc>
                <a:spcPct val="110000"/>
              </a:lnSpc>
              <a:buFont typeface="Wingdings 3" panose="05040102010807070707" pitchFamily="18" charset="2"/>
              <a:buNone/>
              <a:defRPr/>
            </a:pPr>
            <a:r>
              <a:rPr lang="en-US" altLang="en-US" sz="1600" dirty="0" err="1">
                <a:latin typeface="Arial" panose="020B0604020202020204" pitchFamily="34" charset="0"/>
                <a:cs typeface="Arial" panose="020B0604020202020204" pitchFamily="34" charset="0"/>
              </a:rPr>
              <a:t>Hộ</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cá</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nhân</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kinh</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doanh</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Khoản</a:t>
            </a:r>
            <a:r>
              <a:rPr lang="en-US" altLang="en-US" sz="1600" dirty="0">
                <a:latin typeface="Arial" panose="020B0604020202020204" pitchFamily="34" charset="0"/>
                <a:cs typeface="Arial" panose="020B0604020202020204" pitchFamily="34" charset="0"/>
              </a:rPr>
              <a:t> 3 </a:t>
            </a:r>
            <a:r>
              <a:rPr lang="en-US" altLang="en-US" sz="1600" dirty="0" err="1">
                <a:latin typeface="Arial" panose="020B0604020202020204" pitchFamily="34" charset="0"/>
                <a:cs typeface="Arial" panose="020B0604020202020204" pitchFamily="34" charset="0"/>
              </a:rPr>
              <a:t>Điều</a:t>
            </a:r>
            <a:r>
              <a:rPr lang="en-US" altLang="en-US" sz="1600" dirty="0">
                <a:latin typeface="Arial" panose="020B0604020202020204" pitchFamily="34" charset="0"/>
                <a:cs typeface="Arial" panose="020B0604020202020204" pitchFamily="34" charset="0"/>
              </a:rPr>
              <a:t> 91 </a:t>
            </a:r>
            <a:r>
              <a:rPr lang="en-US" altLang="en-US" sz="1600" dirty="0" err="1">
                <a:latin typeface="Arial" panose="020B0604020202020204" pitchFamily="34" charset="0"/>
                <a:cs typeface="Arial" panose="020B0604020202020204" pitchFamily="34" charset="0"/>
              </a:rPr>
              <a:t>Luật</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quản</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lý</a:t>
            </a:r>
            <a:r>
              <a:rPr lang="en-US" altLang="en-US" sz="1600" dirty="0">
                <a:latin typeface="Arial" panose="020B0604020202020204" pitchFamily="34" charset="0"/>
                <a:cs typeface="Arial" panose="020B0604020202020204" pitchFamily="34" charset="0"/>
              </a:rPr>
              <a:t> </a:t>
            </a:r>
            <a:r>
              <a:rPr lang="en-US" altLang="en-US" sz="1600" dirty="0" err="1">
                <a:latin typeface="Arial" panose="020B0604020202020204" pitchFamily="34" charset="0"/>
                <a:cs typeface="Arial" panose="020B0604020202020204" pitchFamily="34" charset="0"/>
              </a:rPr>
              <a:t>thuế</a:t>
            </a:r>
            <a:r>
              <a:rPr lang="en-US" altLang="en-US" sz="1600" dirty="0">
                <a:latin typeface="Arial" panose="020B0604020202020204" pitchFamily="34" charset="0"/>
                <a:cs typeface="Arial" panose="020B0604020202020204" pitchFamily="34" charset="0"/>
              </a:rPr>
              <a:t>): HKD</a:t>
            </a:r>
            <a:r>
              <a:rPr lang="en-US" altLang="en-US" sz="1600" dirty="0">
                <a:latin typeface="+mn-lt"/>
              </a:rPr>
              <a:t>, CNKD </a:t>
            </a:r>
            <a:r>
              <a:rPr lang="vi-VN" altLang="en-US" sz="1600" dirty="0">
                <a:latin typeface="+mn-lt"/>
              </a:rPr>
              <a:t>thuộc trường hợp quy định tại khoản 5 Điều 51 của Luật Quản lý thuế 2019 và các trường hợp xác định được doanh thu khi bán hàng hóa, dịch vụ </a:t>
            </a:r>
            <a:r>
              <a:rPr lang="en-US" altLang="en-US" sz="1600" dirty="0">
                <a:latin typeface="+mn-lt"/>
              </a:rPr>
              <a:t>         </a:t>
            </a:r>
          </a:p>
        </p:txBody>
      </p:sp>
      <p:sp>
        <p:nvSpPr>
          <p:cNvPr id="38" name="Notched Right Arrow 37"/>
          <p:cNvSpPr/>
          <p:nvPr/>
        </p:nvSpPr>
        <p:spPr>
          <a:xfrm>
            <a:off x="1842869" y="3066757"/>
            <a:ext cx="612948" cy="369783"/>
          </a:xfrm>
          <a:prstGeom prst="notchedRightArrow">
            <a:avLst/>
          </a:prstGeom>
          <a:solidFill>
            <a:srgbClr val="FF85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p:cNvSpPr/>
          <p:nvPr/>
        </p:nvSpPr>
        <p:spPr>
          <a:xfrm>
            <a:off x="2599509" y="1280160"/>
            <a:ext cx="535577" cy="478875"/>
          </a:xfrm>
          <a:prstGeom prst="roundRect">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chemeClr val="tx1">
                    <a:lumMod val="85000"/>
                    <a:lumOff val="15000"/>
                  </a:schemeClr>
                </a:solidFill>
                <a:latin typeface="Arial" panose="020B0604020202020204" pitchFamily="34" charset="0"/>
                <a:cs typeface="Arial" panose="020B0604020202020204" pitchFamily="34" charset="0"/>
              </a:rPr>
              <a:t>1</a:t>
            </a:r>
            <a:endParaRPr lang="en-US" b="1">
              <a:solidFill>
                <a:schemeClr val="tx1">
                  <a:lumMod val="85000"/>
                  <a:lumOff val="15000"/>
                </a:schemeClr>
              </a:solidFill>
              <a:latin typeface="Arial" panose="020B0604020202020204" pitchFamily="34" charset="0"/>
              <a:cs typeface="Arial" panose="020B0604020202020204" pitchFamily="34" charset="0"/>
            </a:endParaRPr>
          </a:p>
        </p:txBody>
      </p:sp>
      <p:sp>
        <p:nvSpPr>
          <p:cNvPr id="21" name="Rounded Rectangle 20"/>
          <p:cNvSpPr/>
          <p:nvPr/>
        </p:nvSpPr>
        <p:spPr>
          <a:xfrm>
            <a:off x="2599509" y="2408205"/>
            <a:ext cx="535577" cy="478875"/>
          </a:xfrm>
          <a:prstGeom prst="roundRect">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2</a:t>
            </a:r>
          </a:p>
        </p:txBody>
      </p:sp>
      <p:sp>
        <p:nvSpPr>
          <p:cNvPr id="27" name="Rounded Rectangle 26"/>
          <p:cNvSpPr/>
          <p:nvPr/>
        </p:nvSpPr>
        <p:spPr>
          <a:xfrm>
            <a:off x="2599508" y="3086365"/>
            <a:ext cx="535577" cy="478875"/>
          </a:xfrm>
          <a:prstGeom prst="roundRect">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3</a:t>
            </a:r>
          </a:p>
        </p:txBody>
      </p:sp>
      <p:sp>
        <p:nvSpPr>
          <p:cNvPr id="28" name="Rounded Rectangle 27"/>
          <p:cNvSpPr/>
          <p:nvPr/>
        </p:nvSpPr>
        <p:spPr>
          <a:xfrm>
            <a:off x="2599507" y="4110839"/>
            <a:ext cx="535577" cy="478875"/>
          </a:xfrm>
          <a:prstGeom prst="roundRect">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4</a:t>
            </a:r>
          </a:p>
        </p:txBody>
      </p:sp>
      <p:sp>
        <p:nvSpPr>
          <p:cNvPr id="29" name="Rounded Rectangle 28"/>
          <p:cNvSpPr/>
          <p:nvPr/>
        </p:nvSpPr>
        <p:spPr>
          <a:xfrm>
            <a:off x="2599507" y="6033470"/>
            <a:ext cx="535577" cy="478875"/>
          </a:xfrm>
          <a:prstGeom prst="roundRect">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5</a:t>
            </a:r>
          </a:p>
        </p:txBody>
      </p:sp>
      <p:sp>
        <p:nvSpPr>
          <p:cNvPr id="30" name="Oval 29"/>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989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smtClean="0">
                <a:solidFill>
                  <a:schemeClr val="accent1">
                    <a:lumMod val="50000"/>
                  </a:schemeClr>
                </a:solidFill>
                <a:latin typeface="Arial (Body)"/>
              </a:rPr>
              <a:t>2.1. </a:t>
            </a:r>
            <a:r>
              <a:rPr lang="vi-VN" sz="2200" b="1" smtClean="0">
                <a:solidFill>
                  <a:schemeClr val="accent1">
                    <a:lumMod val="50000"/>
                  </a:schemeClr>
                </a:solidFill>
              </a:rPr>
              <a:t>ĐỐI TƯỢNG SỬ DỤNG HÓA ĐƠN ĐIỆN TỬ</a:t>
            </a:r>
            <a:r>
              <a:rPr lang="en-US" sz="2200" b="1" smtClean="0">
                <a:solidFill>
                  <a:schemeClr val="accent1">
                    <a:lumMod val="50000"/>
                  </a:schemeClr>
                </a:solidFill>
              </a:rPr>
              <a:t> </a:t>
            </a:r>
            <a:r>
              <a:rPr lang="en-US" sz="2200" b="1" smtClean="0">
                <a:solidFill>
                  <a:schemeClr val="accent1">
                    <a:lumMod val="50000"/>
                  </a:schemeClr>
                </a:solidFill>
                <a:latin typeface="Arial (Body)"/>
              </a:rPr>
              <a:t>CÓ MÃ CỦA CQT</a:t>
            </a:r>
            <a:endParaRPr lang="vi-VN" sz="22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p:cNvSpPr txBox="1">
            <a:spLocks/>
          </p:cNvSpPr>
          <p:nvPr/>
        </p:nvSpPr>
        <p:spPr>
          <a:xfrm>
            <a:off x="2205785" y="1317596"/>
            <a:ext cx="9540738" cy="3057456"/>
          </a:xfrm>
          <a:prstGeom prst="rect">
            <a:avLst/>
          </a:prstGeom>
          <a:solidFill>
            <a:schemeClr val="accent3">
              <a:lumMod val="40000"/>
              <a:lumOff val="60000"/>
            </a:schemeClr>
          </a:solidFill>
          <a:ln>
            <a:noFill/>
            <a:prstDash val="dash"/>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defRPr/>
            </a:pPr>
            <a:r>
              <a:rPr lang="vi-VN" sz="1800">
                <a:solidFill>
                  <a:schemeClr val="tx1">
                    <a:lumMod val="75000"/>
                    <a:lumOff val="25000"/>
                  </a:schemeClr>
                </a:solidFill>
                <a:cs typeface="Arial" panose="020B0604020202020204" pitchFamily="34" charset="0"/>
              </a:rPr>
              <a:t>NNT Sử dụng hóa đơn điện tử có mã của cơ quan Thuế </a:t>
            </a:r>
            <a:r>
              <a:rPr lang="vi-VN" sz="1800" b="1">
                <a:solidFill>
                  <a:schemeClr val="tx1">
                    <a:lumMod val="75000"/>
                    <a:lumOff val="25000"/>
                  </a:schemeClr>
                </a:solidFill>
                <a:cs typeface="Arial" panose="020B0604020202020204" pitchFamily="34" charset="0"/>
              </a:rPr>
              <a:t>không phải trả tiền dịch vụ </a:t>
            </a:r>
            <a:r>
              <a:rPr lang="vi-VN" sz="1800">
                <a:solidFill>
                  <a:schemeClr val="tx1">
                    <a:lumMod val="75000"/>
                    <a:lumOff val="25000"/>
                  </a:schemeClr>
                </a:solidFill>
                <a:cs typeface="Arial" panose="020B0604020202020204" pitchFamily="34" charset="0"/>
              </a:rPr>
              <a:t>thời gian 12 tháng kể từ khi bắt đầu sử dụng hóa đơn điện tử gồm:(Khoản 1 Điều 14 Nghị định số 123/2020/NĐ-CP</a:t>
            </a:r>
            <a:r>
              <a:rPr lang="vi-VN" sz="1800" smtClean="0">
                <a:solidFill>
                  <a:schemeClr val="tx1">
                    <a:lumMod val="75000"/>
                    <a:lumOff val="25000"/>
                  </a:schemeClr>
                </a:solidFill>
                <a:cs typeface="Arial" panose="020B0604020202020204" pitchFamily="34" charset="0"/>
              </a:rPr>
              <a:t>)</a:t>
            </a:r>
            <a:r>
              <a:rPr lang="en-US" sz="1800" smtClean="0">
                <a:solidFill>
                  <a:schemeClr val="tx1">
                    <a:lumMod val="75000"/>
                    <a:lumOff val="25000"/>
                  </a:schemeClr>
                </a:solidFill>
                <a:cs typeface="Arial" panose="020B0604020202020204" pitchFamily="34" charset="0"/>
              </a:rPr>
              <a:t>:</a:t>
            </a:r>
          </a:p>
          <a:p>
            <a:pPr algn="l">
              <a:lnSpc>
                <a:spcPct val="110000"/>
              </a:lnSpc>
              <a:defRPr/>
            </a:pPr>
            <a:r>
              <a:rPr lang="en-US" sz="1800" smtClean="0">
                <a:solidFill>
                  <a:schemeClr val="tx1">
                    <a:lumMod val="75000"/>
                    <a:lumOff val="25000"/>
                  </a:schemeClr>
                </a:solidFill>
                <a:latin typeface="Arial (Body)"/>
                <a:cs typeface="Arial" panose="020B0604020202020204" pitchFamily="34" charset="0"/>
              </a:rPr>
              <a:t>-DN nhỏ </a:t>
            </a:r>
            <a:r>
              <a:rPr lang="en-US" sz="1800">
                <a:solidFill>
                  <a:schemeClr val="tx1">
                    <a:lumMod val="75000"/>
                    <a:lumOff val="25000"/>
                  </a:schemeClr>
                </a:solidFill>
                <a:latin typeface="Arial (Body)"/>
                <a:cs typeface="Arial" panose="020B0604020202020204" pitchFamily="34" charset="0"/>
              </a:rPr>
              <a:t>và vừa, hợp tác xã, </a:t>
            </a:r>
            <a:r>
              <a:rPr lang="en-US" sz="1800" smtClean="0">
                <a:solidFill>
                  <a:schemeClr val="tx1">
                    <a:lumMod val="75000"/>
                    <a:lumOff val="25000"/>
                  </a:schemeClr>
                </a:solidFill>
                <a:latin typeface="Arial (Body)"/>
                <a:cs typeface="Arial" panose="020B0604020202020204" pitchFamily="34" charset="0"/>
              </a:rPr>
              <a:t>HKD, CNKD tại </a:t>
            </a:r>
            <a:r>
              <a:rPr lang="en-US" sz="1800">
                <a:solidFill>
                  <a:schemeClr val="tx1">
                    <a:lumMod val="75000"/>
                    <a:lumOff val="25000"/>
                  </a:schemeClr>
                </a:solidFill>
                <a:latin typeface="Arial (Body)"/>
                <a:cs typeface="Arial" panose="020B0604020202020204" pitchFamily="34" charset="0"/>
              </a:rPr>
              <a:t>địa bàn có điều kiện kinh tế - xã hội khó khăn, đặc biệt khó khăn. Địa bàn có điều kiện kinh tế - xã hội khó khăn, địa bàn có điều kiện kinh tế - xã hội đặc biệt khó khăn </a:t>
            </a:r>
            <a:endParaRPr lang="en-US" sz="1800" smtClean="0">
              <a:solidFill>
                <a:schemeClr val="tx1">
                  <a:lumMod val="75000"/>
                  <a:lumOff val="25000"/>
                </a:schemeClr>
              </a:solidFill>
              <a:latin typeface="Arial (Body)"/>
              <a:cs typeface="Arial" panose="020B0604020202020204" pitchFamily="34" charset="0"/>
            </a:endParaRPr>
          </a:p>
          <a:p>
            <a:pPr algn="l">
              <a:lnSpc>
                <a:spcPct val="110000"/>
              </a:lnSpc>
              <a:defRPr/>
            </a:pPr>
            <a:r>
              <a:rPr lang="en-US" sz="1800" smtClean="0">
                <a:solidFill>
                  <a:schemeClr val="tx1">
                    <a:lumMod val="75000"/>
                    <a:lumOff val="25000"/>
                  </a:schemeClr>
                </a:solidFill>
                <a:cs typeface="Arial" panose="020B0604020202020204" pitchFamily="34" charset="0"/>
              </a:rPr>
              <a:t>-DN </a:t>
            </a:r>
            <a:r>
              <a:rPr lang="vi-VN" sz="1800" smtClean="0">
                <a:solidFill>
                  <a:schemeClr val="tx1">
                    <a:lumMod val="75000"/>
                    <a:lumOff val="25000"/>
                  </a:schemeClr>
                </a:solidFill>
              </a:rPr>
              <a:t>nhỏ </a:t>
            </a:r>
            <a:r>
              <a:rPr lang="vi-VN" sz="1800">
                <a:solidFill>
                  <a:schemeClr val="tx1">
                    <a:lumMod val="75000"/>
                    <a:lumOff val="25000"/>
                  </a:schemeClr>
                </a:solidFill>
              </a:rPr>
              <a:t>và vừa khác theo đề nghị của Ủy ban nhân dân tỉnh, thành phố trực thuộc trung ương gửi Bộ Tài chính trừ doanh nghiệp hoạt động tại các khu kinh tế, khu công nghiệp, khu công nghệ cao.</a:t>
            </a:r>
            <a:endParaRPr lang="en-US" sz="1800">
              <a:solidFill>
                <a:schemeClr val="tx1">
                  <a:lumMod val="75000"/>
                  <a:lumOff val="25000"/>
                </a:schemeClr>
              </a:solidFill>
            </a:endParaRPr>
          </a:p>
          <a:p>
            <a:pPr>
              <a:lnSpc>
                <a:spcPct val="110000"/>
              </a:lnSpc>
              <a:defRPr/>
            </a:pPr>
            <a:endParaRPr lang="vi-VN" sz="1600">
              <a:solidFill>
                <a:schemeClr val="tx1">
                  <a:lumMod val="75000"/>
                  <a:lumOff val="25000"/>
                </a:schemeClr>
              </a:solidFill>
              <a:cs typeface="Arial" panose="020B0604020202020204" pitchFamily="34" charset="0"/>
            </a:endParaRPr>
          </a:p>
          <a:p>
            <a:pPr>
              <a:lnSpc>
                <a:spcPct val="170000"/>
              </a:lnSpc>
              <a:buFont typeface="Wingdings 3" charset="2"/>
              <a:buChar char=""/>
              <a:defRPr/>
            </a:pPr>
            <a:endParaRPr lang="en-US" dirty="0">
              <a:solidFill>
                <a:schemeClr val="tx1">
                  <a:lumMod val="75000"/>
                  <a:lumOff val="25000"/>
                </a:schemeClr>
              </a:solidFill>
            </a:endParaRPr>
          </a:p>
        </p:txBody>
      </p:sp>
      <p:sp>
        <p:nvSpPr>
          <p:cNvPr id="27" name="Content Placeholder 2"/>
          <p:cNvSpPr txBox="1">
            <a:spLocks/>
          </p:cNvSpPr>
          <p:nvPr/>
        </p:nvSpPr>
        <p:spPr>
          <a:xfrm>
            <a:off x="2205785" y="5033882"/>
            <a:ext cx="9540738" cy="902683"/>
          </a:xfrm>
          <a:prstGeom prst="rect">
            <a:avLst/>
          </a:prstGeom>
          <a:solidFill>
            <a:schemeClr val="accent3">
              <a:lumMod val="40000"/>
              <a:lumOff val="60000"/>
            </a:schemeClr>
          </a:solidFill>
          <a:ln>
            <a:noFill/>
            <a:prstDash val="dash"/>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oAutofit/>
          </a:bodyPr>
          <a:lstStyle>
            <a:defPPr>
              <a:defRPr lang="en-US"/>
            </a:defPPr>
            <a:lvl1pPr indent="0" algn="ctr">
              <a:lnSpc>
                <a:spcPct val="110000"/>
              </a:lnSpc>
              <a:spcBef>
                <a:spcPts val="1000"/>
              </a:spcBef>
              <a:buFont typeface="Arial" panose="020B0604020202020204" pitchFamily="34" charset="0"/>
              <a:buNone/>
              <a:defRPr>
                <a:solidFill>
                  <a:schemeClr val="tx1">
                    <a:lumMod val="75000"/>
                    <a:lumOff val="25000"/>
                  </a:schemeClr>
                </a:solidFill>
                <a:cs typeface="Arial" panose="020B0604020202020204" pitchFamily="34" charset="0"/>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pPr algn="l"/>
            <a:r>
              <a:rPr lang="vi-VN"/>
              <a:t>NNT Sử dụng hóa đơn điện tử có mã của cơ quan Thuế phải trả tiền dịch vụ</a:t>
            </a:r>
            <a:r>
              <a:rPr lang="en-US"/>
              <a:t>: </a:t>
            </a:r>
            <a:r>
              <a:rPr lang="en-US">
                <a:latin typeface="Arial" panose="020B0604020202020204" pitchFamily="34" charset="0"/>
              </a:rPr>
              <a:t>Các trường hợp còn lại</a:t>
            </a:r>
            <a:endParaRPr lang="en-US" dirty="0">
              <a:latin typeface="Arial" panose="020B0604020202020204" pitchFamily="34" charset="0"/>
            </a:endParaRPr>
          </a:p>
        </p:txBody>
      </p:sp>
      <p:sp>
        <p:nvSpPr>
          <p:cNvPr id="2" name="Curved Down Arrow 1"/>
          <p:cNvSpPr/>
          <p:nvPr/>
        </p:nvSpPr>
        <p:spPr>
          <a:xfrm>
            <a:off x="887699" y="2264047"/>
            <a:ext cx="1531943" cy="64570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urved Up Arrow 2"/>
          <p:cNvSpPr/>
          <p:nvPr/>
        </p:nvSpPr>
        <p:spPr>
          <a:xfrm>
            <a:off x="887699" y="5321503"/>
            <a:ext cx="1531943" cy="61506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Content Placeholder 2"/>
          <p:cNvSpPr txBox="1">
            <a:spLocks/>
          </p:cNvSpPr>
          <p:nvPr/>
        </p:nvSpPr>
        <p:spPr>
          <a:xfrm>
            <a:off x="417007" y="2880318"/>
            <a:ext cx="941387" cy="2637895"/>
          </a:xfrm>
          <a:prstGeom prst="rect">
            <a:avLst/>
          </a:prstGeom>
          <a:solidFill>
            <a:schemeClr val="accent4">
              <a:lumMod val="60000"/>
              <a:lumOff val="40000"/>
            </a:schemeClr>
          </a:solidFill>
          <a:ln w="38100">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70000"/>
              </a:lnSpc>
              <a:buFont typeface="Wingdings 3" panose="05040102010807070707" pitchFamily="18" charset="2"/>
              <a:buNone/>
            </a:pPr>
            <a:r>
              <a:rPr lang="en-US" altLang="en-US" sz="1600" b="1" smtClean="0">
                <a:latin typeface="Times New Roman" panose="02020603050405020304" pitchFamily="18" charset="0"/>
                <a:cs typeface="Times New Roman" panose="02020603050405020304" pitchFamily="18" charset="0"/>
              </a:rPr>
              <a:t>HĐ ĐT CÓ MÃ CỦA CƠ QUAN THUẾ</a:t>
            </a:r>
            <a:endParaRPr lang="en-US" altLang="en-US" sz="1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42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 Diagonal Corner Rectangle 17"/>
          <p:cNvSpPr/>
          <p:nvPr/>
        </p:nvSpPr>
        <p:spPr>
          <a:xfrm>
            <a:off x="2335237" y="1425699"/>
            <a:ext cx="3899364" cy="2897917"/>
          </a:xfrm>
          <a:prstGeom prst="round2DiagRect">
            <a:avLst/>
          </a:prstGeom>
          <a:solidFill>
            <a:schemeClr val="accent1">
              <a:lumMod val="20000"/>
              <a:lumOff val="80000"/>
            </a:schemeClr>
          </a:solidFill>
          <a:ln>
            <a:noFill/>
          </a:ln>
          <a:effectLst>
            <a:outerShdw blurRad="368300" dist="27940" dir="840000" sx="125000" sy="125000" algn="ctr">
              <a:srgbClr val="000000">
                <a:alpha val="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b="1" smtClean="0">
                <a:solidFill>
                  <a:schemeClr val="tx1">
                    <a:lumMod val="75000"/>
                    <a:lumOff val="25000"/>
                  </a:schemeClr>
                </a:solidFill>
                <a:latin typeface="Arial (Body)"/>
              </a:rPr>
              <a:t>15 LĨNH </a:t>
            </a:r>
            <a:r>
              <a:rPr lang="en-US" b="1">
                <a:solidFill>
                  <a:schemeClr val="tx1">
                    <a:lumMod val="75000"/>
                    <a:lumOff val="25000"/>
                  </a:schemeClr>
                </a:solidFill>
                <a:latin typeface="Arial (Body)"/>
              </a:rPr>
              <a:t>VỰC: </a:t>
            </a:r>
            <a:r>
              <a:rPr lang="en-US">
                <a:solidFill>
                  <a:schemeClr val="tx1">
                    <a:lumMod val="75000"/>
                    <a:lumOff val="25000"/>
                  </a:schemeClr>
                </a:solidFill>
                <a:latin typeface="Arial (Body)"/>
              </a:rPr>
              <a:t>Đ</a:t>
            </a:r>
            <a:r>
              <a:rPr lang="vi-VN" smtClean="0">
                <a:solidFill>
                  <a:schemeClr val="tx1">
                    <a:lumMod val="75000"/>
                    <a:lumOff val="25000"/>
                  </a:schemeClr>
                </a:solidFill>
              </a:rPr>
              <a:t>iện </a:t>
            </a:r>
            <a:r>
              <a:rPr lang="vi-VN">
                <a:solidFill>
                  <a:schemeClr val="tx1">
                    <a:lumMod val="75000"/>
                    <a:lumOff val="25000"/>
                  </a:schemeClr>
                </a:solidFill>
              </a:rPr>
              <a:t>lực, xăng dầu, bưu chính viễn thông, nước sạch, tài chính tín dụng, bảo hiểm, y tế, kinh doanh thương mại điện tử, kinh doanh siêu thị, thương mại, vận tải hàng không, đường bộ, đường sắt, đường biển, đường thủy</a:t>
            </a:r>
            <a:endParaRPr lang="en-US">
              <a:solidFill>
                <a:schemeClr val="tx1">
                  <a:lumMod val="75000"/>
                  <a:lumOff val="25000"/>
                </a:schemeClr>
              </a:solidFill>
            </a:endParaRPr>
          </a:p>
        </p:txBody>
      </p:sp>
      <p:sp>
        <p:nvSpPr>
          <p:cNvPr id="20" name="Round Diagonal Corner Rectangle 19"/>
          <p:cNvSpPr/>
          <p:nvPr/>
        </p:nvSpPr>
        <p:spPr>
          <a:xfrm>
            <a:off x="7626863" y="1365166"/>
            <a:ext cx="4315654" cy="2958450"/>
          </a:xfrm>
          <a:prstGeom prst="round2DiagRect">
            <a:avLst/>
          </a:prstGeom>
          <a:solidFill>
            <a:schemeClr val="accent1">
              <a:lumMod val="20000"/>
              <a:lumOff val="80000"/>
            </a:schemeClr>
          </a:solidFill>
          <a:ln>
            <a:noFill/>
          </a:ln>
          <a:effectLst>
            <a:outerShdw blurRad="368300" dist="27940" dir="840000" sx="125000" sy="125000" algn="ctr">
              <a:srgbClr val="000000">
                <a:alpha val="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vi-VN" b="1">
                <a:solidFill>
                  <a:schemeClr val="tx1">
                    <a:lumMod val="75000"/>
                    <a:lumOff val="25000"/>
                  </a:schemeClr>
                </a:solidFill>
              </a:rPr>
              <a:t>ĐÃ HOẶC SẼ</a:t>
            </a:r>
            <a:r>
              <a:rPr lang="en-US" b="1">
                <a:solidFill>
                  <a:schemeClr val="tx1">
                    <a:lumMod val="75000"/>
                    <a:lumOff val="25000"/>
                  </a:schemeClr>
                </a:solidFill>
              </a:rPr>
              <a:t>:</a:t>
            </a:r>
            <a:r>
              <a:rPr lang="vi-VN" b="1">
                <a:solidFill>
                  <a:schemeClr val="tx1">
                    <a:lumMod val="75000"/>
                    <a:lumOff val="25000"/>
                  </a:schemeClr>
                </a:solidFill>
              </a:rPr>
              <a:t> </a:t>
            </a:r>
            <a:r>
              <a:rPr lang="en-US">
                <a:solidFill>
                  <a:schemeClr val="tx1">
                    <a:lumMod val="75000"/>
                    <a:lumOff val="25000"/>
                  </a:schemeClr>
                </a:solidFill>
                <a:latin typeface="Arial (Body)"/>
              </a:rPr>
              <a:t>Đ</a:t>
            </a:r>
            <a:r>
              <a:rPr lang="vi-VN" smtClean="0">
                <a:solidFill>
                  <a:schemeClr val="tx1">
                    <a:lumMod val="75000"/>
                    <a:lumOff val="25000"/>
                  </a:schemeClr>
                </a:solidFill>
              </a:rPr>
              <a:t>áp </a:t>
            </a:r>
            <a:r>
              <a:rPr lang="vi-VN">
                <a:solidFill>
                  <a:schemeClr val="tx1">
                    <a:lumMod val="75000"/>
                    <a:lumOff val="25000"/>
                  </a:schemeClr>
                </a:solidFill>
              </a:rPr>
              <a:t>ứng lập, tra cứu hóa đơn điện tử, lưu trữ dữ liệu hóa thực hiện giao dịch với cơ quan thuế bằng phương tiện điện tử, xây dựng hạ tầng công nghệ thông tin, có hệ thống phần mềm kế toán, phần mềm lập </a:t>
            </a:r>
            <a:r>
              <a:rPr lang="en-US" smtClean="0">
                <a:solidFill>
                  <a:schemeClr val="tx1">
                    <a:lumMod val="75000"/>
                    <a:lumOff val="25000"/>
                  </a:schemeClr>
                </a:solidFill>
                <a:latin typeface="Arial (Body)"/>
              </a:rPr>
              <a:t>HĐĐT </a:t>
            </a:r>
            <a:r>
              <a:rPr lang="vi-VN" smtClean="0">
                <a:solidFill>
                  <a:schemeClr val="tx1">
                    <a:lumMod val="75000"/>
                    <a:lumOff val="25000"/>
                  </a:schemeClr>
                </a:solidFill>
              </a:rPr>
              <a:t>theo </a:t>
            </a:r>
            <a:r>
              <a:rPr lang="vi-VN">
                <a:solidFill>
                  <a:schemeClr val="tx1">
                    <a:lumMod val="75000"/>
                    <a:lumOff val="25000"/>
                  </a:schemeClr>
                </a:solidFill>
              </a:rPr>
              <a:t>quy định và bảo đảm việc truyền dữ liệu hóa đơn điện tử đến người mua và đến </a:t>
            </a:r>
            <a:r>
              <a:rPr lang="en-US">
                <a:solidFill>
                  <a:schemeClr val="tx1">
                    <a:lumMod val="75000"/>
                    <a:lumOff val="25000"/>
                  </a:schemeClr>
                </a:solidFill>
              </a:rPr>
              <a:t>CQT</a:t>
            </a:r>
          </a:p>
        </p:txBody>
      </p:sp>
      <p:sp>
        <p:nvSpPr>
          <p:cNvPr id="22" name="Cross 21"/>
          <p:cNvSpPr/>
          <p:nvPr/>
        </p:nvSpPr>
        <p:spPr>
          <a:xfrm>
            <a:off x="6811534" y="3035503"/>
            <a:ext cx="327343" cy="299921"/>
          </a:xfrm>
          <a:prstGeom prst="plus">
            <a:avLst>
              <a:gd name="adj" fmla="val 3831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ound Diagonal Corner Rectangle 22"/>
          <p:cNvSpPr/>
          <p:nvPr/>
        </p:nvSpPr>
        <p:spPr>
          <a:xfrm>
            <a:off x="2335237" y="4615752"/>
            <a:ext cx="9607280" cy="1717653"/>
          </a:xfrm>
          <a:prstGeom prst="round2DiagRect">
            <a:avLst/>
          </a:prstGeom>
          <a:solidFill>
            <a:schemeClr val="accent1">
              <a:lumMod val="20000"/>
              <a:lumOff val="80000"/>
            </a:schemeClr>
          </a:solidFill>
          <a:ln>
            <a:noFill/>
          </a:ln>
          <a:effectLst>
            <a:outerShdw blurRad="368300" dist="27940" dir="840000" sx="125000" sy="125000" algn="ctr">
              <a:srgbClr val="000000">
                <a:alpha val="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x-none">
                <a:solidFill>
                  <a:schemeClr val="tx1">
                    <a:lumMod val="75000"/>
                    <a:lumOff val="25000"/>
                  </a:schemeClr>
                </a:solidFill>
                <a:latin typeface="Arial (Body)"/>
              </a:rPr>
              <a:t>Doanh nghiệp thuộc trường hợp rủi ro cao về thuế chuyển sang sử dụng hóa đơn điện tử có mã của cơ quan thuế nhưng sau </a:t>
            </a:r>
            <a:r>
              <a:rPr lang="vi-VN">
                <a:solidFill>
                  <a:schemeClr val="tx1">
                    <a:lumMod val="75000"/>
                    <a:lumOff val="25000"/>
                  </a:schemeClr>
                </a:solidFill>
              </a:rPr>
              <a:t>12 tháng kể từ thời điểm chuyển sang sử dụng hóa đơn điện tử có mã của cơ quan thuế, nếu người nộp thuế có nhu cầu sử dụng hóa đơn điện tử không có mã thì người nộp thuế thay đổi thông tin sử dụng hóa đơn điện tử</a:t>
            </a:r>
            <a:r>
              <a:rPr lang="en-US">
                <a:solidFill>
                  <a:schemeClr val="tx1">
                    <a:lumMod val="75000"/>
                    <a:lumOff val="25000"/>
                  </a:schemeClr>
                </a:solidFill>
              </a:rPr>
              <a:t>. </a:t>
            </a:r>
            <a:r>
              <a:rPr lang="vi-VN">
                <a:solidFill>
                  <a:schemeClr val="tx1">
                    <a:lumMod val="75000"/>
                    <a:lumOff val="25000"/>
                  </a:schemeClr>
                </a:solidFill>
              </a:rPr>
              <a:t>(Khoản 2 Điều </a:t>
            </a:r>
            <a:r>
              <a:rPr lang="en-US">
                <a:solidFill>
                  <a:schemeClr val="tx1">
                    <a:lumMod val="75000"/>
                    <a:lumOff val="25000"/>
                  </a:schemeClr>
                </a:solidFill>
              </a:rPr>
              <a:t>5</a:t>
            </a:r>
            <a:r>
              <a:rPr lang="vi-VN">
                <a:solidFill>
                  <a:schemeClr val="tx1">
                    <a:lumMod val="75000"/>
                    <a:lumOff val="25000"/>
                  </a:schemeClr>
                </a:solidFill>
              </a:rPr>
              <a:t> Thông tư số 78/2021/TT-BTC).</a:t>
            </a:r>
            <a:endParaRPr lang="en-US" dirty="0">
              <a:solidFill>
                <a:schemeClr val="tx1">
                  <a:lumMod val="75000"/>
                  <a:lumOff val="25000"/>
                </a:schemeClr>
              </a:solidFill>
            </a:endParaRPr>
          </a:p>
        </p:txBody>
      </p:sp>
      <p:sp>
        <p:nvSpPr>
          <p:cNvPr id="24" name="Notched Right Arrow 23"/>
          <p:cNvSpPr/>
          <p:nvPr/>
        </p:nvSpPr>
        <p:spPr>
          <a:xfrm>
            <a:off x="1580110" y="3067136"/>
            <a:ext cx="533400" cy="268288"/>
          </a:xfrm>
          <a:prstGeom prst="notch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Notched Right Arrow 24"/>
          <p:cNvSpPr/>
          <p:nvPr/>
        </p:nvSpPr>
        <p:spPr>
          <a:xfrm>
            <a:off x="1580110" y="5351145"/>
            <a:ext cx="533400" cy="266700"/>
          </a:xfrm>
          <a:prstGeom prst="notch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TextBox 3"/>
          <p:cNvSpPr txBox="1"/>
          <p:nvPr/>
        </p:nvSpPr>
        <p:spPr>
          <a:xfrm>
            <a:off x="1309301" y="29151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2.2</a:t>
            </a:r>
            <a:r>
              <a:rPr lang="en-US" sz="2200" b="1">
                <a:solidFill>
                  <a:schemeClr val="accent1">
                    <a:lumMod val="50000"/>
                  </a:schemeClr>
                </a:solidFill>
                <a:latin typeface="Arial (Body)"/>
              </a:rPr>
              <a:t>. </a:t>
            </a:r>
            <a:r>
              <a:rPr lang="vi-VN" sz="2200" b="1">
                <a:solidFill>
                  <a:schemeClr val="accent1">
                    <a:lumMod val="50000"/>
                  </a:schemeClr>
                </a:solidFill>
              </a:rPr>
              <a:t>ĐỐI TƯỢNG SỬ DỤNG HÓA ĐƠN ĐIỆN TỬ</a:t>
            </a:r>
            <a:r>
              <a:rPr lang="en-US" sz="2200" b="1">
                <a:solidFill>
                  <a:schemeClr val="accent1">
                    <a:lumMod val="50000"/>
                  </a:schemeClr>
                </a:solidFill>
              </a:rPr>
              <a:t>  </a:t>
            </a:r>
            <a:r>
              <a:rPr lang="en-US" sz="2200" b="1">
                <a:solidFill>
                  <a:schemeClr val="accent1">
                    <a:lumMod val="50000"/>
                  </a:schemeClr>
                </a:solidFill>
                <a:latin typeface="Arial (Body)"/>
              </a:rPr>
              <a:t>KHÔNG</a:t>
            </a:r>
            <a:r>
              <a:rPr lang="en-US" sz="2200" b="1">
                <a:solidFill>
                  <a:schemeClr val="accent1">
                    <a:lumMod val="50000"/>
                  </a:schemeClr>
                </a:solidFill>
              </a:rPr>
              <a:t> </a:t>
            </a:r>
            <a:r>
              <a:rPr lang="en-US" sz="2200" b="1">
                <a:solidFill>
                  <a:schemeClr val="accent1">
                    <a:lumMod val="50000"/>
                  </a:schemeClr>
                </a:solidFill>
                <a:latin typeface="Arial (Body)"/>
              </a:rPr>
              <a:t>CÓ MÃ CỦA CQT</a:t>
            </a:r>
            <a:endParaRPr lang="vi-VN" sz="2200" b="1">
              <a:solidFill>
                <a:schemeClr val="accent1">
                  <a:lumMod val="50000"/>
                </a:schemeClr>
              </a:solidFill>
              <a:latin typeface="Arial (Body)"/>
            </a:endParaRPr>
          </a:p>
        </p:txBody>
      </p:sp>
      <p:sp>
        <p:nvSpPr>
          <p:cNvPr id="19" name="Content Placeholder 2"/>
          <p:cNvSpPr txBox="1">
            <a:spLocks/>
          </p:cNvSpPr>
          <p:nvPr/>
        </p:nvSpPr>
        <p:spPr>
          <a:xfrm>
            <a:off x="416996" y="2648936"/>
            <a:ext cx="1046044" cy="2968910"/>
          </a:xfrm>
          <a:prstGeom prst="rect">
            <a:avLst/>
          </a:prstGeom>
          <a:solidFill>
            <a:schemeClr val="accent4">
              <a:lumMod val="60000"/>
              <a:lumOff val="40000"/>
            </a:schemeClr>
          </a:solidFill>
          <a:ln w="38100">
            <a:solidFill>
              <a:srgbClr val="0C94B4"/>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70000"/>
              </a:lnSpc>
              <a:buFont typeface="Wingdings 3" panose="05040102010807070707" pitchFamily="18" charset="2"/>
              <a:buNone/>
            </a:pPr>
            <a:r>
              <a:rPr lang="en-US" altLang="en-US" sz="1600" b="1" smtClean="0">
                <a:latin typeface="Times New Roman" panose="02020603050405020304" pitchFamily="18" charset="0"/>
                <a:cs typeface="Times New Roman" panose="02020603050405020304" pitchFamily="18" charset="0"/>
              </a:rPr>
              <a:t>HĐ ĐT KHÔNG CÓ MÃ CỦA CƠ QUAN THUẾ</a:t>
            </a:r>
            <a:endParaRPr lang="en-US" altLang="en-US" sz="1600" b="1">
              <a:latin typeface="Times New Roman" panose="02020603050405020304" pitchFamily="18" charset="0"/>
              <a:cs typeface="Times New Roman" panose="02020603050405020304" pitchFamily="18" charset="0"/>
            </a:endParaRPr>
          </a:p>
        </p:txBody>
      </p:sp>
      <p:sp>
        <p:nvSpPr>
          <p:cNvPr id="21" name="Oval 20"/>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194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248258" y="190434"/>
            <a:ext cx="9900431" cy="707886"/>
          </a:xfrm>
          <a:prstGeom prst="rect">
            <a:avLst/>
          </a:prstGeom>
          <a:noFill/>
        </p:spPr>
        <p:txBody>
          <a:bodyPr wrap="square" rtlCol="0">
            <a:spAutoFit/>
          </a:bodyPr>
          <a:lstStyle/>
          <a:p>
            <a:pPr algn="ctr"/>
            <a:r>
              <a:rPr lang="en-US" sz="2000" b="1" smtClean="0">
                <a:solidFill>
                  <a:schemeClr val="accent1">
                    <a:lumMod val="50000"/>
                  </a:schemeClr>
                </a:solidFill>
                <a:latin typeface="Arial (Body)"/>
              </a:rPr>
              <a:t>2.3. </a:t>
            </a:r>
            <a:r>
              <a:rPr lang="vi-VN" sz="2000" b="1" smtClean="0">
                <a:solidFill>
                  <a:schemeClr val="accent1">
                    <a:lumMod val="50000"/>
                  </a:schemeClr>
                </a:solidFill>
                <a:latin typeface="Arial (Body)"/>
              </a:rPr>
              <a:t>ĐỐI TƯỢNG ÁP DỤNG HĐ ĐT KHỞI TẠO TỪ MÁY TÍNH TIỀN </a:t>
            </a:r>
            <a:endParaRPr lang="en-US" sz="2000" b="1" smtClean="0">
              <a:solidFill>
                <a:schemeClr val="accent1">
                  <a:lumMod val="50000"/>
                </a:schemeClr>
              </a:solidFill>
              <a:latin typeface="Arial (Body)"/>
            </a:endParaRPr>
          </a:p>
          <a:p>
            <a:pPr algn="ctr"/>
            <a:r>
              <a:rPr lang="vi-VN" sz="2000" b="1" smtClean="0">
                <a:solidFill>
                  <a:schemeClr val="accent1">
                    <a:lumMod val="50000"/>
                  </a:schemeClr>
                </a:solidFill>
                <a:latin typeface="Arial (Body)"/>
              </a:rPr>
              <a:t>CÓ KẾT NỐI CHUYỂN DỮ LIỆU VỚI</a:t>
            </a:r>
            <a:r>
              <a:rPr lang="en-US" sz="2000" b="1">
                <a:solidFill>
                  <a:schemeClr val="accent1">
                    <a:lumMod val="50000"/>
                  </a:schemeClr>
                </a:solidFill>
                <a:latin typeface="Arial (Body)"/>
              </a:rPr>
              <a:t> </a:t>
            </a:r>
            <a:r>
              <a:rPr lang="en-US" sz="2000" b="1" smtClean="0">
                <a:solidFill>
                  <a:schemeClr val="accent1">
                    <a:lumMod val="50000"/>
                  </a:schemeClr>
                </a:solidFill>
                <a:latin typeface="Arial (Body)"/>
              </a:rPr>
              <a:t>CQT</a:t>
            </a:r>
            <a:endParaRPr lang="vi-VN" sz="2000" b="1">
              <a:solidFill>
                <a:schemeClr val="accent1">
                  <a:lumMod val="50000"/>
                </a:schemeClr>
              </a:solidFill>
              <a:latin typeface="Arial (Body)"/>
            </a:endParaRPr>
          </a:p>
        </p:txBody>
      </p:sp>
      <p:sp>
        <p:nvSpPr>
          <p:cNvPr id="2" name="Rectangle 1"/>
          <p:cNvSpPr/>
          <p:nvPr/>
        </p:nvSpPr>
        <p:spPr>
          <a:xfrm>
            <a:off x="417007" y="1859340"/>
            <a:ext cx="11287313" cy="2800767"/>
          </a:xfrm>
          <a:prstGeom prst="rect">
            <a:avLst/>
          </a:prstGeom>
        </p:spPr>
        <p:txBody>
          <a:bodyPr wrap="square">
            <a:spAutoFit/>
          </a:bodyPr>
          <a:lstStyle/>
          <a:p>
            <a:pPr algn="just"/>
            <a:r>
              <a:rPr lang="vi-VN" altLang="en-US" sz="2200" smtClean="0"/>
              <a:t>Doanh nghiệp, hộ, cá nhân kinh doanh nộp thuế theo phương pháp kê khai có hoạt động cung cấp hàng hoá, dịch vụ trực tiếp đến người tiêu dùng theo mô hình kinh doanh </a:t>
            </a:r>
            <a:r>
              <a:rPr lang="vi-VN" altLang="en-US" sz="2200" b="1" i="1" smtClean="0"/>
              <a:t>(trung tâm thương mại; siêu thị; bán lẻ hàng tiêu dùng; ăn uống; nhà hàng; khách sạn; bán lẻ thuốc tân dược; dịch vụ vui chơi, giải trí và các dịch vụ khác)</a:t>
            </a:r>
            <a:r>
              <a:rPr lang="vi-VN" altLang="en-US" sz="2200" smtClean="0"/>
              <a:t> được lựa chọn sử dụng hoá đơn điện tử được khởi tạo từ máy tính tiền có kết nối chuyển dữ liệu điện tử với cơ quan thuế hoặc hóa đơn điện tử có mã, hóa đơn điện tử không có mã.</a:t>
            </a:r>
            <a:endParaRPr lang="en-US" altLang="en-US" sz="2200" smtClean="0"/>
          </a:p>
          <a:p>
            <a:pPr algn="just"/>
            <a:endParaRPr lang="vi-VN" altLang="en-US" sz="2200" smtClean="0"/>
          </a:p>
          <a:p>
            <a:pPr algn="just"/>
            <a:r>
              <a:rPr lang="vi-VN" altLang="en-US" sz="2200" smtClean="0"/>
              <a:t>(Khoản 2 Điều 8 Thông tư số 78/2021/TT-BTC).</a:t>
            </a:r>
          </a:p>
        </p:txBody>
      </p:sp>
      <p:sp>
        <p:nvSpPr>
          <p:cNvPr id="13" name="Oval 12"/>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9581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54147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215641" y="318642"/>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3. </a:t>
            </a:r>
            <a:r>
              <a:rPr lang="vi-VN" sz="2200" b="1" smtClean="0">
                <a:solidFill>
                  <a:schemeClr val="accent1">
                    <a:lumMod val="50000"/>
                  </a:schemeClr>
                </a:solidFill>
                <a:latin typeface="Arial (Body)"/>
              </a:rPr>
              <a:t>CÁC LOẠI HÓA ĐƠN ĐIỆN TỬ</a:t>
            </a:r>
            <a:endParaRPr lang="en-US" sz="2200" b="1" smtClean="0">
              <a:solidFill>
                <a:schemeClr val="accent1">
                  <a:lumMod val="50000"/>
                </a:schemeClr>
              </a:solidFill>
              <a:latin typeface="Arial (Body)"/>
            </a:endParaRPr>
          </a:p>
        </p:txBody>
      </p:sp>
      <p:sp>
        <p:nvSpPr>
          <p:cNvPr id="13" name="Rounded Rectangle 12"/>
          <p:cNvSpPr/>
          <p:nvPr/>
        </p:nvSpPr>
        <p:spPr>
          <a:xfrm>
            <a:off x="3483975" y="2411244"/>
            <a:ext cx="1058862" cy="1333281"/>
          </a:xfrm>
          <a:prstGeom prst="roundRect">
            <a:avLst/>
          </a:prstGeom>
          <a:solidFill>
            <a:srgbClr val="FFC000"/>
          </a:solidFill>
          <a:effectLst>
            <a:outerShdw blurRad="50800" dist="50800" dir="5400000" algn="ctr" rotWithShape="0">
              <a:srgbClr val="000000">
                <a:alpha val="72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vi-VN" sz="1600" b="1" dirty="0">
                <a:ln w="0"/>
                <a:solidFill>
                  <a:schemeClr val="tx1"/>
                </a:solidFill>
                <a:latin typeface="Times New Roman" panose="02020603050405020304" pitchFamily="18" charset="0"/>
                <a:cs typeface="Times New Roman" panose="02020603050405020304" pitchFamily="18" charset="0"/>
              </a:rPr>
              <a:t>Hóa đơn điện tử </a:t>
            </a:r>
            <a:r>
              <a:rPr lang="en-US" sz="1600" b="1" dirty="0">
                <a:ln w="0"/>
                <a:solidFill>
                  <a:schemeClr val="tx1"/>
                </a:solidFill>
                <a:latin typeface="Times New Roman" panose="02020603050405020304" pitchFamily="18" charset="0"/>
                <a:cs typeface="Times New Roman" panose="02020603050405020304" pitchFamily="18" charset="0"/>
              </a:rPr>
              <a:t> </a:t>
            </a:r>
            <a:r>
              <a:rPr lang="en-US" sz="1600" b="1" dirty="0" err="1">
                <a:ln w="0"/>
                <a:solidFill>
                  <a:schemeClr val="tx1"/>
                </a:solidFill>
                <a:latin typeface="Times New Roman" panose="02020603050405020304" pitchFamily="18" charset="0"/>
                <a:cs typeface="Times New Roman" panose="02020603050405020304" pitchFamily="18" charset="0"/>
              </a:rPr>
              <a:t>bán</a:t>
            </a:r>
            <a:r>
              <a:rPr lang="en-US" sz="1600" b="1" dirty="0">
                <a:ln w="0"/>
                <a:solidFill>
                  <a:schemeClr val="tx1"/>
                </a:solidFill>
                <a:latin typeface="Times New Roman" panose="02020603050405020304" pitchFamily="18" charset="0"/>
                <a:cs typeface="Times New Roman" panose="02020603050405020304" pitchFamily="18" charset="0"/>
              </a:rPr>
              <a:t> </a:t>
            </a:r>
            <a:r>
              <a:rPr lang="en-US" sz="1600" b="1" dirty="0" err="1">
                <a:ln w="0"/>
                <a:solidFill>
                  <a:schemeClr val="tx1"/>
                </a:solidFill>
                <a:latin typeface="Times New Roman" panose="02020603050405020304" pitchFamily="18" charset="0"/>
                <a:cs typeface="Times New Roman" panose="02020603050405020304" pitchFamily="18" charset="0"/>
              </a:rPr>
              <a:t>hàng</a:t>
            </a:r>
            <a:endParaRPr lang="en-US" sz="1600" b="1" dirty="0">
              <a:ln w="0"/>
              <a:solidFill>
                <a:schemeClr val="tx1"/>
              </a:solidFill>
              <a:latin typeface="Times New Roman" panose="02020603050405020304" pitchFamily="18" charset="0"/>
              <a:cs typeface="Times New Roman" panose="02020603050405020304" pitchFamily="18" charset="0"/>
            </a:endParaRPr>
          </a:p>
        </p:txBody>
      </p:sp>
      <p:sp>
        <p:nvSpPr>
          <p:cNvPr id="14" name="Rounded Rectangle 13"/>
          <p:cNvSpPr/>
          <p:nvPr/>
        </p:nvSpPr>
        <p:spPr>
          <a:xfrm>
            <a:off x="881063" y="2446389"/>
            <a:ext cx="1285876" cy="1306512"/>
          </a:xfrm>
          <a:prstGeom prst="roundRect">
            <a:avLst/>
          </a:prstGeom>
          <a:solidFill>
            <a:srgbClr val="FFC000"/>
          </a:solidFill>
          <a:effectLst>
            <a:outerShdw blurRad="50800" dist="50800" dir="5400000" algn="ctr" rotWithShape="0">
              <a:srgbClr val="000000">
                <a:alpha val="72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vi-VN" sz="1600" b="1" dirty="0">
                <a:ln w="0"/>
                <a:solidFill>
                  <a:schemeClr val="tx1"/>
                </a:solidFill>
                <a:latin typeface="Times New Roman" panose="02020603050405020304" pitchFamily="18" charset="0"/>
                <a:cs typeface="Times New Roman" panose="02020603050405020304" pitchFamily="18" charset="0"/>
              </a:rPr>
              <a:t>Hóa đơn điện tử </a:t>
            </a:r>
            <a:endParaRPr lang="en-US" sz="1600" b="1" dirty="0">
              <a:ln w="0"/>
              <a:solidFill>
                <a:schemeClr val="tx1"/>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US" sz="1600" b="1" dirty="0" err="1">
                <a:ln w="0"/>
                <a:solidFill>
                  <a:schemeClr val="tx1"/>
                </a:solidFill>
                <a:latin typeface="Times New Roman" panose="02020603050405020304" pitchFamily="18" charset="0"/>
                <a:cs typeface="Times New Roman" panose="02020603050405020304" pitchFamily="18" charset="0"/>
              </a:rPr>
              <a:t>gtgt</a:t>
            </a:r>
            <a:endParaRPr lang="en-US" sz="1600" b="1" dirty="0">
              <a:ln w="0"/>
              <a:solidFill>
                <a:schemeClr val="tx1"/>
              </a:solidFill>
              <a:latin typeface="Times New Roman" panose="02020603050405020304" pitchFamily="18" charset="0"/>
              <a:cs typeface="Times New Roman" panose="02020603050405020304" pitchFamily="18" charset="0"/>
            </a:endParaRPr>
          </a:p>
        </p:txBody>
      </p:sp>
      <p:sp>
        <p:nvSpPr>
          <p:cNvPr id="18" name="Rounded Rectangle 17"/>
          <p:cNvSpPr/>
          <p:nvPr/>
        </p:nvSpPr>
        <p:spPr>
          <a:xfrm>
            <a:off x="5342749" y="2411244"/>
            <a:ext cx="1260475" cy="1306513"/>
          </a:xfrm>
          <a:prstGeom prst="roundRect">
            <a:avLst/>
          </a:prstGeom>
          <a:solidFill>
            <a:srgbClr val="FFC000"/>
          </a:solidFill>
          <a:effectLst>
            <a:outerShdw blurRad="50800" dist="50800" dir="5400000" algn="ctr" rotWithShape="0">
              <a:srgbClr val="000000">
                <a:alpha val="72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vi-VN" sz="1600" b="1" dirty="0">
                <a:ln w="0"/>
                <a:solidFill>
                  <a:schemeClr val="tx1"/>
                </a:solidFill>
                <a:latin typeface="Times New Roman" panose="02020603050405020304" pitchFamily="18" charset="0"/>
                <a:cs typeface="Times New Roman" panose="02020603050405020304" pitchFamily="18" charset="0"/>
              </a:rPr>
              <a:t> Hóa đơn điện tử bán tài sản công </a:t>
            </a:r>
            <a:endParaRPr lang="en-US" sz="1600" b="1" dirty="0">
              <a:ln w="0"/>
              <a:solidFill>
                <a:schemeClr val="tx1"/>
              </a:solidFill>
              <a:latin typeface="Times New Roman" panose="02020603050405020304" pitchFamily="18" charset="0"/>
              <a:cs typeface="Times New Roman" panose="02020603050405020304" pitchFamily="18" charset="0"/>
            </a:endParaRPr>
          </a:p>
        </p:txBody>
      </p:sp>
      <p:sp>
        <p:nvSpPr>
          <p:cNvPr id="19" name="Rounded Rectangle 18"/>
          <p:cNvSpPr/>
          <p:nvPr/>
        </p:nvSpPr>
        <p:spPr>
          <a:xfrm>
            <a:off x="7002733" y="2384476"/>
            <a:ext cx="1203325" cy="1306513"/>
          </a:xfrm>
          <a:prstGeom prst="roundRect">
            <a:avLst/>
          </a:prstGeom>
          <a:solidFill>
            <a:srgbClr val="FFC000"/>
          </a:solidFill>
          <a:effectLst>
            <a:outerShdw blurRad="50800" dist="50800" dir="5400000" algn="ctr" rotWithShape="0">
              <a:srgbClr val="000000">
                <a:alpha val="72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vi-VN" sz="1600" b="1" dirty="0">
                <a:ln w="0"/>
                <a:solidFill>
                  <a:schemeClr val="tx1"/>
                </a:solidFill>
                <a:latin typeface="Times New Roman" panose="02020603050405020304" pitchFamily="18" charset="0"/>
                <a:cs typeface="Times New Roman" panose="02020603050405020304" pitchFamily="18" charset="0"/>
              </a:rPr>
              <a:t>Hóa đơn điện tử bán hàng dự trữ quốc gia </a:t>
            </a:r>
            <a:endParaRPr lang="en-US" sz="1600" b="1" dirty="0">
              <a:ln w="0"/>
              <a:solidFill>
                <a:schemeClr val="tx1"/>
              </a:solidFill>
              <a:latin typeface="Times New Roman" panose="02020603050405020304" pitchFamily="18" charset="0"/>
              <a:cs typeface="Times New Roman" panose="02020603050405020304" pitchFamily="18" charset="0"/>
            </a:endParaRPr>
          </a:p>
        </p:txBody>
      </p:sp>
      <p:sp>
        <p:nvSpPr>
          <p:cNvPr id="20" name="Rounded Rectangle 19"/>
          <p:cNvSpPr/>
          <p:nvPr/>
        </p:nvSpPr>
        <p:spPr>
          <a:xfrm>
            <a:off x="8661350" y="2423944"/>
            <a:ext cx="1058862" cy="1306513"/>
          </a:xfrm>
          <a:prstGeom prst="roundRect">
            <a:avLst/>
          </a:prstGeom>
          <a:solidFill>
            <a:srgbClr val="FFC000"/>
          </a:solidFill>
          <a:effectLst>
            <a:outerShdw blurRad="50800" dist="50800" dir="5400000" algn="ctr" rotWithShape="0">
              <a:srgbClr val="000000">
                <a:alpha val="72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vi-VN" sz="1600" b="1" dirty="0">
                <a:ln w="0"/>
                <a:solidFill>
                  <a:schemeClr val="tx1"/>
                </a:solidFill>
                <a:latin typeface="Times New Roman" panose="02020603050405020304" pitchFamily="18" charset="0"/>
                <a:cs typeface="Times New Roman" panose="02020603050405020304" pitchFamily="18" charset="0"/>
              </a:rPr>
              <a:t>Các loại hóa đơn khác</a:t>
            </a:r>
            <a:endParaRPr lang="en-US" sz="1600" b="1" dirty="0">
              <a:ln w="0"/>
              <a:solidFill>
                <a:schemeClr val="tx1"/>
              </a:solidFill>
              <a:latin typeface="Times New Roman" panose="02020603050405020304" pitchFamily="18" charset="0"/>
              <a:cs typeface="Times New Roman" panose="02020603050405020304" pitchFamily="18" charset="0"/>
            </a:endParaRPr>
          </a:p>
        </p:txBody>
      </p:sp>
      <p:sp>
        <p:nvSpPr>
          <p:cNvPr id="21" name="Rounded Rectangle 20"/>
          <p:cNvSpPr/>
          <p:nvPr/>
        </p:nvSpPr>
        <p:spPr>
          <a:xfrm>
            <a:off x="10077450" y="2397176"/>
            <a:ext cx="1754188" cy="1306513"/>
          </a:xfrm>
          <a:prstGeom prst="roundRect">
            <a:avLst/>
          </a:prstGeom>
          <a:solidFill>
            <a:srgbClr val="FFC000"/>
          </a:solidFill>
          <a:effectLst>
            <a:outerShdw blurRad="50800" dist="50800" dir="5400000" algn="ctr" rotWithShape="0">
              <a:srgbClr val="000000">
                <a:alpha val="72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vi-VN" sz="1600" b="1" dirty="0">
                <a:ln w="0"/>
                <a:solidFill>
                  <a:schemeClr val="tx1"/>
                </a:solidFill>
                <a:latin typeface="Times New Roman" panose="02020603050405020304" pitchFamily="18" charset="0"/>
                <a:cs typeface="Times New Roman" panose="02020603050405020304" pitchFamily="18" charset="0"/>
              </a:rPr>
              <a:t>Các chứng từ được in, phát hành, sử dụng và quản lý như hóa đơn</a:t>
            </a:r>
            <a:endParaRPr lang="en-US" sz="1600" b="1" dirty="0">
              <a:ln w="0"/>
              <a:solidFill>
                <a:schemeClr val="tx1"/>
              </a:solidFill>
              <a:latin typeface="Times New Roman" panose="02020603050405020304" pitchFamily="18" charset="0"/>
              <a:cs typeface="Times New Roman" panose="02020603050405020304" pitchFamily="18" charset="0"/>
            </a:endParaRPr>
          </a:p>
        </p:txBody>
      </p:sp>
      <p:sp>
        <p:nvSpPr>
          <p:cNvPr id="23" name="Rounded Rectangle 22"/>
          <p:cNvSpPr/>
          <p:nvPr/>
        </p:nvSpPr>
        <p:spPr>
          <a:xfrm>
            <a:off x="362743" y="4181306"/>
            <a:ext cx="2236787" cy="2290745"/>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200" eaLnBrk="1" fontAlgn="auto" hangingPunct="1">
              <a:spcBef>
                <a:spcPts val="1000"/>
              </a:spcBef>
              <a:spcAft>
                <a:spcPts val="0"/>
              </a:spcAft>
              <a:buClr>
                <a:schemeClr val="accent1"/>
              </a:buClr>
              <a:buSzPct val="80000"/>
              <a:defRPr/>
            </a:pPr>
            <a:r>
              <a:rPr lang="x-none" sz="1200" dirty="0">
                <a:ln w="0"/>
                <a:solidFill>
                  <a:schemeClr val="tx2">
                    <a:lumMod val="50000"/>
                  </a:schemeClr>
                </a:solidFill>
                <a:latin typeface="Arial" panose="020B0604020202020204" pitchFamily="34" charset="0"/>
                <a:cs typeface="Arial" panose="020B0604020202020204" pitchFamily="34" charset="0"/>
              </a:rPr>
              <a:t>a</a:t>
            </a:r>
            <a:r>
              <a:rPr lang="x-none" sz="1200" dirty="0">
                <a:solidFill>
                  <a:schemeClr val="tx2">
                    <a:lumMod val="50000"/>
                  </a:schemeClr>
                </a:solidFill>
                <a:latin typeface="Arial" panose="020B0604020202020204" pitchFamily="34" charset="0"/>
                <a:cs typeface="Arial" panose="020B0604020202020204" pitchFamily="34" charset="0"/>
              </a:rPr>
              <a:t>) Bán hàng hóa, cung cấp dịch vụ trong nội địa;</a:t>
            </a:r>
            <a:endParaRPr lang="en-US" sz="1200" dirty="0">
              <a:solidFill>
                <a:schemeClr val="tx2">
                  <a:lumMod val="50000"/>
                </a:schemeClr>
              </a:solidFill>
              <a:latin typeface="Arial" panose="020B0604020202020204" pitchFamily="34" charset="0"/>
              <a:cs typeface="Arial" panose="020B0604020202020204" pitchFamily="34" charset="0"/>
            </a:endParaRPr>
          </a:p>
          <a:p>
            <a:pPr defTabSz="457200" eaLnBrk="1" fontAlgn="auto" hangingPunct="1">
              <a:spcBef>
                <a:spcPts val="1000"/>
              </a:spcBef>
              <a:spcAft>
                <a:spcPts val="0"/>
              </a:spcAft>
              <a:buClr>
                <a:schemeClr val="accent1"/>
              </a:buClr>
              <a:buSzPct val="80000"/>
              <a:defRPr/>
            </a:pPr>
            <a:r>
              <a:rPr lang="x-none" sz="1200" dirty="0">
                <a:solidFill>
                  <a:schemeClr val="tx2">
                    <a:lumMod val="50000"/>
                  </a:schemeClr>
                </a:solidFill>
                <a:latin typeface="Arial" panose="020B0604020202020204" pitchFamily="34" charset="0"/>
                <a:cs typeface="Arial" panose="020B0604020202020204" pitchFamily="34" charset="0"/>
              </a:rPr>
              <a:t>b) Hoạt động vận tải quốc tế;</a:t>
            </a:r>
            <a:endParaRPr lang="en-US" sz="1200" dirty="0">
              <a:solidFill>
                <a:schemeClr val="tx2">
                  <a:lumMod val="50000"/>
                </a:schemeClr>
              </a:solidFill>
              <a:latin typeface="Arial" panose="020B0604020202020204" pitchFamily="34" charset="0"/>
              <a:cs typeface="Arial" panose="020B0604020202020204" pitchFamily="34" charset="0"/>
            </a:endParaRPr>
          </a:p>
          <a:p>
            <a:pPr defTabSz="457200" eaLnBrk="1" fontAlgn="auto" hangingPunct="1">
              <a:spcBef>
                <a:spcPts val="1000"/>
              </a:spcBef>
              <a:spcAft>
                <a:spcPts val="0"/>
              </a:spcAft>
              <a:buClr>
                <a:schemeClr val="accent1"/>
              </a:buClr>
              <a:buSzPct val="80000"/>
              <a:defRPr/>
            </a:pPr>
            <a:r>
              <a:rPr lang="x-none" sz="1200" dirty="0">
                <a:solidFill>
                  <a:schemeClr val="tx2">
                    <a:lumMod val="50000"/>
                  </a:schemeClr>
                </a:solidFill>
                <a:latin typeface="Arial" panose="020B0604020202020204" pitchFamily="34" charset="0"/>
                <a:cs typeface="Arial" panose="020B0604020202020204" pitchFamily="34" charset="0"/>
              </a:rPr>
              <a:t>c) Xuất vào khu phi thuế quan và các trường hợp được coi như xuất khẩu;</a:t>
            </a:r>
            <a:endParaRPr lang="en-US" sz="1200" dirty="0">
              <a:solidFill>
                <a:schemeClr val="tx2">
                  <a:lumMod val="50000"/>
                </a:schemeClr>
              </a:solidFill>
              <a:latin typeface="Arial" panose="020B0604020202020204" pitchFamily="34" charset="0"/>
              <a:cs typeface="Arial" panose="020B0604020202020204" pitchFamily="34" charset="0"/>
            </a:endParaRPr>
          </a:p>
          <a:p>
            <a:pPr defTabSz="457200" eaLnBrk="1" fontAlgn="auto" hangingPunct="1">
              <a:spcBef>
                <a:spcPts val="1000"/>
              </a:spcBef>
              <a:spcAft>
                <a:spcPts val="0"/>
              </a:spcAft>
              <a:buClr>
                <a:schemeClr val="accent1"/>
              </a:buClr>
              <a:buSzPct val="80000"/>
              <a:defRPr/>
            </a:pPr>
            <a:r>
              <a:rPr lang="x-none" sz="1200" dirty="0">
                <a:solidFill>
                  <a:schemeClr val="tx2">
                    <a:lumMod val="50000"/>
                  </a:schemeClr>
                </a:solidFill>
                <a:latin typeface="Arial" panose="020B0604020202020204" pitchFamily="34" charset="0"/>
                <a:cs typeface="Arial" panose="020B0604020202020204" pitchFamily="34" charset="0"/>
              </a:rPr>
              <a:t>d) Xuất khẩu hàng hóa, cung cấp dịch vụ ra nước ngoài.</a:t>
            </a:r>
            <a:endParaRPr lang="en-US" sz="1200" dirty="0">
              <a:solidFill>
                <a:schemeClr val="tx2">
                  <a:lumMod val="50000"/>
                </a:schemeClr>
              </a:solidFill>
              <a:latin typeface="Arial" panose="020B0604020202020204" pitchFamily="34" charset="0"/>
              <a:cs typeface="Arial" panose="020B0604020202020204" pitchFamily="34" charset="0"/>
            </a:endParaRPr>
          </a:p>
        </p:txBody>
      </p:sp>
      <p:sp>
        <p:nvSpPr>
          <p:cNvPr id="24" name="TextBox 77"/>
          <p:cNvSpPr txBox="1">
            <a:spLocks noChangeArrowheads="1"/>
          </p:cNvSpPr>
          <p:nvPr/>
        </p:nvSpPr>
        <p:spPr bwMode="auto">
          <a:xfrm>
            <a:off x="120511" y="3838163"/>
            <a:ext cx="1420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en-US" altLang="en-US" sz="1400" b="1" smtClean="0">
                <a:solidFill>
                  <a:schemeClr val="tx1"/>
                </a:solidFill>
                <a:latin typeface="Arial" panose="020B0604020202020204" pitchFamily="34" charset="0"/>
                <a:cs typeface="Arial" panose="020B0604020202020204" pitchFamily="34" charset="0"/>
              </a:rPr>
              <a:t>KHẤU </a:t>
            </a:r>
            <a:r>
              <a:rPr lang="en-US" altLang="en-US" sz="1400" b="1">
                <a:solidFill>
                  <a:schemeClr val="tx1"/>
                </a:solidFill>
                <a:latin typeface="Arial" panose="020B0604020202020204" pitchFamily="34" charset="0"/>
                <a:cs typeface="Arial" panose="020B0604020202020204" pitchFamily="34" charset="0"/>
              </a:rPr>
              <a:t>TRỪ</a:t>
            </a:r>
          </a:p>
        </p:txBody>
      </p:sp>
      <p:sp>
        <p:nvSpPr>
          <p:cNvPr id="25" name="TextBox 80"/>
          <p:cNvSpPr txBox="1">
            <a:spLocks noChangeArrowheads="1"/>
          </p:cNvSpPr>
          <p:nvPr/>
        </p:nvSpPr>
        <p:spPr bwMode="auto">
          <a:xfrm rot="19768525">
            <a:off x="1956182" y="3128962"/>
            <a:ext cx="16668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en-US" altLang="en-US" sz="1400" b="1" smtClean="0">
                <a:solidFill>
                  <a:schemeClr val="tx1"/>
                </a:solidFill>
                <a:latin typeface="Arial" panose="020B0604020202020204" pitchFamily="34" charset="0"/>
                <a:cs typeface="Arial" panose="020B0604020202020204" pitchFamily="34" charset="0"/>
              </a:rPr>
              <a:t>TRỰC </a:t>
            </a:r>
            <a:r>
              <a:rPr lang="en-US" altLang="en-US" sz="1400" b="1">
                <a:solidFill>
                  <a:schemeClr val="tx1"/>
                </a:solidFill>
                <a:latin typeface="Arial" panose="020B0604020202020204" pitchFamily="34" charset="0"/>
                <a:cs typeface="Arial" panose="020B0604020202020204" pitchFamily="34" charset="0"/>
              </a:rPr>
              <a:t>TIẾP</a:t>
            </a:r>
          </a:p>
        </p:txBody>
      </p:sp>
      <p:sp>
        <p:nvSpPr>
          <p:cNvPr id="29" name="Rounded Rectangle 28"/>
          <p:cNvSpPr/>
          <p:nvPr/>
        </p:nvSpPr>
        <p:spPr>
          <a:xfrm>
            <a:off x="2928350" y="4181306"/>
            <a:ext cx="2170113" cy="2240597"/>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200" eaLnBrk="1" fontAlgn="auto" hangingPunct="1">
              <a:spcBef>
                <a:spcPts val="1000"/>
              </a:spcBef>
              <a:spcAft>
                <a:spcPts val="0"/>
              </a:spcAft>
              <a:buClr>
                <a:schemeClr val="accent1"/>
              </a:buClr>
              <a:buSzPct val="80000"/>
              <a:defRPr/>
            </a:pPr>
            <a:r>
              <a:rPr lang="en-US" sz="1200" dirty="0">
                <a:ln w="0"/>
                <a:solidFill>
                  <a:schemeClr val="tx2">
                    <a:lumMod val="50000"/>
                  </a:schemeClr>
                </a:solidFill>
                <a:latin typeface="Arial" panose="020B0604020202020204" pitchFamily="34" charset="0"/>
                <a:cs typeface="Arial" panose="020B0604020202020204" pitchFamily="34" charset="0"/>
              </a:rPr>
              <a:t> NNT </a:t>
            </a:r>
            <a:r>
              <a:rPr lang="vi-VN" sz="1200" dirty="0">
                <a:ln w="0"/>
                <a:solidFill>
                  <a:schemeClr val="tx2">
                    <a:lumMod val="50000"/>
                  </a:schemeClr>
                </a:solidFill>
                <a:cs typeface="Arial" panose="020B0604020202020204" pitchFamily="34" charset="0"/>
              </a:rPr>
              <a:t>trong khu phi thuế quan khi bán </a:t>
            </a:r>
            <a:r>
              <a:rPr lang="en-US" sz="1200" dirty="0">
                <a:ln w="0"/>
                <a:solidFill>
                  <a:schemeClr val="tx2">
                    <a:lumMod val="50000"/>
                  </a:schemeClr>
                </a:solidFill>
                <a:latin typeface="Arial" panose="020B0604020202020204" pitchFamily="34" charset="0"/>
                <a:cs typeface="Arial" panose="020B0604020202020204" pitchFamily="34" charset="0"/>
              </a:rPr>
              <a:t>HH</a:t>
            </a:r>
            <a:r>
              <a:rPr lang="vi-VN" sz="1200" dirty="0">
                <a:ln w="0"/>
                <a:solidFill>
                  <a:schemeClr val="tx2">
                    <a:lumMod val="50000"/>
                  </a:schemeClr>
                </a:solidFill>
                <a:cs typeface="Arial" panose="020B0604020202020204" pitchFamily="34" charset="0"/>
              </a:rPr>
              <a:t>, cung cấp </a:t>
            </a:r>
            <a:r>
              <a:rPr lang="en-US" sz="1200" dirty="0">
                <a:ln w="0"/>
                <a:solidFill>
                  <a:schemeClr val="tx2">
                    <a:lumMod val="50000"/>
                  </a:schemeClr>
                </a:solidFill>
                <a:latin typeface="Arial" panose="020B0604020202020204" pitchFamily="34" charset="0"/>
                <a:cs typeface="Arial" panose="020B0604020202020204" pitchFamily="34" charset="0"/>
              </a:rPr>
              <a:t>DV </a:t>
            </a:r>
            <a:r>
              <a:rPr lang="vi-VN" sz="1200" dirty="0">
                <a:ln w="0"/>
                <a:solidFill>
                  <a:schemeClr val="tx2">
                    <a:lumMod val="50000"/>
                  </a:schemeClr>
                </a:solidFill>
                <a:cs typeface="Arial" panose="020B0604020202020204" pitchFamily="34" charset="0"/>
              </a:rPr>
              <a:t>vào nội địa và khi bán </a:t>
            </a:r>
            <a:r>
              <a:rPr lang="en-US" sz="1200" dirty="0">
                <a:ln w="0"/>
                <a:solidFill>
                  <a:schemeClr val="tx2">
                    <a:lumMod val="50000"/>
                  </a:schemeClr>
                </a:solidFill>
                <a:latin typeface="Arial" panose="020B0604020202020204" pitchFamily="34" charset="0"/>
                <a:cs typeface="Arial" panose="020B0604020202020204" pitchFamily="34" charset="0"/>
              </a:rPr>
              <a:t>HH</a:t>
            </a:r>
            <a:r>
              <a:rPr lang="vi-VN" sz="1200" dirty="0">
                <a:ln w="0"/>
                <a:solidFill>
                  <a:schemeClr val="tx2">
                    <a:lumMod val="50000"/>
                  </a:schemeClr>
                </a:solidFill>
                <a:cs typeface="Arial" panose="020B0604020202020204" pitchFamily="34" charset="0"/>
              </a:rPr>
              <a:t>, cung cấp </a:t>
            </a:r>
            <a:r>
              <a:rPr lang="en-US" sz="1200" dirty="0">
                <a:ln w="0"/>
                <a:solidFill>
                  <a:schemeClr val="tx2">
                    <a:lumMod val="50000"/>
                  </a:schemeClr>
                </a:solidFill>
                <a:latin typeface="Arial" panose="020B0604020202020204" pitchFamily="34" charset="0"/>
                <a:cs typeface="Arial" panose="020B0604020202020204" pitchFamily="34" charset="0"/>
              </a:rPr>
              <a:t>DV </a:t>
            </a:r>
            <a:r>
              <a:rPr lang="vi-VN" sz="1200" dirty="0">
                <a:ln w="0"/>
                <a:solidFill>
                  <a:schemeClr val="tx2">
                    <a:lumMod val="50000"/>
                  </a:schemeClr>
                </a:solidFill>
                <a:cs typeface="Arial" panose="020B0604020202020204" pitchFamily="34" charset="0"/>
              </a:rPr>
              <a:t>giữa các tổ chức, cá nhân trong khu phi thuế quan với nhau, xuất khẩu bán </a:t>
            </a:r>
            <a:r>
              <a:rPr lang="en-US" sz="1200" dirty="0">
                <a:ln w="0"/>
                <a:solidFill>
                  <a:schemeClr val="tx2">
                    <a:lumMod val="50000"/>
                  </a:schemeClr>
                </a:solidFill>
                <a:latin typeface="Arial" panose="020B0604020202020204" pitchFamily="34" charset="0"/>
                <a:cs typeface="Arial" panose="020B0604020202020204" pitchFamily="34" charset="0"/>
              </a:rPr>
              <a:t>HH</a:t>
            </a:r>
            <a:r>
              <a:rPr lang="vi-VN" sz="1200" dirty="0">
                <a:ln w="0"/>
                <a:solidFill>
                  <a:schemeClr val="tx2">
                    <a:lumMod val="50000"/>
                  </a:schemeClr>
                </a:solidFill>
                <a:cs typeface="Arial" panose="020B0604020202020204" pitchFamily="34" charset="0"/>
              </a:rPr>
              <a:t>, cung cấp </a:t>
            </a:r>
            <a:r>
              <a:rPr lang="en-US" sz="1200" dirty="0">
                <a:ln w="0"/>
                <a:solidFill>
                  <a:schemeClr val="tx2">
                    <a:lumMod val="50000"/>
                  </a:schemeClr>
                </a:solidFill>
                <a:latin typeface="Arial" panose="020B0604020202020204" pitchFamily="34" charset="0"/>
                <a:cs typeface="Arial" panose="020B0604020202020204" pitchFamily="34" charset="0"/>
              </a:rPr>
              <a:t>DV </a:t>
            </a:r>
            <a:r>
              <a:rPr lang="vi-VN" sz="1200" dirty="0">
                <a:ln w="0"/>
                <a:solidFill>
                  <a:schemeClr val="tx2">
                    <a:lumMod val="50000"/>
                  </a:schemeClr>
                </a:solidFill>
                <a:cs typeface="Arial" panose="020B0604020202020204" pitchFamily="34" charset="0"/>
              </a:rPr>
              <a:t>ra nước ngoài, trên hóa đơn ghi rõ “</a:t>
            </a:r>
            <a:r>
              <a:rPr lang="vi-VN" sz="1200" i="1" dirty="0">
                <a:ln w="0"/>
                <a:solidFill>
                  <a:schemeClr val="tx2">
                    <a:lumMod val="50000"/>
                  </a:schemeClr>
                </a:solidFill>
                <a:cs typeface="Arial" panose="020B0604020202020204" pitchFamily="34" charset="0"/>
              </a:rPr>
              <a:t>Dành cho tổ chức, cá nhân trong khu phi thuế quan</a:t>
            </a:r>
            <a:r>
              <a:rPr lang="vi-VN" sz="1200" dirty="0">
                <a:ln w="0"/>
                <a:solidFill>
                  <a:schemeClr val="tx2">
                    <a:lumMod val="50000"/>
                  </a:schemeClr>
                </a:solidFill>
                <a:cs typeface="Arial" panose="020B0604020202020204" pitchFamily="34" charset="0"/>
              </a:rPr>
              <a:t>”.</a:t>
            </a:r>
            <a:endParaRPr lang="en-US" sz="1200" dirty="0">
              <a:ln w="0"/>
              <a:solidFill>
                <a:schemeClr val="tx2">
                  <a:lumMod val="50000"/>
                </a:schemeClr>
              </a:solidFill>
              <a:latin typeface="Arial" panose="020B0604020202020204" pitchFamily="34" charset="0"/>
              <a:cs typeface="Arial" panose="020B0604020202020204" pitchFamily="34" charset="0"/>
            </a:endParaRPr>
          </a:p>
        </p:txBody>
      </p:sp>
      <p:sp>
        <p:nvSpPr>
          <p:cNvPr id="37" name="Rounded Rectangle 36"/>
          <p:cNvSpPr/>
          <p:nvPr/>
        </p:nvSpPr>
        <p:spPr>
          <a:xfrm>
            <a:off x="5230257" y="4174956"/>
            <a:ext cx="1430301" cy="2261015"/>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200" eaLnBrk="1" fontAlgn="auto" hangingPunct="1">
              <a:spcBef>
                <a:spcPts val="1000"/>
              </a:spcBef>
              <a:spcAft>
                <a:spcPts val="0"/>
              </a:spcAft>
              <a:buClr>
                <a:schemeClr val="accent1"/>
              </a:buClr>
              <a:buSzPct val="80000"/>
              <a:defRPr/>
            </a:pPr>
            <a:r>
              <a:rPr lang="en-US" sz="1200" smtClean="0">
                <a:ln w="0"/>
                <a:solidFill>
                  <a:schemeClr val="tx2">
                    <a:lumMod val="50000"/>
                  </a:schemeClr>
                </a:solidFill>
                <a:latin typeface="Arial" panose="020B0604020202020204" pitchFamily="34" charset="0"/>
                <a:cs typeface="Arial" panose="020B0604020202020204" pitchFamily="34" charset="0"/>
              </a:rPr>
              <a:t> </a:t>
            </a:r>
            <a:r>
              <a:rPr lang="en-US" sz="1200" dirty="0" err="1">
                <a:ln w="0"/>
                <a:solidFill>
                  <a:schemeClr val="tx2">
                    <a:lumMod val="50000"/>
                  </a:schemeClr>
                </a:solidFill>
                <a:latin typeface="Arial" panose="020B0604020202020204" pitchFamily="34" charset="0"/>
                <a:cs typeface="Arial" panose="020B0604020202020204" pitchFamily="34" charset="0"/>
              </a:rPr>
              <a:t>Sử</a:t>
            </a:r>
            <a:r>
              <a:rPr lang="en-US" sz="1200" dirty="0">
                <a:ln w="0"/>
                <a:solidFill>
                  <a:schemeClr val="tx2">
                    <a:lumMod val="50000"/>
                  </a:schemeClr>
                </a:solidFill>
                <a:latin typeface="Arial" panose="020B0604020202020204" pitchFamily="34" charset="0"/>
                <a:cs typeface="Arial" panose="020B0604020202020204" pitchFamily="34" charset="0"/>
              </a:rPr>
              <a:t> </a:t>
            </a:r>
            <a:r>
              <a:rPr lang="en-US" sz="1200" dirty="0" err="1">
                <a:ln w="0"/>
                <a:solidFill>
                  <a:schemeClr val="tx2">
                    <a:lumMod val="50000"/>
                  </a:schemeClr>
                </a:solidFill>
                <a:latin typeface="Arial" panose="020B0604020202020204" pitchFamily="34" charset="0"/>
                <a:cs typeface="Arial" panose="020B0604020202020204" pitchFamily="34" charset="0"/>
              </a:rPr>
              <a:t>dụng</a:t>
            </a:r>
            <a:r>
              <a:rPr lang="en-US" sz="1200" dirty="0">
                <a:ln w="0"/>
                <a:solidFill>
                  <a:schemeClr val="tx2">
                    <a:lumMod val="50000"/>
                  </a:schemeClr>
                </a:solidFill>
                <a:latin typeface="Arial" panose="020B0604020202020204" pitchFamily="34" charset="0"/>
                <a:cs typeface="Arial" panose="020B0604020202020204" pitchFamily="34" charset="0"/>
              </a:rPr>
              <a:t> </a:t>
            </a:r>
            <a:r>
              <a:rPr lang="en-US" sz="1200" dirty="0" err="1">
                <a:ln w="0"/>
                <a:solidFill>
                  <a:schemeClr val="tx2">
                    <a:lumMod val="50000"/>
                  </a:schemeClr>
                </a:solidFill>
                <a:latin typeface="Arial" panose="020B0604020202020204" pitchFamily="34" charset="0"/>
                <a:cs typeface="Arial" panose="020B0604020202020204" pitchFamily="34" charset="0"/>
              </a:rPr>
              <a:t>khi</a:t>
            </a:r>
            <a:r>
              <a:rPr lang="en-US" sz="1200" dirty="0">
                <a:ln w="0"/>
                <a:solidFill>
                  <a:schemeClr val="tx2">
                    <a:lumMod val="50000"/>
                  </a:schemeClr>
                </a:solidFill>
                <a:latin typeface="Arial" panose="020B0604020202020204" pitchFamily="34" charset="0"/>
                <a:cs typeface="Arial" panose="020B0604020202020204" pitchFamily="34" charset="0"/>
              </a:rPr>
              <a:t> </a:t>
            </a:r>
            <a:r>
              <a:rPr lang="en-US" sz="1200" dirty="0" err="1">
                <a:ln w="0"/>
                <a:solidFill>
                  <a:schemeClr val="tx2">
                    <a:lumMod val="50000"/>
                  </a:schemeClr>
                </a:solidFill>
                <a:latin typeface="Arial" panose="020B0604020202020204" pitchFamily="34" charset="0"/>
                <a:cs typeface="Arial" panose="020B0604020202020204" pitchFamily="34" charset="0"/>
              </a:rPr>
              <a:t>bán</a:t>
            </a:r>
            <a:r>
              <a:rPr lang="en-US" sz="1200" dirty="0">
                <a:ln w="0"/>
                <a:solidFill>
                  <a:schemeClr val="tx2">
                    <a:lumMod val="50000"/>
                  </a:schemeClr>
                </a:solidFill>
                <a:latin typeface="Arial" panose="020B0604020202020204" pitchFamily="34" charset="0"/>
                <a:cs typeface="Arial" panose="020B0604020202020204" pitchFamily="34" charset="0"/>
              </a:rPr>
              <a:t> TS </a:t>
            </a:r>
            <a:r>
              <a:rPr lang="vi-VN" sz="1200" dirty="0">
                <a:ln w="0"/>
                <a:solidFill>
                  <a:schemeClr val="tx2">
                    <a:lumMod val="50000"/>
                  </a:schemeClr>
                </a:solidFill>
                <a:cs typeface="Arial" panose="020B0604020202020204" pitchFamily="34" charset="0"/>
              </a:rPr>
              <a:t>Tài </a:t>
            </a:r>
            <a:r>
              <a:rPr lang="vi-VN" sz="1200">
                <a:ln w="0"/>
                <a:solidFill>
                  <a:schemeClr val="tx2">
                    <a:lumMod val="50000"/>
                  </a:schemeClr>
                </a:solidFill>
                <a:cs typeface="Arial" panose="020B0604020202020204" pitchFamily="34" charset="0"/>
              </a:rPr>
              <a:t>sản </a:t>
            </a:r>
            <a:r>
              <a:rPr lang="vi-VN" sz="1200" smtClean="0">
                <a:ln w="0"/>
                <a:solidFill>
                  <a:schemeClr val="tx2">
                    <a:lumMod val="50000"/>
                  </a:schemeClr>
                </a:solidFill>
                <a:cs typeface="Arial" panose="020B0604020202020204" pitchFamily="34" charset="0"/>
              </a:rPr>
              <a:t>công</a:t>
            </a:r>
            <a:r>
              <a:rPr lang="en-US" sz="1200" smtClean="0">
                <a:ln w="0"/>
                <a:solidFill>
                  <a:schemeClr val="tx2">
                    <a:lumMod val="50000"/>
                  </a:schemeClr>
                </a:solidFill>
                <a:cs typeface="Arial" panose="020B0604020202020204" pitchFamily="34" charset="0"/>
              </a:rPr>
              <a:t>; </a:t>
            </a:r>
            <a:r>
              <a:rPr lang="en-US" sz="1200" dirty="0">
                <a:ln w="0"/>
                <a:solidFill>
                  <a:schemeClr val="tx2">
                    <a:lumMod val="50000"/>
                  </a:schemeClr>
                </a:solidFill>
                <a:cs typeface="Arial" panose="020B0604020202020204" pitchFamily="34" charset="0"/>
              </a:rPr>
              <a:t>TS </a:t>
            </a:r>
            <a:r>
              <a:rPr lang="vi-VN" sz="1200" dirty="0">
                <a:ln w="0"/>
                <a:solidFill>
                  <a:schemeClr val="tx2">
                    <a:lumMod val="50000"/>
                  </a:schemeClr>
                </a:solidFill>
                <a:cs typeface="Arial" panose="020B0604020202020204" pitchFamily="34" charset="0"/>
              </a:rPr>
              <a:t>của dự án sử dụng vốn </a:t>
            </a:r>
            <a:r>
              <a:rPr lang="en-US" sz="1200" dirty="0">
                <a:ln w="0"/>
                <a:solidFill>
                  <a:schemeClr val="tx2">
                    <a:lumMod val="50000"/>
                  </a:schemeClr>
                </a:solidFill>
                <a:cs typeface="Arial" panose="020B0604020202020204" pitchFamily="34" charset="0"/>
              </a:rPr>
              <a:t>NN; TS </a:t>
            </a:r>
            <a:r>
              <a:rPr lang="vi-VN" sz="1200" dirty="0">
                <a:ln w="0"/>
                <a:solidFill>
                  <a:schemeClr val="tx2">
                    <a:lumMod val="50000"/>
                  </a:schemeClr>
                </a:solidFill>
                <a:cs typeface="Arial" panose="020B0604020202020204" pitchFamily="34" charset="0"/>
              </a:rPr>
              <a:t>được xác lập quyền sở hữu toàn dân</a:t>
            </a:r>
            <a:r>
              <a:rPr lang="en-US" sz="1200" dirty="0">
                <a:ln w="0"/>
                <a:solidFill>
                  <a:schemeClr val="tx2">
                    <a:lumMod val="50000"/>
                  </a:schemeClr>
                </a:solidFill>
                <a:cs typeface="Arial" panose="020B0604020202020204" pitchFamily="34" charset="0"/>
              </a:rPr>
              <a:t>; TS </a:t>
            </a:r>
            <a:r>
              <a:rPr lang="vi-VN" sz="1200" dirty="0">
                <a:ln w="0"/>
                <a:solidFill>
                  <a:schemeClr val="tx2">
                    <a:lumMod val="50000"/>
                  </a:schemeClr>
                </a:solidFill>
                <a:cs typeface="Arial" panose="020B0604020202020204" pitchFamily="34" charset="0"/>
              </a:rPr>
              <a:t>công </a:t>
            </a:r>
            <a:r>
              <a:rPr lang="vi-VN" sz="1200">
                <a:ln w="0"/>
                <a:solidFill>
                  <a:schemeClr val="tx2">
                    <a:lumMod val="50000"/>
                  </a:schemeClr>
                </a:solidFill>
                <a:cs typeface="Arial" panose="020B0604020202020204" pitchFamily="34" charset="0"/>
              </a:rPr>
              <a:t>bị </a:t>
            </a:r>
            <a:r>
              <a:rPr lang="vi-VN" sz="1200" smtClean="0">
                <a:ln w="0"/>
                <a:solidFill>
                  <a:schemeClr val="tx2">
                    <a:lumMod val="50000"/>
                  </a:schemeClr>
                </a:solidFill>
                <a:cs typeface="Arial" panose="020B0604020202020204" pitchFamily="34" charset="0"/>
              </a:rPr>
              <a:t>thu</a:t>
            </a:r>
            <a:r>
              <a:rPr lang="en-US" sz="1200" smtClean="0">
                <a:ln w="0"/>
                <a:solidFill>
                  <a:schemeClr val="tx2">
                    <a:lumMod val="50000"/>
                  </a:schemeClr>
                </a:solidFill>
                <a:cs typeface="Arial" panose="020B0604020202020204" pitchFamily="34" charset="0"/>
              </a:rPr>
              <a:t>; </a:t>
            </a:r>
            <a:r>
              <a:rPr lang="vi-VN" sz="1200" dirty="0">
                <a:ln w="0"/>
                <a:solidFill>
                  <a:schemeClr val="tx2">
                    <a:lumMod val="50000"/>
                  </a:schemeClr>
                </a:solidFill>
                <a:cs typeface="Arial" panose="020B0604020202020204" pitchFamily="34" charset="0"/>
              </a:rPr>
              <a:t>Vật tư, vật liệu thu hồi được từ việc xử </a:t>
            </a:r>
            <a:r>
              <a:rPr lang="vi-VN" sz="1200">
                <a:ln w="0"/>
                <a:solidFill>
                  <a:schemeClr val="tx2">
                    <a:lumMod val="50000"/>
                  </a:schemeClr>
                </a:solidFill>
                <a:cs typeface="Arial" panose="020B0604020202020204" pitchFamily="34" charset="0"/>
              </a:rPr>
              <a:t>lý </a:t>
            </a:r>
            <a:r>
              <a:rPr lang="en-US" sz="1200" smtClean="0">
                <a:ln w="0"/>
                <a:solidFill>
                  <a:schemeClr val="tx2">
                    <a:lumMod val="50000"/>
                  </a:schemeClr>
                </a:solidFill>
                <a:cs typeface="Arial" panose="020B0604020202020204" pitchFamily="34" charset="0"/>
              </a:rPr>
              <a:t>TS </a:t>
            </a:r>
            <a:r>
              <a:rPr lang="vi-VN" sz="1200" smtClean="0">
                <a:ln w="0"/>
                <a:solidFill>
                  <a:schemeClr val="tx2">
                    <a:lumMod val="50000"/>
                  </a:schemeClr>
                </a:solidFill>
                <a:cs typeface="Arial" panose="020B0604020202020204" pitchFamily="34" charset="0"/>
              </a:rPr>
              <a:t>công</a:t>
            </a:r>
            <a:endParaRPr lang="en-US" sz="1200" dirty="0">
              <a:ln w="0"/>
              <a:solidFill>
                <a:schemeClr val="tx2">
                  <a:lumMod val="50000"/>
                </a:schemeClr>
              </a:solidFill>
              <a:latin typeface="Arial" panose="020B0604020202020204" pitchFamily="34" charset="0"/>
              <a:cs typeface="Arial" panose="020B0604020202020204" pitchFamily="34" charset="0"/>
            </a:endParaRPr>
          </a:p>
        </p:txBody>
      </p:sp>
      <p:sp>
        <p:nvSpPr>
          <p:cNvPr id="38" name="Rounded Rectangle 37"/>
          <p:cNvSpPr/>
          <p:nvPr/>
        </p:nvSpPr>
        <p:spPr>
          <a:xfrm>
            <a:off x="7044008" y="4160890"/>
            <a:ext cx="1128240" cy="2261014"/>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200" eaLnBrk="1" fontAlgn="auto" hangingPunct="1">
              <a:spcBef>
                <a:spcPts val="1000"/>
              </a:spcBef>
              <a:spcAft>
                <a:spcPts val="0"/>
              </a:spcAft>
              <a:buClr>
                <a:schemeClr val="accent1"/>
              </a:buClr>
              <a:buSzPct val="80000"/>
              <a:defRPr/>
            </a:pPr>
            <a:r>
              <a:rPr lang="en-US" sz="1200">
                <a:ln w="0"/>
                <a:solidFill>
                  <a:schemeClr val="tx2">
                    <a:lumMod val="50000"/>
                  </a:schemeClr>
                </a:solidFill>
                <a:cs typeface="Arial" panose="020B0604020202020204" pitchFamily="34" charset="0"/>
              </a:rPr>
              <a:t>S</a:t>
            </a:r>
            <a:r>
              <a:rPr lang="vi-VN" sz="1200" smtClean="0">
                <a:ln w="0"/>
                <a:solidFill>
                  <a:schemeClr val="tx2">
                    <a:lumMod val="50000"/>
                  </a:schemeClr>
                </a:solidFill>
                <a:cs typeface="Arial" panose="020B0604020202020204" pitchFamily="34" charset="0"/>
              </a:rPr>
              <a:t>ử </a:t>
            </a:r>
            <a:r>
              <a:rPr lang="vi-VN" sz="1200" dirty="0">
                <a:ln w="0"/>
                <a:solidFill>
                  <a:schemeClr val="tx2">
                    <a:lumMod val="50000"/>
                  </a:schemeClr>
                </a:solidFill>
                <a:cs typeface="Arial" panose="020B0604020202020204" pitchFamily="34" charset="0"/>
              </a:rPr>
              <a:t>dụng khi các cơ quan, đơn vị thuộc hệ thống cơ quan dự trữ nhà nước bán hàng dự trữ quốc gia theo quy định của pháp luật. </a:t>
            </a:r>
            <a:endParaRPr lang="en-US" sz="1200" dirty="0">
              <a:ln w="0"/>
              <a:solidFill>
                <a:schemeClr val="tx2">
                  <a:lumMod val="50000"/>
                </a:schemeClr>
              </a:solidFill>
              <a:latin typeface="Arial" panose="020B0604020202020204" pitchFamily="34" charset="0"/>
              <a:cs typeface="Arial" panose="020B0604020202020204" pitchFamily="34" charset="0"/>
            </a:endParaRPr>
          </a:p>
        </p:txBody>
      </p:sp>
      <p:sp>
        <p:nvSpPr>
          <p:cNvPr id="39" name="Rounded Rectangle 38"/>
          <p:cNvSpPr/>
          <p:nvPr/>
        </p:nvSpPr>
        <p:spPr>
          <a:xfrm>
            <a:off x="8377203" y="4152951"/>
            <a:ext cx="1700248" cy="2247851"/>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200" eaLnBrk="1" fontAlgn="auto" hangingPunct="1">
              <a:spcBef>
                <a:spcPts val="1000"/>
              </a:spcBef>
              <a:spcAft>
                <a:spcPts val="0"/>
              </a:spcAft>
              <a:buClr>
                <a:schemeClr val="accent1"/>
              </a:buClr>
              <a:buSzPct val="80000"/>
              <a:defRPr/>
            </a:pPr>
            <a:r>
              <a:rPr lang="vi-VN" sz="1200" smtClean="0">
                <a:ln w="0"/>
                <a:solidFill>
                  <a:schemeClr val="tx2">
                    <a:lumMod val="50000"/>
                  </a:schemeClr>
                </a:solidFill>
                <a:cs typeface="Arial" panose="020B0604020202020204" pitchFamily="34" charset="0"/>
              </a:rPr>
              <a:t>a</a:t>
            </a:r>
            <a:r>
              <a:rPr lang="vi-VN" sz="1200" dirty="0">
                <a:ln w="0"/>
                <a:solidFill>
                  <a:schemeClr val="tx2">
                    <a:lumMod val="50000"/>
                  </a:schemeClr>
                </a:solidFill>
                <a:cs typeface="Arial" panose="020B0604020202020204" pitchFamily="34" charset="0"/>
              </a:rPr>
              <a:t>) Tem, vé, thẻ </a:t>
            </a:r>
          </a:p>
          <a:p>
            <a:pPr defTabSz="457200" eaLnBrk="1" fontAlgn="auto" hangingPunct="1">
              <a:spcBef>
                <a:spcPts val="1000"/>
              </a:spcBef>
              <a:spcAft>
                <a:spcPts val="0"/>
              </a:spcAft>
              <a:buClr>
                <a:schemeClr val="accent1"/>
              </a:buClr>
              <a:buSzPct val="80000"/>
              <a:defRPr/>
            </a:pPr>
            <a:r>
              <a:rPr lang="vi-VN" sz="1200" dirty="0">
                <a:ln w="0"/>
                <a:solidFill>
                  <a:schemeClr val="tx2">
                    <a:lumMod val="50000"/>
                  </a:schemeClr>
                </a:solidFill>
                <a:cs typeface="Arial" panose="020B0604020202020204" pitchFamily="34" charset="0"/>
              </a:rPr>
              <a:t>b) Phiếu thu tiền cước vận chuyển hàng không; chứng từ thu cước phí vận tải quốc tế; chứng từ thu phí dịch vụ ngân hàng trừ trường hợp quy định tại điểm a</a:t>
            </a:r>
            <a:r>
              <a:rPr lang="en-US" sz="1200" dirty="0">
                <a:ln w="0"/>
                <a:solidFill>
                  <a:schemeClr val="tx2">
                    <a:lumMod val="50000"/>
                  </a:schemeClr>
                </a:solidFill>
                <a:cs typeface="Arial" panose="020B0604020202020204" pitchFamily="34" charset="0"/>
              </a:rPr>
              <a:t>.</a:t>
            </a:r>
          </a:p>
        </p:txBody>
      </p:sp>
      <p:sp>
        <p:nvSpPr>
          <p:cNvPr id="40" name="Rounded Rectangle 39"/>
          <p:cNvSpPr/>
          <p:nvPr/>
        </p:nvSpPr>
        <p:spPr>
          <a:xfrm>
            <a:off x="10301288" y="4110089"/>
            <a:ext cx="1335087" cy="2311814"/>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200" eaLnBrk="1" fontAlgn="auto" hangingPunct="1">
              <a:spcBef>
                <a:spcPts val="1000"/>
              </a:spcBef>
              <a:spcAft>
                <a:spcPts val="0"/>
              </a:spcAft>
              <a:buClr>
                <a:schemeClr val="accent1"/>
              </a:buClr>
              <a:buSzPct val="80000"/>
              <a:defRPr/>
            </a:pPr>
            <a:r>
              <a:rPr lang="en-US" sz="1400" dirty="0" err="1">
                <a:ln w="0"/>
                <a:solidFill>
                  <a:schemeClr val="tx2">
                    <a:lumMod val="50000"/>
                  </a:schemeClr>
                </a:solidFill>
                <a:latin typeface="Arial" panose="020B0604020202020204" pitchFamily="34" charset="0"/>
                <a:cs typeface="Arial" panose="020B0604020202020204" pitchFamily="34" charset="0"/>
              </a:rPr>
              <a:t>Phiếu</a:t>
            </a:r>
            <a:r>
              <a:rPr lang="en-US" sz="1400" dirty="0">
                <a:ln w="0"/>
                <a:solidFill>
                  <a:schemeClr val="tx2">
                    <a:lumMod val="50000"/>
                  </a:schemeClr>
                </a:solidFill>
                <a:latin typeface="Arial" panose="020B0604020202020204" pitchFamily="34" charset="0"/>
                <a:cs typeface="Arial" panose="020B0604020202020204" pitchFamily="34" charset="0"/>
              </a:rPr>
              <a:t> </a:t>
            </a:r>
            <a:r>
              <a:rPr lang="vi-VN" sz="1400" dirty="0">
                <a:ln w="0"/>
                <a:solidFill>
                  <a:schemeClr val="tx2">
                    <a:lumMod val="50000"/>
                  </a:schemeClr>
                </a:solidFill>
                <a:cs typeface="Arial" panose="020B0604020202020204" pitchFamily="34" charset="0"/>
              </a:rPr>
              <a:t>xuất kho kiêm vận chuyển nội bộ, phiếu xuất kho hàng gửi bán đại lý</a:t>
            </a:r>
          </a:p>
        </p:txBody>
      </p:sp>
      <p:cxnSp>
        <p:nvCxnSpPr>
          <p:cNvPr id="41" name="Straight Arrow Connector 40"/>
          <p:cNvCxnSpPr>
            <a:stCxn id="40" idx="0"/>
          </p:cNvCxnSpPr>
          <p:nvPr/>
        </p:nvCxnSpPr>
        <p:spPr>
          <a:xfrm flipH="1" flipV="1">
            <a:off x="10968038" y="3752901"/>
            <a:ext cx="794" cy="3571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9018588" y="3703689"/>
            <a:ext cx="0" cy="4492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7609158" y="3703689"/>
            <a:ext cx="0" cy="4492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5980924" y="3730457"/>
            <a:ext cx="0" cy="4508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flipV="1">
            <a:off x="1481137" y="3703691"/>
            <a:ext cx="9126" cy="47761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13" idx="1"/>
          </p:cNvCxnSpPr>
          <p:nvPr/>
        </p:nvCxnSpPr>
        <p:spPr>
          <a:xfrm flipV="1">
            <a:off x="1719262" y="3077885"/>
            <a:ext cx="1764713" cy="109707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9" idx="0"/>
          </p:cNvCxnSpPr>
          <p:nvPr/>
        </p:nvCxnSpPr>
        <p:spPr>
          <a:xfrm flipH="1" flipV="1">
            <a:off x="4013344" y="3689513"/>
            <a:ext cx="63" cy="49179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1524001" y="2108739"/>
            <a:ext cx="943054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endCxn id="14" idx="0"/>
          </p:cNvCxnSpPr>
          <p:nvPr/>
        </p:nvCxnSpPr>
        <p:spPr>
          <a:xfrm>
            <a:off x="1521388" y="2115090"/>
            <a:ext cx="2613" cy="3312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3966304" y="2100693"/>
            <a:ext cx="2613" cy="3312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7582200" y="2100693"/>
            <a:ext cx="2613" cy="3312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9190781" y="2144007"/>
            <a:ext cx="2613" cy="3312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a:off x="10953465" y="2108739"/>
            <a:ext cx="14573" cy="36656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5966856" y="1822501"/>
            <a:ext cx="0" cy="5619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4158474" y="1203713"/>
            <a:ext cx="3644900" cy="757237"/>
          </a:xfrm>
          <a:prstGeom prst="ellipse">
            <a:avLst/>
          </a:prstGeom>
          <a:solidFill>
            <a:srgbClr val="FFC00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ln w="0"/>
                <a:solidFill>
                  <a:schemeClr val="tx1"/>
                </a:solidFill>
                <a:latin typeface="Times New Roman" panose="02020603050405020304" pitchFamily="18" charset="0"/>
                <a:cs typeface="Times New Roman" panose="02020603050405020304" pitchFamily="18" charset="0"/>
              </a:rPr>
              <a:t>HÓA ĐƠN ĐIỆN TỬ</a:t>
            </a:r>
          </a:p>
        </p:txBody>
      </p:sp>
      <p:sp>
        <p:nvSpPr>
          <p:cNvPr id="45" name="TextBox 44"/>
          <p:cNvSpPr txBox="1"/>
          <p:nvPr/>
        </p:nvSpPr>
        <p:spPr>
          <a:xfrm>
            <a:off x="2790822" y="881567"/>
            <a:ext cx="6789276" cy="369332"/>
          </a:xfrm>
          <a:prstGeom prst="rect">
            <a:avLst/>
          </a:prstGeom>
          <a:noFill/>
        </p:spPr>
        <p:txBody>
          <a:bodyPr wrap="square" rtlCol="0">
            <a:spAutoFit/>
          </a:bodyPr>
          <a:lstStyle/>
          <a:p>
            <a:pPr algn="ctr"/>
            <a:r>
              <a:rPr lang="en-US" b="1" smtClean="0">
                <a:solidFill>
                  <a:schemeClr val="accent1">
                    <a:lumMod val="50000"/>
                  </a:schemeClr>
                </a:solidFill>
                <a:latin typeface="Arial (Body)"/>
              </a:rPr>
              <a:t>(Điều 8 Nghị định 123/2020/NĐ-CP)</a:t>
            </a:r>
            <a:endParaRPr lang="vi-VN" b="1">
              <a:solidFill>
                <a:schemeClr val="accent1">
                  <a:lumMod val="50000"/>
                </a:schemeClr>
              </a:solidFill>
              <a:latin typeface="Arial (Body)"/>
            </a:endParaRPr>
          </a:p>
        </p:txBody>
      </p:sp>
      <p:sp>
        <p:nvSpPr>
          <p:cNvPr id="47" name="Oval 46"/>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6735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261257" y="6641807"/>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9151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4. </a:t>
            </a:r>
            <a:r>
              <a:rPr lang="vi-VN" sz="2200" b="1" smtClean="0">
                <a:solidFill>
                  <a:schemeClr val="accent1">
                    <a:lumMod val="50000"/>
                  </a:schemeClr>
                </a:solidFill>
                <a:latin typeface="Arial (Body)"/>
              </a:rPr>
              <a:t>ĐĂNG KÝ SỬ DỤNG/THAY ĐỔI ND ĐĂNG KÝ HÓA ĐƠN ĐIỆN TỬ </a:t>
            </a:r>
            <a:endParaRPr lang="vi-VN" sz="2200" b="1">
              <a:solidFill>
                <a:schemeClr val="accent1">
                  <a:lumMod val="50000"/>
                </a:schemeClr>
              </a:solidFill>
              <a:latin typeface="Arial (Body)"/>
            </a:endParaRPr>
          </a:p>
        </p:txBody>
      </p:sp>
      <p:sp>
        <p:nvSpPr>
          <p:cNvPr id="45" name="Oval 44"/>
          <p:cNvSpPr/>
          <p:nvPr/>
        </p:nvSpPr>
        <p:spPr>
          <a:xfrm>
            <a:off x="824979" y="876081"/>
            <a:ext cx="3945663" cy="1404937"/>
          </a:xfrm>
          <a:prstGeom prst="ellipse">
            <a:avLst/>
          </a:prstGeom>
          <a:solidFill>
            <a:schemeClr val="accent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dirty="0">
                <a:ln w="0"/>
                <a:solidFill>
                  <a:schemeClr val="tx1"/>
                </a:solidFill>
                <a:effectLst>
                  <a:outerShdw blurRad="38100" dist="19050" dir="2700000" algn="tl" rotWithShape="0">
                    <a:schemeClr val="dk1">
                      <a:alpha val="40000"/>
                    </a:schemeClr>
                  </a:outerShdw>
                </a:effectLst>
                <a:latin typeface="Arial (Body)"/>
              </a:rPr>
              <a:t>NNT </a:t>
            </a:r>
            <a:r>
              <a:rPr lang="en-US" sz="1400" dirty="0" err="1">
                <a:ln w="0"/>
                <a:solidFill>
                  <a:schemeClr val="tx1"/>
                </a:solidFill>
                <a:effectLst>
                  <a:outerShdw blurRad="38100" dist="19050" dir="2700000" algn="tl" rotWithShape="0">
                    <a:schemeClr val="dk1">
                      <a:alpha val="40000"/>
                    </a:schemeClr>
                  </a:outerShdw>
                </a:effectLst>
                <a:latin typeface="Arial (Body)"/>
              </a:rPr>
              <a:t>thuộc</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en-US" sz="1400" dirty="0" err="1">
                <a:ln w="0"/>
                <a:solidFill>
                  <a:schemeClr val="tx1"/>
                </a:solidFill>
                <a:effectLst>
                  <a:outerShdw blurRad="38100" dist="19050" dir="2700000" algn="tl" rotWithShape="0">
                    <a:schemeClr val="dk1">
                      <a:alpha val="40000"/>
                    </a:schemeClr>
                  </a:outerShdw>
                </a:effectLst>
                <a:latin typeface="Arial (Body)"/>
              </a:rPr>
              <a:t>đối</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en-US" sz="1400" dirty="0" err="1">
                <a:ln w="0"/>
                <a:solidFill>
                  <a:schemeClr val="tx1"/>
                </a:solidFill>
                <a:effectLst>
                  <a:outerShdw blurRad="38100" dist="19050" dir="2700000" algn="tl" rotWithShape="0">
                    <a:schemeClr val="dk1">
                      <a:alpha val="40000"/>
                    </a:schemeClr>
                  </a:outerShdw>
                </a:effectLst>
                <a:latin typeface="Arial (Body)"/>
              </a:rPr>
              <a:t>tượng</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en-US" sz="1400" dirty="0" err="1">
                <a:ln w="0"/>
                <a:solidFill>
                  <a:schemeClr val="tx1"/>
                </a:solidFill>
                <a:effectLst>
                  <a:outerShdw blurRad="38100" dist="19050" dir="2700000" algn="tl" rotWithShape="0">
                    <a:schemeClr val="dk1">
                      <a:alpha val="40000"/>
                    </a:schemeClr>
                  </a:outerShdw>
                </a:effectLst>
                <a:latin typeface="Arial (Body)"/>
              </a:rPr>
              <a:t>sử</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en-US" sz="1400" dirty="0" err="1">
                <a:ln w="0"/>
                <a:solidFill>
                  <a:schemeClr val="tx1"/>
                </a:solidFill>
                <a:effectLst>
                  <a:outerShdw blurRad="38100" dist="19050" dir="2700000" algn="tl" rotWithShape="0">
                    <a:schemeClr val="dk1">
                      <a:alpha val="40000"/>
                    </a:schemeClr>
                  </a:outerShdw>
                </a:effectLst>
                <a:latin typeface="Arial (Body)"/>
              </a:rPr>
              <a:t>dụng</a:t>
            </a:r>
            <a:r>
              <a:rPr lang="en-US" sz="1400" dirty="0">
                <a:ln w="0"/>
                <a:solidFill>
                  <a:schemeClr val="tx1"/>
                </a:solidFill>
                <a:effectLst>
                  <a:outerShdw blurRad="38100" dist="19050" dir="2700000" algn="tl" rotWithShape="0">
                    <a:schemeClr val="dk1">
                      <a:alpha val="40000"/>
                    </a:schemeClr>
                  </a:outerShdw>
                </a:effectLst>
                <a:latin typeface="Arial (Body)"/>
              </a:rPr>
              <a:t> HĐ ĐT </a:t>
            </a:r>
            <a:r>
              <a:rPr lang="en-US" sz="1400" dirty="0" err="1">
                <a:ln w="0"/>
                <a:solidFill>
                  <a:schemeClr val="tx1"/>
                </a:solidFill>
                <a:effectLst>
                  <a:outerShdw blurRad="38100" dist="19050" dir="2700000" algn="tl" rotWithShape="0">
                    <a:schemeClr val="dk1">
                      <a:alpha val="40000"/>
                    </a:schemeClr>
                  </a:outerShdw>
                </a:effectLst>
                <a:latin typeface="Arial (Body)"/>
              </a:rPr>
              <a:t>và</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vi-VN" sz="1400" dirty="0">
                <a:ln w="0"/>
                <a:solidFill>
                  <a:schemeClr val="tx1"/>
                </a:solidFill>
                <a:effectLst>
                  <a:outerShdw blurRad="38100" dist="19050" dir="2700000" algn="tl" rotWithShape="0">
                    <a:schemeClr val="dk1">
                      <a:alpha val="40000"/>
                    </a:schemeClr>
                  </a:outerShdw>
                </a:effectLst>
                <a:latin typeface="Arial (Body)"/>
              </a:rPr>
              <a:t>không thuộc đối tượng ngừng sử dụng </a:t>
            </a:r>
            <a:r>
              <a:rPr lang="en-US" sz="1400" dirty="0">
                <a:ln w="0"/>
                <a:solidFill>
                  <a:schemeClr val="tx1"/>
                </a:solidFill>
                <a:effectLst>
                  <a:outerShdw blurRad="38100" dist="19050" dir="2700000" algn="tl" rotWithShape="0">
                    <a:schemeClr val="dk1">
                      <a:alpha val="40000"/>
                    </a:schemeClr>
                  </a:outerShdw>
                </a:effectLst>
                <a:latin typeface="Arial (Body)"/>
              </a:rPr>
              <a:t>HĐ </a:t>
            </a:r>
            <a:r>
              <a:rPr lang="vi-VN" sz="1400" dirty="0">
                <a:ln w="0"/>
                <a:solidFill>
                  <a:schemeClr val="tx1"/>
                </a:solidFill>
                <a:effectLst>
                  <a:outerShdw blurRad="38100" dist="19050" dir="2700000" algn="tl" rotWithShape="0">
                    <a:schemeClr val="dk1">
                      <a:alpha val="40000"/>
                    </a:schemeClr>
                  </a:outerShdw>
                </a:effectLst>
                <a:latin typeface="Arial (Body)"/>
              </a:rPr>
              <a:t>theo quy định tại khoản 1 Điều 16 Nghị định số 123/2020/NĐ-CP </a:t>
            </a:r>
            <a:r>
              <a:rPr lang="en-US" sz="1400" dirty="0">
                <a:ln w="0"/>
                <a:solidFill>
                  <a:schemeClr val="tx1"/>
                </a:solidFill>
                <a:effectLst>
                  <a:outerShdw blurRad="38100" dist="19050" dir="2700000" algn="tl" rotWithShape="0">
                    <a:schemeClr val="dk1">
                      <a:alpha val="40000"/>
                    </a:schemeClr>
                  </a:outerShdw>
                </a:effectLst>
                <a:latin typeface="Arial (Body)"/>
              </a:rPr>
              <a:t>                      </a:t>
            </a:r>
          </a:p>
        </p:txBody>
      </p:sp>
      <p:sp>
        <p:nvSpPr>
          <p:cNvPr id="47" name="Rounded Rectangle 46"/>
          <p:cNvSpPr/>
          <p:nvPr/>
        </p:nvSpPr>
        <p:spPr>
          <a:xfrm>
            <a:off x="6434342" y="1085631"/>
            <a:ext cx="1419225" cy="1004887"/>
          </a:xfrm>
          <a:prstGeom prst="roundRect">
            <a:avLst/>
          </a:prstGeom>
          <a:solidFill>
            <a:schemeClr val="accent5">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dirty="0"/>
              <a:t>T</a:t>
            </a:r>
            <a:r>
              <a:rPr lang="vi-VN" sz="1400" dirty="0"/>
              <a:t>ổ chức cung cấp dịch vụ hóa đơn điện tử.</a:t>
            </a:r>
            <a:endParaRPr lang="en-US" sz="1400" dirty="0"/>
          </a:p>
        </p:txBody>
      </p:sp>
      <p:sp>
        <p:nvSpPr>
          <p:cNvPr id="48" name="Oval 47"/>
          <p:cNvSpPr/>
          <p:nvPr/>
        </p:nvSpPr>
        <p:spPr>
          <a:xfrm>
            <a:off x="810911" y="2735043"/>
            <a:ext cx="3956556" cy="1384300"/>
          </a:xfrm>
          <a:prstGeom prst="ellipse">
            <a:avLst/>
          </a:prstGeom>
          <a:solidFill>
            <a:schemeClr val="accent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dirty="0">
                <a:ln w="0"/>
                <a:solidFill>
                  <a:schemeClr val="tx1"/>
                </a:solidFill>
                <a:effectLst>
                  <a:outerShdw blurRad="38100" dist="19050" dir="2700000" algn="tl" rotWithShape="0">
                    <a:schemeClr val="dk1">
                      <a:alpha val="40000"/>
                    </a:schemeClr>
                  </a:outerShdw>
                </a:effectLst>
              </a:rPr>
              <a:t> </a:t>
            </a:r>
            <a:r>
              <a:rPr lang="en-US" sz="1400" dirty="0">
                <a:ln w="0"/>
                <a:solidFill>
                  <a:schemeClr val="tx1"/>
                </a:solidFill>
                <a:effectLst>
                  <a:outerShdw blurRad="38100" dist="19050" dir="2700000" algn="tl" rotWithShape="0">
                    <a:schemeClr val="dk1">
                      <a:alpha val="40000"/>
                    </a:schemeClr>
                  </a:outerShdw>
                </a:effectLst>
                <a:latin typeface="Arial (Body)"/>
              </a:rPr>
              <a:t>DN </a:t>
            </a:r>
            <a:r>
              <a:rPr lang="en-US" sz="1400" dirty="0" err="1">
                <a:ln w="0"/>
                <a:solidFill>
                  <a:schemeClr val="tx1"/>
                </a:solidFill>
                <a:effectLst>
                  <a:outerShdw blurRad="38100" dist="19050" dir="2700000" algn="tl" rotWithShape="0">
                    <a:schemeClr val="dk1">
                      <a:alpha val="40000"/>
                    </a:schemeClr>
                  </a:outerShdw>
                </a:effectLst>
                <a:latin typeface="Arial (Body)"/>
              </a:rPr>
              <a:t>thuộc</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en-US" sz="1400" dirty="0" err="1">
                <a:ln w="0"/>
                <a:solidFill>
                  <a:schemeClr val="tx1"/>
                </a:solidFill>
                <a:effectLst>
                  <a:outerShdw blurRad="38100" dist="19050" dir="2700000" algn="tl" rotWithShape="0">
                    <a:schemeClr val="dk1">
                      <a:alpha val="40000"/>
                    </a:schemeClr>
                  </a:outerShdw>
                </a:effectLst>
                <a:latin typeface="Arial (Body)"/>
              </a:rPr>
              <a:t>đối</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en-US" sz="1400" dirty="0" err="1">
                <a:ln w="0"/>
                <a:solidFill>
                  <a:schemeClr val="tx1"/>
                </a:solidFill>
                <a:effectLst>
                  <a:outerShdw blurRad="38100" dist="19050" dir="2700000" algn="tl" rotWithShape="0">
                    <a:schemeClr val="dk1">
                      <a:alpha val="40000"/>
                    </a:schemeClr>
                  </a:outerShdw>
                </a:effectLst>
                <a:latin typeface="Arial (Body)"/>
              </a:rPr>
              <a:t>tượng</a:t>
            </a:r>
            <a:r>
              <a:rPr lang="en-US" sz="1400" dirty="0">
                <a:ln w="0"/>
                <a:solidFill>
                  <a:schemeClr val="tx1"/>
                </a:solidFill>
                <a:effectLst>
                  <a:outerShdw blurRad="38100" dist="19050" dir="2700000" algn="tl" rotWithShape="0">
                    <a:schemeClr val="dk1">
                      <a:alpha val="40000"/>
                    </a:schemeClr>
                  </a:outerShdw>
                </a:effectLst>
                <a:latin typeface="Arial (Body)"/>
              </a:rPr>
              <a:t> SD HĐ ĐT </a:t>
            </a:r>
            <a:r>
              <a:rPr lang="en-US" sz="1400" dirty="0" err="1">
                <a:ln w="0"/>
                <a:solidFill>
                  <a:schemeClr val="tx1"/>
                </a:solidFill>
                <a:effectLst>
                  <a:outerShdw blurRad="38100" dist="19050" dir="2700000" algn="tl" rotWithShape="0">
                    <a:schemeClr val="dk1">
                      <a:alpha val="40000"/>
                    </a:schemeClr>
                  </a:outerShdw>
                </a:effectLst>
                <a:latin typeface="Arial (Body)"/>
              </a:rPr>
              <a:t>và</a:t>
            </a:r>
            <a:r>
              <a:rPr lang="en-US" sz="1400" dirty="0">
                <a:ln w="0"/>
                <a:solidFill>
                  <a:schemeClr val="tx1"/>
                </a:solidFill>
                <a:effectLst>
                  <a:outerShdw blurRad="38100" dist="19050" dir="2700000" algn="tl" rotWithShape="0">
                    <a:schemeClr val="dk1">
                      <a:alpha val="40000"/>
                    </a:schemeClr>
                  </a:outerShdw>
                </a:effectLst>
                <a:latin typeface="Arial (Body)"/>
              </a:rPr>
              <a:t> </a:t>
            </a:r>
            <a:r>
              <a:rPr lang="vi-VN" sz="1400" dirty="0">
                <a:ln w="0"/>
                <a:solidFill>
                  <a:schemeClr val="tx1"/>
                </a:solidFill>
                <a:effectLst>
                  <a:outerShdw blurRad="38100" dist="19050" dir="2700000" algn="tl" rotWithShape="0">
                    <a:schemeClr val="dk1">
                      <a:alpha val="40000"/>
                    </a:schemeClr>
                  </a:outerShdw>
                </a:effectLst>
                <a:latin typeface="Arial (Body)"/>
              </a:rPr>
              <a:t>kết nối chuyển dữ liệu hóa đơn điện tử theo hình thức gửi trực tiếp </a:t>
            </a:r>
            <a:r>
              <a:rPr lang="en-US" sz="1400" dirty="0">
                <a:ln w="0"/>
                <a:solidFill>
                  <a:schemeClr val="tx1"/>
                </a:solidFill>
                <a:effectLst>
                  <a:outerShdw blurRad="38100" dist="19050" dir="2700000" algn="tl" rotWithShape="0">
                    <a:schemeClr val="dk1">
                      <a:alpha val="40000"/>
                    </a:schemeClr>
                  </a:outerShdw>
                </a:effectLst>
                <a:latin typeface="Arial (Body)"/>
              </a:rPr>
              <a:t>                      </a:t>
            </a:r>
          </a:p>
        </p:txBody>
      </p:sp>
      <p:sp>
        <p:nvSpPr>
          <p:cNvPr id="49" name="Oval 48"/>
          <p:cNvSpPr/>
          <p:nvPr/>
        </p:nvSpPr>
        <p:spPr>
          <a:xfrm>
            <a:off x="810911" y="4873406"/>
            <a:ext cx="3959731" cy="1541462"/>
          </a:xfrm>
          <a:prstGeom prst="ellipse">
            <a:avLst/>
          </a:prstGeom>
          <a:solidFill>
            <a:schemeClr val="accent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dirty="0">
                <a:ln w="0"/>
                <a:solidFill>
                  <a:schemeClr val="tx1"/>
                </a:solidFill>
                <a:effectLst>
                  <a:outerShdw blurRad="38100" dist="19050" dir="2700000" algn="tl" rotWithShape="0">
                    <a:schemeClr val="dk1">
                      <a:alpha val="40000"/>
                    </a:schemeClr>
                  </a:outerShdw>
                </a:effectLst>
                <a:latin typeface="Arial (Body)"/>
              </a:rPr>
              <a:t>NNT </a:t>
            </a:r>
            <a:r>
              <a:rPr lang="vi-VN" sz="1400" dirty="0">
                <a:ln w="0"/>
                <a:solidFill>
                  <a:schemeClr val="tx1"/>
                </a:solidFill>
                <a:effectLst>
                  <a:outerShdw blurRad="38100" dist="19050" dir="2700000" algn="tl" rotWithShape="0">
                    <a:schemeClr val="dk1">
                      <a:alpha val="40000"/>
                    </a:schemeClr>
                  </a:outerShdw>
                </a:effectLst>
                <a:latin typeface="Arial (Body)"/>
              </a:rPr>
              <a:t>sử dụng hóa đơn điện tử có mã của cơ quan thuế không phải trả tiền dịch vụ </a:t>
            </a:r>
            <a:endParaRPr lang="en-US" sz="1400" dirty="0">
              <a:ln w="0"/>
              <a:solidFill>
                <a:schemeClr val="tx1"/>
              </a:solidFill>
              <a:effectLst>
                <a:outerShdw blurRad="38100" dist="19050" dir="2700000" algn="tl" rotWithShape="0">
                  <a:schemeClr val="dk1">
                    <a:alpha val="40000"/>
                  </a:schemeClr>
                </a:outerShdw>
              </a:effectLst>
              <a:latin typeface="Arial (Body)"/>
            </a:endParaRPr>
          </a:p>
        </p:txBody>
      </p:sp>
      <p:sp>
        <p:nvSpPr>
          <p:cNvPr id="50" name="Rectangle 49"/>
          <p:cNvSpPr/>
          <p:nvPr/>
        </p:nvSpPr>
        <p:spPr>
          <a:xfrm>
            <a:off x="9120392" y="1026893"/>
            <a:ext cx="2022475" cy="5446713"/>
          </a:xfrm>
          <a:prstGeom prst="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dirty="0" err="1">
                <a:latin typeface="Arial" panose="020B0604020202020204" pitchFamily="34" charset="0"/>
                <a:cs typeface="Arial" panose="020B0604020202020204" pitchFamily="34" charset="0"/>
              </a:rPr>
              <a:t>Cổng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thông</a:t>
            </a:r>
            <a:r>
              <a:rPr lang="en-US" sz="2000" dirty="0">
                <a:latin typeface="Arial" panose="020B0604020202020204" pitchFamily="34" charset="0"/>
                <a:cs typeface="Arial" panose="020B0604020202020204" pitchFamily="34" charset="0"/>
              </a:rPr>
              <a:t> tin </a:t>
            </a:r>
            <a:r>
              <a:rPr lang="en-US" sz="2000" dirty="0" err="1">
                <a:latin typeface="Arial" panose="020B0604020202020204" pitchFamily="34" charset="0"/>
                <a:cs typeface="Arial" panose="020B0604020202020204" pitchFamily="34" charset="0"/>
              </a:rPr>
              <a:t>điện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thuế</a:t>
            </a:r>
            <a:endParaRPr lang="en-US" sz="2000" dirty="0">
              <a:latin typeface="Arial" panose="020B0604020202020204" pitchFamily="34" charset="0"/>
              <a:cs typeface="Arial" panose="020B0604020202020204" pitchFamily="34" charset="0"/>
            </a:endParaRPr>
          </a:p>
        </p:txBody>
      </p:sp>
      <p:cxnSp>
        <p:nvCxnSpPr>
          <p:cNvPr id="51" name="Straight Arrow Connector 50"/>
          <p:cNvCxnSpPr>
            <a:stCxn id="45" idx="6"/>
            <a:endCxn id="47" idx="1"/>
          </p:cNvCxnSpPr>
          <p:nvPr/>
        </p:nvCxnSpPr>
        <p:spPr>
          <a:xfrm>
            <a:off x="4770642" y="1578550"/>
            <a:ext cx="1663700" cy="95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819854" y="3319243"/>
            <a:ext cx="430053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9" idx="6"/>
          </p:cNvCxnSpPr>
          <p:nvPr/>
        </p:nvCxnSpPr>
        <p:spPr>
          <a:xfrm>
            <a:off x="4770642" y="5644137"/>
            <a:ext cx="1128712" cy="166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7853567" y="5660806"/>
            <a:ext cx="1266825" cy="0"/>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903992" y="4921031"/>
            <a:ext cx="995362" cy="692150"/>
          </a:xfrm>
          <a:prstGeom prst="rect">
            <a:avLst/>
          </a:prstGeom>
          <a:noFill/>
        </p:spPr>
        <p:txBody>
          <a:bodyPr>
            <a:spAutoFit/>
          </a:bodyPr>
          <a:lstStyle/>
          <a:p>
            <a:pPr algn="ctr" eaLnBrk="1" fontAlgn="auto" hangingPunct="1">
              <a:spcBef>
                <a:spcPts val="0"/>
              </a:spcBef>
              <a:spcAft>
                <a:spcPts val="0"/>
              </a:spcAft>
              <a:defRPr/>
            </a:pPr>
            <a:r>
              <a:rPr lang="en-US" sz="1300" b="1" dirty="0" err="1">
                <a:solidFill>
                  <a:schemeClr val="accent2">
                    <a:lumMod val="50000"/>
                  </a:schemeClr>
                </a:solidFill>
                <a:latin typeface="Arial" panose="020B0604020202020204" pitchFamily="34" charset="0"/>
                <a:cs typeface="Arial" panose="020B0604020202020204" pitchFamily="34" charset="0"/>
              </a:rPr>
              <a:t>Mẫu</a:t>
            </a:r>
            <a:r>
              <a:rPr lang="en-US" sz="1300" b="1" dirty="0">
                <a:solidFill>
                  <a:schemeClr val="accent2">
                    <a:lumMod val="50000"/>
                  </a:schemeClr>
                </a:solidFill>
                <a:latin typeface="Arial" panose="020B0604020202020204" pitchFamily="34" charset="0"/>
                <a:cs typeface="Arial" panose="020B0604020202020204" pitchFamily="34" charset="0"/>
              </a:rPr>
              <a:t> 01/</a:t>
            </a:r>
            <a:r>
              <a:rPr lang="vi-VN" sz="1300" b="1" dirty="0">
                <a:solidFill>
                  <a:schemeClr val="accent2">
                    <a:lumMod val="50000"/>
                  </a:schemeClr>
                </a:solidFill>
                <a:latin typeface="Arial" panose="020B0604020202020204" pitchFamily="34" charset="0"/>
                <a:cs typeface="Arial" panose="020B0604020202020204" pitchFamily="34" charset="0"/>
              </a:rPr>
              <a:t>ĐKTĐ-HĐĐT </a:t>
            </a:r>
            <a:endParaRPr lang="en-US" sz="1300" b="1" dirty="0">
              <a:solidFill>
                <a:schemeClr val="accent2">
                  <a:lumMod val="50000"/>
                </a:schemeClr>
              </a:solidFill>
              <a:latin typeface="Arial" panose="020B0604020202020204" pitchFamily="34" charset="0"/>
              <a:cs typeface="Arial" panose="020B0604020202020204" pitchFamily="34" charset="0"/>
            </a:endParaRPr>
          </a:p>
        </p:txBody>
      </p:sp>
      <p:sp>
        <p:nvSpPr>
          <p:cNvPr id="57" name="TextBox 22"/>
          <p:cNvSpPr txBox="1">
            <a:spLocks noChangeArrowheads="1"/>
          </p:cNvSpPr>
          <p:nvPr/>
        </p:nvSpPr>
        <p:spPr bwMode="auto">
          <a:xfrm>
            <a:off x="4675392" y="1238031"/>
            <a:ext cx="1827212"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en-US" altLang="en-US" sz="1300" b="1">
                <a:solidFill>
                  <a:srgbClr val="2A5010"/>
                </a:solidFill>
                <a:latin typeface="Arial" panose="020B0604020202020204" pitchFamily="34" charset="0"/>
                <a:cs typeface="Arial" panose="020B0604020202020204" pitchFamily="34" charset="0"/>
              </a:rPr>
              <a:t>Mẫu 01/</a:t>
            </a:r>
            <a:r>
              <a:rPr lang="vi-VN" altLang="en-US" sz="1300" b="1">
                <a:solidFill>
                  <a:srgbClr val="2A5010"/>
                </a:solidFill>
                <a:latin typeface="Arial" panose="020B0604020202020204" pitchFamily="34" charset="0"/>
                <a:cs typeface="Arial" panose="020B0604020202020204" pitchFamily="34" charset="0"/>
              </a:rPr>
              <a:t>ĐKTĐ-HĐĐT </a:t>
            </a:r>
            <a:endParaRPr lang="en-US" altLang="en-US" sz="1300" b="1">
              <a:solidFill>
                <a:srgbClr val="2A5010"/>
              </a:solidFill>
              <a:latin typeface="Arial" panose="020B0604020202020204" pitchFamily="34" charset="0"/>
              <a:cs typeface="Arial" panose="020B0604020202020204" pitchFamily="34" charset="0"/>
            </a:endParaRPr>
          </a:p>
        </p:txBody>
      </p:sp>
      <p:sp>
        <p:nvSpPr>
          <p:cNvPr id="58" name="TextBox 57"/>
          <p:cNvSpPr txBox="1"/>
          <p:nvPr/>
        </p:nvSpPr>
        <p:spPr>
          <a:xfrm>
            <a:off x="4843667" y="2957293"/>
            <a:ext cx="1889125" cy="293688"/>
          </a:xfrm>
          <a:prstGeom prst="rect">
            <a:avLst/>
          </a:prstGeom>
          <a:noFill/>
        </p:spPr>
        <p:txBody>
          <a:bodyPr>
            <a:spAutoFit/>
          </a:bodyPr>
          <a:lstStyle/>
          <a:p>
            <a:pPr algn="ctr" eaLnBrk="1" fontAlgn="auto" hangingPunct="1">
              <a:spcBef>
                <a:spcPts val="0"/>
              </a:spcBef>
              <a:spcAft>
                <a:spcPts val="0"/>
              </a:spcAft>
              <a:defRPr/>
            </a:pPr>
            <a:r>
              <a:rPr lang="en-US" sz="1300" b="1" dirty="0" err="1">
                <a:solidFill>
                  <a:schemeClr val="accent2">
                    <a:lumMod val="50000"/>
                  </a:schemeClr>
                </a:solidFill>
                <a:latin typeface="Arial" panose="020B0604020202020204" pitchFamily="34" charset="0"/>
                <a:cs typeface="Arial" panose="020B0604020202020204" pitchFamily="34" charset="0"/>
              </a:rPr>
              <a:t>Mẫu</a:t>
            </a:r>
            <a:r>
              <a:rPr lang="en-US" sz="1300" b="1" dirty="0">
                <a:solidFill>
                  <a:schemeClr val="accent2">
                    <a:lumMod val="50000"/>
                  </a:schemeClr>
                </a:solidFill>
                <a:latin typeface="Arial" panose="020B0604020202020204" pitchFamily="34" charset="0"/>
                <a:cs typeface="Arial" panose="020B0604020202020204" pitchFamily="34" charset="0"/>
              </a:rPr>
              <a:t> 01/</a:t>
            </a:r>
            <a:r>
              <a:rPr lang="vi-VN" sz="1300" b="1" dirty="0">
                <a:solidFill>
                  <a:schemeClr val="accent2">
                    <a:lumMod val="50000"/>
                  </a:schemeClr>
                </a:solidFill>
                <a:latin typeface="Arial" panose="020B0604020202020204" pitchFamily="34" charset="0"/>
                <a:cs typeface="Arial" panose="020B0604020202020204" pitchFamily="34" charset="0"/>
              </a:rPr>
              <a:t>ĐKTĐ-HĐĐT </a:t>
            </a:r>
            <a:endParaRPr lang="en-US" sz="1300" dirty="0">
              <a:solidFill>
                <a:schemeClr val="accent2">
                  <a:lumMod val="50000"/>
                </a:schemeClr>
              </a:solidFill>
              <a:latin typeface="Arial" panose="020B0604020202020204" pitchFamily="34" charset="0"/>
              <a:cs typeface="Arial" panose="020B0604020202020204" pitchFamily="34" charset="0"/>
            </a:endParaRPr>
          </a:p>
        </p:txBody>
      </p:sp>
      <p:cxnSp>
        <p:nvCxnSpPr>
          <p:cNvPr id="59" name="Straight Arrow Connector 58"/>
          <p:cNvCxnSpPr/>
          <p:nvPr/>
        </p:nvCxnSpPr>
        <p:spPr>
          <a:xfrm flipV="1">
            <a:off x="7853567" y="1577756"/>
            <a:ext cx="1266825" cy="11112"/>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a:off x="7853567" y="1790481"/>
            <a:ext cx="1266825" cy="1270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4665867" y="1803181"/>
            <a:ext cx="1768475"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a:off x="4770642" y="3541493"/>
            <a:ext cx="434975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H="1" flipV="1">
            <a:off x="7853567" y="5879881"/>
            <a:ext cx="1266825" cy="1270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rot="5400000" flipH="1" flipV="1">
            <a:off x="6020798" y="1773812"/>
            <a:ext cx="360363" cy="5838825"/>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flipV="1">
            <a:off x="4700792" y="5892581"/>
            <a:ext cx="1266825" cy="1270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4707142" y="4173318"/>
            <a:ext cx="1889125" cy="292100"/>
          </a:xfrm>
          <a:prstGeom prst="rect">
            <a:avLst/>
          </a:prstGeom>
          <a:noFill/>
        </p:spPr>
        <p:txBody>
          <a:bodyPr>
            <a:spAutoFit/>
          </a:bodyPr>
          <a:lstStyle/>
          <a:p>
            <a:pPr algn="ctr" eaLnBrk="1" fontAlgn="auto" hangingPunct="1">
              <a:spcBef>
                <a:spcPts val="0"/>
              </a:spcBef>
              <a:spcAft>
                <a:spcPts val="0"/>
              </a:spcAft>
              <a:defRPr/>
            </a:pPr>
            <a:r>
              <a:rPr lang="en-US" sz="1300" b="1" dirty="0" err="1">
                <a:solidFill>
                  <a:schemeClr val="accent2">
                    <a:lumMod val="50000"/>
                  </a:schemeClr>
                </a:solidFill>
                <a:latin typeface="Arial" panose="020B0604020202020204" pitchFamily="34" charset="0"/>
                <a:cs typeface="Arial" panose="020B0604020202020204" pitchFamily="34" charset="0"/>
              </a:rPr>
              <a:t>Mẫu</a:t>
            </a:r>
            <a:r>
              <a:rPr lang="en-US" sz="1300" b="1" dirty="0">
                <a:solidFill>
                  <a:schemeClr val="accent2">
                    <a:lumMod val="50000"/>
                  </a:schemeClr>
                </a:solidFill>
                <a:latin typeface="Arial" panose="020B0604020202020204" pitchFamily="34" charset="0"/>
                <a:cs typeface="Arial" panose="020B0604020202020204" pitchFamily="34" charset="0"/>
              </a:rPr>
              <a:t> 01/</a:t>
            </a:r>
            <a:r>
              <a:rPr lang="vi-VN" sz="1300" b="1" dirty="0">
                <a:solidFill>
                  <a:schemeClr val="accent2">
                    <a:lumMod val="50000"/>
                  </a:schemeClr>
                </a:solidFill>
                <a:latin typeface="Arial" panose="020B0604020202020204" pitchFamily="34" charset="0"/>
                <a:cs typeface="Arial" panose="020B0604020202020204" pitchFamily="34" charset="0"/>
              </a:rPr>
              <a:t>ĐKTĐ-HĐĐT </a:t>
            </a:r>
            <a:endParaRPr lang="en-US" sz="1300" dirty="0">
              <a:solidFill>
                <a:schemeClr val="accent2">
                  <a:lumMod val="50000"/>
                </a:schemeClr>
              </a:solidFill>
              <a:latin typeface="Arial" panose="020B0604020202020204" pitchFamily="34" charset="0"/>
              <a:cs typeface="Arial" panose="020B0604020202020204" pitchFamily="34" charset="0"/>
            </a:endParaRPr>
          </a:p>
        </p:txBody>
      </p:sp>
      <p:sp>
        <p:nvSpPr>
          <p:cNvPr id="74" name="TextBox 51"/>
          <p:cNvSpPr txBox="1">
            <a:spLocks noChangeArrowheads="1"/>
          </p:cNvSpPr>
          <p:nvPr/>
        </p:nvSpPr>
        <p:spPr bwMode="auto">
          <a:xfrm>
            <a:off x="7853566" y="5912632"/>
            <a:ext cx="1217613"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vi-VN" altLang="en-US" sz="1300" b="1">
                <a:solidFill>
                  <a:srgbClr val="7030A0"/>
                </a:solidFill>
                <a:latin typeface="Arial" panose="020B0604020202020204" pitchFamily="34" charset="0"/>
                <a:cs typeface="Arial" panose="020B0604020202020204" pitchFamily="34" charset="0"/>
              </a:rPr>
              <a:t>Mẫu số </a:t>
            </a:r>
            <a:r>
              <a:rPr lang="vi-VN" altLang="en-US" sz="1300" b="1" smtClean="0">
                <a:solidFill>
                  <a:srgbClr val="7030A0"/>
                </a:solidFill>
                <a:latin typeface="Arial" panose="020B0604020202020204" pitchFamily="34" charset="0"/>
                <a:cs typeface="Arial" panose="020B0604020202020204" pitchFamily="34" charset="0"/>
              </a:rPr>
              <a:t>01/TB-TNĐT</a:t>
            </a:r>
            <a:endParaRPr lang="en-US" altLang="en-US" sz="1300" b="1" smtClean="0">
              <a:solidFill>
                <a:srgbClr val="7030A0"/>
              </a:solidFill>
              <a:latin typeface="Arial" panose="020B0604020202020204" pitchFamily="34" charset="0"/>
              <a:cs typeface="Arial" panose="020B0604020202020204" pitchFamily="34" charset="0"/>
            </a:endParaRPr>
          </a:p>
          <a:p>
            <a:pPr algn="ctr" eaLnBrk="1" hangingPunct="1">
              <a:spcBef>
                <a:spcPct val="0"/>
              </a:spcBef>
              <a:buClrTx/>
              <a:buFontTx/>
              <a:buNone/>
            </a:pPr>
            <a:r>
              <a:rPr lang="en-US" altLang="en-US" sz="1300" b="1" smtClean="0">
                <a:solidFill>
                  <a:srgbClr val="7030A0"/>
                </a:solidFill>
                <a:latin typeface="Arial" panose="020B0604020202020204" pitchFamily="34" charset="0"/>
                <a:cs typeface="Arial" panose="020B0604020202020204" pitchFamily="34" charset="0"/>
              </a:rPr>
              <a:t>01/TB-CNĐT</a:t>
            </a:r>
            <a:endParaRPr lang="en-US" altLang="en-US" sz="1300" b="1">
              <a:solidFill>
                <a:srgbClr val="7030A0"/>
              </a:solidFill>
              <a:latin typeface="Arial" panose="020B0604020202020204" pitchFamily="34" charset="0"/>
              <a:cs typeface="Arial" panose="020B0604020202020204" pitchFamily="34" charset="0"/>
            </a:endParaRPr>
          </a:p>
        </p:txBody>
      </p:sp>
      <p:sp>
        <p:nvSpPr>
          <p:cNvPr id="53" name="Rounded Rectangle 52"/>
          <p:cNvSpPr/>
          <p:nvPr/>
        </p:nvSpPr>
        <p:spPr>
          <a:xfrm>
            <a:off x="5899354" y="4859118"/>
            <a:ext cx="1954213" cy="1555750"/>
          </a:xfrm>
          <a:prstGeom prst="roundRect">
            <a:avLst/>
          </a:prstGeom>
          <a:solidFill>
            <a:schemeClr val="accent5">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dirty="0"/>
              <a:t>T</a:t>
            </a:r>
            <a:r>
              <a:rPr lang="vi-VN" sz="1400" dirty="0"/>
              <a:t>ổ chức cung cấp dịch vụ </a:t>
            </a:r>
            <a:r>
              <a:rPr lang="en-US" sz="1400" dirty="0"/>
              <a:t>HĐ ĐT </a:t>
            </a:r>
            <a:r>
              <a:rPr lang="vi-VN" sz="1400" dirty="0"/>
              <a:t>được </a:t>
            </a:r>
            <a:r>
              <a:rPr lang="en-US" sz="1400" dirty="0"/>
              <a:t>TCT </a:t>
            </a:r>
            <a:r>
              <a:rPr lang="vi-VN" sz="1400" dirty="0"/>
              <a:t>ủy thác cung cấp dịch vụ </a:t>
            </a:r>
            <a:r>
              <a:rPr lang="en-US" sz="1400" dirty="0"/>
              <a:t>HĐ ĐT </a:t>
            </a:r>
            <a:r>
              <a:rPr lang="vi-VN" sz="1400" dirty="0"/>
              <a:t>có mã của </a:t>
            </a:r>
            <a:r>
              <a:rPr lang="en-US" sz="1400" dirty="0"/>
              <a:t>CQT </a:t>
            </a:r>
            <a:r>
              <a:rPr lang="vi-VN" sz="1400" dirty="0"/>
              <a:t>không phải trả tiền dịch vụ.</a:t>
            </a:r>
            <a:endParaRPr lang="en-US" sz="1400" dirty="0"/>
          </a:p>
        </p:txBody>
      </p:sp>
      <p:sp>
        <p:nvSpPr>
          <p:cNvPr id="78" name="TextBox 51"/>
          <p:cNvSpPr txBox="1">
            <a:spLocks noChangeArrowheads="1"/>
          </p:cNvSpPr>
          <p:nvPr/>
        </p:nvSpPr>
        <p:spPr bwMode="auto">
          <a:xfrm>
            <a:off x="7850392" y="3635959"/>
            <a:ext cx="1217613"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vi-VN" altLang="en-US" sz="1300" b="1">
                <a:solidFill>
                  <a:srgbClr val="7030A0"/>
                </a:solidFill>
                <a:latin typeface="Arial" panose="020B0604020202020204" pitchFamily="34" charset="0"/>
                <a:cs typeface="Arial" panose="020B0604020202020204" pitchFamily="34" charset="0"/>
              </a:rPr>
              <a:t>Mẫu số </a:t>
            </a:r>
            <a:r>
              <a:rPr lang="vi-VN" altLang="en-US" sz="1300" b="1" smtClean="0">
                <a:solidFill>
                  <a:srgbClr val="7030A0"/>
                </a:solidFill>
                <a:latin typeface="Arial" panose="020B0604020202020204" pitchFamily="34" charset="0"/>
                <a:cs typeface="Arial" panose="020B0604020202020204" pitchFamily="34" charset="0"/>
              </a:rPr>
              <a:t>01/TB-TNĐT</a:t>
            </a:r>
            <a:endParaRPr lang="en-US" altLang="en-US" sz="1300" b="1" smtClean="0">
              <a:solidFill>
                <a:srgbClr val="7030A0"/>
              </a:solidFill>
              <a:latin typeface="Arial" panose="020B0604020202020204" pitchFamily="34" charset="0"/>
              <a:cs typeface="Arial" panose="020B0604020202020204" pitchFamily="34" charset="0"/>
            </a:endParaRPr>
          </a:p>
          <a:p>
            <a:pPr algn="ctr" eaLnBrk="1" hangingPunct="1">
              <a:spcBef>
                <a:spcPct val="0"/>
              </a:spcBef>
              <a:buClrTx/>
              <a:buFontTx/>
              <a:buNone/>
            </a:pPr>
            <a:r>
              <a:rPr lang="en-US" altLang="en-US" sz="1300" b="1" smtClean="0">
                <a:solidFill>
                  <a:srgbClr val="7030A0"/>
                </a:solidFill>
                <a:latin typeface="Arial" panose="020B0604020202020204" pitchFamily="34" charset="0"/>
                <a:cs typeface="Arial" panose="020B0604020202020204" pitchFamily="34" charset="0"/>
              </a:rPr>
              <a:t>01/TB-CNĐT</a:t>
            </a:r>
            <a:endParaRPr lang="en-US" altLang="en-US" sz="1300" b="1">
              <a:solidFill>
                <a:srgbClr val="7030A0"/>
              </a:solidFill>
              <a:latin typeface="Arial" panose="020B0604020202020204" pitchFamily="34" charset="0"/>
              <a:cs typeface="Arial" panose="020B0604020202020204" pitchFamily="34" charset="0"/>
            </a:endParaRPr>
          </a:p>
        </p:txBody>
      </p:sp>
      <p:sp>
        <p:nvSpPr>
          <p:cNvPr id="79" name="TextBox 51"/>
          <p:cNvSpPr txBox="1">
            <a:spLocks noChangeArrowheads="1"/>
          </p:cNvSpPr>
          <p:nvPr/>
        </p:nvSpPr>
        <p:spPr bwMode="auto">
          <a:xfrm>
            <a:off x="7850392" y="2031596"/>
            <a:ext cx="1217613"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vi-VN" altLang="en-US" sz="1300" b="1">
                <a:solidFill>
                  <a:srgbClr val="7030A0"/>
                </a:solidFill>
                <a:latin typeface="Arial" panose="020B0604020202020204" pitchFamily="34" charset="0"/>
                <a:cs typeface="Arial" panose="020B0604020202020204" pitchFamily="34" charset="0"/>
              </a:rPr>
              <a:t>Mẫu số </a:t>
            </a:r>
            <a:r>
              <a:rPr lang="vi-VN" altLang="en-US" sz="1300" b="1" smtClean="0">
                <a:solidFill>
                  <a:srgbClr val="7030A0"/>
                </a:solidFill>
                <a:latin typeface="Arial" panose="020B0604020202020204" pitchFamily="34" charset="0"/>
                <a:cs typeface="Arial" panose="020B0604020202020204" pitchFamily="34" charset="0"/>
              </a:rPr>
              <a:t>01/TB-TNĐT</a:t>
            </a:r>
            <a:endParaRPr lang="en-US" altLang="en-US" sz="1300" b="1" smtClean="0">
              <a:solidFill>
                <a:srgbClr val="7030A0"/>
              </a:solidFill>
              <a:latin typeface="Arial" panose="020B0604020202020204" pitchFamily="34" charset="0"/>
              <a:cs typeface="Arial" panose="020B0604020202020204" pitchFamily="34" charset="0"/>
            </a:endParaRPr>
          </a:p>
          <a:p>
            <a:pPr algn="ctr" eaLnBrk="1" hangingPunct="1">
              <a:spcBef>
                <a:spcPct val="0"/>
              </a:spcBef>
              <a:buClrTx/>
              <a:buFontTx/>
              <a:buNone/>
            </a:pPr>
            <a:r>
              <a:rPr lang="en-US" altLang="en-US" sz="1300" b="1" smtClean="0">
                <a:solidFill>
                  <a:srgbClr val="7030A0"/>
                </a:solidFill>
                <a:latin typeface="Arial" panose="020B0604020202020204" pitchFamily="34" charset="0"/>
                <a:cs typeface="Arial" panose="020B0604020202020204" pitchFamily="34" charset="0"/>
              </a:rPr>
              <a:t>01/TB-CNĐT</a:t>
            </a:r>
            <a:endParaRPr lang="en-US" altLang="en-US" sz="1300" b="1">
              <a:solidFill>
                <a:srgbClr val="7030A0"/>
              </a:solidFill>
              <a:latin typeface="Arial" panose="020B0604020202020204" pitchFamily="34" charset="0"/>
              <a:cs typeface="Arial" panose="020B0604020202020204" pitchFamily="34" charset="0"/>
            </a:endParaRPr>
          </a:p>
        </p:txBody>
      </p:sp>
      <p:cxnSp>
        <p:nvCxnSpPr>
          <p:cNvPr id="30" name="Elbow Connector 29"/>
          <p:cNvCxnSpPr>
            <a:endCxn id="49" idx="7"/>
          </p:cNvCxnSpPr>
          <p:nvPr/>
        </p:nvCxnSpPr>
        <p:spPr>
          <a:xfrm rot="10800000" flipV="1">
            <a:off x="4190754" y="4740812"/>
            <a:ext cx="4929639" cy="358335"/>
          </a:xfrm>
          <a:prstGeom prst="bent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51"/>
          <p:cNvSpPr txBox="1">
            <a:spLocks noChangeArrowheads="1"/>
          </p:cNvSpPr>
          <p:nvPr/>
        </p:nvSpPr>
        <p:spPr bwMode="auto">
          <a:xfrm>
            <a:off x="7902778" y="4829328"/>
            <a:ext cx="1217613"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0"/>
              </a:spcBef>
              <a:buClrTx/>
              <a:buFontTx/>
              <a:buNone/>
            </a:pPr>
            <a:r>
              <a:rPr lang="vi-VN" altLang="en-US" sz="1300" b="1">
                <a:solidFill>
                  <a:srgbClr val="7030A0"/>
                </a:solidFill>
                <a:latin typeface="Arial" panose="020B0604020202020204" pitchFamily="34" charset="0"/>
                <a:cs typeface="Arial" panose="020B0604020202020204" pitchFamily="34" charset="0"/>
              </a:rPr>
              <a:t>Mẫu số </a:t>
            </a:r>
            <a:r>
              <a:rPr lang="vi-VN" altLang="en-US" sz="1300" b="1" smtClean="0">
                <a:solidFill>
                  <a:srgbClr val="7030A0"/>
                </a:solidFill>
                <a:latin typeface="Arial" panose="020B0604020202020204" pitchFamily="34" charset="0"/>
                <a:cs typeface="Arial" panose="020B0604020202020204" pitchFamily="34" charset="0"/>
              </a:rPr>
              <a:t>01/TB-TNĐT</a:t>
            </a:r>
            <a:endParaRPr lang="en-US" altLang="en-US" sz="1300" b="1" smtClean="0">
              <a:solidFill>
                <a:srgbClr val="7030A0"/>
              </a:solidFill>
              <a:latin typeface="Arial" panose="020B0604020202020204" pitchFamily="34" charset="0"/>
              <a:cs typeface="Arial" panose="020B0604020202020204" pitchFamily="34" charset="0"/>
            </a:endParaRPr>
          </a:p>
          <a:p>
            <a:pPr algn="ctr" eaLnBrk="1" hangingPunct="1">
              <a:spcBef>
                <a:spcPct val="0"/>
              </a:spcBef>
              <a:buClrTx/>
              <a:buFontTx/>
              <a:buNone/>
            </a:pPr>
            <a:r>
              <a:rPr lang="en-US" altLang="en-US" sz="1300" b="1" smtClean="0">
                <a:solidFill>
                  <a:srgbClr val="7030A0"/>
                </a:solidFill>
                <a:latin typeface="Arial" panose="020B0604020202020204" pitchFamily="34" charset="0"/>
                <a:cs typeface="Arial" panose="020B0604020202020204" pitchFamily="34" charset="0"/>
              </a:rPr>
              <a:t>01/TB-CNĐT</a:t>
            </a:r>
            <a:endParaRPr lang="en-US" altLang="en-US" sz="1300" b="1">
              <a:solidFill>
                <a:srgbClr val="7030A0"/>
              </a:solidFill>
              <a:latin typeface="Arial" panose="020B0604020202020204" pitchFamily="34" charset="0"/>
              <a:cs typeface="Arial" panose="020B0604020202020204" pitchFamily="34" charset="0"/>
            </a:endParaRPr>
          </a:p>
        </p:txBody>
      </p:sp>
      <p:sp>
        <p:nvSpPr>
          <p:cNvPr id="38" name="Oval 37"/>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8862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9151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5. </a:t>
            </a:r>
            <a:r>
              <a:rPr lang="vi-VN" sz="2200" b="1" smtClean="0">
                <a:solidFill>
                  <a:schemeClr val="accent1">
                    <a:lumMod val="50000"/>
                  </a:schemeClr>
                </a:solidFill>
                <a:latin typeface="Arial (Body)"/>
              </a:rPr>
              <a:t>HỦY CÁC HÓA ĐƠN ĐÃ THÔNG BÁO PHÁT HÀNH TRƯỚC ĐÂY</a:t>
            </a:r>
            <a:endParaRPr lang="vi-VN" sz="2200" b="1">
              <a:solidFill>
                <a:schemeClr val="accent1">
                  <a:lumMod val="50000"/>
                </a:schemeClr>
              </a:solidFill>
              <a:latin typeface="Arial (Body)"/>
            </a:endParaRPr>
          </a:p>
        </p:txBody>
      </p:sp>
      <p:sp>
        <p:nvSpPr>
          <p:cNvPr id="38" name="Rectangle 37"/>
          <p:cNvSpPr/>
          <p:nvPr/>
        </p:nvSpPr>
        <p:spPr>
          <a:xfrm>
            <a:off x="2279650" y="950576"/>
            <a:ext cx="9255858" cy="546522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p>
        </p:txBody>
      </p:sp>
      <p:sp>
        <p:nvSpPr>
          <p:cNvPr id="39" name="Rectangle 38"/>
          <p:cNvSpPr/>
          <p:nvPr/>
        </p:nvSpPr>
        <p:spPr>
          <a:xfrm>
            <a:off x="7421563" y="2370138"/>
            <a:ext cx="3879850" cy="3630612"/>
          </a:xfrm>
          <a:prstGeom prst="rect">
            <a:avLst/>
          </a:prstGeom>
          <a:solidFill>
            <a:schemeClr val="accent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r>
              <a:rPr lang="vi-VN" sz="1400" dirty="0"/>
              <a:t> </a:t>
            </a:r>
            <a:endParaRPr lang="en-US" sz="1400" dirty="0"/>
          </a:p>
        </p:txBody>
      </p:sp>
      <p:sp>
        <p:nvSpPr>
          <p:cNvPr id="40" name="Rectangle 39"/>
          <p:cNvSpPr/>
          <p:nvPr/>
        </p:nvSpPr>
        <p:spPr>
          <a:xfrm>
            <a:off x="507207" y="2015331"/>
            <a:ext cx="876300" cy="3768725"/>
          </a:xfrm>
          <a:prstGeom prst="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Arial" panose="020B0604020202020204" pitchFamily="34" charset="0"/>
                <a:cs typeface="Arial" panose="020B0604020202020204" pitchFamily="34" charset="0"/>
              </a:rPr>
              <a:t>CƠ QUAN THUẾ                                </a:t>
            </a:r>
          </a:p>
        </p:txBody>
      </p:sp>
      <p:sp>
        <p:nvSpPr>
          <p:cNvPr id="41" name="Rectangle 40"/>
          <p:cNvSpPr/>
          <p:nvPr/>
        </p:nvSpPr>
        <p:spPr>
          <a:xfrm>
            <a:off x="2541588" y="2047488"/>
            <a:ext cx="4186237" cy="4260849"/>
          </a:xfrm>
          <a:prstGeom prst="rect">
            <a:avLst/>
          </a:prstGeom>
          <a:solidFill>
            <a:schemeClr val="accent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600"/>
              </a:spcBef>
              <a:defRPr/>
            </a:pPr>
            <a:r>
              <a:rPr lang="en-US" sz="1600" b="1" dirty="0">
                <a:solidFill>
                  <a:schemeClr val="tx1"/>
                </a:solidFill>
                <a:latin typeface="Arial (Body)"/>
              </a:rPr>
              <a:t>H</a:t>
            </a:r>
            <a:r>
              <a:rPr lang="vi-VN" sz="1600" b="1" dirty="0">
                <a:solidFill>
                  <a:schemeClr val="tx1"/>
                </a:solidFill>
                <a:latin typeface="Arial (Body)"/>
              </a:rPr>
              <a:t>ủy các hóa đơn</a:t>
            </a:r>
            <a:r>
              <a:rPr lang="en-US" sz="1600" b="1" dirty="0">
                <a:solidFill>
                  <a:schemeClr val="tx1"/>
                </a:solidFill>
                <a:latin typeface="Arial (Body)"/>
              </a:rPr>
              <a:t> </a:t>
            </a:r>
            <a:r>
              <a:rPr lang="en-US" sz="1600" b="1" dirty="0" err="1">
                <a:solidFill>
                  <a:schemeClr val="tx1"/>
                </a:solidFill>
                <a:latin typeface="Arial (Body)"/>
              </a:rPr>
              <a:t>giấy</a:t>
            </a:r>
            <a:r>
              <a:rPr lang="vi-VN" sz="1600" b="1" dirty="0">
                <a:solidFill>
                  <a:schemeClr val="tx1"/>
                </a:solidFill>
                <a:latin typeface="Arial (Body)"/>
              </a:rPr>
              <a:t> đã thông báo phát hành trước đây</a:t>
            </a:r>
            <a:r>
              <a:rPr lang="en-US" sz="1600" b="1" dirty="0">
                <a:solidFill>
                  <a:schemeClr val="tx1"/>
                </a:solidFill>
                <a:latin typeface="Arial (Body)"/>
              </a:rPr>
              <a:t> </a:t>
            </a:r>
            <a:r>
              <a:rPr lang="en-US" sz="1600" b="1" dirty="0" err="1">
                <a:solidFill>
                  <a:schemeClr val="tx1"/>
                </a:solidFill>
                <a:latin typeface="Arial (Body)"/>
              </a:rPr>
              <a:t>theo</a:t>
            </a:r>
            <a:r>
              <a:rPr lang="en-US" sz="1600" b="1" dirty="0">
                <a:solidFill>
                  <a:schemeClr val="tx1"/>
                </a:solidFill>
                <a:latin typeface="Arial (Body)"/>
              </a:rPr>
              <a:t> NĐ 51 </a:t>
            </a:r>
            <a:r>
              <a:rPr lang="en-US" sz="1600" b="1" dirty="0" err="1">
                <a:solidFill>
                  <a:schemeClr val="tx1"/>
                </a:solidFill>
                <a:latin typeface="Arial (Body)"/>
              </a:rPr>
              <a:t>và</a:t>
            </a:r>
            <a:r>
              <a:rPr lang="en-US" sz="1600" b="1" dirty="0">
                <a:solidFill>
                  <a:schemeClr val="tx1"/>
                </a:solidFill>
                <a:latin typeface="Arial (Body)"/>
              </a:rPr>
              <a:t> TT 39</a:t>
            </a:r>
          </a:p>
          <a:p>
            <a:pPr algn="ctr">
              <a:spcBef>
                <a:spcPts val="600"/>
              </a:spcBef>
              <a:defRPr/>
            </a:pP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Chậm</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nhất</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là</a:t>
            </a:r>
            <a:r>
              <a:rPr lang="en-US" sz="1400" dirty="0">
                <a:solidFill>
                  <a:schemeClr val="tx1"/>
                </a:solidFill>
                <a:latin typeface="Arial (Body)"/>
                <a:cs typeface="Arial" panose="020B0604020202020204" pitchFamily="34" charset="0"/>
              </a:rPr>
              <a:t> </a:t>
            </a:r>
            <a:r>
              <a:rPr lang="en-US" sz="1400" b="1" dirty="0">
                <a:solidFill>
                  <a:schemeClr val="tx1"/>
                </a:solidFill>
                <a:latin typeface="Arial (Body)"/>
                <a:cs typeface="Arial" panose="020B0604020202020204" pitchFamily="34" charset="0"/>
              </a:rPr>
              <a:t>30 </a:t>
            </a:r>
            <a:r>
              <a:rPr lang="en-US" sz="1400" b="1" dirty="0" err="1">
                <a:solidFill>
                  <a:schemeClr val="tx1"/>
                </a:solidFill>
                <a:latin typeface="Arial (Body)"/>
                <a:cs typeface="Arial" panose="020B0604020202020204" pitchFamily="34" charset="0"/>
              </a:rPr>
              <a:t>ngày</a:t>
            </a:r>
            <a:r>
              <a:rPr lang="en-US" sz="1400" b="1"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kể</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từ</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ngày</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thông</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báo</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với</a:t>
            </a:r>
            <a:r>
              <a:rPr lang="en-US" sz="1400" dirty="0">
                <a:solidFill>
                  <a:schemeClr val="tx1"/>
                </a:solidFill>
                <a:latin typeface="Arial (Body)"/>
                <a:cs typeface="Arial" panose="020B0604020202020204" pitchFamily="34" charset="0"/>
              </a:rPr>
              <a:t> CQT, </a:t>
            </a:r>
            <a:r>
              <a:rPr lang="en-US" sz="1400" b="1" dirty="0">
                <a:solidFill>
                  <a:schemeClr val="tx1"/>
                </a:solidFill>
                <a:latin typeface="Arial (Body)"/>
                <a:cs typeface="Arial" panose="020B0604020202020204" pitchFamily="34" charset="0"/>
              </a:rPr>
              <a:t>10 </a:t>
            </a:r>
            <a:r>
              <a:rPr lang="en-US" sz="1400" b="1" dirty="0" err="1">
                <a:solidFill>
                  <a:schemeClr val="tx1"/>
                </a:solidFill>
                <a:latin typeface="Arial (Body)"/>
                <a:cs typeface="Arial" panose="020B0604020202020204" pitchFamily="34" charset="0"/>
              </a:rPr>
              <a:t>ngày</a:t>
            </a:r>
            <a:r>
              <a:rPr lang="en-US" sz="1400" b="1"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kể</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từ</a:t>
            </a:r>
            <a:r>
              <a:rPr lang="en-US" sz="1400" dirty="0">
                <a:solidFill>
                  <a:schemeClr val="tx1"/>
                </a:solidFill>
                <a:latin typeface="Arial (Body)"/>
                <a:cs typeface="Arial" panose="020B0604020202020204" pitchFamily="34" charset="0"/>
              </a:rPr>
              <a:t> </a:t>
            </a:r>
            <a:r>
              <a:rPr lang="en-US" sz="1400" dirty="0" err="1">
                <a:solidFill>
                  <a:schemeClr val="tx1"/>
                </a:solidFill>
                <a:latin typeface="Arial (Body)"/>
                <a:cs typeface="Arial" panose="020B0604020202020204" pitchFamily="34" charset="0"/>
              </a:rPr>
              <a:t>ngày</a:t>
            </a:r>
            <a:r>
              <a:rPr lang="en-US" sz="1400" dirty="0">
                <a:solidFill>
                  <a:schemeClr val="tx1"/>
                </a:solidFill>
                <a:latin typeface="Arial (Body)"/>
                <a:cs typeface="Arial" panose="020B0604020202020204" pitchFamily="34" charset="0"/>
              </a:rPr>
              <a:t> </a:t>
            </a:r>
            <a:r>
              <a:rPr lang="vi-VN" sz="1400" dirty="0">
                <a:solidFill>
                  <a:schemeClr val="tx1"/>
                </a:solidFill>
                <a:latin typeface="Arial (Body)"/>
                <a:cs typeface="Arial" panose="020B0604020202020204" pitchFamily="34" charset="0"/>
              </a:rPr>
              <a:t>kể từ ngày cơ quan thuế thông báo hết giá trị sử dụng</a:t>
            </a:r>
            <a:r>
              <a:rPr lang="en-US" sz="1400" dirty="0">
                <a:solidFill>
                  <a:schemeClr val="tx1"/>
                </a:solidFill>
                <a:latin typeface="Arial (Body)"/>
                <a:cs typeface="Arial" panose="020B0604020202020204" pitchFamily="34" charset="0"/>
              </a:rPr>
              <a:t>)</a:t>
            </a:r>
          </a:p>
          <a:p>
            <a:pPr>
              <a:spcBef>
                <a:spcPts val="600"/>
              </a:spcBef>
              <a:defRPr/>
            </a:pPr>
            <a:r>
              <a:rPr lang="en-US" sz="1400" b="1" dirty="0">
                <a:solidFill>
                  <a:schemeClr val="tx1"/>
                </a:solidFill>
                <a:latin typeface="Arial (Body)"/>
              </a:rPr>
              <a:t>+ </a:t>
            </a:r>
            <a:r>
              <a:rPr lang="vi-VN" sz="1400" b="1" dirty="0">
                <a:solidFill>
                  <a:schemeClr val="tx1"/>
                </a:solidFill>
                <a:latin typeface="Arial (Body)"/>
              </a:rPr>
              <a:t>Doanh nghiệp, tổ chức kinh tế, hộ, cá nhân kinh doanh phải lập bảng kiểm kê hóa đơn cần tiêu hủy.</a:t>
            </a:r>
            <a:endParaRPr lang="en-US" sz="1400" b="1" dirty="0">
              <a:solidFill>
                <a:schemeClr val="tx1"/>
              </a:solidFill>
              <a:latin typeface="Arial (Body)"/>
            </a:endParaRPr>
          </a:p>
          <a:p>
            <a:pPr algn="just">
              <a:spcBef>
                <a:spcPts val="600"/>
              </a:spcBef>
              <a:defRPr/>
            </a:pPr>
            <a:r>
              <a:rPr lang="vi-VN" sz="1400" b="1" dirty="0">
                <a:solidFill>
                  <a:schemeClr val="tx1"/>
                </a:solidFill>
                <a:latin typeface="Arial (Body)"/>
              </a:rPr>
              <a:t>+ Doanh nghiệp, tổ chức kinh tế phải thành lập Hội đồng tiêu hủy hóa đơn. Hội đồng hủy hóa đơn phải có đại diện lãnh đạo, đại diện bộ phận kế toán của tổ chức. Hộ, cá nhân kinh doanh không phải thành lập Hội đồng khi tiêu hủy hóa đơn.</a:t>
            </a:r>
            <a:endParaRPr lang="en-US" sz="1400" b="1" dirty="0">
              <a:solidFill>
                <a:schemeClr val="tx1"/>
              </a:solidFill>
              <a:latin typeface="Arial (Body)"/>
            </a:endParaRPr>
          </a:p>
          <a:p>
            <a:pPr algn="just">
              <a:spcBef>
                <a:spcPts val="600"/>
              </a:spcBef>
              <a:defRPr/>
            </a:pPr>
            <a:r>
              <a:rPr lang="vi-VN" sz="1400" b="1" dirty="0">
                <a:solidFill>
                  <a:schemeClr val="tx1"/>
                </a:solidFill>
                <a:latin typeface="Arial (Body)"/>
              </a:rPr>
              <a:t>+ Các thành viên Hội đồng hủy hóa đơn phải ký vào biên bản tiêu hủy hóa đơn và chịu trách nhiệm trước pháp luật nếu có sai sót</a:t>
            </a:r>
            <a:r>
              <a:rPr lang="en-US" sz="1400" b="1" dirty="0">
                <a:solidFill>
                  <a:schemeClr val="tx1"/>
                </a:solidFill>
                <a:latin typeface="Arial (Body)"/>
              </a:rPr>
              <a:t>.</a:t>
            </a:r>
          </a:p>
        </p:txBody>
      </p:sp>
      <p:sp>
        <p:nvSpPr>
          <p:cNvPr id="42" name="TextBox 25"/>
          <p:cNvSpPr txBox="1">
            <a:spLocks noChangeArrowheads="1"/>
          </p:cNvSpPr>
          <p:nvPr/>
        </p:nvSpPr>
        <p:spPr bwMode="auto">
          <a:xfrm>
            <a:off x="1341438" y="2457450"/>
            <a:ext cx="982662"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300">
                <a:solidFill>
                  <a:schemeClr val="tx1"/>
                </a:solidFill>
                <a:latin typeface="Arial" panose="020B0604020202020204" pitchFamily="34" charset="0"/>
                <a:cs typeface="Arial" panose="020B0604020202020204" pitchFamily="34" charset="0"/>
              </a:rPr>
              <a:t>Chấp nhận đăng ký sử dụng HĐ ĐT theo NĐ 123</a:t>
            </a:r>
          </a:p>
        </p:txBody>
      </p:sp>
      <p:sp>
        <p:nvSpPr>
          <p:cNvPr id="43" name="Rectangle 42"/>
          <p:cNvSpPr/>
          <p:nvPr/>
        </p:nvSpPr>
        <p:spPr>
          <a:xfrm>
            <a:off x="7670800" y="2487613"/>
            <a:ext cx="3446463" cy="3476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600"/>
              </a:spcBef>
              <a:defRPr/>
            </a:pPr>
            <a:r>
              <a:rPr lang="en-US" sz="1600" b="1" dirty="0">
                <a:solidFill>
                  <a:schemeClr val="tx1"/>
                </a:solidFill>
                <a:latin typeface="Arial" panose="020B0604020202020204" pitchFamily="34" charset="0"/>
                <a:cs typeface="Arial" panose="020B0604020202020204" pitchFamily="34" charset="0"/>
              </a:rPr>
              <a:t>NNT </a:t>
            </a:r>
            <a:r>
              <a:rPr lang="en-US" sz="1600" b="1" dirty="0" err="1">
                <a:solidFill>
                  <a:schemeClr val="tx1"/>
                </a:solidFill>
                <a:latin typeface="Arial" panose="020B0604020202020204" pitchFamily="34" charset="0"/>
                <a:cs typeface="Arial" panose="020B0604020202020204" pitchFamily="34" charset="0"/>
              </a:rPr>
              <a:t>lưu</a:t>
            </a:r>
            <a:r>
              <a:rPr lang="en-US" sz="1600" b="1" dirty="0">
                <a:solidFill>
                  <a:schemeClr val="tx1"/>
                </a:solidFill>
                <a:latin typeface="Arial" panose="020B0604020202020204" pitchFamily="34" charset="0"/>
                <a:cs typeface="Arial" panose="020B0604020202020204" pitchFamily="34" charset="0"/>
              </a:rPr>
              <a:t> </a:t>
            </a:r>
            <a:r>
              <a:rPr lang="vi-VN" sz="1600" b="1" dirty="0">
                <a:solidFill>
                  <a:schemeClr val="tx1"/>
                </a:solidFill>
                <a:cs typeface="Arial" panose="020B0604020202020204" pitchFamily="34" charset="0"/>
              </a:rPr>
              <a:t>Hồ sơ tiêu hủy hóa đơn </a:t>
            </a:r>
            <a:endParaRPr lang="en-US" sz="1600" b="1" dirty="0">
              <a:solidFill>
                <a:schemeClr val="tx1"/>
              </a:solidFill>
              <a:latin typeface="Arial" panose="020B0604020202020204" pitchFamily="34" charset="0"/>
              <a:cs typeface="Arial" panose="020B0604020202020204" pitchFamily="34" charset="0"/>
            </a:endParaRPr>
          </a:p>
        </p:txBody>
      </p:sp>
      <p:sp>
        <p:nvSpPr>
          <p:cNvPr id="44" name="Rectangle 43"/>
          <p:cNvSpPr/>
          <p:nvPr/>
        </p:nvSpPr>
        <p:spPr>
          <a:xfrm>
            <a:off x="7670800" y="3030538"/>
            <a:ext cx="3446463" cy="7191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vi-VN" sz="1400" dirty="0">
                <a:solidFill>
                  <a:schemeClr val="tx1"/>
                </a:solidFill>
              </a:rPr>
              <a:t>Quyết định thành lập Hội đồng tiêu hủy hóa đơn, trừ trường hợp hộ, cá nhân kinh doanh;</a:t>
            </a:r>
            <a:endParaRPr lang="en-US" sz="1400" dirty="0">
              <a:solidFill>
                <a:schemeClr val="tx1"/>
              </a:solidFill>
            </a:endParaRPr>
          </a:p>
        </p:txBody>
      </p:sp>
      <p:sp>
        <p:nvSpPr>
          <p:cNvPr id="46" name="Rectangle 45"/>
          <p:cNvSpPr/>
          <p:nvPr/>
        </p:nvSpPr>
        <p:spPr>
          <a:xfrm>
            <a:off x="7670800" y="3827463"/>
            <a:ext cx="3446463" cy="53498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vi-VN" sz="1400" dirty="0">
                <a:solidFill>
                  <a:schemeClr val="tx1"/>
                </a:solidFill>
              </a:rPr>
              <a:t>Bảng kiểm kê hóa đơn cần tiêu hủy </a:t>
            </a:r>
            <a:endParaRPr lang="en-US" sz="1400" dirty="0">
              <a:solidFill>
                <a:schemeClr val="tx1"/>
              </a:solidFill>
            </a:endParaRPr>
          </a:p>
        </p:txBody>
      </p:sp>
      <p:sp>
        <p:nvSpPr>
          <p:cNvPr id="64" name="Rectangle 63"/>
          <p:cNvSpPr/>
          <p:nvPr/>
        </p:nvSpPr>
        <p:spPr>
          <a:xfrm>
            <a:off x="7670800" y="4530725"/>
            <a:ext cx="3446463" cy="53498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vi-VN" sz="1400" dirty="0">
                <a:solidFill>
                  <a:schemeClr val="tx1"/>
                </a:solidFill>
              </a:rPr>
              <a:t>Biên bản tiêu hủy hóa đơn</a:t>
            </a:r>
            <a:endParaRPr lang="en-US" sz="1400" dirty="0">
              <a:solidFill>
                <a:schemeClr val="tx1"/>
              </a:solidFill>
            </a:endParaRPr>
          </a:p>
        </p:txBody>
      </p:sp>
      <p:sp>
        <p:nvSpPr>
          <p:cNvPr id="65" name="Rectangle 64"/>
          <p:cNvSpPr/>
          <p:nvPr/>
        </p:nvSpPr>
        <p:spPr>
          <a:xfrm>
            <a:off x="7670800" y="5208588"/>
            <a:ext cx="3446463" cy="536575"/>
          </a:xfrm>
          <a:prstGeom prst="rect">
            <a:avLst/>
          </a:prstGeom>
          <a:solidFill>
            <a:srgbClr val="B482DA"/>
          </a:solidFill>
          <a:effectLst>
            <a:outerShdw blurRad="50800" dist="38100" dir="8100000" sx="103000" sy="103000" algn="tr"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vi-VN" sz="1400" dirty="0">
                <a:solidFill>
                  <a:schemeClr val="tx1"/>
                </a:solidFill>
              </a:rPr>
              <a:t>Thông báo kết quả hủy hóa đơn theo Mẫu số 02/HUY-HĐG Phụ lục IA</a:t>
            </a:r>
            <a:endParaRPr lang="en-US" sz="1400" dirty="0">
              <a:solidFill>
                <a:schemeClr val="tx1"/>
              </a:solidFill>
            </a:endParaRPr>
          </a:p>
        </p:txBody>
      </p:sp>
      <p:sp>
        <p:nvSpPr>
          <p:cNvPr id="69" name="Rectangle 68"/>
          <p:cNvSpPr/>
          <p:nvPr/>
        </p:nvSpPr>
        <p:spPr>
          <a:xfrm>
            <a:off x="7421563" y="1100568"/>
            <a:ext cx="3879850" cy="1041400"/>
          </a:xfrm>
          <a:prstGeom prst="rect">
            <a:avLst/>
          </a:prstGeom>
          <a:solidFill>
            <a:schemeClr val="accent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600"/>
              </a:spcBef>
              <a:defRPr/>
            </a:pPr>
            <a:r>
              <a:rPr lang="en-US" sz="1600" b="1" dirty="0" err="1">
                <a:latin typeface="Arial" panose="020B0604020202020204" pitchFamily="34" charset="0"/>
                <a:cs typeface="Arial" panose="020B0604020202020204" pitchFamily="34" charset="0"/>
              </a:rPr>
              <a:t>Ngừng</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sử</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dụng</a:t>
            </a:r>
            <a:r>
              <a:rPr lang="en-US" sz="1600" b="1" dirty="0">
                <a:latin typeface="Arial" panose="020B0604020202020204" pitchFamily="34" charset="0"/>
                <a:cs typeface="Arial" panose="020B0604020202020204" pitchFamily="34" charset="0"/>
              </a:rPr>
              <a:t> </a:t>
            </a:r>
            <a:r>
              <a:rPr lang="vi-VN" sz="1600" b="1" dirty="0">
                <a:cs typeface="Arial" panose="020B0604020202020204" pitchFamily="34" charset="0"/>
              </a:rPr>
              <a:t>hóa đơn </a:t>
            </a:r>
            <a:r>
              <a:rPr lang="en-US" sz="1600" b="1" dirty="0" err="1">
                <a:latin typeface="Arial" panose="020B0604020202020204" pitchFamily="34" charset="0"/>
                <a:cs typeface="Arial" panose="020B0604020202020204" pitchFamily="34" charset="0"/>
              </a:rPr>
              <a:t>điện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tử</a:t>
            </a:r>
            <a:r>
              <a:rPr lang="en-US" sz="1600" b="1" dirty="0">
                <a:latin typeface="Arial" panose="020B0604020202020204" pitchFamily="34" charset="0"/>
                <a:cs typeface="Arial" panose="020B0604020202020204" pitchFamily="34" charset="0"/>
              </a:rPr>
              <a:t> </a:t>
            </a:r>
            <a:r>
              <a:rPr lang="vi-VN" sz="1600" b="1" dirty="0">
                <a:cs typeface="Arial" panose="020B0604020202020204" pitchFamily="34" charset="0"/>
              </a:rPr>
              <a:t>đã thông báo phát hành trước đây</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theo</a:t>
            </a:r>
            <a:r>
              <a:rPr lang="en-US" sz="1600" b="1" dirty="0">
                <a:latin typeface="Arial" panose="020B0604020202020204" pitchFamily="34" charset="0"/>
                <a:cs typeface="Arial" panose="020B0604020202020204" pitchFamily="34" charset="0"/>
              </a:rPr>
              <a:t>  TT32</a:t>
            </a:r>
          </a:p>
        </p:txBody>
      </p:sp>
      <p:sp>
        <p:nvSpPr>
          <p:cNvPr id="70" name="TextBox 60"/>
          <p:cNvSpPr txBox="1">
            <a:spLocks noChangeArrowheads="1"/>
          </p:cNvSpPr>
          <p:nvPr/>
        </p:nvSpPr>
        <p:spPr bwMode="auto">
          <a:xfrm>
            <a:off x="2296307" y="1009977"/>
            <a:ext cx="46112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600" b="1">
                <a:solidFill>
                  <a:schemeClr val="tx1"/>
                </a:solidFill>
                <a:latin typeface="Arial (Body)"/>
              </a:rPr>
              <a:t>NNT sau khi được CQT chấp nhận SD HĐ ĐT theo NĐ 123/2020 thực </a:t>
            </a:r>
            <a:r>
              <a:rPr lang="en-US" altLang="en-US" sz="1600" b="1" smtClean="0">
                <a:solidFill>
                  <a:schemeClr val="tx1"/>
                </a:solidFill>
                <a:latin typeface="Arial (Body)"/>
              </a:rPr>
              <a:t>hiện </a:t>
            </a:r>
          </a:p>
          <a:p>
            <a:pPr algn="ctr">
              <a:spcBef>
                <a:spcPct val="0"/>
              </a:spcBef>
              <a:buClrTx/>
              <a:buFontTx/>
              <a:buNone/>
            </a:pPr>
            <a:r>
              <a:rPr lang="en-US" altLang="en-US" sz="1600" b="1" smtClean="0">
                <a:solidFill>
                  <a:schemeClr val="tx1"/>
                </a:solidFill>
                <a:latin typeface="Arial (Body)"/>
              </a:rPr>
              <a:t>(Khoản 3 Điều 15 Nghị định 123/2020/NĐ-CP)</a:t>
            </a:r>
            <a:endParaRPr lang="en-US" altLang="en-US" sz="1600" b="1">
              <a:solidFill>
                <a:schemeClr val="tx1"/>
              </a:solidFill>
              <a:latin typeface="Arial (Body)"/>
            </a:endParaRPr>
          </a:p>
        </p:txBody>
      </p:sp>
      <p:sp>
        <p:nvSpPr>
          <p:cNvPr id="71" name="Right Arrow 70"/>
          <p:cNvSpPr/>
          <p:nvPr/>
        </p:nvSpPr>
        <p:spPr>
          <a:xfrm>
            <a:off x="6796087" y="1331912"/>
            <a:ext cx="625475" cy="487405"/>
          </a:xfrm>
          <a:prstGeom prst="rightArrow">
            <a:avLst/>
          </a:prstGeom>
          <a:solidFill>
            <a:srgbClr val="A86ED4"/>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2" name="Down Arrow 71"/>
          <p:cNvSpPr/>
          <p:nvPr/>
        </p:nvSpPr>
        <p:spPr>
          <a:xfrm>
            <a:off x="4529796" y="1819319"/>
            <a:ext cx="393895" cy="228170"/>
          </a:xfrm>
          <a:prstGeom prst="downArrow">
            <a:avLst/>
          </a:prstGeom>
          <a:solidFill>
            <a:srgbClr val="A86ED4"/>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3" name="Right Arrow 72"/>
          <p:cNvSpPr/>
          <p:nvPr/>
        </p:nvSpPr>
        <p:spPr>
          <a:xfrm>
            <a:off x="6796088" y="4049713"/>
            <a:ext cx="571500" cy="401637"/>
          </a:xfrm>
          <a:prstGeom prst="rightArrow">
            <a:avLst/>
          </a:prstGeom>
          <a:solidFill>
            <a:srgbClr val="A86ED4"/>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5" name="Right Arrow 74"/>
          <p:cNvSpPr/>
          <p:nvPr/>
        </p:nvSpPr>
        <p:spPr>
          <a:xfrm>
            <a:off x="1425575" y="3749675"/>
            <a:ext cx="831850" cy="300038"/>
          </a:xfrm>
          <a:prstGeom prst="rightArrow">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76" name="Elbow Connector 75"/>
          <p:cNvCxnSpPr/>
          <p:nvPr/>
        </p:nvCxnSpPr>
        <p:spPr>
          <a:xfrm rot="5400000">
            <a:off x="5151438" y="1539875"/>
            <a:ext cx="38100" cy="8448675"/>
          </a:xfrm>
          <a:prstGeom prst="bentConnector3">
            <a:avLst>
              <a:gd name="adj1" fmla="val 2170745"/>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9779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91519"/>
            <a:ext cx="9900431" cy="769441"/>
          </a:xfrm>
          <a:prstGeom prst="rect">
            <a:avLst/>
          </a:prstGeom>
          <a:noFill/>
        </p:spPr>
        <p:txBody>
          <a:bodyPr wrap="square" rtlCol="0">
            <a:spAutoFit/>
          </a:bodyPr>
          <a:lstStyle/>
          <a:p>
            <a:pPr algn="ctr"/>
            <a:r>
              <a:rPr lang="en-US" sz="2200" b="1" smtClean="0">
                <a:solidFill>
                  <a:schemeClr val="accent1">
                    <a:lumMod val="50000"/>
                  </a:schemeClr>
                </a:solidFill>
                <a:latin typeface="Arial (Body)"/>
              </a:rPr>
              <a:t>6. </a:t>
            </a:r>
            <a:r>
              <a:rPr lang="vi-VN" sz="2200" b="1" smtClean="0">
                <a:solidFill>
                  <a:schemeClr val="accent1">
                    <a:lumMod val="50000"/>
                  </a:schemeClr>
                </a:solidFill>
                <a:latin typeface="Arial (Body)"/>
              </a:rPr>
              <a:t>NGUYÊN TẮC</a:t>
            </a:r>
            <a:r>
              <a:rPr lang="en-US" sz="2200" b="1" smtClean="0">
                <a:solidFill>
                  <a:schemeClr val="accent1">
                    <a:lumMod val="50000"/>
                  </a:schemeClr>
                </a:solidFill>
                <a:latin typeface="Arial (Body)"/>
              </a:rPr>
              <a:t>, THỜI ĐIỂM</a:t>
            </a:r>
            <a:r>
              <a:rPr lang="vi-VN" sz="2200" b="1" smtClean="0">
                <a:solidFill>
                  <a:schemeClr val="accent1">
                    <a:lumMod val="50000"/>
                  </a:schemeClr>
                </a:solidFill>
                <a:latin typeface="Arial (Body)"/>
              </a:rPr>
              <a:t> LẬP HÓA ĐƠN ĐIỆN TỬ</a:t>
            </a:r>
          </a:p>
          <a:p>
            <a:pPr algn="ctr"/>
            <a:endParaRPr lang="vi-VN" sz="2200" b="1">
              <a:solidFill>
                <a:schemeClr val="accent1">
                  <a:lumMod val="50000"/>
                </a:schemeClr>
              </a:solidFill>
              <a:latin typeface="Arial (Body)"/>
            </a:endParaRPr>
          </a:p>
        </p:txBody>
      </p:sp>
      <p:sp>
        <p:nvSpPr>
          <p:cNvPr id="30" name="Content Placeholder 2"/>
          <p:cNvSpPr txBox="1">
            <a:spLocks/>
          </p:cNvSpPr>
          <p:nvPr/>
        </p:nvSpPr>
        <p:spPr>
          <a:xfrm>
            <a:off x="677863" y="966788"/>
            <a:ext cx="11222037" cy="5075237"/>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en-US" b="1" smtClean="0">
                <a:solidFill>
                  <a:schemeClr val="accent1">
                    <a:lumMod val="50000"/>
                  </a:schemeClr>
                </a:solidFill>
                <a:latin typeface="Arial" panose="020B0604020202020204" pitchFamily="34" charset="0"/>
                <a:cs typeface="Arial" panose="020B0604020202020204" pitchFamily="34" charset="0"/>
              </a:rPr>
              <a:t>NGUYÊN TẮC LẬP HÓA ĐƠN ĐIỆN TỬ</a:t>
            </a:r>
          </a:p>
          <a:p>
            <a:pPr>
              <a:defRPr/>
            </a:pPr>
            <a:endParaRPr lang="en-US" b="1" smtClean="0">
              <a:solidFill>
                <a:schemeClr val="accent1">
                  <a:lumMod val="50000"/>
                </a:schemeClr>
              </a:solidFill>
              <a:latin typeface="Arial" panose="020B0604020202020204" pitchFamily="34" charset="0"/>
              <a:cs typeface="Arial" panose="020B0604020202020204" pitchFamily="34" charset="0"/>
            </a:endParaRPr>
          </a:p>
          <a:p>
            <a:pPr algn="l">
              <a:buFont typeface="Wingdings 3" charset="2"/>
              <a:buChar char=""/>
              <a:defRPr/>
            </a:pPr>
            <a:r>
              <a:rPr lang="en-US" smtClean="0">
                <a:solidFill>
                  <a:schemeClr val="tx1">
                    <a:lumMod val="75000"/>
                    <a:lumOff val="25000"/>
                  </a:schemeClr>
                </a:solidFill>
                <a:latin typeface="Arial" panose="020B0604020202020204" pitchFamily="34" charset="0"/>
                <a:cs typeface="Arial" panose="020B0604020202020204" pitchFamily="34" charset="0"/>
              </a:rPr>
              <a:t>Khi bán hàng hóa, cung cấp dịch vụ, người bán phải lập hóa đơn để giao cho người mua bao gồm cả các trường hợp sau:</a:t>
            </a:r>
          </a:p>
          <a:p>
            <a:pPr algn="l">
              <a:buFont typeface="Wingdings 3" panose="05040102010807070707" pitchFamily="18" charset="2"/>
              <a:buNone/>
              <a:defRPr/>
            </a:pPr>
            <a:r>
              <a:rPr lang="en-US" smtClean="0">
                <a:solidFill>
                  <a:schemeClr val="tx1">
                    <a:lumMod val="75000"/>
                    <a:lumOff val="25000"/>
                  </a:schemeClr>
                </a:solidFill>
                <a:latin typeface="Arial" panose="020B0604020202020204" pitchFamily="34" charset="0"/>
                <a:cs typeface="Arial" panose="020B0604020202020204" pitchFamily="34" charset="0"/>
              </a:rPr>
              <a:t>                 + Hàng hóa, dịch vụ dùng để khuyến mại, quảng cáo, hàng mẫu;</a:t>
            </a:r>
          </a:p>
          <a:p>
            <a:pPr algn="l">
              <a:buFont typeface="Wingdings 3" panose="05040102010807070707" pitchFamily="18" charset="2"/>
              <a:buNone/>
              <a:defRPr/>
            </a:pPr>
            <a:r>
              <a:rPr lang="en-US" smtClean="0">
                <a:solidFill>
                  <a:schemeClr val="tx1">
                    <a:lumMod val="75000"/>
                    <a:lumOff val="25000"/>
                  </a:schemeClr>
                </a:solidFill>
                <a:latin typeface="Arial" panose="020B0604020202020204" pitchFamily="34" charset="0"/>
                <a:cs typeface="Arial" panose="020B0604020202020204" pitchFamily="34" charset="0"/>
              </a:rPr>
              <a:t>                 + Hàng hóa, dịch vụ dùng để cho, biếu, tặng, trao đổi, trả thay lương cho người lao động và tiêu dùng nội bộ (trừ hàng hóa luân chuyển nội bộ để tiếp tục quá trình sản xuất);</a:t>
            </a:r>
          </a:p>
          <a:p>
            <a:pPr algn="l">
              <a:buFont typeface="Wingdings 3" panose="05040102010807070707" pitchFamily="18" charset="2"/>
              <a:buNone/>
              <a:defRPr/>
            </a:pPr>
            <a:r>
              <a:rPr lang="en-US" smtClean="0">
                <a:solidFill>
                  <a:srgbClr val="FF0000"/>
                </a:solidFill>
                <a:latin typeface="Arial" panose="020B0604020202020204" pitchFamily="34" charset="0"/>
                <a:cs typeface="Arial" panose="020B0604020202020204" pitchFamily="34" charset="0"/>
              </a:rPr>
              <a:t>                 + Xuất hàng hóa dưới các hình thức cho vay, cho mượn hoặc hoàn trả hàng hóa</a:t>
            </a:r>
            <a:r>
              <a:rPr lang="en-US" smtClean="0">
                <a:solidFill>
                  <a:schemeClr val="tx1">
                    <a:lumMod val="75000"/>
                    <a:lumOff val="25000"/>
                  </a:schemeClr>
                </a:solidFill>
                <a:latin typeface="Arial" panose="020B0604020202020204" pitchFamily="34" charset="0"/>
                <a:cs typeface="Arial" panose="020B0604020202020204" pitchFamily="34" charset="0"/>
              </a:rPr>
              <a:t>.</a:t>
            </a:r>
          </a:p>
          <a:p>
            <a:pPr algn="l">
              <a:buFont typeface="Wingdings 3" charset="2"/>
              <a:buChar char=""/>
              <a:defRPr/>
            </a:pPr>
            <a:r>
              <a:rPr lang="en-US" smtClean="0">
                <a:solidFill>
                  <a:schemeClr val="tx1">
                    <a:lumMod val="75000"/>
                    <a:lumOff val="25000"/>
                  </a:schemeClr>
                </a:solidFill>
                <a:latin typeface="Arial" panose="020B0604020202020204" pitchFamily="34" charset="0"/>
                <a:cs typeface="Arial" panose="020B0604020202020204" pitchFamily="34" charset="0"/>
              </a:rPr>
              <a:t>Phải ghi đầy đủ nội dung theo quy định tại Điều 10 Nghị định 123/2020/NĐ-CP.</a:t>
            </a:r>
            <a:endParaRPr lang="en-US" i="1" smtClean="0">
              <a:solidFill>
                <a:schemeClr val="tx1">
                  <a:lumMod val="75000"/>
                  <a:lumOff val="25000"/>
                </a:schemeClr>
              </a:solidFill>
              <a:latin typeface="Arial" panose="020B0604020202020204" pitchFamily="34" charset="0"/>
              <a:cs typeface="Arial" panose="020B0604020202020204" pitchFamily="34" charset="0"/>
            </a:endParaRPr>
          </a:p>
          <a:p>
            <a:pPr algn="l">
              <a:buFont typeface="Wingdings 3" charset="2"/>
              <a:buChar char=""/>
              <a:defRPr/>
            </a:pPr>
            <a:r>
              <a:rPr lang="en-US" smtClean="0">
                <a:solidFill>
                  <a:schemeClr val="tx1">
                    <a:lumMod val="75000"/>
                    <a:lumOff val="25000"/>
                  </a:schemeClr>
                </a:solidFill>
                <a:latin typeface="Arial" panose="020B0604020202020204" pitchFamily="34" charset="0"/>
                <a:cs typeface="Arial" panose="020B0604020202020204" pitchFamily="34" charset="0"/>
              </a:rPr>
              <a:t>Phải theo định dạng chuẩn dữ liệu của cơ quan thuế theo quy định tại Điều 12 Nghị định số 123/2020/NĐ-CP.</a:t>
            </a:r>
          </a:p>
          <a:p>
            <a:pPr algn="l">
              <a:buFont typeface="Wingdings 3" charset="2"/>
              <a:buChar char=""/>
              <a:defRPr/>
            </a:pPr>
            <a:endParaRPr lang="en-US" smtClean="0">
              <a:solidFill>
                <a:schemeClr val="tx1">
                  <a:lumMod val="75000"/>
                  <a:lumOff val="25000"/>
                </a:schemeClr>
              </a:solidFill>
              <a:latin typeface="Arial" panose="020B0604020202020204" pitchFamily="34" charset="0"/>
              <a:cs typeface="Arial" panose="020B0604020202020204" pitchFamily="34" charset="0"/>
            </a:endParaRPr>
          </a:p>
          <a:p>
            <a:pPr>
              <a:buFont typeface="Wingdings 3" panose="05040102010807070707" pitchFamily="18" charset="2"/>
              <a:buNone/>
              <a:defRPr/>
            </a:pPr>
            <a:r>
              <a:rPr lang="en-US" i="1" smtClean="0">
                <a:solidFill>
                  <a:schemeClr val="tx1">
                    <a:lumMod val="75000"/>
                    <a:lumOff val="25000"/>
                  </a:schemeClr>
                </a:solidFill>
                <a:latin typeface="Arial" panose="020B0604020202020204" pitchFamily="34" charset="0"/>
                <a:cs typeface="Arial" panose="020B0604020202020204" pitchFamily="34" charset="0"/>
              </a:rPr>
              <a:t>(Điều 4 Nghị định số 123/2020/NĐ-CP). </a:t>
            </a:r>
            <a:endParaRPr 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3" name="Oval 12"/>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2547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1278437709"/>
              </p:ext>
            </p:extLst>
          </p:nvPr>
        </p:nvGraphicFramePr>
        <p:xfrm>
          <a:off x="452712" y="1547343"/>
          <a:ext cx="11222037" cy="4941888"/>
        </p:xfrm>
        <a:graphic>
          <a:graphicData uri="http://schemas.openxmlformats.org/drawingml/2006/table">
            <a:tbl>
              <a:tblPr firstRow="1" bandRow="1">
                <a:tableStyleId>{5C22544A-7EE6-4342-B048-85BDC9FD1C3A}</a:tableStyleId>
              </a:tblPr>
              <a:tblGrid>
                <a:gridCol w="719865">
                  <a:extLst>
                    <a:ext uri="{9D8B030D-6E8A-4147-A177-3AD203B41FA5}">
                      <a16:colId xmlns:a16="http://schemas.microsoft.com/office/drawing/2014/main" val="1532018645"/>
                    </a:ext>
                  </a:extLst>
                </a:gridCol>
                <a:gridCol w="3235703">
                  <a:extLst>
                    <a:ext uri="{9D8B030D-6E8A-4147-A177-3AD203B41FA5}">
                      <a16:colId xmlns:a16="http://schemas.microsoft.com/office/drawing/2014/main" val="2061233812"/>
                    </a:ext>
                  </a:extLst>
                </a:gridCol>
                <a:gridCol w="7266469">
                  <a:extLst>
                    <a:ext uri="{9D8B030D-6E8A-4147-A177-3AD203B41FA5}">
                      <a16:colId xmlns:a16="http://schemas.microsoft.com/office/drawing/2014/main" val="3593468682"/>
                    </a:ext>
                  </a:extLst>
                </a:gridCol>
              </a:tblGrid>
              <a:tr h="387030">
                <a:tc>
                  <a:txBody>
                    <a:bodyPr/>
                    <a:lstStyle/>
                    <a:p>
                      <a:pPr algn="ctr"/>
                      <a:r>
                        <a:rPr lang="en-US" sz="1800" dirty="0" smtClean="0">
                          <a:latin typeface="Arial" panose="020B0604020202020204" pitchFamily="34" charset="0"/>
                          <a:cs typeface="Arial" panose="020B0604020202020204" pitchFamily="34" charset="0"/>
                        </a:rPr>
                        <a:t>STT</a:t>
                      </a:r>
                      <a:endParaRPr lang="en-US" sz="1800" dirty="0">
                        <a:latin typeface="Arial" panose="020B0604020202020204" pitchFamily="34" charset="0"/>
                        <a:cs typeface="Arial" panose="020B0604020202020204" pitchFamily="34" charset="0"/>
                      </a:endParaRPr>
                    </a:p>
                  </a:txBody>
                  <a:tcPr marT="45718" marB="45718"/>
                </a:tc>
                <a:tc>
                  <a:txBody>
                    <a:bodyPr/>
                    <a:lstStyle/>
                    <a:p>
                      <a:pPr algn="ctr"/>
                      <a:r>
                        <a:rPr lang="en-US" sz="1800" dirty="0" smtClean="0">
                          <a:latin typeface="Arial" panose="020B0604020202020204" pitchFamily="34" charset="0"/>
                          <a:cs typeface="Arial" panose="020B0604020202020204" pitchFamily="34" charset="0"/>
                        </a:rPr>
                        <a:t>NỘI</a:t>
                      </a:r>
                      <a:r>
                        <a:rPr lang="en-US" sz="1800" baseline="0" dirty="0" smtClean="0">
                          <a:latin typeface="Arial" panose="020B0604020202020204" pitchFamily="34" charset="0"/>
                          <a:cs typeface="Arial" panose="020B0604020202020204" pitchFamily="34" charset="0"/>
                        </a:rPr>
                        <a:t> DUNG</a:t>
                      </a:r>
                      <a:endParaRPr lang="en-US" sz="1800" dirty="0">
                        <a:latin typeface="Arial" panose="020B0604020202020204" pitchFamily="34" charset="0"/>
                        <a:cs typeface="Arial" panose="020B0604020202020204" pitchFamily="34" charset="0"/>
                      </a:endParaRPr>
                    </a:p>
                  </a:txBody>
                  <a:tcPr marT="45718" marB="45718"/>
                </a:tc>
                <a:tc>
                  <a:txBody>
                    <a:bodyPr/>
                    <a:lstStyle/>
                    <a:p>
                      <a:pPr algn="ctr"/>
                      <a:r>
                        <a:rPr lang="en-US" sz="1800" dirty="0" smtClean="0">
                          <a:latin typeface="Arial" panose="020B0604020202020204" pitchFamily="34" charset="0"/>
                          <a:cs typeface="Arial" panose="020B0604020202020204" pitchFamily="34" charset="0"/>
                        </a:rPr>
                        <a:t>THỜI</a:t>
                      </a:r>
                      <a:r>
                        <a:rPr lang="en-US" sz="1800" baseline="0" dirty="0" smtClean="0">
                          <a:latin typeface="Arial" panose="020B0604020202020204" pitchFamily="34" charset="0"/>
                          <a:cs typeface="Arial" panose="020B0604020202020204" pitchFamily="34" charset="0"/>
                        </a:rPr>
                        <a:t> ĐIỂM LẬP HÓA ĐƠN</a:t>
                      </a:r>
                      <a:endParaRPr lang="en-US" sz="1800" dirty="0">
                        <a:latin typeface="Arial" panose="020B0604020202020204" pitchFamily="34" charset="0"/>
                        <a:cs typeface="Arial" panose="020B0604020202020204" pitchFamily="34" charset="0"/>
                      </a:endParaRPr>
                    </a:p>
                  </a:txBody>
                  <a:tcPr marT="45718" marB="45718"/>
                </a:tc>
                <a:extLst>
                  <a:ext uri="{0D108BD9-81ED-4DB2-BD59-A6C34878D82A}">
                    <a16:rowId xmlns:a16="http://schemas.microsoft.com/office/drawing/2014/main" val="1576201882"/>
                  </a:ext>
                </a:extLst>
              </a:tr>
              <a:tr h="825057">
                <a:tc>
                  <a:txBody>
                    <a:bodyPr/>
                    <a:lstStyle/>
                    <a:p>
                      <a:pPr algn="ctr"/>
                      <a:r>
                        <a:rPr lang="en-US" sz="1600" b="1" dirty="0" smtClean="0">
                          <a:latin typeface="Arial" panose="020B0604020202020204" pitchFamily="34" charset="0"/>
                          <a:cs typeface="Arial" panose="020B0604020202020204" pitchFamily="34" charset="0"/>
                        </a:rPr>
                        <a:t>1</a:t>
                      </a:r>
                      <a:endParaRPr lang="en-US" sz="1600" b="1" dirty="0">
                        <a:latin typeface="Arial" panose="020B0604020202020204" pitchFamily="34" charset="0"/>
                        <a:cs typeface="Arial" panose="020B0604020202020204" pitchFamily="34" charset="0"/>
                      </a:endParaRPr>
                    </a:p>
                  </a:txBody>
                  <a:tcPr marT="45718" marB="45718"/>
                </a:tc>
                <a:tc>
                  <a:txBody>
                    <a:bodyPr/>
                    <a:lstStyle/>
                    <a:p>
                      <a:r>
                        <a:rPr lang="en-US" sz="1600" b="1" i="0" kern="1200" dirty="0" smtClean="0">
                          <a:solidFill>
                            <a:schemeClr val="dk1"/>
                          </a:solidFill>
                          <a:effectLst/>
                          <a:latin typeface="Arial" panose="020B0604020202020204" pitchFamily="34" charset="0"/>
                          <a:ea typeface="+mn-ea"/>
                          <a:cs typeface="Arial" panose="020B0604020202020204" pitchFamily="34" charset="0"/>
                        </a:rPr>
                        <a:t>B</a:t>
                      </a:r>
                      <a:r>
                        <a:rPr lang="x-none" sz="1600" b="1" i="0" kern="1200" dirty="0" smtClean="0">
                          <a:solidFill>
                            <a:schemeClr val="dk1"/>
                          </a:solidFill>
                          <a:effectLst/>
                          <a:latin typeface="Arial" panose="020B0604020202020204" pitchFamily="34" charset="0"/>
                          <a:ea typeface="+mn-ea"/>
                          <a:cs typeface="Arial" panose="020B0604020202020204" pitchFamily="34" charset="0"/>
                        </a:rPr>
                        <a:t>án hàng hóa </a:t>
                      </a:r>
                      <a:endParaRPr lang="en-US" sz="1600" b="1" i="0" dirty="0">
                        <a:latin typeface="Arial" panose="020B0604020202020204" pitchFamily="34" charset="0"/>
                        <a:cs typeface="Arial" panose="020B0604020202020204" pitchFamily="34" charset="0"/>
                      </a:endParaRPr>
                    </a:p>
                  </a:txBody>
                  <a:tcPr marT="45718" marB="45718"/>
                </a:tc>
                <a:tc>
                  <a:txBody>
                    <a:bodyPr/>
                    <a:lstStyle/>
                    <a:p>
                      <a:r>
                        <a:rPr lang="en-US" sz="1600" b="1" kern="1200" dirty="0" smtClean="0">
                          <a:solidFill>
                            <a:schemeClr val="dk1"/>
                          </a:solidFill>
                          <a:effectLst/>
                          <a:latin typeface="Arial" panose="020B0604020202020204" pitchFamily="34" charset="0"/>
                          <a:ea typeface="+mn-ea"/>
                          <a:cs typeface="Arial" panose="020B0604020202020204" pitchFamily="34" charset="0"/>
                        </a:rPr>
                        <a:t>C</a:t>
                      </a:r>
                      <a:r>
                        <a:rPr lang="x-none" sz="1600" b="1" kern="1200" dirty="0" smtClean="0">
                          <a:solidFill>
                            <a:schemeClr val="dk1"/>
                          </a:solidFill>
                          <a:effectLst/>
                          <a:latin typeface="Arial" panose="020B0604020202020204" pitchFamily="34" charset="0"/>
                          <a:ea typeface="+mn-ea"/>
                          <a:cs typeface="Arial" panose="020B0604020202020204" pitchFamily="34" charset="0"/>
                        </a:rPr>
                        <a:t>huyển giao quyền sở hữu hoặc quyền sử dụng hàng hóa cho người mua, không phân biệt đã thu được tiền hay chưa thu được tiền</a:t>
                      </a:r>
                      <a:endParaRPr lang="en-US" sz="1600" b="1" dirty="0">
                        <a:latin typeface="Arial" panose="020B0604020202020204" pitchFamily="34" charset="0"/>
                        <a:cs typeface="Arial" panose="020B0604020202020204" pitchFamily="34" charset="0"/>
                      </a:endParaRPr>
                    </a:p>
                  </a:txBody>
                  <a:tcPr marT="45718" marB="45718"/>
                </a:tc>
                <a:extLst>
                  <a:ext uri="{0D108BD9-81ED-4DB2-BD59-A6C34878D82A}">
                    <a16:rowId xmlns:a16="http://schemas.microsoft.com/office/drawing/2014/main" val="3346791644"/>
                  </a:ext>
                </a:extLst>
              </a:tr>
              <a:tr h="777088">
                <a:tc>
                  <a:txBody>
                    <a:bodyPr/>
                    <a:lstStyle/>
                    <a:p>
                      <a:pPr algn="ctr"/>
                      <a:r>
                        <a:rPr lang="en-US" sz="1600" b="1" dirty="0" smtClean="0">
                          <a:latin typeface="Arial" panose="020B0604020202020204" pitchFamily="34" charset="0"/>
                          <a:cs typeface="Arial" panose="020B0604020202020204" pitchFamily="34" charset="0"/>
                        </a:rPr>
                        <a:t>2</a:t>
                      </a:r>
                      <a:endParaRPr lang="en-US" sz="1600" b="1" dirty="0">
                        <a:latin typeface="Arial" panose="020B0604020202020204" pitchFamily="34" charset="0"/>
                        <a:cs typeface="Arial" panose="020B0604020202020204" pitchFamily="34" charset="0"/>
                      </a:endParaRPr>
                    </a:p>
                  </a:txBody>
                  <a:tcPr marT="45718" marB="45718"/>
                </a:tc>
                <a:tc>
                  <a:txBody>
                    <a:bodyPr/>
                    <a:lstStyle/>
                    <a:p>
                      <a:r>
                        <a:rPr lang="en-US" sz="1600" b="1" i="0" kern="1200" dirty="0" smtClean="0">
                          <a:solidFill>
                            <a:schemeClr val="dk1"/>
                          </a:solidFill>
                          <a:effectLst/>
                          <a:latin typeface="Arial" panose="020B0604020202020204" pitchFamily="34" charset="0"/>
                          <a:ea typeface="+mn-ea"/>
                          <a:cs typeface="Arial" panose="020B0604020202020204" pitchFamily="34" charset="0"/>
                        </a:rPr>
                        <a:t>C</a:t>
                      </a:r>
                      <a:r>
                        <a:rPr lang="x-none" sz="1600" b="1" i="0" kern="1200" dirty="0" smtClean="0">
                          <a:solidFill>
                            <a:schemeClr val="dk1"/>
                          </a:solidFill>
                          <a:effectLst/>
                          <a:latin typeface="Arial" panose="020B0604020202020204" pitchFamily="34" charset="0"/>
                          <a:ea typeface="+mn-ea"/>
                          <a:cs typeface="Arial" panose="020B0604020202020204" pitchFamily="34" charset="0"/>
                        </a:rPr>
                        <a:t>ung cấp dịch vụ </a:t>
                      </a:r>
                      <a:endParaRPr lang="en-US" sz="1600" b="1" i="0" dirty="0">
                        <a:latin typeface="Arial" panose="020B0604020202020204" pitchFamily="34" charset="0"/>
                        <a:cs typeface="Arial" panose="020B0604020202020204" pitchFamily="34" charset="0"/>
                      </a:endParaRPr>
                    </a:p>
                  </a:txBody>
                  <a:tcPr marT="45718" marB="45718"/>
                </a:tc>
                <a:tc>
                  <a:txBody>
                    <a:bodyPr/>
                    <a:lstStyle/>
                    <a:p>
                      <a:r>
                        <a:rPr lang="en-US" sz="1600" b="1" kern="1200" dirty="0" smtClean="0">
                          <a:solidFill>
                            <a:schemeClr val="dk1"/>
                          </a:solidFill>
                          <a:effectLst/>
                          <a:latin typeface="Arial" panose="020B0604020202020204" pitchFamily="34" charset="0"/>
                          <a:ea typeface="+mn-ea"/>
                          <a:cs typeface="Arial" panose="020B0604020202020204" pitchFamily="34" charset="0"/>
                        </a:rPr>
                        <a:t>H</a:t>
                      </a:r>
                      <a:r>
                        <a:rPr lang="x-none" sz="1600" b="1" kern="1200" dirty="0" smtClean="0">
                          <a:solidFill>
                            <a:schemeClr val="dk1"/>
                          </a:solidFill>
                          <a:effectLst/>
                          <a:latin typeface="Arial" panose="020B0604020202020204" pitchFamily="34" charset="0"/>
                          <a:ea typeface="+mn-ea"/>
                          <a:cs typeface="Arial" panose="020B0604020202020204" pitchFamily="34" charset="0"/>
                        </a:rPr>
                        <a:t>oàn thành việc cung cấp dịch vụ không phân biệt đã thu được tiền hay chưa thu được tiền</a:t>
                      </a:r>
                      <a:endParaRPr lang="en-US" sz="1600" b="1" dirty="0">
                        <a:latin typeface="Arial" panose="020B0604020202020204" pitchFamily="34" charset="0"/>
                        <a:cs typeface="Arial" panose="020B0604020202020204" pitchFamily="34" charset="0"/>
                      </a:endParaRPr>
                    </a:p>
                  </a:txBody>
                  <a:tcPr marT="45718" marB="45718"/>
                </a:tc>
                <a:extLst>
                  <a:ext uri="{0D108BD9-81ED-4DB2-BD59-A6C34878D82A}">
                    <a16:rowId xmlns:a16="http://schemas.microsoft.com/office/drawing/2014/main" val="3319135248"/>
                  </a:ext>
                </a:extLst>
              </a:tr>
              <a:tr h="1281514">
                <a:tc>
                  <a:txBody>
                    <a:bodyPr/>
                    <a:lstStyle/>
                    <a:p>
                      <a:pPr algn="ctr"/>
                      <a:endParaRPr lang="en-US" sz="1600" dirty="0">
                        <a:latin typeface="Arial" panose="020B0604020202020204" pitchFamily="34" charset="0"/>
                        <a:cs typeface="Arial" panose="020B0604020202020204" pitchFamily="34" charset="0"/>
                      </a:endParaRPr>
                    </a:p>
                  </a:txBody>
                  <a:tcPr marT="45718" marB="45718"/>
                </a:tc>
                <a:tc>
                  <a:txBody>
                    <a:bodyPr/>
                    <a:lstStyle/>
                    <a:p>
                      <a:r>
                        <a:rPr lang="en-US" sz="1600" b="0" i="0" kern="1200" dirty="0" smtClean="0">
                          <a:solidFill>
                            <a:schemeClr val="dk1"/>
                          </a:solidFill>
                          <a:effectLst/>
                          <a:latin typeface="Arial" panose="020B0604020202020204" pitchFamily="34" charset="0"/>
                          <a:ea typeface="+mn-ea"/>
                          <a:cs typeface="Arial" panose="020B0604020202020204" pitchFamily="34" charset="0"/>
                        </a:rPr>
                        <a:t>C</a:t>
                      </a:r>
                      <a:r>
                        <a:rPr lang="x-none" sz="1600" b="0" i="0" kern="1200" dirty="0" smtClean="0">
                          <a:solidFill>
                            <a:schemeClr val="dk1"/>
                          </a:solidFill>
                          <a:effectLst/>
                          <a:latin typeface="Arial" panose="020B0604020202020204" pitchFamily="34" charset="0"/>
                          <a:ea typeface="+mn-ea"/>
                          <a:cs typeface="Arial" panose="020B0604020202020204" pitchFamily="34" charset="0"/>
                        </a:rPr>
                        <a:t>ung cấp dịch vụ có thu tiền trước hoặc trong khi cung cấp dịch vụ</a:t>
                      </a:r>
                      <a:endParaRPr lang="en-US" sz="1600" b="0" i="0" dirty="0">
                        <a:latin typeface="Arial" panose="020B0604020202020204" pitchFamily="34" charset="0"/>
                        <a:cs typeface="Arial" panose="020B0604020202020204" pitchFamily="34" charset="0"/>
                      </a:endParaRPr>
                    </a:p>
                  </a:txBody>
                  <a:tcPr marT="45718" marB="45718"/>
                </a:tc>
                <a:tc>
                  <a:txBody>
                    <a:bodyPr/>
                    <a:lstStyle/>
                    <a:p>
                      <a:r>
                        <a:rPr lang="en-US" sz="1600" kern="1200" dirty="0" smtClean="0">
                          <a:solidFill>
                            <a:schemeClr val="dk1"/>
                          </a:solidFill>
                          <a:effectLst/>
                          <a:latin typeface="Arial" panose="020B0604020202020204" pitchFamily="34" charset="0"/>
                          <a:ea typeface="+mn-ea"/>
                          <a:cs typeface="Arial" panose="020B0604020202020204" pitchFamily="34" charset="0"/>
                        </a:rPr>
                        <a:t>T</a:t>
                      </a:r>
                      <a:r>
                        <a:rPr lang="x-none" sz="1600" kern="1200" dirty="0" smtClean="0">
                          <a:solidFill>
                            <a:schemeClr val="dk1"/>
                          </a:solidFill>
                          <a:effectLst/>
                          <a:latin typeface="Arial" panose="020B0604020202020204" pitchFamily="34" charset="0"/>
                          <a:ea typeface="+mn-ea"/>
                          <a:cs typeface="Arial" panose="020B0604020202020204" pitchFamily="34" charset="0"/>
                        </a:rPr>
                        <a:t>hu tiền (không bao gồm trường hợp thu tiền đặt cọc hoặc tạm ứng để đảm bảo thực hiện hợp đồng cung cấp các dịch vụ: kế toán, kiểm toán, tư vấn tài chính, thuế; thẩm định giá; khảo sát, thiết kế kỹ thuật; tư vấn giám sát; lập dự án đầu tư xây dựng)</a:t>
                      </a:r>
                      <a:endParaRPr lang="en-US" sz="1600" dirty="0">
                        <a:latin typeface="Arial" panose="020B0604020202020204" pitchFamily="34" charset="0"/>
                        <a:cs typeface="Arial" panose="020B0604020202020204" pitchFamily="34" charset="0"/>
                      </a:endParaRPr>
                    </a:p>
                  </a:txBody>
                  <a:tcPr marT="45718" marB="45718"/>
                </a:tc>
                <a:extLst>
                  <a:ext uri="{0D108BD9-81ED-4DB2-BD59-A6C34878D82A}">
                    <a16:rowId xmlns:a16="http://schemas.microsoft.com/office/drawing/2014/main" val="2115499112"/>
                  </a:ext>
                </a:extLst>
              </a:tr>
              <a:tr h="1066796">
                <a:tc>
                  <a:txBody>
                    <a:bodyPr/>
                    <a:lstStyle/>
                    <a:p>
                      <a:pPr algn="ctr"/>
                      <a:r>
                        <a:rPr lang="en-US" sz="1600" b="1" dirty="0" smtClean="0">
                          <a:latin typeface="Arial" panose="020B0604020202020204" pitchFamily="34" charset="0"/>
                          <a:cs typeface="Arial" panose="020B0604020202020204" pitchFamily="34" charset="0"/>
                        </a:rPr>
                        <a:t>3</a:t>
                      </a:r>
                      <a:endParaRPr lang="en-US" sz="1600" b="1" dirty="0">
                        <a:latin typeface="Arial" panose="020B0604020202020204" pitchFamily="34" charset="0"/>
                        <a:cs typeface="Arial" panose="020B0604020202020204" pitchFamily="34" charset="0"/>
                      </a:endParaRPr>
                    </a:p>
                  </a:txBody>
                  <a:tcPr marT="45718" marB="45718"/>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b="1" i="0" kern="1200" dirty="0" smtClean="0">
                          <a:solidFill>
                            <a:schemeClr val="dk1"/>
                          </a:solidFill>
                          <a:effectLst/>
                          <a:latin typeface="Arial" panose="020B0604020202020204" pitchFamily="34" charset="0"/>
                          <a:ea typeface="+mn-ea"/>
                          <a:cs typeface="Arial" panose="020B0604020202020204" pitchFamily="34" charset="0"/>
                        </a:rPr>
                        <a:t>G</a:t>
                      </a:r>
                      <a:r>
                        <a:rPr lang="x-none" sz="1600" b="1" i="0" kern="1200" dirty="0" smtClean="0">
                          <a:solidFill>
                            <a:schemeClr val="dk1"/>
                          </a:solidFill>
                          <a:effectLst/>
                          <a:latin typeface="Arial" panose="020B0604020202020204" pitchFamily="34" charset="0"/>
                          <a:ea typeface="+mn-ea"/>
                          <a:cs typeface="Arial" panose="020B0604020202020204" pitchFamily="34" charset="0"/>
                        </a:rPr>
                        <a:t>iao hàng nhiều lần hoặc bàn giao từng hạng mục, công đoạn dịch vụ</a:t>
                      </a:r>
                      <a:endParaRPr lang="en-US" sz="1600" b="1" i="0" kern="1200" dirty="0" smtClean="0">
                        <a:solidFill>
                          <a:schemeClr val="dk1"/>
                        </a:solidFill>
                        <a:effectLst/>
                        <a:latin typeface="Arial" panose="020B0604020202020204" pitchFamily="34" charset="0"/>
                        <a:ea typeface="+mn-ea"/>
                        <a:cs typeface="Arial" panose="020B0604020202020204" pitchFamily="34" charset="0"/>
                      </a:endParaRPr>
                    </a:p>
                    <a:p>
                      <a:endParaRPr lang="en-US" sz="1600" b="1" i="0" dirty="0">
                        <a:latin typeface="Arial" panose="020B0604020202020204" pitchFamily="34" charset="0"/>
                        <a:cs typeface="Arial" panose="020B0604020202020204" pitchFamily="34" charset="0"/>
                      </a:endParaRPr>
                    </a:p>
                  </a:txBody>
                  <a:tcPr marT="45718" marB="45718"/>
                </a:tc>
                <a:tc>
                  <a:txBody>
                    <a:bodyPr/>
                    <a:lstStyle/>
                    <a:p>
                      <a:r>
                        <a:rPr lang="en-US" sz="1600" b="1" kern="1200" dirty="0" smtClean="0">
                          <a:solidFill>
                            <a:schemeClr val="dk1"/>
                          </a:solidFill>
                          <a:effectLst/>
                          <a:latin typeface="Arial" panose="020B0604020202020204" pitchFamily="34" charset="0"/>
                          <a:ea typeface="+mn-ea"/>
                          <a:cs typeface="Arial" panose="020B0604020202020204" pitchFamily="34" charset="0"/>
                        </a:rPr>
                        <a:t>M</a:t>
                      </a:r>
                      <a:r>
                        <a:rPr lang="x-none" sz="1600" b="1" kern="1200" dirty="0" smtClean="0">
                          <a:solidFill>
                            <a:schemeClr val="dk1"/>
                          </a:solidFill>
                          <a:effectLst/>
                          <a:latin typeface="Arial" panose="020B0604020202020204" pitchFamily="34" charset="0"/>
                          <a:ea typeface="+mn-ea"/>
                          <a:cs typeface="Arial" panose="020B0604020202020204" pitchFamily="34" charset="0"/>
                        </a:rPr>
                        <a:t>ỗi lần giao hàng hoặc bàn giao đều phải lập hóa đơn cho khối lượng, giá trị hàng hóa, dịch vụ được giao tương ứng</a:t>
                      </a:r>
                      <a:endParaRPr lang="en-US" sz="1600" b="1" dirty="0">
                        <a:latin typeface="Arial" panose="020B0604020202020204" pitchFamily="34" charset="0"/>
                        <a:cs typeface="Arial" panose="020B0604020202020204" pitchFamily="34" charset="0"/>
                      </a:endParaRPr>
                    </a:p>
                  </a:txBody>
                  <a:tcPr marT="45718" marB="45718"/>
                </a:tc>
                <a:extLst>
                  <a:ext uri="{0D108BD9-81ED-4DB2-BD59-A6C34878D82A}">
                    <a16:rowId xmlns:a16="http://schemas.microsoft.com/office/drawing/2014/main" val="2332181491"/>
                  </a:ext>
                </a:extLst>
              </a:tr>
              <a:tr h="604403">
                <a:tc>
                  <a:txBody>
                    <a:bodyPr/>
                    <a:lstStyle/>
                    <a:p>
                      <a:pPr algn="ctr"/>
                      <a:r>
                        <a:rPr lang="en-US" sz="1600" b="1" dirty="0" smtClean="0">
                          <a:latin typeface="Arial" panose="020B0604020202020204" pitchFamily="34" charset="0"/>
                          <a:cs typeface="Arial" panose="020B0604020202020204" pitchFamily="34" charset="0"/>
                        </a:rPr>
                        <a:t>4</a:t>
                      </a:r>
                      <a:endParaRPr lang="en-US" sz="1600" b="1" dirty="0">
                        <a:latin typeface="Arial" panose="020B0604020202020204" pitchFamily="34" charset="0"/>
                        <a:cs typeface="Arial" panose="020B0604020202020204" pitchFamily="34" charset="0"/>
                      </a:endParaRPr>
                    </a:p>
                  </a:txBody>
                  <a:tcPr marT="45718" marB="45718"/>
                </a:tc>
                <a:tc>
                  <a:txBody>
                    <a:bodyPr/>
                    <a:lstStyle/>
                    <a:p>
                      <a:r>
                        <a:rPr lang="x-none" sz="1600" b="1" i="0" kern="1200" dirty="0" smtClean="0">
                          <a:solidFill>
                            <a:schemeClr val="dk1"/>
                          </a:solidFill>
                          <a:effectLst/>
                          <a:latin typeface="Arial" panose="020B0604020202020204" pitchFamily="34" charset="0"/>
                          <a:ea typeface="+mn-ea"/>
                          <a:cs typeface="Arial" panose="020B0604020202020204" pitchFamily="34" charset="0"/>
                        </a:rPr>
                        <a:t>Thời điểm lập hóa đơn đối với 14 trường hợp cụ thể</a:t>
                      </a:r>
                      <a:endParaRPr lang="en-US" sz="1600" b="1" i="0" dirty="0">
                        <a:latin typeface="Arial" panose="020B0604020202020204" pitchFamily="34" charset="0"/>
                        <a:cs typeface="Arial" panose="020B0604020202020204" pitchFamily="34" charset="0"/>
                      </a:endParaRPr>
                    </a:p>
                  </a:txBody>
                  <a:tcPr marT="45718" marB="45718"/>
                </a:tc>
                <a:tc>
                  <a:txBody>
                    <a:bodyPr/>
                    <a:lstStyle/>
                    <a:p>
                      <a:r>
                        <a:rPr lang="en-US" sz="1600" b="1" dirty="0" smtClean="0">
                          <a:latin typeface="Arial" panose="020B0604020202020204" pitchFamily="34" charset="0"/>
                          <a:cs typeface="Arial" panose="020B0604020202020204" pitchFamily="34" charset="0"/>
                        </a:rPr>
                        <a:t>Chi</a:t>
                      </a:r>
                      <a:r>
                        <a:rPr lang="en-US" sz="1600" b="1" baseline="0" dirty="0" smtClean="0">
                          <a:latin typeface="Arial" panose="020B0604020202020204" pitchFamily="34" charset="0"/>
                          <a:cs typeface="Arial" panose="020B0604020202020204" pitchFamily="34" charset="0"/>
                        </a:rPr>
                        <a:t> </a:t>
                      </a:r>
                      <a:r>
                        <a:rPr lang="en-US" sz="1600" b="1" baseline="0" dirty="0" err="1" smtClean="0">
                          <a:latin typeface="Arial" panose="020B0604020202020204" pitchFamily="34" charset="0"/>
                          <a:cs typeface="Arial" panose="020B0604020202020204" pitchFamily="34" charset="0"/>
                        </a:rPr>
                        <a:t>tiết</a:t>
                      </a:r>
                      <a:r>
                        <a:rPr lang="en-US" sz="1600" b="1" baseline="0" dirty="0" smtClean="0">
                          <a:latin typeface="Arial" panose="020B0604020202020204" pitchFamily="34" charset="0"/>
                          <a:cs typeface="Arial" panose="020B0604020202020204" pitchFamily="34" charset="0"/>
                        </a:rPr>
                        <a:t> </a:t>
                      </a:r>
                      <a:r>
                        <a:rPr lang="en-US" sz="1600" b="1" baseline="0" dirty="0" err="1" smtClean="0">
                          <a:latin typeface="Arial" panose="020B0604020202020204" pitchFamily="34" charset="0"/>
                          <a:cs typeface="Arial" panose="020B0604020202020204" pitchFamily="34" charset="0"/>
                        </a:rPr>
                        <a:t>tại</a:t>
                      </a:r>
                      <a:r>
                        <a:rPr lang="en-US" sz="1600" b="1" baseline="0" dirty="0" smtClean="0">
                          <a:latin typeface="Arial" panose="020B0604020202020204" pitchFamily="34" charset="0"/>
                          <a:cs typeface="Arial" panose="020B0604020202020204" pitchFamily="34" charset="0"/>
                        </a:rPr>
                        <a:t> </a:t>
                      </a:r>
                      <a:r>
                        <a:rPr lang="x-none" sz="1600" b="1" i="1" kern="1200" dirty="0" smtClean="0">
                          <a:solidFill>
                            <a:schemeClr val="dk1"/>
                          </a:solidFill>
                          <a:effectLst/>
                          <a:latin typeface="Arial" panose="020B0604020202020204" pitchFamily="34" charset="0"/>
                          <a:ea typeface="+mn-ea"/>
                          <a:cs typeface="Arial" panose="020B0604020202020204" pitchFamily="34" charset="0"/>
                        </a:rPr>
                        <a:t>Khoản 4 Điều 9 Nghị định </a:t>
                      </a:r>
                      <a:r>
                        <a:rPr lang="x-none" sz="1600" b="1" i="1" kern="1200" smtClean="0">
                          <a:solidFill>
                            <a:schemeClr val="dk1"/>
                          </a:solidFill>
                          <a:effectLst/>
                          <a:latin typeface="Arial" panose="020B0604020202020204" pitchFamily="34" charset="0"/>
                          <a:ea typeface="+mn-ea"/>
                          <a:cs typeface="Arial" panose="020B0604020202020204" pitchFamily="34" charset="0"/>
                        </a:rPr>
                        <a:t>số 123/2020/NĐ-CP</a:t>
                      </a:r>
                      <a:r>
                        <a:rPr lang="en-US" sz="1600" b="1" i="1" kern="1200" smtClean="0">
                          <a:solidFill>
                            <a:schemeClr val="dk1"/>
                          </a:solidFill>
                          <a:effectLst/>
                          <a:latin typeface="Arial" panose="020B0604020202020204" pitchFamily="34" charset="0"/>
                          <a:ea typeface="+mn-ea"/>
                          <a:cs typeface="Arial" panose="020B0604020202020204" pitchFamily="34" charset="0"/>
                        </a:rPr>
                        <a:t>,</a:t>
                      </a:r>
                      <a:r>
                        <a:rPr lang="vi-VN" sz="1600" b="1" i="1" kern="1200" smtClean="0">
                          <a:solidFill>
                            <a:schemeClr val="dk1"/>
                          </a:solidFill>
                          <a:effectLst/>
                          <a:latin typeface="+mn-lt"/>
                          <a:ea typeface="+mn-ea"/>
                          <a:cs typeface="Arial" panose="020B0604020202020204" pitchFamily="34" charset="0"/>
                        </a:rPr>
                        <a:t> </a:t>
                      </a:r>
                      <a:r>
                        <a:rPr lang="vi-VN" sz="1600" b="1" i="1" kern="1200" smtClean="0">
                          <a:solidFill>
                            <a:schemeClr val="dk1"/>
                          </a:solidFill>
                          <a:effectLst/>
                          <a:latin typeface="Arial "/>
                          <a:ea typeface="+mn-ea"/>
                          <a:cs typeface="Arial" panose="020B0604020202020204" pitchFamily="34" charset="0"/>
                        </a:rPr>
                        <a:t>Khoản 3 Điều 6 Thông tư số 78/2021/TT-BTC</a:t>
                      </a:r>
                      <a:endParaRPr lang="en-US" sz="1600" b="1" dirty="0">
                        <a:latin typeface="Arial "/>
                        <a:cs typeface="Arial" panose="020B0604020202020204" pitchFamily="34" charset="0"/>
                      </a:endParaRPr>
                    </a:p>
                  </a:txBody>
                  <a:tcPr marT="45718" marB="45718"/>
                </a:tc>
                <a:extLst>
                  <a:ext uri="{0D108BD9-81ED-4DB2-BD59-A6C34878D82A}">
                    <a16:rowId xmlns:a16="http://schemas.microsoft.com/office/drawing/2014/main" val="2313574804"/>
                  </a:ext>
                </a:extLst>
              </a:tr>
            </a:tbl>
          </a:graphicData>
        </a:graphic>
      </p:graphicFrame>
      <p:sp>
        <p:nvSpPr>
          <p:cNvPr id="2" name="TextBox 1"/>
          <p:cNvSpPr txBox="1"/>
          <p:nvPr/>
        </p:nvSpPr>
        <p:spPr>
          <a:xfrm>
            <a:off x="2409362" y="824067"/>
            <a:ext cx="7976382" cy="738664"/>
          </a:xfrm>
          <a:prstGeom prst="rect">
            <a:avLst/>
          </a:prstGeom>
          <a:noFill/>
        </p:spPr>
        <p:txBody>
          <a:bodyPr wrap="square" rtlCol="0">
            <a:spAutoFit/>
          </a:bodyPr>
          <a:lstStyle/>
          <a:p>
            <a:pPr algn="ctr"/>
            <a:r>
              <a:rPr lang="vi-VN" sz="2200" b="1">
                <a:solidFill>
                  <a:schemeClr val="accent1">
                    <a:lumMod val="50000"/>
                  </a:schemeClr>
                </a:solidFill>
                <a:latin typeface="Arial (Body)"/>
              </a:rPr>
              <a:t>THỜI ĐIỂM LẬP HÓA </a:t>
            </a:r>
            <a:r>
              <a:rPr lang="vi-VN" sz="2200" b="1" smtClean="0">
                <a:solidFill>
                  <a:schemeClr val="accent1">
                    <a:lumMod val="50000"/>
                  </a:schemeClr>
                </a:solidFill>
                <a:latin typeface="Arial (Body)"/>
              </a:rPr>
              <a:t>ĐƠN</a:t>
            </a:r>
            <a:endParaRPr lang="en-US" sz="2200" b="1" smtClean="0">
              <a:solidFill>
                <a:schemeClr val="accent1">
                  <a:lumMod val="50000"/>
                </a:schemeClr>
              </a:solidFill>
              <a:latin typeface="Arial (Body)"/>
            </a:endParaRPr>
          </a:p>
          <a:p>
            <a:pPr algn="ctr"/>
            <a:r>
              <a:rPr lang="en-US" sz="2000" smtClean="0">
                <a:solidFill>
                  <a:schemeClr val="accent1">
                    <a:lumMod val="50000"/>
                  </a:schemeClr>
                </a:solidFill>
                <a:latin typeface="Arial (Body)"/>
              </a:rPr>
              <a:t>( Điều 9 Nghị định 123/2020/NĐ-CP)</a:t>
            </a:r>
            <a:endParaRPr lang="en-US" sz="2000"/>
          </a:p>
        </p:txBody>
      </p:sp>
      <p:sp>
        <p:nvSpPr>
          <p:cNvPr id="18" name="TextBox 17"/>
          <p:cNvSpPr txBox="1"/>
          <p:nvPr/>
        </p:nvSpPr>
        <p:spPr>
          <a:xfrm>
            <a:off x="1309301" y="291519"/>
            <a:ext cx="9900431" cy="769441"/>
          </a:xfrm>
          <a:prstGeom prst="rect">
            <a:avLst/>
          </a:prstGeom>
          <a:noFill/>
        </p:spPr>
        <p:txBody>
          <a:bodyPr wrap="square" rtlCol="0">
            <a:spAutoFit/>
          </a:bodyPr>
          <a:lstStyle/>
          <a:p>
            <a:pPr algn="ctr"/>
            <a:r>
              <a:rPr lang="en-US" sz="2200" b="1" smtClean="0">
                <a:solidFill>
                  <a:schemeClr val="accent1">
                    <a:lumMod val="50000"/>
                  </a:schemeClr>
                </a:solidFill>
                <a:latin typeface="Arial (Body)"/>
              </a:rPr>
              <a:t>6. </a:t>
            </a:r>
            <a:r>
              <a:rPr lang="vi-VN" sz="2200" b="1" smtClean="0">
                <a:solidFill>
                  <a:schemeClr val="accent1">
                    <a:lumMod val="50000"/>
                  </a:schemeClr>
                </a:solidFill>
                <a:latin typeface="Arial (Body)"/>
              </a:rPr>
              <a:t>NGUYÊN TẮC</a:t>
            </a:r>
            <a:r>
              <a:rPr lang="en-US" sz="2200" b="1" smtClean="0">
                <a:solidFill>
                  <a:schemeClr val="accent1">
                    <a:lumMod val="50000"/>
                  </a:schemeClr>
                </a:solidFill>
                <a:latin typeface="Arial (Body)"/>
              </a:rPr>
              <a:t>, THỜI ĐIỂM</a:t>
            </a:r>
            <a:r>
              <a:rPr lang="vi-VN" sz="2200" b="1" smtClean="0">
                <a:solidFill>
                  <a:schemeClr val="accent1">
                    <a:lumMod val="50000"/>
                  </a:schemeClr>
                </a:solidFill>
                <a:latin typeface="Arial (Body)"/>
              </a:rPr>
              <a:t> LẬP HÓA ĐƠN ĐIỆN TỬ</a:t>
            </a:r>
          </a:p>
          <a:p>
            <a:pPr algn="ctr"/>
            <a:endParaRPr lang="vi-VN" sz="2200" b="1">
              <a:solidFill>
                <a:schemeClr val="accent1">
                  <a:lumMod val="50000"/>
                </a:schemeClr>
              </a:solidFill>
              <a:latin typeface="Arial (Body)"/>
            </a:endParaRPr>
          </a:p>
        </p:txBody>
      </p:sp>
      <p:sp>
        <p:nvSpPr>
          <p:cNvPr id="19" name="Oval 18"/>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1753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4938" y="958681"/>
            <a:ext cx="10517585" cy="5370701"/>
          </a:xfrm>
          <a:prstGeom prst="rect">
            <a:avLst/>
          </a:prstGeom>
        </p:spPr>
        <p:txBody>
          <a:bodyPr wrap="square">
            <a:spAutoFit/>
          </a:bodyPr>
          <a:lstStyle/>
          <a:p>
            <a:pPr>
              <a:spcBef>
                <a:spcPts val="600"/>
              </a:spcBef>
              <a:buFontTx/>
              <a:buChar char="-"/>
              <a:defRPr/>
            </a:pPr>
            <a:r>
              <a:rPr lang="en-US" sz="1600" b="1" i="1">
                <a:solidFill>
                  <a:schemeClr val="tx1">
                    <a:lumMod val="75000"/>
                    <a:lumOff val="25000"/>
                  </a:schemeClr>
                </a:solidFill>
                <a:latin typeface="Arial" panose="020B0604020202020204" pitchFamily="34" charset="0"/>
                <a:cs typeface="Arial" panose="020B0604020202020204" pitchFamily="34" charset="0"/>
              </a:rPr>
              <a:t>Tên hóa đơn;</a:t>
            </a:r>
          </a:p>
          <a:p>
            <a:pPr>
              <a:spcBef>
                <a:spcPts val="600"/>
              </a:spcBef>
              <a:buFontTx/>
              <a:buChar char="-"/>
              <a:defRPr/>
            </a:pPr>
            <a:r>
              <a:rPr lang="x-none" b="1" i="1">
                <a:solidFill>
                  <a:srgbClr val="FF4780"/>
                </a:solidFill>
                <a:latin typeface="Arial" panose="020B0604020202020204" pitchFamily="34" charset="0"/>
                <a:cs typeface="Arial" panose="020B0604020202020204" pitchFamily="34" charset="0"/>
              </a:rPr>
              <a:t>Ký hiệu mẫu số hóa đơn, ký hiệu hóa đơn đối với HÓA ĐƠN ĐIỆN TỬ</a:t>
            </a:r>
            <a:r>
              <a:rPr lang="en-US" b="1" i="1">
                <a:solidFill>
                  <a:srgbClr val="FF4780"/>
                </a:solidFill>
                <a:latin typeface="Arial" panose="020B0604020202020204" pitchFamily="34" charset="0"/>
                <a:cs typeface="Arial" panose="020B0604020202020204" pitchFamily="34" charset="0"/>
              </a:rPr>
              <a:t>;</a:t>
            </a:r>
          </a:p>
          <a:p>
            <a:pPr>
              <a:spcBef>
                <a:spcPts val="600"/>
              </a:spcBef>
              <a:buFontTx/>
              <a:buChar char="-"/>
              <a:defRPr/>
            </a:pPr>
            <a:r>
              <a:rPr lang="x-none" b="1" i="1">
                <a:solidFill>
                  <a:srgbClr val="FF4780"/>
                </a:solidFill>
                <a:latin typeface="Arial" panose="020B0604020202020204" pitchFamily="34" charset="0"/>
                <a:cs typeface="Arial" panose="020B0604020202020204" pitchFamily="34" charset="0"/>
              </a:rPr>
              <a:t>Số hóa đơn</a:t>
            </a:r>
            <a:endParaRPr lang="en-US" b="1" i="1">
              <a:solidFill>
                <a:srgbClr val="FF4780"/>
              </a:solidFill>
              <a:latin typeface="Arial" panose="020B0604020202020204" pitchFamily="34" charset="0"/>
              <a:cs typeface="Arial" panose="020B0604020202020204" pitchFamily="34" charset="0"/>
            </a:endParaRP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Tên, địa chỉ, mã số thuế của người bán</a:t>
            </a:r>
            <a:endParaRPr lang="en-US" sz="1600">
              <a:solidFill>
                <a:schemeClr val="tx1">
                  <a:lumMod val="75000"/>
                  <a:lumOff val="25000"/>
                </a:schemeClr>
              </a:solidFill>
              <a:latin typeface="Arial" panose="020B0604020202020204" pitchFamily="34" charset="0"/>
              <a:cs typeface="Arial" panose="020B0604020202020204" pitchFamily="34" charset="0"/>
            </a:endParaRP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Tên, địa chỉ, mã số thuế của người mua</a:t>
            </a:r>
            <a:endParaRPr lang="en-US" sz="1600" b="1" i="1">
              <a:solidFill>
                <a:schemeClr val="tx1">
                  <a:lumMod val="75000"/>
                  <a:lumOff val="25000"/>
                </a:schemeClr>
              </a:solidFill>
              <a:latin typeface="Arial" panose="020B0604020202020204" pitchFamily="34" charset="0"/>
              <a:cs typeface="Arial" panose="020B0604020202020204" pitchFamily="34" charset="0"/>
            </a:endParaRP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Tên, đơn vị tính, số lượng, đơn giá hàng hóa, dịch vụ; thành tiền chưa có thuế giá trị gia tăng, thuế suất thuế giá trị gia tăng, tổng số tiền thuế giá trị gia tăng theo từng loại thuế suất, tổng cộng tiền thuế giá trị gia tăng, tổng tiền thanh toán đã có thuế giá trị gia tăng</a:t>
            </a:r>
            <a:r>
              <a:rPr lang="en-US" sz="1600" b="1" i="1">
                <a:solidFill>
                  <a:schemeClr val="tx1">
                    <a:lumMod val="75000"/>
                    <a:lumOff val="25000"/>
                  </a:schemeClr>
                </a:solidFill>
                <a:latin typeface="Arial" panose="020B0604020202020204" pitchFamily="34" charset="0"/>
                <a:cs typeface="Arial" panose="020B0604020202020204" pitchFamily="34" charset="0"/>
              </a:rPr>
              <a:t>;</a:t>
            </a: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Chữ ký của người bán, chữ ký của người mua</a:t>
            </a:r>
            <a:r>
              <a:rPr lang="en-US" sz="1600" b="1" i="1">
                <a:solidFill>
                  <a:schemeClr val="tx1">
                    <a:lumMod val="75000"/>
                    <a:lumOff val="25000"/>
                  </a:schemeClr>
                </a:solidFill>
                <a:latin typeface="Arial" panose="020B0604020202020204" pitchFamily="34" charset="0"/>
                <a:cs typeface="Arial" panose="020B0604020202020204" pitchFamily="34" charset="0"/>
              </a:rPr>
              <a:t>;</a:t>
            </a: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Thời điểm lập hóa đơn</a:t>
            </a:r>
            <a:r>
              <a:rPr lang="en-US" sz="1600" b="1" i="1">
                <a:solidFill>
                  <a:schemeClr val="tx1">
                    <a:lumMod val="75000"/>
                    <a:lumOff val="25000"/>
                  </a:schemeClr>
                </a:solidFill>
                <a:latin typeface="Arial" panose="020B0604020202020204" pitchFamily="34" charset="0"/>
                <a:cs typeface="Arial" panose="020B0604020202020204" pitchFamily="34" charset="0"/>
              </a:rPr>
              <a:t>;</a:t>
            </a:r>
          </a:p>
          <a:p>
            <a:pPr>
              <a:spcBef>
                <a:spcPts val="600"/>
              </a:spcBef>
              <a:buFontTx/>
              <a:buChar char="-"/>
              <a:defRPr/>
            </a:pPr>
            <a:r>
              <a:rPr lang="x-none" b="1" i="1">
                <a:solidFill>
                  <a:srgbClr val="FF4780"/>
                </a:solidFill>
                <a:latin typeface="Arial" panose="020B0604020202020204" pitchFamily="34" charset="0"/>
                <a:cs typeface="Arial" panose="020B0604020202020204" pitchFamily="34" charset="0"/>
              </a:rPr>
              <a:t>Thời điểm ký số trên hóa đơn điện tử</a:t>
            </a:r>
            <a:r>
              <a:rPr lang="en-US" b="1" i="1">
                <a:solidFill>
                  <a:srgbClr val="FF4780"/>
                </a:solidFill>
                <a:latin typeface="Arial" panose="020B0604020202020204" pitchFamily="34" charset="0"/>
                <a:cs typeface="Arial" panose="020B0604020202020204" pitchFamily="34" charset="0"/>
              </a:rPr>
              <a:t>;</a:t>
            </a: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Mã của cơ quan thuế đối với hóa đơn điện tử</a:t>
            </a:r>
            <a:endParaRPr lang="en-US" sz="1600">
              <a:solidFill>
                <a:schemeClr val="tx1">
                  <a:lumMod val="75000"/>
                  <a:lumOff val="25000"/>
                </a:schemeClr>
              </a:solidFill>
              <a:latin typeface="Arial" panose="020B0604020202020204" pitchFamily="34" charset="0"/>
              <a:cs typeface="Arial" panose="020B0604020202020204" pitchFamily="34" charset="0"/>
            </a:endParaRP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Phí, lệ phí thuộc ngân sách nhà nước, chiết khấu thương mại, khuyến mại (nếu có) theo hướng dẫn tại điểm e khoản 6 Điều 10 Nghị định số 123/2020/NĐ-CP và các nội dung khác liên quan (nếu có)</a:t>
            </a:r>
            <a:r>
              <a:rPr lang="en-US" sz="1600" b="1" i="1">
                <a:solidFill>
                  <a:schemeClr val="tx1">
                    <a:lumMod val="75000"/>
                    <a:lumOff val="25000"/>
                  </a:schemeClr>
                </a:solidFill>
                <a:latin typeface="Arial" panose="020B0604020202020204" pitchFamily="34" charset="0"/>
                <a:cs typeface="Arial" panose="020B0604020202020204" pitchFamily="34" charset="0"/>
              </a:rPr>
              <a:t>;</a:t>
            </a: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Chữ viết, chữ số và đồng tiền thể hiện trên hóa đơn</a:t>
            </a:r>
            <a:r>
              <a:rPr lang="en-US" sz="1600" b="1" i="1">
                <a:solidFill>
                  <a:schemeClr val="tx1">
                    <a:lumMod val="75000"/>
                    <a:lumOff val="25000"/>
                  </a:schemeClr>
                </a:solidFill>
                <a:latin typeface="Arial" panose="020B0604020202020204" pitchFamily="34" charset="0"/>
                <a:cs typeface="Arial" panose="020B0604020202020204" pitchFamily="34" charset="0"/>
              </a:rPr>
              <a:t>;</a:t>
            </a:r>
          </a:p>
          <a:p>
            <a:pPr>
              <a:spcBef>
                <a:spcPts val="600"/>
              </a:spcBef>
              <a:buFontTx/>
              <a:buChar char="-"/>
              <a:defRPr/>
            </a:pPr>
            <a:r>
              <a:rPr lang="x-none" sz="1600" b="1" i="1">
                <a:solidFill>
                  <a:schemeClr val="tx1">
                    <a:lumMod val="75000"/>
                    <a:lumOff val="25000"/>
                  </a:schemeClr>
                </a:solidFill>
                <a:latin typeface="Arial" panose="020B0604020202020204" pitchFamily="34" charset="0"/>
                <a:cs typeface="Arial" panose="020B0604020202020204" pitchFamily="34" charset="0"/>
              </a:rPr>
              <a:t>Nội dung khác trên hóa </a:t>
            </a:r>
            <a:r>
              <a:rPr lang="x-none" sz="1600" b="1" i="1" smtClean="0">
                <a:solidFill>
                  <a:schemeClr val="tx1">
                    <a:lumMod val="75000"/>
                    <a:lumOff val="25000"/>
                  </a:schemeClr>
                </a:solidFill>
                <a:latin typeface="Arial" panose="020B0604020202020204" pitchFamily="34" charset="0"/>
                <a:cs typeface="Arial" panose="020B0604020202020204" pitchFamily="34" charset="0"/>
              </a:rPr>
              <a:t>đơn</a:t>
            </a:r>
            <a:r>
              <a:rPr lang="en-US" sz="1600" b="1" i="1" smtClean="0">
                <a:solidFill>
                  <a:schemeClr val="tx1">
                    <a:lumMod val="75000"/>
                    <a:lumOff val="25000"/>
                  </a:schemeClr>
                </a:solidFill>
                <a:latin typeface="Arial" panose="020B0604020202020204" pitchFamily="34" charset="0"/>
                <a:cs typeface="Arial" panose="020B0604020202020204" pitchFamily="34" charset="0"/>
              </a:rPr>
              <a:t>.</a:t>
            </a:r>
          </a:p>
          <a:p>
            <a:pPr>
              <a:spcBef>
                <a:spcPts val="600"/>
              </a:spcBef>
              <a:defRPr/>
            </a:pPr>
            <a:r>
              <a:rPr lang="en-US" b="1" i="1" smtClean="0">
                <a:solidFill>
                  <a:schemeClr val="tx1">
                    <a:lumMod val="75000"/>
                    <a:lumOff val="25000"/>
                  </a:schemeClr>
                </a:solidFill>
                <a:latin typeface="Arial" panose="020B0604020202020204" pitchFamily="34" charset="0"/>
                <a:cs typeface="Arial" panose="020B0604020202020204" pitchFamily="34" charset="0"/>
              </a:rPr>
              <a:t>(Điều 10, Nghị định 123/2020/NĐ-CP; Điều 4 Thông tư 78/2021/TT-BTC)</a:t>
            </a:r>
            <a:endParaRPr lang="en-US" b="1"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 name="Rectangle 4"/>
          <p:cNvSpPr/>
          <p:nvPr/>
        </p:nvSpPr>
        <p:spPr>
          <a:xfrm>
            <a:off x="878729" y="1336431"/>
            <a:ext cx="7730699" cy="309489"/>
          </a:xfrm>
          <a:prstGeom prst="rect">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78729" y="1686045"/>
            <a:ext cx="7730699" cy="309489"/>
          </a:xfrm>
          <a:prstGeom prst="rect">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892797" y="4089710"/>
            <a:ext cx="7730699" cy="309489"/>
          </a:xfrm>
          <a:prstGeom prst="rect">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9151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7. </a:t>
            </a:r>
            <a:r>
              <a:rPr lang="vi-VN" sz="2200" b="1" smtClean="0">
                <a:solidFill>
                  <a:schemeClr val="accent1">
                    <a:lumMod val="50000"/>
                  </a:schemeClr>
                </a:solidFill>
                <a:latin typeface="Arial (Body)"/>
              </a:rPr>
              <a:t>NỘI DUNG HÓA ĐƠN ĐIỆN TỬ </a:t>
            </a:r>
            <a:endParaRPr lang="vi-VN" sz="2200" b="1">
              <a:solidFill>
                <a:schemeClr val="accent1">
                  <a:lumMod val="50000"/>
                </a:schemeClr>
              </a:solidFill>
              <a:latin typeface="Arial (Body)"/>
            </a:endParaRPr>
          </a:p>
        </p:txBody>
      </p:sp>
      <p:sp>
        <p:nvSpPr>
          <p:cNvPr id="20" name="Oval 19"/>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2263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7. </a:t>
            </a:r>
            <a:r>
              <a:rPr lang="vi-VN" sz="2200" b="1" smtClean="0">
                <a:solidFill>
                  <a:schemeClr val="accent1">
                    <a:lumMod val="50000"/>
                  </a:schemeClr>
                </a:solidFill>
                <a:latin typeface="Arial (Body)"/>
              </a:rPr>
              <a:t>NỘI DUNG HÓA ĐƠN ĐIỆN TỬ </a:t>
            </a:r>
            <a:endParaRPr lang="vi-VN" sz="2200" b="1">
              <a:solidFill>
                <a:schemeClr val="accent1">
                  <a:lumMod val="50000"/>
                </a:schemeClr>
              </a:solidFill>
              <a:latin typeface="Arial (Body)"/>
            </a:endParaRPr>
          </a:p>
        </p:txBody>
      </p:sp>
      <p:sp>
        <p:nvSpPr>
          <p:cNvPr id="20" name="Content Placeholder 2"/>
          <p:cNvSpPr txBox="1">
            <a:spLocks/>
          </p:cNvSpPr>
          <p:nvPr/>
        </p:nvSpPr>
        <p:spPr>
          <a:xfrm>
            <a:off x="652935" y="597990"/>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smtClean="0">
              <a:latin typeface="Arial" panose="020B0604020202020204" pitchFamily="34" charset="0"/>
              <a:cs typeface="Arial" panose="020B0604020202020204" pitchFamily="34" charset="0"/>
            </a:endParaRPr>
          </a:p>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graphicFrame>
        <p:nvGraphicFramePr>
          <p:cNvPr id="21" name="Table 20"/>
          <p:cNvGraphicFramePr>
            <a:graphicFrameLocks noGrp="1"/>
          </p:cNvGraphicFramePr>
          <p:nvPr>
            <p:extLst>
              <p:ext uri="{D42A27DB-BD31-4B8C-83A1-F6EECF244321}">
                <p14:modId xmlns:p14="http://schemas.microsoft.com/office/powerpoint/2010/main" val="1354762835"/>
              </p:ext>
            </p:extLst>
          </p:nvPr>
        </p:nvGraphicFramePr>
        <p:xfrm>
          <a:off x="573087" y="1387501"/>
          <a:ext cx="11272838" cy="457200"/>
        </p:xfrm>
        <a:graphic>
          <a:graphicData uri="http://schemas.openxmlformats.org/drawingml/2006/table">
            <a:tbl>
              <a:tblPr firstRow="1" bandRow="1">
                <a:tableStyleId>{5C22544A-7EE6-4342-B048-85BDC9FD1C3A}</a:tableStyleId>
              </a:tblPr>
              <a:tblGrid>
                <a:gridCol w="2211710">
                  <a:extLst>
                    <a:ext uri="{9D8B030D-6E8A-4147-A177-3AD203B41FA5}">
                      <a16:colId xmlns:a16="http://schemas.microsoft.com/office/drawing/2014/main" val="123062502"/>
                    </a:ext>
                  </a:extLst>
                </a:gridCol>
                <a:gridCol w="1411340">
                  <a:extLst>
                    <a:ext uri="{9D8B030D-6E8A-4147-A177-3AD203B41FA5}">
                      <a16:colId xmlns:a16="http://schemas.microsoft.com/office/drawing/2014/main" val="97383232"/>
                    </a:ext>
                  </a:extLst>
                </a:gridCol>
                <a:gridCol w="892022">
                  <a:extLst>
                    <a:ext uri="{9D8B030D-6E8A-4147-A177-3AD203B41FA5}">
                      <a16:colId xmlns:a16="http://schemas.microsoft.com/office/drawing/2014/main" val="3606226847"/>
                    </a:ext>
                  </a:extLst>
                </a:gridCol>
                <a:gridCol w="931963">
                  <a:extLst>
                    <a:ext uri="{9D8B030D-6E8A-4147-A177-3AD203B41FA5}">
                      <a16:colId xmlns:a16="http://schemas.microsoft.com/office/drawing/2014/main" val="2416683023"/>
                    </a:ext>
                  </a:extLst>
                </a:gridCol>
                <a:gridCol w="3395008">
                  <a:extLst>
                    <a:ext uri="{9D8B030D-6E8A-4147-A177-3AD203B41FA5}">
                      <a16:colId xmlns:a16="http://schemas.microsoft.com/office/drawing/2014/main" val="25198"/>
                    </a:ext>
                  </a:extLst>
                </a:gridCol>
                <a:gridCol w="1256732">
                  <a:extLst>
                    <a:ext uri="{9D8B030D-6E8A-4147-A177-3AD203B41FA5}">
                      <a16:colId xmlns:a16="http://schemas.microsoft.com/office/drawing/2014/main" val="2713603252"/>
                    </a:ext>
                  </a:extLst>
                </a:gridCol>
                <a:gridCol w="1174063">
                  <a:extLst>
                    <a:ext uri="{9D8B030D-6E8A-4147-A177-3AD203B41FA5}">
                      <a16:colId xmlns:a16="http://schemas.microsoft.com/office/drawing/2014/main" val="1689422943"/>
                    </a:ext>
                  </a:extLst>
                </a:gridCol>
              </a:tblGrid>
              <a:tr h="457200">
                <a:tc>
                  <a:txBody>
                    <a:bodyPr/>
                    <a:lstStyle/>
                    <a:p>
                      <a:pPr algn="ctr"/>
                      <a:r>
                        <a:rPr lang="en-US" sz="1400" smtClean="0">
                          <a:solidFill>
                            <a:srgbClr val="D933D9"/>
                          </a:solidFill>
                          <a:latin typeface="Arial" panose="020B0604020202020204" pitchFamily="34" charset="0"/>
                          <a:cs typeface="Arial" panose="020B0604020202020204" pitchFamily="34" charset="0"/>
                        </a:rPr>
                        <a:t>1</a:t>
                      </a:r>
                      <a:r>
                        <a:rPr lang="en-US" sz="1400" baseline="0" smtClean="0">
                          <a:solidFill>
                            <a:srgbClr val="D933D9"/>
                          </a:solidFill>
                          <a:latin typeface="Arial" panose="020B0604020202020204" pitchFamily="34" charset="0"/>
                          <a:cs typeface="Arial" panose="020B0604020202020204" pitchFamily="34" charset="0"/>
                        </a:rPr>
                        <a:t> </a:t>
                      </a:r>
                      <a:r>
                        <a:rPr lang="en-US" sz="1400" baseline="0" dirty="0" err="1" smtClean="0">
                          <a:solidFill>
                            <a:srgbClr val="D933D9"/>
                          </a:solidFill>
                          <a:latin typeface="Arial" panose="020B0604020202020204" pitchFamily="34" charset="0"/>
                          <a:cs typeface="Arial" panose="020B0604020202020204" pitchFamily="34" charset="0"/>
                        </a:rPr>
                        <a:t>chữ</a:t>
                      </a:r>
                      <a:r>
                        <a:rPr lang="en-US" sz="1400" baseline="0" dirty="0" smtClean="0">
                          <a:solidFill>
                            <a:srgbClr val="D933D9"/>
                          </a:solidFill>
                          <a:latin typeface="Arial" panose="020B0604020202020204" pitchFamily="34" charset="0"/>
                          <a:cs typeface="Arial" panose="020B0604020202020204" pitchFamily="34" charset="0"/>
                        </a:rPr>
                        <a:t> </a:t>
                      </a:r>
                      <a:r>
                        <a:rPr lang="en-US" sz="1400" baseline="0" dirty="0" err="1" smtClean="0">
                          <a:solidFill>
                            <a:srgbClr val="D933D9"/>
                          </a:solidFill>
                          <a:latin typeface="Arial" panose="020B0604020202020204" pitchFamily="34" charset="0"/>
                          <a:cs typeface="Arial" panose="020B0604020202020204" pitchFamily="34" charset="0"/>
                        </a:rPr>
                        <a:t>số</a:t>
                      </a:r>
                      <a:r>
                        <a:rPr lang="en-US" sz="1400" baseline="0" dirty="0" smtClean="0">
                          <a:solidFill>
                            <a:srgbClr val="D933D9"/>
                          </a:solidFill>
                          <a:latin typeface="Arial" panose="020B0604020202020204" pitchFamily="34" charset="0"/>
                          <a:cs typeface="Arial" panose="020B0604020202020204" pitchFamily="34" charset="0"/>
                        </a:rPr>
                        <a:t> </a:t>
                      </a:r>
                      <a:r>
                        <a:rPr lang="en-US" sz="1400" baseline="0" dirty="0" err="1" smtClean="0">
                          <a:solidFill>
                            <a:srgbClr val="D933D9"/>
                          </a:solidFill>
                          <a:latin typeface="Arial" panose="020B0604020202020204" pitchFamily="34" charset="0"/>
                          <a:cs typeface="Arial" panose="020B0604020202020204" pitchFamily="34" charset="0"/>
                        </a:rPr>
                        <a:t>tự</a:t>
                      </a:r>
                      <a:r>
                        <a:rPr lang="en-US" sz="1400" baseline="0" dirty="0" smtClean="0">
                          <a:solidFill>
                            <a:srgbClr val="D933D9"/>
                          </a:solidFill>
                          <a:latin typeface="Arial" panose="020B0604020202020204" pitchFamily="34" charset="0"/>
                          <a:cs typeface="Arial" panose="020B0604020202020204" pitchFamily="34" charset="0"/>
                        </a:rPr>
                        <a:t> </a:t>
                      </a:r>
                      <a:r>
                        <a:rPr lang="en-US" sz="1400" baseline="0" dirty="0" err="1" smtClean="0">
                          <a:solidFill>
                            <a:srgbClr val="D933D9"/>
                          </a:solidFill>
                          <a:latin typeface="Arial" panose="020B0604020202020204" pitchFamily="34" charset="0"/>
                          <a:cs typeface="Arial" panose="020B0604020202020204" pitchFamily="34" charset="0"/>
                        </a:rPr>
                        <a:t>nhiên</a:t>
                      </a:r>
                      <a:endParaRPr lang="en-US" sz="1400" dirty="0">
                        <a:solidFill>
                          <a:srgbClr val="D933D9"/>
                        </a:solidFill>
                        <a:latin typeface="Arial" panose="020B0604020202020204" pitchFamily="34" charset="0"/>
                        <a:cs typeface="Arial" panose="020B0604020202020204" pitchFamily="34" charset="0"/>
                      </a:endParaRPr>
                    </a:p>
                  </a:txBody>
                  <a:tcPr marL="91444" marR="91444" marT="45626" marB="45626">
                    <a:solidFill>
                      <a:schemeClr val="accent1">
                        <a:lumMod val="60000"/>
                        <a:lumOff val="40000"/>
                      </a:schemeClr>
                    </a:solidFill>
                  </a:tcPr>
                </a:tc>
                <a:tc>
                  <a:txBody>
                    <a:bodyPr/>
                    <a:lstStyle/>
                    <a:p>
                      <a:pPr algn="ctr"/>
                      <a:r>
                        <a:rPr lang="en-US" sz="1400" dirty="0" smtClean="0">
                          <a:solidFill>
                            <a:srgbClr val="FFFF00"/>
                          </a:solidFill>
                          <a:latin typeface="Arial" panose="020B0604020202020204" pitchFamily="34" charset="0"/>
                          <a:cs typeface="Arial" panose="020B0604020202020204" pitchFamily="34" charset="0"/>
                        </a:rPr>
                        <a:t>1 </a:t>
                      </a:r>
                      <a:r>
                        <a:rPr lang="en-US" sz="1400" dirty="0" err="1" smtClean="0">
                          <a:solidFill>
                            <a:srgbClr val="FFFF00"/>
                          </a:solidFill>
                          <a:latin typeface="Arial" panose="020B0604020202020204" pitchFamily="34" charset="0"/>
                          <a:cs typeface="Arial" panose="020B0604020202020204" pitchFamily="34" charset="0"/>
                        </a:rPr>
                        <a:t>chữ</a:t>
                      </a:r>
                      <a:r>
                        <a:rPr lang="en-US" sz="1400" baseline="0" dirty="0" smtClean="0">
                          <a:solidFill>
                            <a:srgbClr val="FFFF00"/>
                          </a:solidFill>
                          <a:latin typeface="Arial" panose="020B0604020202020204" pitchFamily="34" charset="0"/>
                          <a:cs typeface="Arial" panose="020B0604020202020204" pitchFamily="34" charset="0"/>
                        </a:rPr>
                        <a:t> </a:t>
                      </a:r>
                      <a:r>
                        <a:rPr lang="en-US" sz="1400" baseline="0" dirty="0" err="1" smtClean="0">
                          <a:solidFill>
                            <a:srgbClr val="FFFF00"/>
                          </a:solidFill>
                          <a:latin typeface="Arial" panose="020B0604020202020204" pitchFamily="34" charset="0"/>
                          <a:cs typeface="Arial" panose="020B0604020202020204" pitchFamily="34" charset="0"/>
                        </a:rPr>
                        <a:t>cái</a:t>
                      </a:r>
                      <a:endParaRPr lang="en-US" sz="1400" dirty="0">
                        <a:solidFill>
                          <a:srgbClr val="FFFF00"/>
                        </a:solidFill>
                        <a:latin typeface="Arial" panose="020B0604020202020204" pitchFamily="34" charset="0"/>
                        <a:cs typeface="Arial" panose="020B0604020202020204" pitchFamily="34" charset="0"/>
                      </a:endParaRPr>
                    </a:p>
                  </a:txBody>
                  <a:tcPr marL="91444" marR="91444" marT="45626" marB="45626">
                    <a:solidFill>
                      <a:schemeClr val="accent1">
                        <a:lumMod val="60000"/>
                        <a:lumOff val="40000"/>
                      </a:schemeClr>
                    </a:solidFill>
                  </a:tcPr>
                </a:tc>
                <a:tc>
                  <a:txBody>
                    <a:bodyPr/>
                    <a:lstStyle/>
                    <a:p>
                      <a:pPr algn="ctr"/>
                      <a:r>
                        <a:rPr lang="en-US" sz="1200" b="1" kern="1200" dirty="0" smtClean="0">
                          <a:solidFill>
                            <a:srgbClr val="FFFF00"/>
                          </a:solidFill>
                          <a:effectLst/>
                          <a:latin typeface="Arial" panose="020B0604020202020204" pitchFamily="34" charset="0"/>
                          <a:ea typeface="+mn-ea"/>
                          <a:cs typeface="Arial" panose="020B0604020202020204" pitchFamily="34" charset="0"/>
                        </a:rPr>
                        <a:t>1 C</a:t>
                      </a:r>
                      <a:r>
                        <a:rPr lang="x-none" sz="1200" b="1" kern="1200" dirty="0" smtClean="0">
                          <a:solidFill>
                            <a:srgbClr val="FFFF00"/>
                          </a:solidFill>
                          <a:effectLst/>
                          <a:latin typeface="Arial" panose="020B0604020202020204" pitchFamily="34" charset="0"/>
                          <a:ea typeface="+mn-ea"/>
                          <a:cs typeface="Arial" panose="020B0604020202020204" pitchFamily="34" charset="0"/>
                        </a:rPr>
                        <a:t>hữ số Ả rập </a:t>
                      </a:r>
                      <a:endParaRPr lang="en-US" sz="1200" dirty="0">
                        <a:solidFill>
                          <a:srgbClr val="FFFF00"/>
                        </a:solidFill>
                        <a:latin typeface="Arial" panose="020B0604020202020204" pitchFamily="34" charset="0"/>
                        <a:cs typeface="Arial" panose="020B0604020202020204" pitchFamily="34" charset="0"/>
                      </a:endParaRPr>
                    </a:p>
                  </a:txBody>
                  <a:tcPr marL="91444" marR="91444" marT="45626" marB="45626">
                    <a:solidFill>
                      <a:schemeClr val="accent1">
                        <a:lumMod val="60000"/>
                        <a:lumOff val="40000"/>
                      </a:schemeClr>
                    </a:solidFill>
                  </a:tcPr>
                </a:tc>
                <a:tc>
                  <a:txBody>
                    <a:bodyPr/>
                    <a:lstStyle/>
                    <a:p>
                      <a:pPr marL="0" algn="ctr" defTabSz="457200" rtl="0" eaLnBrk="1" latinLnBrk="0" hangingPunct="1"/>
                      <a:r>
                        <a:rPr lang="en-US" sz="1200" b="1" kern="1200" dirty="0" smtClean="0">
                          <a:solidFill>
                            <a:srgbClr val="FFFF00"/>
                          </a:solidFill>
                          <a:effectLst/>
                          <a:latin typeface="Arial" panose="020B0604020202020204" pitchFamily="34" charset="0"/>
                          <a:ea typeface="+mn-ea"/>
                          <a:cs typeface="Arial" panose="020B0604020202020204" pitchFamily="34" charset="0"/>
                        </a:rPr>
                        <a:t>1 </a:t>
                      </a:r>
                      <a:r>
                        <a:rPr lang="en-US" sz="1200" b="1" kern="1200" dirty="0" err="1" smtClean="0">
                          <a:solidFill>
                            <a:srgbClr val="FFFF00"/>
                          </a:solidFill>
                          <a:effectLst/>
                          <a:latin typeface="Arial" panose="020B0604020202020204" pitchFamily="34" charset="0"/>
                          <a:ea typeface="+mn-ea"/>
                          <a:cs typeface="Arial" panose="020B0604020202020204" pitchFamily="34" charset="0"/>
                        </a:rPr>
                        <a:t>Chữ</a:t>
                      </a:r>
                      <a:r>
                        <a:rPr lang="en-US" sz="1200" b="1" kern="1200" dirty="0" smtClean="0">
                          <a:solidFill>
                            <a:srgbClr val="FFFF00"/>
                          </a:solidFill>
                          <a:effectLst/>
                          <a:latin typeface="Arial" panose="020B0604020202020204" pitchFamily="34" charset="0"/>
                          <a:ea typeface="+mn-ea"/>
                          <a:cs typeface="Arial" panose="020B0604020202020204" pitchFamily="34" charset="0"/>
                        </a:rPr>
                        <a:t> </a:t>
                      </a:r>
                      <a:r>
                        <a:rPr lang="en-US" sz="1200" b="1" kern="1200" dirty="0" err="1" smtClean="0">
                          <a:solidFill>
                            <a:srgbClr val="FFFF00"/>
                          </a:solidFill>
                          <a:effectLst/>
                          <a:latin typeface="Arial" panose="020B0604020202020204" pitchFamily="34" charset="0"/>
                          <a:ea typeface="+mn-ea"/>
                          <a:cs typeface="Arial" panose="020B0604020202020204" pitchFamily="34" charset="0"/>
                        </a:rPr>
                        <a:t>số</a:t>
                      </a:r>
                      <a:r>
                        <a:rPr lang="en-US" sz="1200" b="1" kern="1200" dirty="0" smtClean="0">
                          <a:solidFill>
                            <a:srgbClr val="FFFF00"/>
                          </a:solidFill>
                          <a:effectLst/>
                          <a:latin typeface="Arial" panose="020B0604020202020204" pitchFamily="34" charset="0"/>
                          <a:ea typeface="+mn-ea"/>
                          <a:cs typeface="Arial" panose="020B0604020202020204" pitchFamily="34" charset="0"/>
                        </a:rPr>
                        <a:t> Ả </a:t>
                      </a:r>
                      <a:r>
                        <a:rPr lang="en-US" sz="1200" b="1" kern="1200" dirty="0" err="1" smtClean="0">
                          <a:solidFill>
                            <a:srgbClr val="FFFF00"/>
                          </a:solidFill>
                          <a:effectLst/>
                          <a:latin typeface="Arial" panose="020B0604020202020204" pitchFamily="34" charset="0"/>
                          <a:ea typeface="+mn-ea"/>
                          <a:cs typeface="Arial" panose="020B0604020202020204" pitchFamily="34" charset="0"/>
                        </a:rPr>
                        <a:t>rập</a:t>
                      </a:r>
                      <a:r>
                        <a:rPr lang="en-US" sz="1200" b="1" kern="1200" dirty="0" smtClean="0">
                          <a:solidFill>
                            <a:srgbClr val="FFFF00"/>
                          </a:solidFill>
                          <a:effectLst/>
                          <a:latin typeface="Arial" panose="020B0604020202020204" pitchFamily="34" charset="0"/>
                          <a:ea typeface="+mn-ea"/>
                          <a:cs typeface="Arial" panose="020B0604020202020204" pitchFamily="34" charset="0"/>
                        </a:rPr>
                        <a:t> </a:t>
                      </a:r>
                      <a:endParaRPr lang="en-US" sz="1800" dirty="0">
                        <a:solidFill>
                          <a:srgbClr val="FFFF00"/>
                        </a:solidFill>
                      </a:endParaRPr>
                    </a:p>
                  </a:txBody>
                  <a:tcPr marL="91444" marR="91444" marT="45626" marB="45626">
                    <a:solidFill>
                      <a:schemeClr val="accent1">
                        <a:lumMod val="60000"/>
                        <a:lumOff val="40000"/>
                      </a:schemeClr>
                    </a:solidFill>
                  </a:tcPr>
                </a:tc>
                <a:tc>
                  <a:txBody>
                    <a:bodyPr/>
                    <a:lstStyle/>
                    <a:p>
                      <a:pPr algn="ctr"/>
                      <a:r>
                        <a:rPr lang="en-US" sz="1400" dirty="0" smtClean="0">
                          <a:solidFill>
                            <a:srgbClr val="FFFF00"/>
                          </a:solidFill>
                          <a:latin typeface="Arial" panose="020B0604020202020204" pitchFamily="34" charset="0"/>
                          <a:cs typeface="Arial" panose="020B0604020202020204" pitchFamily="34" charset="0"/>
                        </a:rPr>
                        <a:t>01 </a:t>
                      </a:r>
                      <a:r>
                        <a:rPr lang="en-US" sz="1400" dirty="0" err="1" smtClean="0">
                          <a:solidFill>
                            <a:srgbClr val="FFFF00"/>
                          </a:solidFill>
                          <a:latin typeface="Arial" panose="020B0604020202020204" pitchFamily="34" charset="0"/>
                          <a:cs typeface="Arial" panose="020B0604020202020204" pitchFamily="34" charset="0"/>
                        </a:rPr>
                        <a:t>chữ</a:t>
                      </a:r>
                      <a:r>
                        <a:rPr lang="en-US" sz="1400" dirty="0" smtClean="0">
                          <a:solidFill>
                            <a:srgbClr val="FFFF00"/>
                          </a:solidFill>
                          <a:latin typeface="Arial" panose="020B0604020202020204" pitchFamily="34" charset="0"/>
                          <a:cs typeface="Arial" panose="020B0604020202020204" pitchFamily="34" charset="0"/>
                        </a:rPr>
                        <a:t> </a:t>
                      </a:r>
                      <a:r>
                        <a:rPr lang="en-US" sz="1400" dirty="0" err="1" smtClean="0">
                          <a:solidFill>
                            <a:srgbClr val="FFFF00"/>
                          </a:solidFill>
                          <a:latin typeface="Arial" panose="020B0604020202020204" pitchFamily="34" charset="0"/>
                          <a:cs typeface="Arial" panose="020B0604020202020204" pitchFamily="34" charset="0"/>
                        </a:rPr>
                        <a:t>cái</a:t>
                      </a:r>
                      <a:r>
                        <a:rPr lang="en-US" sz="1400" dirty="0" smtClean="0">
                          <a:solidFill>
                            <a:srgbClr val="FFFF00"/>
                          </a:solidFill>
                          <a:latin typeface="Arial" panose="020B0604020202020204" pitchFamily="34" charset="0"/>
                          <a:cs typeface="Arial" panose="020B0604020202020204" pitchFamily="34" charset="0"/>
                        </a:rPr>
                        <a:t> </a:t>
                      </a:r>
                      <a:endParaRPr lang="en-US" sz="1400" dirty="0">
                        <a:solidFill>
                          <a:srgbClr val="FFFF00"/>
                        </a:solidFill>
                        <a:latin typeface="Arial" panose="020B0604020202020204" pitchFamily="34" charset="0"/>
                        <a:cs typeface="Arial" panose="020B0604020202020204" pitchFamily="34" charset="0"/>
                      </a:endParaRPr>
                    </a:p>
                  </a:txBody>
                  <a:tcPr marL="91444" marR="91444" marT="45626" marB="45626">
                    <a:solidFill>
                      <a:schemeClr val="accent1">
                        <a:lumMod val="60000"/>
                        <a:lumOff val="40000"/>
                      </a:schemeClr>
                    </a:solidFill>
                  </a:tcPr>
                </a:tc>
                <a:tc>
                  <a:txBody>
                    <a:bodyPr/>
                    <a:lstStyle/>
                    <a:p>
                      <a:r>
                        <a:rPr lang="en-US" sz="1400" dirty="0" smtClean="0">
                          <a:solidFill>
                            <a:srgbClr val="FFFF00"/>
                          </a:solidFill>
                          <a:latin typeface="Arial" panose="020B0604020202020204" pitchFamily="34" charset="0"/>
                          <a:cs typeface="Arial" panose="020B0604020202020204" pitchFamily="34" charset="0"/>
                        </a:rPr>
                        <a:t>1 </a:t>
                      </a:r>
                      <a:r>
                        <a:rPr lang="en-US" sz="1400" dirty="0" err="1" smtClean="0">
                          <a:solidFill>
                            <a:srgbClr val="FFFF00"/>
                          </a:solidFill>
                          <a:latin typeface="Arial" panose="020B0604020202020204" pitchFamily="34" charset="0"/>
                          <a:cs typeface="Arial" panose="020B0604020202020204" pitchFamily="34" charset="0"/>
                        </a:rPr>
                        <a:t>chữ</a:t>
                      </a:r>
                      <a:r>
                        <a:rPr lang="en-US" sz="1400" baseline="0" dirty="0" smtClean="0">
                          <a:solidFill>
                            <a:srgbClr val="FFFF00"/>
                          </a:solidFill>
                          <a:latin typeface="Arial" panose="020B0604020202020204" pitchFamily="34" charset="0"/>
                          <a:cs typeface="Arial" panose="020B0604020202020204" pitchFamily="34" charset="0"/>
                        </a:rPr>
                        <a:t> </a:t>
                      </a:r>
                      <a:r>
                        <a:rPr lang="en-US" sz="1400" baseline="0" dirty="0" err="1" smtClean="0">
                          <a:solidFill>
                            <a:srgbClr val="FFFF00"/>
                          </a:solidFill>
                          <a:latin typeface="Arial" panose="020B0604020202020204" pitchFamily="34" charset="0"/>
                          <a:cs typeface="Arial" panose="020B0604020202020204" pitchFamily="34" charset="0"/>
                        </a:rPr>
                        <a:t>cái</a:t>
                      </a:r>
                      <a:endParaRPr lang="en-US" sz="1400" dirty="0">
                        <a:solidFill>
                          <a:srgbClr val="FFFF00"/>
                        </a:solidFill>
                        <a:latin typeface="Arial" panose="020B0604020202020204" pitchFamily="34" charset="0"/>
                        <a:cs typeface="Arial" panose="020B0604020202020204" pitchFamily="34" charset="0"/>
                      </a:endParaRPr>
                    </a:p>
                  </a:txBody>
                  <a:tcPr marL="91444" marR="91444" marT="45626" marB="45626">
                    <a:solidFill>
                      <a:schemeClr val="accent1">
                        <a:lumMod val="60000"/>
                        <a:lumOff val="40000"/>
                      </a:schemeClr>
                    </a:solidFill>
                  </a:tcPr>
                </a:tc>
                <a:tc>
                  <a:txBody>
                    <a:bodyPr/>
                    <a:lstStyle/>
                    <a:p>
                      <a:r>
                        <a:rPr lang="en-US" sz="1400" dirty="0" smtClean="0">
                          <a:solidFill>
                            <a:srgbClr val="FFFF00"/>
                          </a:solidFill>
                          <a:latin typeface="Arial" panose="020B0604020202020204" pitchFamily="34" charset="0"/>
                          <a:cs typeface="Arial" panose="020B0604020202020204" pitchFamily="34" charset="0"/>
                        </a:rPr>
                        <a:t>1 </a:t>
                      </a:r>
                      <a:r>
                        <a:rPr lang="en-US" sz="1400" dirty="0" err="1" smtClean="0">
                          <a:solidFill>
                            <a:srgbClr val="FFFF00"/>
                          </a:solidFill>
                          <a:latin typeface="Arial" panose="020B0604020202020204" pitchFamily="34" charset="0"/>
                          <a:cs typeface="Arial" panose="020B0604020202020204" pitchFamily="34" charset="0"/>
                        </a:rPr>
                        <a:t>chữ</a:t>
                      </a:r>
                      <a:r>
                        <a:rPr lang="en-US" sz="1400" baseline="0" dirty="0" smtClean="0">
                          <a:solidFill>
                            <a:srgbClr val="FFFF00"/>
                          </a:solidFill>
                          <a:latin typeface="Arial" panose="020B0604020202020204" pitchFamily="34" charset="0"/>
                          <a:cs typeface="Arial" panose="020B0604020202020204" pitchFamily="34" charset="0"/>
                        </a:rPr>
                        <a:t> </a:t>
                      </a:r>
                      <a:r>
                        <a:rPr lang="en-US" sz="1400" baseline="0" dirty="0" err="1" smtClean="0">
                          <a:solidFill>
                            <a:srgbClr val="FFFF00"/>
                          </a:solidFill>
                          <a:latin typeface="Arial" panose="020B0604020202020204" pitchFamily="34" charset="0"/>
                          <a:cs typeface="Arial" panose="020B0604020202020204" pitchFamily="34" charset="0"/>
                        </a:rPr>
                        <a:t>cái</a:t>
                      </a:r>
                      <a:endParaRPr lang="en-US" sz="1400" dirty="0">
                        <a:solidFill>
                          <a:srgbClr val="FFFF00"/>
                        </a:solidFill>
                        <a:latin typeface="Arial" panose="020B0604020202020204" pitchFamily="34" charset="0"/>
                        <a:cs typeface="Arial" panose="020B0604020202020204" pitchFamily="34" charset="0"/>
                      </a:endParaRPr>
                    </a:p>
                  </a:txBody>
                  <a:tcPr marL="91444" marR="91444" marT="45626" marB="45626">
                    <a:solidFill>
                      <a:schemeClr val="accent1">
                        <a:lumMod val="60000"/>
                        <a:lumOff val="40000"/>
                      </a:schemeClr>
                    </a:solidFill>
                  </a:tcPr>
                </a:tc>
                <a:extLst>
                  <a:ext uri="{0D108BD9-81ED-4DB2-BD59-A6C34878D82A}">
                    <a16:rowId xmlns:a16="http://schemas.microsoft.com/office/drawing/2014/main" val="960185552"/>
                  </a:ext>
                </a:extLst>
              </a:tr>
            </a:tbl>
          </a:graphicData>
        </a:graphic>
      </p:graphicFrame>
      <p:sp>
        <p:nvSpPr>
          <p:cNvPr id="22" name="Rounded Rectangle 21"/>
          <p:cNvSpPr/>
          <p:nvPr/>
        </p:nvSpPr>
        <p:spPr>
          <a:xfrm>
            <a:off x="836613" y="1879600"/>
            <a:ext cx="1658937" cy="393699"/>
          </a:xfrm>
          <a:prstGeom prst="round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00" dirty="0">
              <a:solidFill>
                <a:schemeClr val="tx1"/>
              </a:solidFill>
              <a:latin typeface="Arial" panose="020B0604020202020204" pitchFamily="34" charset="0"/>
              <a:cs typeface="Arial" panose="020B0604020202020204" pitchFamily="34" charset="0"/>
            </a:endParaRPr>
          </a:p>
          <a:p>
            <a:pPr algn="ctr">
              <a:defRPr/>
            </a:pPr>
            <a:r>
              <a:rPr lang="x-none" sz="1300" dirty="0">
                <a:solidFill>
                  <a:schemeClr val="tx1"/>
                </a:solidFill>
                <a:latin typeface="Arial" panose="020B0604020202020204" pitchFamily="34" charset="0"/>
                <a:cs typeface="Arial" panose="020B0604020202020204" pitchFamily="34" charset="0"/>
              </a:rPr>
              <a:t>Số 1</a:t>
            </a:r>
            <a:r>
              <a:rPr lang="x-none" sz="1300">
                <a:solidFill>
                  <a:schemeClr val="tx1"/>
                </a:solidFill>
                <a:latin typeface="Arial" panose="020B0604020202020204" pitchFamily="34" charset="0"/>
                <a:cs typeface="Arial" panose="020B0604020202020204" pitchFamily="34" charset="0"/>
              </a:rPr>
              <a:t>: </a:t>
            </a:r>
            <a:r>
              <a:rPr lang="en-US" sz="1300" smtClean="0">
                <a:solidFill>
                  <a:schemeClr val="tx1"/>
                </a:solidFill>
                <a:latin typeface="Arial" panose="020B0604020202020204" pitchFamily="34" charset="0"/>
                <a:cs typeface="Arial" panose="020B0604020202020204" pitchFamily="34" charset="0"/>
              </a:rPr>
              <a:t>HĐĐT </a:t>
            </a:r>
            <a:r>
              <a:rPr lang="en-US" sz="1300" dirty="0">
                <a:solidFill>
                  <a:schemeClr val="tx1"/>
                </a:solidFill>
                <a:latin typeface="Arial" panose="020B0604020202020204" pitchFamily="34" charset="0"/>
                <a:cs typeface="Arial" panose="020B0604020202020204" pitchFamily="34" charset="0"/>
              </a:rPr>
              <a:t>GTGT</a:t>
            </a:r>
            <a:r>
              <a:rPr lang="x-none" sz="1300" dirty="0">
                <a:solidFill>
                  <a:schemeClr val="tx1"/>
                </a:solidFill>
                <a:latin typeface="Arial" panose="020B0604020202020204" pitchFamily="34" charset="0"/>
                <a:cs typeface="Arial" panose="020B0604020202020204" pitchFamily="34" charset="0"/>
              </a:rPr>
              <a:t> </a:t>
            </a:r>
            <a:endParaRPr lang="en-US" sz="1300" dirty="0">
              <a:solidFill>
                <a:schemeClr val="tx1"/>
              </a:solidFill>
              <a:latin typeface="Arial" panose="020B0604020202020204" pitchFamily="34" charset="0"/>
              <a:cs typeface="Arial" panose="020B0604020202020204" pitchFamily="34" charset="0"/>
            </a:endParaRPr>
          </a:p>
          <a:p>
            <a:pPr algn="ctr">
              <a:defRPr/>
            </a:pPr>
            <a:endParaRPr lang="en-US" sz="1300" dirty="0"/>
          </a:p>
        </p:txBody>
      </p:sp>
      <p:sp>
        <p:nvSpPr>
          <p:cNvPr id="23" name="Rounded Rectangle 22"/>
          <p:cNvSpPr/>
          <p:nvPr/>
        </p:nvSpPr>
        <p:spPr>
          <a:xfrm>
            <a:off x="836613" y="2498725"/>
            <a:ext cx="1658937" cy="382588"/>
          </a:xfrm>
          <a:prstGeom prst="round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x-none" sz="1300" dirty="0">
                <a:solidFill>
                  <a:schemeClr val="tx1"/>
                </a:solidFill>
                <a:latin typeface="Arial" panose="020B0604020202020204" pitchFamily="34" charset="0"/>
                <a:cs typeface="Arial" panose="020B0604020202020204" pitchFamily="34" charset="0"/>
              </a:rPr>
              <a:t>Số </a:t>
            </a:r>
            <a:r>
              <a:rPr lang="en-US" sz="1300" dirty="0">
                <a:solidFill>
                  <a:schemeClr val="tx1"/>
                </a:solidFill>
                <a:latin typeface="Arial" panose="020B0604020202020204" pitchFamily="34" charset="0"/>
                <a:cs typeface="Arial" panose="020B0604020202020204" pitchFamily="34" charset="0"/>
              </a:rPr>
              <a:t>2</a:t>
            </a:r>
            <a:r>
              <a:rPr lang="x-none" sz="1300">
                <a:solidFill>
                  <a:schemeClr val="tx1"/>
                </a:solidFill>
                <a:latin typeface="Arial" panose="020B0604020202020204" pitchFamily="34" charset="0"/>
                <a:cs typeface="Arial" panose="020B0604020202020204" pitchFamily="34" charset="0"/>
              </a:rPr>
              <a:t>: </a:t>
            </a:r>
            <a:r>
              <a:rPr lang="en-US" sz="1300" smtClean="0">
                <a:solidFill>
                  <a:schemeClr val="tx1"/>
                </a:solidFill>
                <a:latin typeface="Arial" panose="020B0604020202020204" pitchFamily="34" charset="0"/>
                <a:cs typeface="Arial" panose="020B0604020202020204" pitchFamily="34" charset="0"/>
              </a:rPr>
              <a:t>HĐĐT </a:t>
            </a:r>
            <a:r>
              <a:rPr lang="en-US" sz="1300" dirty="0">
                <a:solidFill>
                  <a:schemeClr val="tx1"/>
                </a:solidFill>
                <a:latin typeface="Arial" panose="020B0604020202020204" pitchFamily="34" charset="0"/>
                <a:cs typeface="Arial" panose="020B0604020202020204" pitchFamily="34" charset="0"/>
              </a:rPr>
              <a:t>BH</a:t>
            </a:r>
          </a:p>
        </p:txBody>
      </p:sp>
      <p:sp>
        <p:nvSpPr>
          <p:cNvPr id="24" name="Rounded Rectangle 23"/>
          <p:cNvSpPr/>
          <p:nvPr/>
        </p:nvSpPr>
        <p:spPr>
          <a:xfrm>
            <a:off x="836613" y="3079750"/>
            <a:ext cx="1658937" cy="463551"/>
          </a:xfrm>
          <a:prstGeom prst="round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300" dirty="0">
              <a:solidFill>
                <a:schemeClr val="tx1"/>
              </a:solidFill>
              <a:latin typeface="Arial" panose="020B0604020202020204" pitchFamily="34" charset="0"/>
              <a:cs typeface="Arial" panose="020B0604020202020204" pitchFamily="34" charset="0"/>
            </a:endParaRPr>
          </a:p>
          <a:p>
            <a:pPr algn="ctr"/>
            <a:r>
              <a:rPr lang="x-none" sz="1300" dirty="0">
                <a:solidFill>
                  <a:schemeClr val="tx1"/>
                </a:solidFill>
                <a:latin typeface="Arial" panose="020B0604020202020204" pitchFamily="34" charset="0"/>
                <a:cs typeface="Arial" panose="020B0604020202020204" pitchFamily="34" charset="0"/>
              </a:rPr>
              <a:t>Số </a:t>
            </a:r>
            <a:r>
              <a:rPr lang="en-US" sz="1300" dirty="0">
                <a:solidFill>
                  <a:schemeClr val="tx1"/>
                </a:solidFill>
                <a:latin typeface="Arial" panose="020B0604020202020204" pitchFamily="34" charset="0"/>
                <a:cs typeface="Arial" panose="020B0604020202020204" pitchFamily="34" charset="0"/>
              </a:rPr>
              <a:t>3</a:t>
            </a:r>
            <a:r>
              <a:rPr lang="x-none" sz="1300">
                <a:solidFill>
                  <a:schemeClr val="tx1"/>
                </a:solidFill>
                <a:latin typeface="Arial" panose="020B0604020202020204" pitchFamily="34" charset="0"/>
                <a:cs typeface="Arial" panose="020B0604020202020204" pitchFamily="34" charset="0"/>
              </a:rPr>
              <a:t>: </a:t>
            </a:r>
            <a:r>
              <a:rPr lang="en-US" sz="1300" smtClean="0">
                <a:solidFill>
                  <a:schemeClr val="tx1"/>
                </a:solidFill>
                <a:latin typeface="Arial" panose="020B0604020202020204" pitchFamily="34" charset="0"/>
                <a:cs typeface="Arial" panose="020B0604020202020204" pitchFamily="34" charset="0"/>
              </a:rPr>
              <a:t>HĐĐT </a:t>
            </a:r>
            <a:r>
              <a:rPr lang="en-US" sz="1300" dirty="0" err="1">
                <a:solidFill>
                  <a:schemeClr val="tx1"/>
                </a:solidFill>
                <a:latin typeface="Arial" panose="020B0604020202020204" pitchFamily="34" charset="0"/>
                <a:cs typeface="Arial" panose="020B0604020202020204" pitchFamily="34" charset="0"/>
              </a:rPr>
              <a:t>bán</a:t>
            </a:r>
            <a:r>
              <a:rPr lang="en-US" sz="1300" dirty="0">
                <a:solidFill>
                  <a:schemeClr val="tx1"/>
                </a:solidFill>
                <a:latin typeface="Arial" panose="020B0604020202020204" pitchFamily="34" charset="0"/>
                <a:cs typeface="Arial" panose="020B0604020202020204" pitchFamily="34" charset="0"/>
              </a:rPr>
              <a:t> TS </a:t>
            </a:r>
            <a:r>
              <a:rPr lang="en-US" sz="1300" dirty="0" err="1">
                <a:solidFill>
                  <a:schemeClr val="tx1"/>
                </a:solidFill>
                <a:latin typeface="Arial" panose="020B0604020202020204" pitchFamily="34" charset="0"/>
                <a:cs typeface="Arial" panose="020B0604020202020204" pitchFamily="34" charset="0"/>
              </a:rPr>
              <a:t>công</a:t>
            </a:r>
            <a:r>
              <a:rPr lang="x-none" sz="1300" dirty="0">
                <a:solidFill>
                  <a:schemeClr val="tx1"/>
                </a:solidFill>
                <a:latin typeface="Arial" panose="020B0604020202020204" pitchFamily="34" charset="0"/>
                <a:cs typeface="Arial" panose="020B0604020202020204" pitchFamily="34" charset="0"/>
              </a:rPr>
              <a:t> </a:t>
            </a:r>
            <a:endParaRPr lang="en-US" sz="1300" dirty="0">
              <a:solidFill>
                <a:schemeClr val="tx1"/>
              </a:solidFill>
              <a:latin typeface="Arial" panose="020B0604020202020204" pitchFamily="34" charset="0"/>
              <a:cs typeface="Arial" panose="020B0604020202020204" pitchFamily="34" charset="0"/>
            </a:endParaRPr>
          </a:p>
          <a:p>
            <a:pPr algn="ctr"/>
            <a:endParaRPr lang="en-US" sz="1300" dirty="0">
              <a:solidFill>
                <a:schemeClr val="tx1"/>
              </a:solidFill>
              <a:latin typeface="Arial" panose="020B0604020202020204" pitchFamily="34" charset="0"/>
              <a:cs typeface="Arial" panose="020B0604020202020204" pitchFamily="34" charset="0"/>
            </a:endParaRPr>
          </a:p>
        </p:txBody>
      </p:sp>
      <p:sp>
        <p:nvSpPr>
          <p:cNvPr id="25" name="Rounded Rectangle 24"/>
          <p:cNvSpPr/>
          <p:nvPr/>
        </p:nvSpPr>
        <p:spPr>
          <a:xfrm>
            <a:off x="836613" y="3790950"/>
            <a:ext cx="1658937" cy="469503"/>
          </a:xfrm>
          <a:prstGeom prst="round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x-none" sz="1300" dirty="0">
                <a:solidFill>
                  <a:schemeClr val="tx1"/>
                </a:solidFill>
                <a:latin typeface="Arial" panose="020B0604020202020204" pitchFamily="34" charset="0"/>
                <a:cs typeface="Arial" panose="020B0604020202020204" pitchFamily="34" charset="0"/>
              </a:rPr>
              <a:t>Số </a:t>
            </a:r>
            <a:r>
              <a:rPr lang="en-US" sz="1300" dirty="0">
                <a:solidFill>
                  <a:schemeClr val="tx1"/>
                </a:solidFill>
                <a:latin typeface="Arial" panose="020B0604020202020204" pitchFamily="34" charset="0"/>
                <a:cs typeface="Arial" panose="020B0604020202020204" pitchFamily="34" charset="0"/>
              </a:rPr>
              <a:t>4</a:t>
            </a:r>
            <a:r>
              <a:rPr lang="x-none" sz="1300">
                <a:solidFill>
                  <a:schemeClr val="tx1"/>
                </a:solidFill>
                <a:latin typeface="Arial" panose="020B0604020202020204" pitchFamily="34" charset="0"/>
                <a:cs typeface="Arial" panose="020B0604020202020204" pitchFamily="34" charset="0"/>
              </a:rPr>
              <a:t>: </a:t>
            </a:r>
            <a:r>
              <a:rPr lang="en-US" sz="1300" smtClean="0">
                <a:solidFill>
                  <a:schemeClr val="tx1"/>
                </a:solidFill>
                <a:latin typeface="Arial" panose="020B0604020202020204" pitchFamily="34" charset="0"/>
                <a:cs typeface="Arial" panose="020B0604020202020204" pitchFamily="34" charset="0"/>
              </a:rPr>
              <a:t>HĐĐT </a:t>
            </a:r>
            <a:r>
              <a:rPr lang="en-US" sz="1300" dirty="0">
                <a:solidFill>
                  <a:schemeClr val="tx1"/>
                </a:solidFill>
                <a:latin typeface="Arial" panose="020B0604020202020204" pitchFamily="34" charset="0"/>
                <a:cs typeface="Arial" panose="020B0604020202020204" pitchFamily="34" charset="0"/>
              </a:rPr>
              <a:t>BH </a:t>
            </a:r>
            <a:r>
              <a:rPr lang="en-US" sz="1300" dirty="0" err="1">
                <a:solidFill>
                  <a:schemeClr val="tx1"/>
                </a:solidFill>
                <a:latin typeface="Arial" panose="020B0604020202020204" pitchFamily="34" charset="0"/>
                <a:cs typeface="Arial" panose="020B0604020202020204" pitchFamily="34" charset="0"/>
              </a:rPr>
              <a:t>dự</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trữ</a:t>
            </a:r>
            <a:r>
              <a:rPr lang="en-US" sz="1300" dirty="0">
                <a:solidFill>
                  <a:schemeClr val="tx1"/>
                </a:solidFill>
                <a:latin typeface="Arial" panose="020B0604020202020204" pitchFamily="34" charset="0"/>
                <a:cs typeface="Arial" panose="020B0604020202020204" pitchFamily="34" charset="0"/>
              </a:rPr>
              <a:t> QG</a:t>
            </a:r>
          </a:p>
        </p:txBody>
      </p:sp>
      <p:sp>
        <p:nvSpPr>
          <p:cNvPr id="26" name="Rounded Rectangle 25"/>
          <p:cNvSpPr/>
          <p:nvPr/>
        </p:nvSpPr>
        <p:spPr>
          <a:xfrm>
            <a:off x="834232" y="4362400"/>
            <a:ext cx="1658937" cy="572340"/>
          </a:xfrm>
          <a:prstGeom prst="round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300" dirty="0">
              <a:solidFill>
                <a:schemeClr val="tx1"/>
              </a:solidFill>
              <a:latin typeface="Arial" panose="020B0604020202020204" pitchFamily="34" charset="0"/>
              <a:cs typeface="Arial" panose="020B0604020202020204" pitchFamily="34" charset="0"/>
            </a:endParaRPr>
          </a:p>
          <a:p>
            <a:pPr algn="ctr"/>
            <a:r>
              <a:rPr lang="x-none" sz="1300" dirty="0">
                <a:solidFill>
                  <a:schemeClr val="tx1"/>
                </a:solidFill>
                <a:latin typeface="Arial" panose="020B0604020202020204" pitchFamily="34" charset="0"/>
                <a:cs typeface="Arial" panose="020B0604020202020204" pitchFamily="34" charset="0"/>
              </a:rPr>
              <a:t>Số </a:t>
            </a:r>
            <a:r>
              <a:rPr lang="en-US" sz="1300" dirty="0">
                <a:solidFill>
                  <a:schemeClr val="tx1"/>
                </a:solidFill>
                <a:latin typeface="Arial" panose="020B0604020202020204" pitchFamily="34" charset="0"/>
                <a:cs typeface="Arial" panose="020B0604020202020204" pitchFamily="34" charset="0"/>
              </a:rPr>
              <a:t>5</a:t>
            </a:r>
            <a:r>
              <a:rPr lang="x-none" sz="1300">
                <a:solidFill>
                  <a:schemeClr val="tx1"/>
                </a:solidFill>
                <a:latin typeface="Arial" panose="020B0604020202020204" pitchFamily="34" charset="0"/>
                <a:cs typeface="Arial" panose="020B0604020202020204" pitchFamily="34" charset="0"/>
              </a:rPr>
              <a:t>: </a:t>
            </a:r>
            <a:r>
              <a:rPr lang="en-US" sz="1300" smtClean="0">
                <a:solidFill>
                  <a:schemeClr val="tx1"/>
                </a:solidFill>
                <a:latin typeface="Arial" panose="020B0604020202020204" pitchFamily="34" charset="0"/>
                <a:cs typeface="Arial" panose="020B0604020202020204" pitchFamily="34" charset="0"/>
              </a:rPr>
              <a:t>HĐĐT </a:t>
            </a:r>
            <a:r>
              <a:rPr lang="en-US" sz="1300" dirty="0" err="1">
                <a:solidFill>
                  <a:schemeClr val="tx1"/>
                </a:solidFill>
                <a:latin typeface="Arial" panose="020B0604020202020204" pitchFamily="34" charset="0"/>
                <a:cs typeface="Arial" panose="020B0604020202020204" pitchFamily="34" charset="0"/>
              </a:rPr>
              <a:t>khác</a:t>
            </a:r>
            <a:r>
              <a:rPr lang="en-US" sz="1300" dirty="0">
                <a:solidFill>
                  <a:schemeClr val="tx1"/>
                </a:solidFill>
                <a:latin typeface="Arial" panose="020B0604020202020204" pitchFamily="34" charset="0"/>
                <a:cs typeface="Arial" panose="020B0604020202020204" pitchFamily="34" charset="0"/>
              </a:rPr>
              <a:t> </a:t>
            </a:r>
            <a:r>
              <a:rPr lang="en-US" sz="1300" dirty="0" err="1">
                <a:solidFill>
                  <a:schemeClr val="tx1"/>
                </a:solidFill>
                <a:latin typeface="Arial" panose="020B0604020202020204" pitchFamily="34" charset="0"/>
                <a:cs typeface="Arial" panose="020B0604020202020204" pitchFamily="34" charset="0"/>
              </a:rPr>
              <a:t>như</a:t>
            </a:r>
            <a:r>
              <a:rPr lang="en-US" sz="1300" dirty="0">
                <a:solidFill>
                  <a:schemeClr val="tx1"/>
                </a:solidFill>
                <a:latin typeface="Arial" panose="020B0604020202020204" pitchFamily="34" charset="0"/>
                <a:cs typeface="Arial" panose="020B0604020202020204" pitchFamily="34" charset="0"/>
              </a:rPr>
              <a:t>: tem , </a:t>
            </a:r>
            <a:r>
              <a:rPr lang="en-US" sz="1300" err="1">
                <a:solidFill>
                  <a:schemeClr val="tx1"/>
                </a:solidFill>
                <a:latin typeface="Arial" panose="020B0604020202020204" pitchFamily="34" charset="0"/>
                <a:cs typeface="Arial" panose="020B0604020202020204" pitchFamily="34" charset="0"/>
              </a:rPr>
              <a:t>vé</a:t>
            </a:r>
            <a:r>
              <a:rPr lang="en-US" sz="1300" smtClean="0">
                <a:solidFill>
                  <a:schemeClr val="tx1"/>
                </a:solidFill>
                <a:latin typeface="Arial" panose="020B0604020202020204" pitchFamily="34" charset="0"/>
                <a:cs typeface="Arial" panose="020B0604020202020204" pitchFamily="34" charset="0"/>
              </a:rPr>
              <a:t>,…</a:t>
            </a:r>
            <a:r>
              <a:rPr lang="x-none" sz="1300" smtClean="0">
                <a:solidFill>
                  <a:schemeClr val="tx1"/>
                </a:solidFill>
                <a:latin typeface="Arial" panose="020B0604020202020204" pitchFamily="34" charset="0"/>
                <a:cs typeface="Arial" panose="020B0604020202020204" pitchFamily="34" charset="0"/>
              </a:rPr>
              <a:t> </a:t>
            </a:r>
            <a:endParaRPr lang="en-US" sz="1300" dirty="0">
              <a:solidFill>
                <a:schemeClr val="tx1"/>
              </a:solidFill>
              <a:latin typeface="Arial" panose="020B0604020202020204" pitchFamily="34" charset="0"/>
              <a:cs typeface="Arial" panose="020B0604020202020204" pitchFamily="34" charset="0"/>
            </a:endParaRPr>
          </a:p>
          <a:p>
            <a:pPr algn="ctr"/>
            <a:endParaRPr lang="en-US" sz="1300" dirty="0">
              <a:solidFill>
                <a:schemeClr val="tx1"/>
              </a:solidFill>
              <a:latin typeface="Arial" panose="020B0604020202020204" pitchFamily="34" charset="0"/>
              <a:cs typeface="Arial" panose="020B0604020202020204" pitchFamily="34" charset="0"/>
            </a:endParaRPr>
          </a:p>
        </p:txBody>
      </p:sp>
      <p:sp>
        <p:nvSpPr>
          <p:cNvPr id="27" name="Rounded Rectangle 26"/>
          <p:cNvSpPr/>
          <p:nvPr/>
        </p:nvSpPr>
        <p:spPr>
          <a:xfrm>
            <a:off x="855663" y="5145563"/>
            <a:ext cx="1658937" cy="1495516"/>
          </a:xfrm>
          <a:prstGeom prst="roundRect">
            <a:avLst/>
          </a:prstGeom>
          <a:solidFill>
            <a:srgbClr val="B482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300" dirty="0">
              <a:solidFill>
                <a:schemeClr val="tx1"/>
              </a:solidFill>
              <a:latin typeface="Arial" panose="020B0604020202020204" pitchFamily="34" charset="0"/>
              <a:cs typeface="Arial" panose="020B0604020202020204" pitchFamily="34" charset="0"/>
            </a:endParaRPr>
          </a:p>
          <a:p>
            <a:pPr algn="ctr"/>
            <a:r>
              <a:rPr lang="x-none" sz="1300" dirty="0">
                <a:solidFill>
                  <a:schemeClr val="tx1"/>
                </a:solidFill>
                <a:latin typeface="Arial" panose="020B0604020202020204" pitchFamily="34" charset="0"/>
                <a:cs typeface="Arial" panose="020B0604020202020204" pitchFamily="34" charset="0"/>
              </a:rPr>
              <a:t>Số </a:t>
            </a:r>
            <a:r>
              <a:rPr lang="en-US" sz="1300" dirty="0">
                <a:solidFill>
                  <a:schemeClr val="tx1"/>
                </a:solidFill>
                <a:latin typeface="Arial" panose="020B0604020202020204" pitchFamily="34" charset="0"/>
                <a:cs typeface="Arial" panose="020B0604020202020204" pitchFamily="34" charset="0"/>
              </a:rPr>
              <a:t>6</a:t>
            </a:r>
            <a:r>
              <a:rPr lang="x-none" sz="1300">
                <a:solidFill>
                  <a:schemeClr val="tx1"/>
                </a:solidFill>
                <a:latin typeface="Arial" panose="020B0604020202020204" pitchFamily="34" charset="0"/>
                <a:cs typeface="Arial" panose="020B0604020202020204" pitchFamily="34" charset="0"/>
              </a:rPr>
              <a:t>: </a:t>
            </a:r>
            <a:r>
              <a:rPr lang="en-US" sz="1300" smtClean="0">
                <a:solidFill>
                  <a:schemeClr val="tx1"/>
                </a:solidFill>
                <a:latin typeface="Arial" panose="020B0604020202020204" pitchFamily="34" charset="0"/>
                <a:cs typeface="Arial" panose="020B0604020202020204" pitchFamily="34" charset="0"/>
              </a:rPr>
              <a:t>CTĐT </a:t>
            </a:r>
            <a:r>
              <a:rPr lang="x-none" sz="1300" dirty="0">
                <a:solidFill>
                  <a:schemeClr val="tx1"/>
                </a:solidFill>
                <a:latin typeface="Arial" panose="020B0604020202020204" pitchFamily="34" charset="0"/>
                <a:cs typeface="Arial" panose="020B0604020202020204" pitchFamily="34" charset="0"/>
              </a:rPr>
              <a:t>được </a:t>
            </a:r>
            <a:r>
              <a:rPr lang="en-US" sz="1300" dirty="0">
                <a:solidFill>
                  <a:schemeClr val="tx1"/>
                </a:solidFill>
                <a:latin typeface="Arial" panose="020B0604020202020204" pitchFamily="34" charset="0"/>
                <a:cs typeface="Arial" panose="020B0604020202020204" pitchFamily="34" charset="0"/>
              </a:rPr>
              <a:t>SD </a:t>
            </a:r>
            <a:r>
              <a:rPr lang="x-none" sz="1300" dirty="0">
                <a:solidFill>
                  <a:schemeClr val="tx1"/>
                </a:solidFill>
                <a:latin typeface="Arial" panose="020B0604020202020204" pitchFamily="34" charset="0"/>
                <a:cs typeface="Arial" panose="020B0604020202020204" pitchFamily="34" charset="0"/>
              </a:rPr>
              <a:t>và quản lý như </a:t>
            </a:r>
            <a:r>
              <a:rPr lang="en-US" sz="1300" dirty="0">
                <a:solidFill>
                  <a:schemeClr val="tx1"/>
                </a:solidFill>
                <a:latin typeface="Arial" panose="020B0604020202020204" pitchFamily="34" charset="0"/>
                <a:cs typeface="Arial" panose="020B0604020202020204" pitchFamily="34" charset="0"/>
              </a:rPr>
              <a:t>HĐ:</a:t>
            </a:r>
            <a:r>
              <a:rPr lang="x-none" sz="1300" dirty="0">
                <a:solidFill>
                  <a:schemeClr val="tx1"/>
                </a:solidFill>
                <a:latin typeface="Arial" panose="020B0604020202020204" pitchFamily="34" charset="0"/>
                <a:cs typeface="Arial" panose="020B0604020202020204" pitchFamily="34" charset="0"/>
              </a:rPr>
              <a:t> </a:t>
            </a:r>
            <a:r>
              <a:rPr lang="en-US" sz="1300" dirty="0">
                <a:solidFill>
                  <a:schemeClr val="tx1"/>
                </a:solidFill>
                <a:latin typeface="Arial" panose="020B0604020202020204" pitchFamily="34" charset="0"/>
                <a:cs typeface="Arial" panose="020B0604020202020204" pitchFamily="34" charset="0"/>
              </a:rPr>
              <a:t>PXK </a:t>
            </a:r>
            <a:r>
              <a:rPr lang="x-none" sz="1300" dirty="0">
                <a:solidFill>
                  <a:schemeClr val="tx1"/>
                </a:solidFill>
                <a:latin typeface="Arial" panose="020B0604020202020204" pitchFamily="34" charset="0"/>
                <a:cs typeface="Arial" panose="020B0604020202020204" pitchFamily="34" charset="0"/>
              </a:rPr>
              <a:t>kiêm vận chuyển nội bộ </a:t>
            </a:r>
            <a:r>
              <a:rPr lang="en-US" sz="1300" dirty="0">
                <a:solidFill>
                  <a:schemeClr val="tx1"/>
                </a:solidFill>
                <a:latin typeface="Arial" panose="020B0604020202020204" pitchFamily="34" charset="0"/>
                <a:cs typeface="Arial" panose="020B0604020202020204" pitchFamily="34" charset="0"/>
              </a:rPr>
              <a:t>ĐT</a:t>
            </a:r>
            <a:r>
              <a:rPr lang="x-none" sz="1300" dirty="0">
                <a:solidFill>
                  <a:schemeClr val="tx1"/>
                </a:solidFill>
                <a:latin typeface="Arial" panose="020B0604020202020204" pitchFamily="34" charset="0"/>
                <a:cs typeface="Arial" panose="020B0604020202020204" pitchFamily="34" charset="0"/>
              </a:rPr>
              <a:t>, </a:t>
            </a:r>
            <a:r>
              <a:rPr lang="en-US" sz="1300" dirty="0">
                <a:solidFill>
                  <a:schemeClr val="tx1"/>
                </a:solidFill>
                <a:latin typeface="Arial" panose="020B0604020202020204" pitchFamily="34" charset="0"/>
                <a:cs typeface="Arial" panose="020B0604020202020204" pitchFamily="34" charset="0"/>
              </a:rPr>
              <a:t>PXK </a:t>
            </a:r>
            <a:r>
              <a:rPr lang="x-none" sz="1300" dirty="0">
                <a:solidFill>
                  <a:schemeClr val="tx1"/>
                </a:solidFill>
                <a:latin typeface="Arial" panose="020B0604020202020204" pitchFamily="34" charset="0"/>
                <a:cs typeface="Arial" panose="020B0604020202020204" pitchFamily="34" charset="0"/>
              </a:rPr>
              <a:t>hàng gửi bán đại </a:t>
            </a:r>
            <a:r>
              <a:rPr lang="x-none" sz="1300">
                <a:solidFill>
                  <a:schemeClr val="tx1"/>
                </a:solidFill>
                <a:latin typeface="Arial" panose="020B0604020202020204" pitchFamily="34" charset="0"/>
                <a:cs typeface="Arial" panose="020B0604020202020204" pitchFamily="34" charset="0"/>
              </a:rPr>
              <a:t>lý </a:t>
            </a:r>
            <a:r>
              <a:rPr lang="en-US" sz="1300" smtClean="0">
                <a:solidFill>
                  <a:schemeClr val="tx1"/>
                </a:solidFill>
                <a:latin typeface="Arial" panose="020B0604020202020204" pitchFamily="34" charset="0"/>
                <a:cs typeface="Arial" panose="020B0604020202020204" pitchFamily="34" charset="0"/>
              </a:rPr>
              <a:t>ĐT</a:t>
            </a:r>
            <a:endParaRPr lang="en-US" sz="1300" dirty="0">
              <a:solidFill>
                <a:schemeClr val="tx1"/>
              </a:solidFill>
              <a:latin typeface="Arial" panose="020B0604020202020204" pitchFamily="34" charset="0"/>
              <a:cs typeface="Arial" panose="020B0604020202020204" pitchFamily="34" charset="0"/>
            </a:endParaRPr>
          </a:p>
        </p:txBody>
      </p:sp>
      <p:sp>
        <p:nvSpPr>
          <p:cNvPr id="28" name="TextBox 27"/>
          <p:cNvSpPr txBox="1"/>
          <p:nvPr/>
        </p:nvSpPr>
        <p:spPr>
          <a:xfrm>
            <a:off x="588963" y="1081088"/>
            <a:ext cx="2166937" cy="293687"/>
          </a:xfrm>
          <a:prstGeom prst="rect">
            <a:avLst/>
          </a:prstGeom>
          <a:solidFill>
            <a:srgbClr val="B482DA"/>
          </a:solidFill>
          <a:ln w="38100">
            <a:solidFill>
              <a:schemeClr val="tx1"/>
            </a:solidFill>
          </a:ln>
        </p:spPr>
        <p:txBody>
          <a:bodyPr>
            <a:spAutoFit/>
          </a:bodyPr>
          <a:lstStyle/>
          <a:p>
            <a:pPr>
              <a:defRPr/>
            </a:pPr>
            <a:r>
              <a:rPr lang="en-US" sz="1300" b="1" dirty="0">
                <a:latin typeface="Times New Roman" panose="02020603050405020304" pitchFamily="18" charset="0"/>
                <a:cs typeface="Times New Roman" panose="02020603050405020304" pitchFamily="18" charset="0"/>
              </a:rPr>
              <a:t>KÝ HIỆU MẪU SỐ HĐ ĐT</a:t>
            </a:r>
          </a:p>
        </p:txBody>
      </p:sp>
      <p:sp>
        <p:nvSpPr>
          <p:cNvPr id="29" name="TextBox 28"/>
          <p:cNvSpPr txBox="1"/>
          <p:nvPr/>
        </p:nvSpPr>
        <p:spPr>
          <a:xfrm>
            <a:off x="2755900" y="1081088"/>
            <a:ext cx="9090025" cy="292100"/>
          </a:xfrm>
          <a:prstGeom prst="rect">
            <a:avLst/>
          </a:prstGeom>
          <a:solidFill>
            <a:srgbClr val="FFFF00"/>
          </a:solidFill>
          <a:ln w="38100">
            <a:solidFill>
              <a:schemeClr val="tx1"/>
            </a:solidFill>
          </a:ln>
        </p:spPr>
        <p:txBody>
          <a:bodyPr>
            <a:spAutoFit/>
          </a:bodyPr>
          <a:lstStyle/>
          <a:p>
            <a:pPr algn="ctr">
              <a:defRPr/>
            </a:pPr>
            <a:r>
              <a:rPr lang="en-US" sz="1300" b="1" dirty="0">
                <a:latin typeface="Times New Roman" panose="02020603050405020304" pitchFamily="18" charset="0"/>
                <a:cs typeface="Times New Roman" panose="02020603050405020304" pitchFamily="18" charset="0"/>
              </a:rPr>
              <a:t>KÝ HIỆU  HÓA ĐƠN</a:t>
            </a:r>
          </a:p>
        </p:txBody>
      </p:sp>
      <p:cxnSp>
        <p:nvCxnSpPr>
          <p:cNvPr id="30" name="Straight Connector 29"/>
          <p:cNvCxnSpPr/>
          <p:nvPr/>
        </p:nvCxnSpPr>
        <p:spPr>
          <a:xfrm>
            <a:off x="638175" y="1743075"/>
            <a:ext cx="15875" cy="441483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47700" y="2675595"/>
            <a:ext cx="19685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57225" y="3340758"/>
            <a:ext cx="198438"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647700" y="4069420"/>
            <a:ext cx="19685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47700" y="4616251"/>
            <a:ext cx="19685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60400" y="6140450"/>
            <a:ext cx="19685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3157538" y="1878013"/>
            <a:ext cx="855662" cy="136525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b="1" dirty="0">
              <a:solidFill>
                <a:schemeClr val="tx1"/>
              </a:solidFill>
              <a:latin typeface="Arial" panose="020B0604020202020204" pitchFamily="34" charset="0"/>
              <a:cs typeface="Arial" panose="020B0604020202020204" pitchFamily="34" charset="0"/>
            </a:endParaRPr>
          </a:p>
          <a:p>
            <a:pPr algn="ctr">
              <a:defRPr/>
            </a:pPr>
            <a:r>
              <a:rPr lang="x-none" sz="1400" b="1" dirty="0">
                <a:solidFill>
                  <a:schemeClr val="tx1"/>
                </a:solidFill>
                <a:latin typeface="Arial" panose="020B0604020202020204" pitchFamily="34" charset="0"/>
                <a:cs typeface="Arial" panose="020B0604020202020204" pitchFamily="34" charset="0"/>
              </a:rPr>
              <a:t>C</a:t>
            </a:r>
            <a:r>
              <a:rPr lang="x-none" sz="1400" dirty="0">
                <a:solidFill>
                  <a:schemeClr val="tx1"/>
                </a:solidFill>
                <a:latin typeface="Arial" panose="020B0604020202020204" pitchFamily="34" charset="0"/>
                <a:cs typeface="Arial" panose="020B0604020202020204" pitchFamily="34" charset="0"/>
              </a:rPr>
              <a:t> thể hiện </a:t>
            </a:r>
            <a:r>
              <a:rPr lang="en-US" sz="1400" dirty="0">
                <a:solidFill>
                  <a:schemeClr val="tx1"/>
                </a:solidFill>
                <a:latin typeface="Arial" panose="020B0604020202020204" pitchFamily="34" charset="0"/>
                <a:cs typeface="Arial" panose="020B0604020202020204" pitchFamily="34" charset="0"/>
              </a:rPr>
              <a:t>HĐ ĐT</a:t>
            </a:r>
            <a:r>
              <a:rPr lang="x-none" sz="1400" dirty="0">
                <a:solidFill>
                  <a:schemeClr val="tx1"/>
                </a:solidFill>
                <a:latin typeface="Arial" panose="020B0604020202020204" pitchFamily="34" charset="0"/>
                <a:cs typeface="Arial" panose="020B0604020202020204" pitchFamily="34" charset="0"/>
              </a:rPr>
              <a:t> có mã của </a:t>
            </a:r>
            <a:r>
              <a:rPr lang="en-US" sz="1400" dirty="0">
                <a:solidFill>
                  <a:schemeClr val="tx1"/>
                </a:solidFill>
                <a:latin typeface="Arial" panose="020B0604020202020204" pitchFamily="34" charset="0"/>
                <a:cs typeface="Arial" panose="020B0604020202020204" pitchFamily="34" charset="0"/>
              </a:rPr>
              <a:t>CQT</a:t>
            </a:r>
          </a:p>
          <a:p>
            <a:pPr algn="ctr">
              <a:defRPr/>
            </a:pPr>
            <a:endParaRPr lang="en-US" sz="1400" dirty="0"/>
          </a:p>
        </p:txBody>
      </p:sp>
      <p:sp>
        <p:nvSpPr>
          <p:cNvPr id="38" name="Rounded Rectangle 37"/>
          <p:cNvSpPr/>
          <p:nvPr/>
        </p:nvSpPr>
        <p:spPr>
          <a:xfrm>
            <a:off x="3208338" y="3394160"/>
            <a:ext cx="857250" cy="161599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b="1" dirty="0">
              <a:solidFill>
                <a:schemeClr val="tx1"/>
              </a:solidFill>
              <a:latin typeface="Arial" panose="020B0604020202020204" pitchFamily="34" charset="0"/>
              <a:cs typeface="Arial" panose="020B0604020202020204" pitchFamily="34" charset="0"/>
            </a:endParaRPr>
          </a:p>
          <a:p>
            <a:pPr algn="ctr">
              <a:defRPr/>
            </a:pPr>
            <a:r>
              <a:rPr lang="en-US" sz="1400" b="1" dirty="0">
                <a:solidFill>
                  <a:schemeClr val="tx1"/>
                </a:solidFill>
                <a:latin typeface="Arial" panose="020B0604020202020204" pitchFamily="34" charset="0"/>
                <a:cs typeface="Arial" panose="020B0604020202020204" pitchFamily="34" charset="0"/>
              </a:rPr>
              <a:t>K</a:t>
            </a:r>
            <a:r>
              <a:rPr lang="x-none" sz="1400" dirty="0">
                <a:solidFill>
                  <a:schemeClr val="tx1"/>
                </a:solidFill>
                <a:latin typeface="Arial" panose="020B0604020202020204" pitchFamily="34" charset="0"/>
                <a:cs typeface="Arial" panose="020B0604020202020204" pitchFamily="34" charset="0"/>
              </a:rPr>
              <a:t> thể hiện </a:t>
            </a:r>
            <a:r>
              <a:rPr lang="en-US" sz="1400" dirty="0">
                <a:solidFill>
                  <a:schemeClr val="tx1"/>
                </a:solidFill>
                <a:latin typeface="Arial" panose="020B0604020202020204" pitchFamily="34" charset="0"/>
                <a:cs typeface="Arial" panose="020B0604020202020204" pitchFamily="34" charset="0"/>
              </a:rPr>
              <a:t>HĐ ĐT</a:t>
            </a:r>
            <a:r>
              <a:rPr lang="x-none"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không</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có</a:t>
            </a:r>
            <a:r>
              <a:rPr lang="en-US" sz="1400" dirty="0">
                <a:solidFill>
                  <a:schemeClr val="tx1"/>
                </a:solidFill>
                <a:latin typeface="Arial" panose="020B0604020202020204" pitchFamily="34" charset="0"/>
                <a:cs typeface="Arial" panose="020B0604020202020204" pitchFamily="34" charset="0"/>
              </a:rPr>
              <a:t> </a:t>
            </a:r>
            <a:r>
              <a:rPr lang="x-none" sz="1400" dirty="0">
                <a:solidFill>
                  <a:schemeClr val="tx1"/>
                </a:solidFill>
                <a:latin typeface="Arial" panose="020B0604020202020204" pitchFamily="34" charset="0"/>
                <a:cs typeface="Arial" panose="020B0604020202020204" pitchFamily="34" charset="0"/>
              </a:rPr>
              <a:t>mã của </a:t>
            </a:r>
            <a:r>
              <a:rPr lang="en-US" sz="1400" dirty="0">
                <a:solidFill>
                  <a:schemeClr val="tx1"/>
                </a:solidFill>
                <a:latin typeface="Arial" panose="020B0604020202020204" pitchFamily="34" charset="0"/>
                <a:cs typeface="Arial" panose="020B0604020202020204" pitchFamily="34" charset="0"/>
              </a:rPr>
              <a:t>CQT</a:t>
            </a:r>
          </a:p>
          <a:p>
            <a:pPr algn="ctr">
              <a:defRPr/>
            </a:pPr>
            <a:endParaRPr lang="en-US" sz="1400" dirty="0"/>
          </a:p>
        </p:txBody>
      </p:sp>
      <p:cxnSp>
        <p:nvCxnSpPr>
          <p:cNvPr id="39" name="Straight Connector 38"/>
          <p:cNvCxnSpPr/>
          <p:nvPr/>
        </p:nvCxnSpPr>
        <p:spPr>
          <a:xfrm>
            <a:off x="2921000" y="1743075"/>
            <a:ext cx="25400" cy="2408238"/>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2971800" y="4151313"/>
            <a:ext cx="198438" cy="0"/>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2946400" y="2613025"/>
            <a:ext cx="198438" cy="0"/>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519613" y="1830388"/>
            <a:ext cx="0" cy="31750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519613" y="2147888"/>
            <a:ext cx="992187"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11800" y="1830388"/>
            <a:ext cx="0" cy="31750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989513" y="2147888"/>
            <a:ext cx="0" cy="350837"/>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4362450" y="2498725"/>
            <a:ext cx="1358900" cy="251142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defRPr/>
            </a:pPr>
            <a:r>
              <a:rPr lang="en-US" sz="1400" dirty="0">
                <a:solidFill>
                  <a:schemeClr val="tx1"/>
                </a:solidFill>
                <a:latin typeface="Arial" panose="020B0604020202020204" pitchFamily="34" charset="0"/>
                <a:cs typeface="Arial" panose="020B0604020202020204" pitchFamily="34" charset="0"/>
              </a:rPr>
              <a:t>T</a:t>
            </a:r>
            <a:r>
              <a:rPr lang="x-none" sz="1400" dirty="0">
                <a:solidFill>
                  <a:schemeClr val="tx1"/>
                </a:solidFill>
                <a:latin typeface="Arial" panose="020B0604020202020204" pitchFamily="34" charset="0"/>
                <a:cs typeface="Arial" panose="020B0604020202020204" pitchFamily="34" charset="0"/>
              </a:rPr>
              <a:t>hể hiện năm lập hóa đơn điện tử được xác định theo 2 chữ số cuối của năm dương lịch</a:t>
            </a:r>
            <a:endParaRPr lang="en-US" sz="1400" dirty="0">
              <a:solidFill>
                <a:schemeClr val="tx1"/>
              </a:solidFill>
              <a:latin typeface="Arial" panose="020B0604020202020204" pitchFamily="34" charset="0"/>
              <a:cs typeface="Arial" panose="020B0604020202020204" pitchFamily="34" charset="0"/>
            </a:endParaRPr>
          </a:p>
        </p:txBody>
      </p:sp>
      <p:sp>
        <p:nvSpPr>
          <p:cNvPr id="47" name="Rounded Rectangle 46"/>
          <p:cNvSpPr/>
          <p:nvPr/>
        </p:nvSpPr>
        <p:spPr>
          <a:xfrm>
            <a:off x="6529388" y="1906588"/>
            <a:ext cx="2792412" cy="482600"/>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200" dirty="0" err="1">
                <a:solidFill>
                  <a:schemeClr val="tx1"/>
                </a:solidFill>
                <a:latin typeface="Arial" panose="020B0604020202020204" pitchFamily="34" charset="0"/>
                <a:cs typeface="Arial" panose="020B0604020202020204" pitchFamily="34" charset="0"/>
              </a:rPr>
              <a:t>Chữ</a:t>
            </a:r>
            <a:r>
              <a:rPr lang="en-US" sz="1200" dirty="0">
                <a:solidFill>
                  <a:schemeClr val="tx1"/>
                </a:solidFill>
                <a:latin typeface="Arial" panose="020B0604020202020204" pitchFamily="34" charset="0"/>
                <a:cs typeface="Arial" panose="020B0604020202020204" pitchFamily="34" charset="0"/>
              </a:rPr>
              <a:t> </a:t>
            </a:r>
            <a:r>
              <a:rPr lang="x-none" sz="1200" dirty="0">
                <a:solidFill>
                  <a:schemeClr val="tx1"/>
                </a:solidFill>
                <a:latin typeface="Arial" panose="020B0604020202020204" pitchFamily="34" charset="0"/>
                <a:cs typeface="Arial" panose="020B0604020202020204" pitchFamily="34" charset="0"/>
              </a:rPr>
              <a:t>T: </a:t>
            </a:r>
            <a:r>
              <a:rPr lang="en-US" sz="1200" dirty="0">
                <a:solidFill>
                  <a:schemeClr val="tx1"/>
                </a:solidFill>
                <a:latin typeface="Arial" panose="020B0604020202020204" pitchFamily="34" charset="0"/>
                <a:cs typeface="Arial" panose="020B0604020202020204" pitchFamily="34" charset="0"/>
              </a:rPr>
              <a:t>HĐĐT </a:t>
            </a:r>
            <a:r>
              <a:rPr lang="x-none" sz="1200" dirty="0">
                <a:solidFill>
                  <a:schemeClr val="tx1"/>
                </a:solidFill>
                <a:latin typeface="Arial" panose="020B0604020202020204" pitchFamily="34" charset="0"/>
                <a:cs typeface="Arial" panose="020B0604020202020204" pitchFamily="34" charset="0"/>
              </a:rPr>
              <a:t>do </a:t>
            </a:r>
            <a:r>
              <a:rPr lang="en-US" sz="1200" dirty="0">
                <a:solidFill>
                  <a:schemeClr val="tx1"/>
                </a:solidFill>
                <a:latin typeface="Arial" panose="020B0604020202020204" pitchFamily="34" charset="0"/>
                <a:cs typeface="Arial" panose="020B0604020202020204" pitchFamily="34" charset="0"/>
              </a:rPr>
              <a:t>DN</a:t>
            </a:r>
            <a:r>
              <a:rPr lang="x-none" sz="1200" dirty="0">
                <a:solidFill>
                  <a:schemeClr val="tx1"/>
                </a:solidFill>
                <a:latin typeface="Arial" panose="020B0604020202020204" pitchFamily="34" charset="0"/>
                <a:cs typeface="Arial" panose="020B0604020202020204" pitchFamily="34" charset="0"/>
              </a:rPr>
              <a:t>, tổ chức, </a:t>
            </a:r>
            <a:r>
              <a:rPr lang="en-US" sz="1200" dirty="0">
                <a:solidFill>
                  <a:schemeClr val="tx1"/>
                </a:solidFill>
                <a:latin typeface="Arial" panose="020B0604020202020204" pitchFamily="34" charset="0"/>
                <a:cs typeface="Arial" panose="020B0604020202020204" pitchFamily="34" charset="0"/>
              </a:rPr>
              <a:t>HCNKD</a:t>
            </a:r>
            <a:r>
              <a:rPr lang="x-none" sz="1200" dirty="0">
                <a:solidFill>
                  <a:schemeClr val="tx1"/>
                </a:solidFill>
                <a:latin typeface="Arial" panose="020B0604020202020204" pitchFamily="34" charset="0"/>
                <a:cs typeface="Arial" panose="020B0604020202020204" pitchFamily="34" charset="0"/>
              </a:rPr>
              <a:t> đăng ký sử dụng với </a:t>
            </a:r>
            <a:r>
              <a:rPr lang="en-US" sz="1200" dirty="0">
                <a:solidFill>
                  <a:schemeClr val="tx1"/>
                </a:solidFill>
                <a:latin typeface="Arial" panose="020B0604020202020204" pitchFamily="34" charset="0"/>
                <a:cs typeface="Arial" panose="020B0604020202020204" pitchFamily="34" charset="0"/>
              </a:rPr>
              <a:t>CQT</a:t>
            </a:r>
          </a:p>
        </p:txBody>
      </p:sp>
      <p:sp>
        <p:nvSpPr>
          <p:cNvPr id="48" name="Rounded Rectangle 47"/>
          <p:cNvSpPr/>
          <p:nvPr/>
        </p:nvSpPr>
        <p:spPr>
          <a:xfrm>
            <a:off x="6513513" y="2525713"/>
            <a:ext cx="2852737" cy="798512"/>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D: </a:t>
            </a:r>
            <a:r>
              <a:rPr lang="en-US" sz="1200" dirty="0">
                <a:solidFill>
                  <a:schemeClr val="tx1"/>
                </a:solidFill>
                <a:latin typeface="Arial" panose="020B0604020202020204" pitchFamily="34" charset="0"/>
                <a:cs typeface="Arial" panose="020B0604020202020204" pitchFamily="34" charset="0"/>
              </a:rPr>
              <a:t>HĐ </a:t>
            </a:r>
            <a:r>
              <a:rPr lang="x-none" sz="1200" dirty="0">
                <a:solidFill>
                  <a:schemeClr val="tx1"/>
                </a:solidFill>
                <a:latin typeface="Arial" panose="020B0604020202020204" pitchFamily="34" charset="0"/>
                <a:cs typeface="Arial" panose="020B0604020202020204" pitchFamily="34" charset="0"/>
              </a:rPr>
              <a:t>bán </a:t>
            </a:r>
            <a:r>
              <a:rPr lang="en-US" sz="1200" dirty="0">
                <a:solidFill>
                  <a:schemeClr val="tx1"/>
                </a:solidFill>
                <a:latin typeface="Arial" panose="020B0604020202020204" pitchFamily="34" charset="0"/>
                <a:cs typeface="Arial" panose="020B0604020202020204" pitchFamily="34" charset="0"/>
              </a:rPr>
              <a:t>TSC </a:t>
            </a:r>
            <a:r>
              <a:rPr lang="x-none" sz="1200" dirty="0">
                <a:solidFill>
                  <a:schemeClr val="tx1"/>
                </a:solidFill>
                <a:latin typeface="Arial" panose="020B0604020202020204" pitchFamily="34" charset="0"/>
                <a:cs typeface="Arial" panose="020B0604020202020204" pitchFamily="34" charset="0"/>
              </a:rPr>
              <a:t>và </a:t>
            </a:r>
            <a:r>
              <a:rPr lang="en-US" sz="1200" dirty="0">
                <a:solidFill>
                  <a:schemeClr val="tx1"/>
                </a:solidFill>
                <a:latin typeface="Arial" panose="020B0604020202020204" pitchFamily="34" charset="0"/>
                <a:cs typeface="Arial" panose="020B0604020202020204" pitchFamily="34" charset="0"/>
              </a:rPr>
              <a:t>HĐ BH </a:t>
            </a:r>
            <a:r>
              <a:rPr lang="x-none" sz="1200" dirty="0">
                <a:solidFill>
                  <a:schemeClr val="tx1"/>
                </a:solidFill>
                <a:latin typeface="Arial" panose="020B0604020202020204" pitchFamily="34" charset="0"/>
                <a:cs typeface="Arial" panose="020B0604020202020204" pitchFamily="34" charset="0"/>
              </a:rPr>
              <a:t>dự trữ </a:t>
            </a:r>
            <a:r>
              <a:rPr lang="en-US" sz="1200" dirty="0">
                <a:solidFill>
                  <a:schemeClr val="tx1"/>
                </a:solidFill>
                <a:latin typeface="Arial" panose="020B0604020202020204" pitchFamily="34" charset="0"/>
                <a:cs typeface="Arial" panose="020B0604020202020204" pitchFamily="34" charset="0"/>
              </a:rPr>
              <a:t>QG </a:t>
            </a:r>
            <a:r>
              <a:rPr lang="x-none" sz="1200" dirty="0">
                <a:solidFill>
                  <a:schemeClr val="tx1"/>
                </a:solidFill>
                <a:latin typeface="Arial" panose="020B0604020202020204" pitchFamily="34" charset="0"/>
                <a:cs typeface="Arial" panose="020B0604020202020204" pitchFamily="34" charset="0"/>
              </a:rPr>
              <a:t>hoặc </a:t>
            </a:r>
            <a:r>
              <a:rPr lang="en-US" sz="1200" dirty="0">
                <a:solidFill>
                  <a:schemeClr val="tx1"/>
                </a:solidFill>
                <a:latin typeface="Arial" panose="020B0604020202020204" pitchFamily="34" charset="0"/>
                <a:cs typeface="Arial" panose="020B0604020202020204" pitchFamily="34" charset="0"/>
              </a:rPr>
              <a:t>HĐ ĐT </a:t>
            </a:r>
            <a:r>
              <a:rPr lang="x-none" sz="1200" dirty="0">
                <a:solidFill>
                  <a:schemeClr val="tx1"/>
                </a:solidFill>
                <a:latin typeface="Arial" panose="020B0604020202020204" pitchFamily="34" charset="0"/>
                <a:cs typeface="Arial" panose="020B0604020202020204" pitchFamily="34" charset="0"/>
              </a:rPr>
              <a:t>đặc thù không nhất thiết phải có một số tiêu thức do </a:t>
            </a:r>
            <a:r>
              <a:rPr lang="en-US" sz="1200" dirty="0">
                <a:solidFill>
                  <a:schemeClr val="tx1"/>
                </a:solidFill>
                <a:latin typeface="Arial" panose="020B0604020202020204" pitchFamily="34" charset="0"/>
                <a:cs typeface="Arial" panose="020B0604020202020204" pitchFamily="34" charset="0"/>
              </a:rPr>
              <a:t>DN</a:t>
            </a:r>
            <a:r>
              <a:rPr lang="x-none" sz="1200" dirty="0">
                <a:solidFill>
                  <a:schemeClr val="tx1"/>
                </a:solidFill>
                <a:latin typeface="Arial" panose="020B0604020202020204" pitchFamily="34" charset="0"/>
                <a:cs typeface="Arial" panose="020B0604020202020204" pitchFamily="34" charset="0"/>
              </a:rPr>
              <a:t>, tổ chức</a:t>
            </a:r>
            <a:r>
              <a:rPr lang="en-US" sz="1200" dirty="0">
                <a:solidFill>
                  <a:schemeClr val="tx1"/>
                </a:solidFill>
                <a:latin typeface="Arial" panose="020B0604020202020204" pitchFamily="34" charset="0"/>
                <a:cs typeface="Arial" panose="020B0604020202020204" pitchFamily="34" charset="0"/>
              </a:rPr>
              <a:t> </a:t>
            </a:r>
            <a:r>
              <a:rPr lang="x-none" sz="1200" dirty="0">
                <a:solidFill>
                  <a:schemeClr val="tx1"/>
                </a:solidFill>
                <a:latin typeface="Arial" panose="020B0604020202020204" pitchFamily="34" charset="0"/>
                <a:cs typeface="Arial" panose="020B0604020202020204" pitchFamily="34" charset="0"/>
              </a:rPr>
              <a:t>đăng ký sử dụng</a:t>
            </a:r>
            <a:endParaRPr lang="en-US" sz="1200" dirty="0">
              <a:solidFill>
                <a:schemeClr val="tx1"/>
              </a:solidFill>
              <a:latin typeface="Arial" panose="020B0604020202020204" pitchFamily="34" charset="0"/>
              <a:cs typeface="Arial" panose="020B0604020202020204" pitchFamily="34" charset="0"/>
            </a:endParaRPr>
          </a:p>
        </p:txBody>
      </p:sp>
      <p:sp>
        <p:nvSpPr>
          <p:cNvPr id="49" name="Rounded Rectangle 48"/>
          <p:cNvSpPr/>
          <p:nvPr/>
        </p:nvSpPr>
        <p:spPr>
          <a:xfrm>
            <a:off x="6529388" y="3451225"/>
            <a:ext cx="2836862" cy="415925"/>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L: </a:t>
            </a:r>
            <a:r>
              <a:rPr lang="en-US" sz="1200" dirty="0">
                <a:solidFill>
                  <a:schemeClr val="tx1"/>
                </a:solidFill>
                <a:latin typeface="Arial" panose="020B0604020202020204" pitchFamily="34" charset="0"/>
                <a:cs typeface="Arial" panose="020B0604020202020204" pitchFamily="34" charset="0"/>
              </a:rPr>
              <a:t>HĐ ĐT </a:t>
            </a:r>
            <a:r>
              <a:rPr lang="x-none" sz="1200" dirty="0">
                <a:solidFill>
                  <a:schemeClr val="tx1"/>
                </a:solidFill>
                <a:latin typeface="Arial" panose="020B0604020202020204" pitchFamily="34" charset="0"/>
                <a:cs typeface="Arial" panose="020B0604020202020204" pitchFamily="34" charset="0"/>
              </a:rPr>
              <a:t>của </a:t>
            </a:r>
            <a:r>
              <a:rPr lang="en-US" sz="1200" dirty="0">
                <a:solidFill>
                  <a:schemeClr val="tx1"/>
                </a:solidFill>
                <a:latin typeface="Arial" panose="020B0604020202020204" pitchFamily="34" charset="0"/>
                <a:cs typeface="Arial" panose="020B0604020202020204" pitchFamily="34" charset="0"/>
              </a:rPr>
              <a:t>CQT </a:t>
            </a:r>
            <a:r>
              <a:rPr lang="x-none" sz="1200" dirty="0">
                <a:solidFill>
                  <a:schemeClr val="tx1"/>
                </a:solidFill>
                <a:latin typeface="Arial" panose="020B0604020202020204" pitchFamily="34" charset="0"/>
                <a:cs typeface="Arial" panose="020B0604020202020204" pitchFamily="34" charset="0"/>
              </a:rPr>
              <a:t>cấp theo từng lần phát sinh</a:t>
            </a:r>
            <a:endParaRPr lang="en-US" sz="1200" dirty="0">
              <a:solidFill>
                <a:schemeClr val="tx1"/>
              </a:solidFill>
              <a:latin typeface="Arial" panose="020B0604020202020204" pitchFamily="34" charset="0"/>
              <a:cs typeface="Arial" panose="020B0604020202020204" pitchFamily="34" charset="0"/>
            </a:endParaRPr>
          </a:p>
        </p:txBody>
      </p:sp>
      <p:sp>
        <p:nvSpPr>
          <p:cNvPr id="50" name="Rounded Rectangle 49"/>
          <p:cNvSpPr/>
          <p:nvPr/>
        </p:nvSpPr>
        <p:spPr>
          <a:xfrm>
            <a:off x="6529388" y="4003675"/>
            <a:ext cx="2836862" cy="414338"/>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a:t>
            </a:r>
            <a:r>
              <a:rPr lang="en-US" sz="1200" dirty="0">
                <a:solidFill>
                  <a:schemeClr val="tx1"/>
                </a:solidFill>
                <a:latin typeface="Arial" panose="020B0604020202020204" pitchFamily="34" charset="0"/>
                <a:cs typeface="Arial" panose="020B0604020202020204" pitchFamily="34" charset="0"/>
              </a:rPr>
              <a:t>M</a:t>
            </a:r>
            <a:r>
              <a:rPr lang="x-none" sz="1200" dirty="0">
                <a:solidFill>
                  <a:schemeClr val="tx1"/>
                </a:solidFill>
                <a:latin typeface="Arial" panose="020B0604020202020204" pitchFamily="34" charset="0"/>
                <a:cs typeface="Arial" panose="020B0604020202020204" pitchFamily="34" charset="0"/>
              </a:rPr>
              <a:t>: </a:t>
            </a:r>
            <a:r>
              <a:rPr lang="en-US" sz="1200" dirty="0">
                <a:solidFill>
                  <a:schemeClr val="tx1"/>
                </a:solidFill>
                <a:latin typeface="Arial" panose="020B0604020202020204" pitchFamily="34" charset="0"/>
                <a:cs typeface="Arial" panose="020B0604020202020204" pitchFamily="34" charset="0"/>
              </a:rPr>
              <a:t>HĐ ĐT </a:t>
            </a:r>
            <a:r>
              <a:rPr lang="en-US" sz="1200" dirty="0" err="1">
                <a:solidFill>
                  <a:schemeClr val="tx1"/>
                </a:solidFill>
                <a:latin typeface="Arial" panose="020B0604020202020204" pitchFamily="34" charset="0"/>
                <a:cs typeface="Arial" panose="020B0604020202020204" pitchFamily="34" charset="0"/>
              </a:rPr>
              <a:t>khởi</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tạo</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từ</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máy</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tính</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tiền</a:t>
            </a:r>
            <a:endParaRPr lang="en-US" sz="1200" dirty="0">
              <a:solidFill>
                <a:schemeClr val="tx1"/>
              </a:solidFill>
              <a:latin typeface="Arial" panose="020B0604020202020204" pitchFamily="34" charset="0"/>
              <a:cs typeface="Arial" panose="020B0604020202020204" pitchFamily="34" charset="0"/>
            </a:endParaRPr>
          </a:p>
        </p:txBody>
      </p:sp>
      <p:sp>
        <p:nvSpPr>
          <p:cNvPr id="51" name="Rounded Rectangle 50"/>
          <p:cNvSpPr/>
          <p:nvPr/>
        </p:nvSpPr>
        <p:spPr>
          <a:xfrm>
            <a:off x="6529388" y="4562475"/>
            <a:ext cx="2809875" cy="414338"/>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a:t>
            </a:r>
            <a:r>
              <a:rPr lang="en-US" sz="1200" dirty="0">
                <a:solidFill>
                  <a:schemeClr val="tx1"/>
                </a:solidFill>
                <a:latin typeface="Arial" panose="020B0604020202020204" pitchFamily="34" charset="0"/>
                <a:cs typeface="Arial" panose="020B0604020202020204" pitchFamily="34" charset="0"/>
              </a:rPr>
              <a:t>N</a:t>
            </a:r>
            <a:r>
              <a:rPr lang="x-none"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Phiếu</a:t>
            </a:r>
            <a:r>
              <a:rPr lang="en-US" sz="1200" dirty="0">
                <a:solidFill>
                  <a:schemeClr val="tx1"/>
                </a:solidFill>
                <a:latin typeface="Arial" panose="020B0604020202020204" pitchFamily="34" charset="0"/>
                <a:cs typeface="Arial" panose="020B0604020202020204" pitchFamily="34" charset="0"/>
              </a:rPr>
              <a:t> XK </a:t>
            </a:r>
            <a:r>
              <a:rPr lang="en-US" sz="1200" dirty="0" err="1">
                <a:solidFill>
                  <a:schemeClr val="tx1"/>
                </a:solidFill>
                <a:latin typeface="Arial" panose="020B0604020202020204" pitchFamily="34" charset="0"/>
                <a:cs typeface="Arial" panose="020B0604020202020204" pitchFamily="34" charset="0"/>
              </a:rPr>
              <a:t>kiêm</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vận</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chuyển</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nội</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bộ</a:t>
            </a:r>
            <a:endParaRPr lang="en-US" sz="1200" dirty="0">
              <a:solidFill>
                <a:schemeClr val="tx1"/>
              </a:solidFill>
              <a:latin typeface="Arial" panose="020B0604020202020204" pitchFamily="34" charset="0"/>
              <a:cs typeface="Arial" panose="020B0604020202020204" pitchFamily="34" charset="0"/>
            </a:endParaRPr>
          </a:p>
        </p:txBody>
      </p:sp>
      <p:sp>
        <p:nvSpPr>
          <p:cNvPr id="52" name="Rounded Rectangle 51"/>
          <p:cNvSpPr/>
          <p:nvPr/>
        </p:nvSpPr>
        <p:spPr>
          <a:xfrm>
            <a:off x="6529388" y="5094288"/>
            <a:ext cx="2809875" cy="415925"/>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a:t>
            </a:r>
            <a:r>
              <a:rPr lang="en-US" sz="1200" dirty="0">
                <a:solidFill>
                  <a:schemeClr val="tx1"/>
                </a:solidFill>
                <a:latin typeface="Arial" panose="020B0604020202020204" pitchFamily="34" charset="0"/>
                <a:cs typeface="Arial" panose="020B0604020202020204" pitchFamily="34" charset="0"/>
              </a:rPr>
              <a:t>B</a:t>
            </a:r>
            <a:r>
              <a:rPr lang="x-none"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Phiếu</a:t>
            </a:r>
            <a:r>
              <a:rPr lang="en-US" sz="1200" dirty="0">
                <a:solidFill>
                  <a:schemeClr val="tx1"/>
                </a:solidFill>
                <a:latin typeface="Arial" panose="020B0604020202020204" pitchFamily="34" charset="0"/>
                <a:cs typeface="Arial" panose="020B0604020202020204" pitchFamily="34" charset="0"/>
              </a:rPr>
              <a:t> XK </a:t>
            </a:r>
            <a:r>
              <a:rPr lang="x-none" sz="1200" dirty="0">
                <a:solidFill>
                  <a:schemeClr val="tx1"/>
                </a:solidFill>
                <a:latin typeface="Arial" panose="020B0604020202020204" pitchFamily="34" charset="0"/>
                <a:cs typeface="Arial" panose="020B0604020202020204" pitchFamily="34" charset="0"/>
              </a:rPr>
              <a:t>hàng gửi bán đại lý điện tử</a:t>
            </a:r>
            <a:endParaRPr lang="en-US" sz="1200" dirty="0">
              <a:solidFill>
                <a:schemeClr val="tx1"/>
              </a:solidFill>
              <a:latin typeface="Arial" panose="020B0604020202020204" pitchFamily="34" charset="0"/>
              <a:cs typeface="Arial" panose="020B0604020202020204" pitchFamily="34" charset="0"/>
            </a:endParaRPr>
          </a:p>
        </p:txBody>
      </p:sp>
      <p:sp>
        <p:nvSpPr>
          <p:cNvPr id="53" name="Rounded Rectangle 52"/>
          <p:cNvSpPr/>
          <p:nvPr/>
        </p:nvSpPr>
        <p:spPr>
          <a:xfrm>
            <a:off x="6513513" y="5627688"/>
            <a:ext cx="2825750" cy="415925"/>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a:t>
            </a:r>
            <a:r>
              <a:rPr lang="en-US" sz="1200" dirty="0">
                <a:solidFill>
                  <a:schemeClr val="tx1"/>
                </a:solidFill>
                <a:latin typeface="Arial" panose="020B0604020202020204" pitchFamily="34" charset="0"/>
                <a:cs typeface="Arial" panose="020B0604020202020204" pitchFamily="34" charset="0"/>
              </a:rPr>
              <a:t>G</a:t>
            </a:r>
            <a:r>
              <a:rPr lang="x-none" sz="1200" dirty="0">
                <a:solidFill>
                  <a:schemeClr val="tx1"/>
                </a:solidFill>
                <a:latin typeface="Arial" panose="020B0604020202020204" pitchFamily="34" charset="0"/>
                <a:cs typeface="Arial" panose="020B0604020202020204" pitchFamily="34" charset="0"/>
              </a:rPr>
              <a:t>: </a:t>
            </a:r>
            <a:r>
              <a:rPr lang="en-US" sz="1200" dirty="0">
                <a:solidFill>
                  <a:schemeClr val="tx1"/>
                </a:solidFill>
                <a:latin typeface="Arial" panose="020B0604020202020204" pitchFamily="34" charset="0"/>
                <a:cs typeface="Arial" panose="020B0604020202020204" pitchFamily="34" charset="0"/>
              </a:rPr>
              <a:t>T</a:t>
            </a:r>
            <a:r>
              <a:rPr lang="x-none" sz="1200" dirty="0">
                <a:solidFill>
                  <a:schemeClr val="tx1"/>
                </a:solidFill>
                <a:latin typeface="Arial" panose="020B0604020202020204" pitchFamily="34" charset="0"/>
                <a:cs typeface="Arial" panose="020B0604020202020204" pitchFamily="34" charset="0"/>
              </a:rPr>
              <a:t>em, vé, thẻ điện tử là hóa đơn giá trị gia tăng</a:t>
            </a:r>
            <a:endParaRPr lang="en-US" sz="1200" dirty="0">
              <a:solidFill>
                <a:schemeClr val="tx1"/>
              </a:solidFill>
              <a:latin typeface="Arial" panose="020B0604020202020204" pitchFamily="34" charset="0"/>
              <a:cs typeface="Arial" panose="020B0604020202020204" pitchFamily="34" charset="0"/>
            </a:endParaRPr>
          </a:p>
        </p:txBody>
      </p:sp>
      <p:sp>
        <p:nvSpPr>
          <p:cNvPr id="54" name="Rounded Rectangle 53"/>
          <p:cNvSpPr/>
          <p:nvPr/>
        </p:nvSpPr>
        <p:spPr>
          <a:xfrm>
            <a:off x="6529388" y="6215063"/>
            <a:ext cx="2809875" cy="415925"/>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x-none" sz="1200" dirty="0">
                <a:solidFill>
                  <a:schemeClr val="tx1"/>
                </a:solidFill>
                <a:latin typeface="Arial" panose="020B0604020202020204" pitchFamily="34" charset="0"/>
                <a:cs typeface="Arial" panose="020B0604020202020204" pitchFamily="34" charset="0"/>
              </a:rPr>
              <a:t>Chữ </a:t>
            </a:r>
            <a:r>
              <a:rPr lang="en-US" sz="1200" dirty="0">
                <a:solidFill>
                  <a:schemeClr val="tx1"/>
                </a:solidFill>
                <a:latin typeface="Arial" panose="020B0604020202020204" pitchFamily="34" charset="0"/>
                <a:cs typeface="Arial" panose="020B0604020202020204" pitchFamily="34" charset="0"/>
              </a:rPr>
              <a:t>H</a:t>
            </a:r>
            <a:r>
              <a:rPr lang="x-none" sz="1200" dirty="0">
                <a:solidFill>
                  <a:schemeClr val="tx1"/>
                </a:solidFill>
                <a:latin typeface="Arial" panose="020B0604020202020204" pitchFamily="34" charset="0"/>
                <a:cs typeface="Arial" panose="020B0604020202020204" pitchFamily="34" charset="0"/>
              </a:rPr>
              <a:t>: </a:t>
            </a:r>
            <a:r>
              <a:rPr lang="en-US" sz="1200" dirty="0">
                <a:solidFill>
                  <a:schemeClr val="tx1"/>
                </a:solidFill>
                <a:latin typeface="Arial" panose="020B0604020202020204" pitchFamily="34" charset="0"/>
                <a:cs typeface="Arial" panose="020B0604020202020204" pitchFamily="34" charset="0"/>
              </a:rPr>
              <a:t>T</a:t>
            </a:r>
            <a:r>
              <a:rPr lang="x-none" sz="1200" dirty="0">
                <a:solidFill>
                  <a:schemeClr val="tx1"/>
                </a:solidFill>
                <a:latin typeface="Arial" panose="020B0604020202020204" pitchFamily="34" charset="0"/>
                <a:cs typeface="Arial" panose="020B0604020202020204" pitchFamily="34" charset="0"/>
              </a:rPr>
              <a:t>em, vé, thẻ điện tử là hóa đơn </a:t>
            </a:r>
            <a:r>
              <a:rPr lang="en-US" sz="1200" dirty="0" err="1">
                <a:solidFill>
                  <a:schemeClr val="tx1"/>
                </a:solidFill>
                <a:latin typeface="Arial" panose="020B0604020202020204" pitchFamily="34" charset="0"/>
                <a:cs typeface="Arial" panose="020B0604020202020204" pitchFamily="34" charset="0"/>
              </a:rPr>
              <a:t>bán</a:t>
            </a:r>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hàng</a:t>
            </a:r>
            <a:endParaRPr lang="en-US" sz="1200" dirty="0">
              <a:solidFill>
                <a:schemeClr val="tx1"/>
              </a:solidFill>
              <a:latin typeface="Arial" panose="020B0604020202020204" pitchFamily="34" charset="0"/>
              <a:cs typeface="Arial" panose="020B0604020202020204" pitchFamily="34" charset="0"/>
            </a:endParaRPr>
          </a:p>
        </p:txBody>
      </p:sp>
      <p:cxnSp>
        <p:nvCxnSpPr>
          <p:cNvPr id="55" name="Straight Connector 54"/>
          <p:cNvCxnSpPr/>
          <p:nvPr/>
        </p:nvCxnSpPr>
        <p:spPr>
          <a:xfrm>
            <a:off x="6242050" y="1711325"/>
            <a:ext cx="15875" cy="4672013"/>
          </a:xfrm>
          <a:prstGeom prst="line">
            <a:avLst/>
          </a:prstGeom>
          <a:ln w="285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6242050" y="2116138"/>
            <a:ext cx="198438"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6249988" y="2881313"/>
            <a:ext cx="198437"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6261100" y="3638550"/>
            <a:ext cx="198438"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6289675" y="4210050"/>
            <a:ext cx="198438"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6276975" y="4756150"/>
            <a:ext cx="198438"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6262688" y="5300663"/>
            <a:ext cx="198437"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251575" y="5846763"/>
            <a:ext cx="196850"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6251575" y="6383338"/>
            <a:ext cx="196850" cy="0"/>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Rounded Rectangle 63"/>
          <p:cNvSpPr/>
          <p:nvPr/>
        </p:nvSpPr>
        <p:spPr>
          <a:xfrm>
            <a:off x="9810750" y="2508250"/>
            <a:ext cx="1644650" cy="3770313"/>
          </a:xfrm>
          <a:prstGeom prst="roundRect">
            <a:avLst/>
          </a:prstGeom>
          <a:solidFill>
            <a:schemeClr val="accent1">
              <a:lumMod val="20000"/>
              <a:lumOff val="8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smtClean="0">
                <a:solidFill>
                  <a:schemeClr val="tx1"/>
                </a:solidFill>
                <a:latin typeface="Arial" panose="020B0604020202020204" pitchFamily="34" charset="0"/>
                <a:cs typeface="Arial" panose="020B0604020202020204" pitchFamily="34" charset="0"/>
              </a:rPr>
              <a:t>NNT </a:t>
            </a:r>
            <a:r>
              <a:rPr lang="x-none" sz="1400" smtClean="0">
                <a:solidFill>
                  <a:schemeClr val="tx1"/>
                </a:solidFill>
                <a:latin typeface="Arial" panose="020B0604020202020204" pitchFamily="34" charset="0"/>
                <a:cs typeface="Arial" panose="020B0604020202020204" pitchFamily="34" charset="0"/>
              </a:rPr>
              <a:t>tự </a:t>
            </a:r>
            <a:r>
              <a:rPr lang="x-none" sz="1400" dirty="0">
                <a:solidFill>
                  <a:schemeClr val="tx1"/>
                </a:solidFill>
                <a:latin typeface="Arial" panose="020B0604020202020204" pitchFamily="34" charset="0"/>
                <a:cs typeface="Arial" panose="020B0604020202020204" pitchFamily="34" charset="0"/>
              </a:rPr>
              <a:t>xác </a:t>
            </a:r>
            <a:r>
              <a:rPr lang="x-none" sz="1400">
                <a:solidFill>
                  <a:schemeClr val="tx1"/>
                </a:solidFill>
                <a:latin typeface="Arial" panose="020B0604020202020204" pitchFamily="34" charset="0"/>
                <a:cs typeface="Arial" panose="020B0604020202020204" pitchFamily="34" charset="0"/>
              </a:rPr>
              <a:t>định </a:t>
            </a:r>
            <a:r>
              <a:rPr lang="en-US" sz="1400" smtClean="0">
                <a:solidFill>
                  <a:schemeClr val="tx1"/>
                </a:solidFill>
                <a:latin typeface="Arial" panose="020B0604020202020204" pitchFamily="34" charset="0"/>
                <a:cs typeface="Arial" panose="020B0604020202020204" pitchFamily="34" charset="0"/>
              </a:rPr>
              <a:t> - </a:t>
            </a:r>
            <a:r>
              <a:rPr lang="x-none" sz="1400" smtClean="0">
                <a:solidFill>
                  <a:schemeClr val="tx1"/>
                </a:solidFill>
                <a:latin typeface="Arial" panose="020B0604020202020204" pitchFamily="34" charset="0"/>
                <a:cs typeface="Arial" panose="020B0604020202020204" pitchFamily="34" charset="0"/>
              </a:rPr>
              <a:t>Trường </a:t>
            </a:r>
            <a:r>
              <a:rPr lang="x-none" sz="1400" dirty="0">
                <a:solidFill>
                  <a:schemeClr val="tx1"/>
                </a:solidFill>
                <a:latin typeface="Arial" panose="020B0604020202020204" pitchFamily="34" charset="0"/>
                <a:cs typeface="Arial" panose="020B0604020202020204" pitchFamily="34" charset="0"/>
              </a:rPr>
              <a:t>hợp người bán sử dụng nhiều mẫu hóa đơn điện tử trong cùng một loại hóa đơn thì sử dụng hai ký tự cuối nêu trên để </a:t>
            </a:r>
            <a:r>
              <a:rPr lang="x-none" sz="1400">
                <a:solidFill>
                  <a:schemeClr val="tx1"/>
                </a:solidFill>
                <a:latin typeface="Arial" panose="020B0604020202020204" pitchFamily="34" charset="0"/>
                <a:cs typeface="Arial" panose="020B0604020202020204" pitchFamily="34" charset="0"/>
              </a:rPr>
              <a:t>phân </a:t>
            </a:r>
            <a:r>
              <a:rPr lang="x-none" sz="1400" smtClean="0">
                <a:solidFill>
                  <a:schemeClr val="tx1"/>
                </a:solidFill>
                <a:latin typeface="Arial" panose="020B0604020202020204" pitchFamily="34" charset="0"/>
                <a:cs typeface="Arial" panose="020B0604020202020204" pitchFamily="34" charset="0"/>
              </a:rPr>
              <a:t>biệt. </a:t>
            </a:r>
            <a:endParaRPr lang="en-US" sz="1400" smtClean="0">
              <a:solidFill>
                <a:schemeClr val="tx1"/>
              </a:solidFill>
              <a:latin typeface="Arial" panose="020B0604020202020204" pitchFamily="34" charset="0"/>
              <a:cs typeface="Arial" panose="020B0604020202020204" pitchFamily="34" charset="0"/>
            </a:endParaRPr>
          </a:p>
          <a:p>
            <a:pPr>
              <a:defRPr/>
            </a:pPr>
            <a:r>
              <a:rPr lang="en-US" sz="1400" smtClean="0">
                <a:solidFill>
                  <a:schemeClr val="tx1"/>
                </a:solidFill>
                <a:latin typeface="Arial" panose="020B0604020202020204" pitchFamily="34" charset="0"/>
                <a:cs typeface="Arial" panose="020B0604020202020204" pitchFamily="34" charset="0"/>
              </a:rPr>
              <a:t>- </a:t>
            </a:r>
            <a:r>
              <a:rPr lang="x-none" sz="1400" smtClean="0">
                <a:solidFill>
                  <a:schemeClr val="tx1"/>
                </a:solidFill>
                <a:latin typeface="Arial" panose="020B0604020202020204" pitchFamily="34" charset="0"/>
                <a:cs typeface="Arial" panose="020B0604020202020204" pitchFamily="34" charset="0"/>
              </a:rPr>
              <a:t>Trường </a:t>
            </a:r>
            <a:r>
              <a:rPr lang="x-none" sz="1400" dirty="0">
                <a:solidFill>
                  <a:schemeClr val="tx1"/>
                </a:solidFill>
                <a:latin typeface="Arial" panose="020B0604020202020204" pitchFamily="34" charset="0"/>
                <a:cs typeface="Arial" panose="020B0604020202020204" pitchFamily="34" charset="0"/>
              </a:rPr>
              <a:t>hợp không có nhu cầu quản lý thì để là YY;</a:t>
            </a:r>
            <a:endParaRPr lang="en-US" sz="1400" dirty="0">
              <a:solidFill>
                <a:schemeClr val="tx1"/>
              </a:solidFill>
              <a:latin typeface="Arial" panose="020B0604020202020204" pitchFamily="34" charset="0"/>
              <a:cs typeface="Arial" panose="020B0604020202020204" pitchFamily="34" charset="0"/>
            </a:endParaRPr>
          </a:p>
        </p:txBody>
      </p:sp>
      <p:cxnSp>
        <p:nvCxnSpPr>
          <p:cNvPr id="65" name="Straight Connector 64"/>
          <p:cNvCxnSpPr/>
          <p:nvPr/>
        </p:nvCxnSpPr>
        <p:spPr>
          <a:xfrm>
            <a:off x="10083800" y="1830388"/>
            <a:ext cx="0" cy="317500"/>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0083800" y="2147888"/>
            <a:ext cx="993775" cy="0"/>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11077575" y="1830388"/>
            <a:ext cx="0" cy="317500"/>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10555288" y="2147888"/>
            <a:ext cx="0" cy="350837"/>
          </a:xfrm>
          <a:prstGeom prst="straightConnector1">
            <a:avLst/>
          </a:prstGeom>
          <a:ln w="381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2971800" y="5094288"/>
            <a:ext cx="3086100" cy="1676400"/>
          </a:xfrm>
          <a:prstGeom prst="ellipse">
            <a:avLst/>
          </a:prstGeom>
          <a:solidFill>
            <a:srgbClr val="FFFF00"/>
          </a:solidFill>
          <a:ln w="571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vi-VN" sz="1400" dirty="0">
                <a:solidFill>
                  <a:schemeClr val="tx1"/>
                </a:solidFill>
              </a:rPr>
              <a:t>Tại bản thể hiện, </a:t>
            </a:r>
            <a:endParaRPr lang="en-US" sz="1400" dirty="0">
              <a:solidFill>
                <a:schemeClr val="tx1"/>
              </a:solidFill>
            </a:endParaRPr>
          </a:p>
          <a:p>
            <a:pPr algn="ctr">
              <a:defRPr/>
            </a:pPr>
            <a:r>
              <a:rPr lang="vi-VN" sz="1400" dirty="0">
                <a:solidFill>
                  <a:schemeClr val="tx1"/>
                </a:solidFill>
              </a:rPr>
              <a:t>ký hiệu hóa đơn điện tử và ký hiệu mẫu số hóa đơn điện tử được thể hiện ở phía trên bên phải của hóa đơn (hoặc ở vị trí dễ nhận biết);</a:t>
            </a:r>
            <a:endParaRPr lang="en-US" sz="1400" dirty="0">
              <a:solidFill>
                <a:schemeClr val="tx1"/>
              </a:solidFill>
            </a:endParaRPr>
          </a:p>
        </p:txBody>
      </p:sp>
      <p:cxnSp>
        <p:nvCxnSpPr>
          <p:cNvPr id="70" name="Straight Arrow Connector 69"/>
          <p:cNvCxnSpPr/>
          <p:nvPr/>
        </p:nvCxnSpPr>
        <p:spPr>
          <a:xfrm>
            <a:off x="637382" y="2048533"/>
            <a:ext cx="19685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861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7. </a:t>
            </a:r>
            <a:r>
              <a:rPr lang="vi-VN" sz="2200" b="1" smtClean="0">
                <a:solidFill>
                  <a:schemeClr val="accent1">
                    <a:lumMod val="50000"/>
                  </a:schemeClr>
                </a:solidFill>
                <a:latin typeface="Arial (Body)"/>
              </a:rPr>
              <a:t>NỘI DUNG HÓA ĐƠN ĐIỆN TỬ </a:t>
            </a:r>
            <a:endParaRPr lang="vi-VN" sz="2200" b="1">
              <a:solidFill>
                <a:schemeClr val="accent1">
                  <a:lumMod val="50000"/>
                </a:schemeClr>
              </a:solidFill>
              <a:latin typeface="Arial (Body)"/>
            </a:endParaRPr>
          </a:p>
        </p:txBody>
      </p:sp>
      <p:sp>
        <p:nvSpPr>
          <p:cNvPr id="20" name="Content Placeholder 2"/>
          <p:cNvSpPr txBox="1">
            <a:spLocks/>
          </p:cNvSpPr>
          <p:nvPr/>
        </p:nvSpPr>
        <p:spPr>
          <a:xfrm>
            <a:off x="652935" y="988120"/>
            <a:ext cx="11287125" cy="3485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altLang="en-US" sz="2200" b="1" i="1">
                <a:solidFill>
                  <a:schemeClr val="accent1">
                    <a:lumMod val="50000"/>
                  </a:schemeClr>
                </a:solidFill>
                <a:cs typeface="Arial" panose="020B0604020202020204" pitchFamily="34" charset="0"/>
              </a:rPr>
              <a:t>Số hóa đơn</a:t>
            </a:r>
          </a:p>
          <a:p>
            <a:pPr>
              <a:buFont typeface="Wingdings 3" panose="05040102010807070707" pitchFamily="18" charset="2"/>
              <a:buNone/>
            </a:pPr>
            <a:endParaRPr lang="en-US" altLang="en-US" sz="2200" i="1" smtClean="0">
              <a:solidFill>
                <a:schemeClr val="accent1">
                  <a:lumMod val="50000"/>
                </a:schemeClr>
              </a:solidFill>
              <a:latin typeface="Arial" panose="020B0604020202020204" pitchFamily="34" charset="0"/>
              <a:cs typeface="Arial" panose="020B0604020202020204" pitchFamily="34" charset="0"/>
            </a:endParaRPr>
          </a:p>
          <a:p>
            <a:pPr>
              <a:buFont typeface="Wingdings 3" panose="05040102010807070707" pitchFamily="18" charset="2"/>
              <a:buNone/>
            </a:pPr>
            <a:endParaRPr lang="en-US" altLang="en-US" sz="2200" i="1">
              <a:solidFill>
                <a:schemeClr val="accent1">
                  <a:lumMod val="50000"/>
                </a:schemeClr>
              </a:solidFill>
              <a:latin typeface="Arial" panose="020B0604020202020204" pitchFamily="34" charset="0"/>
              <a:cs typeface="Arial" panose="020B0604020202020204" pitchFamily="34" charset="0"/>
            </a:endParaRPr>
          </a:p>
        </p:txBody>
      </p:sp>
      <p:sp>
        <p:nvSpPr>
          <p:cNvPr id="70" name="Content Placeholder 2"/>
          <p:cNvSpPr txBox="1">
            <a:spLocks/>
          </p:cNvSpPr>
          <p:nvPr/>
        </p:nvSpPr>
        <p:spPr>
          <a:xfrm>
            <a:off x="677863" y="1362075"/>
            <a:ext cx="11064875" cy="467995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en-US" smtClean="0">
                <a:latin typeface="Arial" panose="020B0604020202020204" pitchFamily="34" charset="0"/>
                <a:cs typeface="Arial" panose="020B0604020202020204" pitchFamily="34" charset="0"/>
              </a:rPr>
              <a:t>Số hóa đơn là số thứ tự được thể hiện trên hóa đơn khi người bán lập hóa đơn. Số hóa đơn được ghi bằng chữ số Ả-rập có tối đa 8 chữ số, </a:t>
            </a:r>
            <a:r>
              <a:rPr lang="en-US" altLang="en-US" b="1" smtClean="0">
                <a:latin typeface="Arial" panose="020B0604020202020204" pitchFamily="34" charset="0"/>
                <a:cs typeface="Arial" panose="020B0604020202020204" pitchFamily="34" charset="0"/>
              </a:rPr>
              <a:t>bắt đầu từ </a:t>
            </a:r>
            <a:r>
              <a:rPr lang="en-US" altLang="en-US" smtClean="0">
                <a:latin typeface="Arial" panose="020B0604020202020204" pitchFamily="34" charset="0"/>
                <a:cs typeface="Arial" panose="020B0604020202020204" pitchFamily="34" charset="0"/>
              </a:rPr>
              <a:t>số 1 vào ngày 01/01 hoặc ngày bắt đầu sử dụng hóa đơn và </a:t>
            </a:r>
            <a:r>
              <a:rPr lang="en-US" altLang="en-US" b="1" smtClean="0">
                <a:latin typeface="Arial" panose="020B0604020202020204" pitchFamily="34" charset="0"/>
                <a:cs typeface="Arial" panose="020B0604020202020204" pitchFamily="34" charset="0"/>
              </a:rPr>
              <a:t>kết thúc vào ngày 31/12 hàng năm </a:t>
            </a:r>
            <a:r>
              <a:rPr lang="en-US" altLang="en-US" smtClean="0">
                <a:latin typeface="Arial" panose="020B0604020202020204" pitchFamily="34" charset="0"/>
                <a:cs typeface="Arial" panose="020B0604020202020204" pitchFamily="34" charset="0"/>
              </a:rPr>
              <a:t>có tối đa đến số 99 999 999. Hóa đơn được lập theo thứ tự liên tục từ số nhỏ đến số lớn trong cùng một ký hiệu hóa đơn và ký hiệu mẫu số hóa đơn. </a:t>
            </a:r>
          </a:p>
          <a:p>
            <a:pPr algn="l"/>
            <a:r>
              <a:rPr lang="en-US" altLang="en-US" smtClean="0">
                <a:latin typeface="Arial" panose="020B0604020202020204" pitchFamily="34" charset="0"/>
                <a:cs typeface="Arial" panose="020B0604020202020204" pitchFamily="34" charset="0"/>
              </a:rPr>
              <a:t>Trường hợp tổ chức kinh doanh có nhiều cơ sở bán hàng hoặc nhiều cơ sở được đồng thời cùng sử dụng một loại hóa đơn điện tử có cùng ký hiệu theo phương thức truy xuất ngẫu nhiên từ một hệ thống lập hóa đơn điện tử thì hóa đơn được lập theo thứ tự liên tục từ số nhỏ đến số lớn theo thời điểm người bán ký số, ký điện tử trên hóa đơn.</a:t>
            </a:r>
          </a:p>
          <a:p>
            <a:pPr algn="l"/>
            <a:r>
              <a:rPr lang="en-US" altLang="en-US" smtClean="0">
                <a:latin typeface="Arial" panose="020B0604020202020204" pitchFamily="34" charset="0"/>
                <a:cs typeface="Arial" panose="020B0604020202020204" pitchFamily="34" charset="0"/>
              </a:rPr>
              <a:t>Trường hợp số hóa đơn không được lập theo nguyên tắc nêu trên thì hệ thống lập hóa đơn điện tử phải đảm bảo nguyên tắc tăng theo thời gian, mỗi số hóa đơn đảm bảo chỉ được lập, sử dụng một lần duy nhất và tối đa 8 chữ số.</a:t>
            </a:r>
          </a:p>
          <a:p>
            <a:pPr algn="l"/>
            <a:r>
              <a:rPr lang="en-US" altLang="en-US" i="1" smtClean="0">
                <a:latin typeface="Arial" panose="020B0604020202020204" pitchFamily="34" charset="0"/>
                <a:cs typeface="Arial" panose="020B0604020202020204" pitchFamily="34" charset="0"/>
              </a:rPr>
              <a:t>(Khoản 3 Điều 10 Nghị định số 123/2020/NĐ-CP)</a:t>
            </a:r>
            <a:endParaRPr lang="en-US" altLang="en-US" smtClean="0">
              <a:latin typeface="Arial" panose="020B0604020202020204" pitchFamily="34" charset="0"/>
              <a:cs typeface="Arial" panose="020B0604020202020204" pitchFamily="34" charset="0"/>
            </a:endParaRPr>
          </a:p>
          <a:p>
            <a:pPr algn="l"/>
            <a:endParaRPr lang="en-US" altLang="en-US"/>
          </a:p>
        </p:txBody>
      </p:sp>
      <p:sp>
        <p:nvSpPr>
          <p:cNvPr id="2" name="Chevron 1"/>
          <p:cNvSpPr/>
          <p:nvPr/>
        </p:nvSpPr>
        <p:spPr>
          <a:xfrm>
            <a:off x="374802" y="1476975"/>
            <a:ext cx="317278" cy="15487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Chevron 70"/>
          <p:cNvSpPr/>
          <p:nvPr/>
        </p:nvSpPr>
        <p:spPr>
          <a:xfrm>
            <a:off x="368526" y="3109346"/>
            <a:ext cx="317278" cy="15487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Chevron 71"/>
          <p:cNvSpPr/>
          <p:nvPr/>
        </p:nvSpPr>
        <p:spPr>
          <a:xfrm>
            <a:off x="368526" y="4450670"/>
            <a:ext cx="317278" cy="15487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64905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318718"/>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Body)"/>
              </a:rPr>
              <a:t>7. </a:t>
            </a:r>
            <a:r>
              <a:rPr lang="vi-VN" sz="2200" b="1" smtClean="0">
                <a:solidFill>
                  <a:schemeClr val="accent1">
                    <a:lumMod val="50000"/>
                  </a:schemeClr>
                </a:solidFill>
                <a:latin typeface="Arial (Body)"/>
              </a:rPr>
              <a:t>NỘI DUNG HÓA ĐƠN ĐIỆN TỬ </a:t>
            </a:r>
            <a:endParaRPr lang="vi-VN" sz="2200" b="1">
              <a:solidFill>
                <a:schemeClr val="accent1">
                  <a:lumMod val="50000"/>
                </a:schemeClr>
              </a:solidFill>
              <a:latin typeface="Arial (Body)"/>
            </a:endParaRPr>
          </a:p>
        </p:txBody>
      </p:sp>
      <p:sp>
        <p:nvSpPr>
          <p:cNvPr id="20" name="Content Placeholder 2"/>
          <p:cNvSpPr txBox="1">
            <a:spLocks/>
          </p:cNvSpPr>
          <p:nvPr/>
        </p:nvSpPr>
        <p:spPr>
          <a:xfrm>
            <a:off x="573102" y="1189535"/>
            <a:ext cx="11287125" cy="3485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altLang="en-US" sz="2200" b="1" i="1" smtClean="0">
                <a:solidFill>
                  <a:schemeClr val="accent1">
                    <a:lumMod val="50000"/>
                  </a:schemeClr>
                </a:solidFill>
                <a:cs typeface="Arial" panose="020B0604020202020204" pitchFamily="34" charset="0"/>
              </a:rPr>
              <a:t>Thời điểm ký số trên hóa đơn điện tử</a:t>
            </a:r>
            <a:endParaRPr lang="en-US" altLang="en-US" sz="2200" i="1" smtClean="0">
              <a:solidFill>
                <a:schemeClr val="accent1">
                  <a:lumMod val="50000"/>
                </a:schemeClr>
              </a:solidFill>
              <a:latin typeface="Arial" panose="020B0604020202020204" pitchFamily="34" charset="0"/>
              <a:cs typeface="Arial" panose="020B0604020202020204" pitchFamily="34" charset="0"/>
            </a:endParaRPr>
          </a:p>
          <a:p>
            <a:pPr>
              <a:buFont typeface="Wingdings 3" panose="05040102010807070707" pitchFamily="18" charset="2"/>
              <a:buNone/>
            </a:pPr>
            <a:endParaRPr lang="en-US" altLang="en-US" sz="2200" i="1">
              <a:solidFill>
                <a:schemeClr val="accent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937512" y="1865447"/>
            <a:ext cx="10558306" cy="3139321"/>
          </a:xfrm>
          <a:prstGeom prst="rect">
            <a:avLst/>
          </a:prstGeom>
        </p:spPr>
        <p:txBody>
          <a:bodyPr wrap="square">
            <a:spAutoFit/>
          </a:bodyPr>
          <a:lstStyle/>
          <a:p>
            <a:pPr algn="just">
              <a:spcBef>
                <a:spcPts val="1200"/>
              </a:spcBef>
              <a:buSzPct val="80000"/>
              <a:buFont typeface="Wingdings 3" panose="05040102010807070707" pitchFamily="18" charset="2"/>
              <a:buNone/>
            </a:pPr>
            <a:r>
              <a:rPr lang="vi-VN" altLang="en-US" sz="2400">
                <a:cs typeface="Arial" panose="020B0604020202020204" pitchFamily="34" charset="0"/>
              </a:rPr>
              <a:t>Thời điểm ký số trên hóa đơn điện tử là thời điểm người bán, người mua sử dụng chữ ký số để ký trên hóa đơn điện tử được hiển thị theo định dạng ngày, tháng, năm của năm dương lịch. </a:t>
            </a:r>
            <a:endParaRPr lang="en-US" altLang="en-US" sz="2400" smtClean="0">
              <a:cs typeface="Arial" panose="020B0604020202020204" pitchFamily="34" charset="0"/>
            </a:endParaRPr>
          </a:p>
          <a:p>
            <a:pPr algn="just">
              <a:spcBef>
                <a:spcPts val="1200"/>
              </a:spcBef>
              <a:buSzPct val="80000"/>
              <a:buFont typeface="Wingdings 3" panose="05040102010807070707" pitchFamily="18" charset="2"/>
              <a:buNone/>
            </a:pPr>
            <a:endParaRPr lang="en-US" altLang="en-US" sz="2400">
              <a:cs typeface="Arial" panose="020B0604020202020204" pitchFamily="34" charset="0"/>
            </a:endParaRPr>
          </a:p>
          <a:p>
            <a:pPr algn="just">
              <a:spcBef>
                <a:spcPts val="1200"/>
              </a:spcBef>
              <a:buSzPct val="80000"/>
              <a:buFont typeface="Wingdings 3" panose="05040102010807070707" pitchFamily="18" charset="2"/>
              <a:buNone/>
            </a:pPr>
            <a:r>
              <a:rPr lang="vi-VN" altLang="en-US" sz="2400" smtClean="0">
                <a:cs typeface="Arial" panose="020B0604020202020204" pitchFamily="34" charset="0"/>
              </a:rPr>
              <a:t>Trường </a:t>
            </a:r>
            <a:r>
              <a:rPr lang="vi-VN" altLang="en-US" sz="2400">
                <a:cs typeface="Arial" panose="020B0604020202020204" pitchFamily="34" charset="0"/>
              </a:rPr>
              <a:t>hợp hóa đơn điện tử đã lập có thời điểm ký số trên hóa đơn khác thời điểm lập hóa đơn thì thời điểm khai thuế là thời điểm lập hóa đơn.</a:t>
            </a:r>
            <a:r>
              <a:rPr lang="en-US" altLang="en-US" sz="2400">
                <a:cs typeface="Arial" panose="020B0604020202020204" pitchFamily="34" charset="0"/>
              </a:rPr>
              <a:t> </a:t>
            </a:r>
            <a:endParaRPr lang="en-US" altLang="en-US" sz="2400" smtClean="0">
              <a:cs typeface="Arial" panose="020B0604020202020204" pitchFamily="34" charset="0"/>
            </a:endParaRPr>
          </a:p>
          <a:p>
            <a:pPr algn="just">
              <a:spcBef>
                <a:spcPts val="1200"/>
              </a:spcBef>
              <a:buSzPct val="80000"/>
              <a:buFont typeface="Wingdings 3" panose="05040102010807070707" pitchFamily="18" charset="2"/>
              <a:buNone/>
            </a:pPr>
            <a:r>
              <a:rPr lang="vi-VN" altLang="en-US" sz="2400" i="1" smtClean="0">
                <a:cs typeface="Arial" panose="020B0604020202020204" pitchFamily="34" charset="0"/>
              </a:rPr>
              <a:t>(</a:t>
            </a:r>
            <a:r>
              <a:rPr lang="vi-VN" altLang="en-US" sz="2400" i="1">
                <a:cs typeface="Arial" panose="020B0604020202020204" pitchFamily="34" charset="0"/>
              </a:rPr>
              <a:t>Khoản 9 Điều 10 Nghị định số 123/2020/NĐ-CP)</a:t>
            </a:r>
          </a:p>
        </p:txBody>
      </p:sp>
      <p:sp>
        <p:nvSpPr>
          <p:cNvPr id="18" name="Chevron 17"/>
          <p:cNvSpPr/>
          <p:nvPr/>
        </p:nvSpPr>
        <p:spPr>
          <a:xfrm>
            <a:off x="603907" y="2048223"/>
            <a:ext cx="317278" cy="15487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Chevron 18"/>
          <p:cNvSpPr/>
          <p:nvPr/>
        </p:nvSpPr>
        <p:spPr>
          <a:xfrm>
            <a:off x="603907" y="3806732"/>
            <a:ext cx="317278" cy="15487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68633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21179"/>
            <a:ext cx="9900431" cy="769441"/>
          </a:xfrm>
          <a:prstGeom prst="rect">
            <a:avLst/>
          </a:prstGeom>
          <a:noFill/>
        </p:spPr>
        <p:txBody>
          <a:bodyPr wrap="square" rtlCol="0">
            <a:spAutoFit/>
          </a:bodyPr>
          <a:lstStyle/>
          <a:p>
            <a:pPr algn="ctr"/>
            <a:r>
              <a:rPr lang="en-US" sz="2200" b="1" smtClean="0">
                <a:solidFill>
                  <a:schemeClr val="accent1">
                    <a:lumMod val="50000"/>
                  </a:schemeClr>
                </a:solidFill>
                <a:latin typeface="Arial (Body)"/>
              </a:rPr>
              <a:t>8. </a:t>
            </a:r>
            <a:r>
              <a:rPr lang="vi-VN" sz="2200" b="1" smtClean="0">
                <a:solidFill>
                  <a:schemeClr val="accent1">
                    <a:lumMod val="50000"/>
                  </a:schemeClr>
                </a:solidFill>
                <a:latin typeface="Arial (Body)"/>
              </a:rPr>
              <a:t>LẬP HÓA ĐƠN ĐIỆN TỬ</a:t>
            </a:r>
          </a:p>
          <a:p>
            <a:pPr algn="ctr"/>
            <a:endParaRPr lang="vi-VN" sz="2200" b="1">
              <a:solidFill>
                <a:schemeClr val="accent1">
                  <a:lumMod val="50000"/>
                </a:schemeClr>
              </a:solidFill>
              <a:latin typeface="Arial (Body)"/>
            </a:endParaRPr>
          </a:p>
        </p:txBody>
      </p:sp>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22" name="Oval 21"/>
          <p:cNvSpPr/>
          <p:nvPr/>
        </p:nvSpPr>
        <p:spPr>
          <a:xfrm>
            <a:off x="1671638" y="1311275"/>
            <a:ext cx="1216025" cy="1693863"/>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latin typeface="Arial" panose="020B0604020202020204" pitchFamily="34" charset="0"/>
                <a:cs typeface="Arial" panose="020B0604020202020204" pitchFamily="34" charset="0"/>
              </a:rPr>
              <a:t>NNT SD HĐ ĐT CÓ MÃ KHÔNG PHẢI TRẢ PHÍ </a:t>
            </a:r>
          </a:p>
        </p:txBody>
      </p:sp>
      <p:sp>
        <p:nvSpPr>
          <p:cNvPr id="23" name="Oval 22"/>
          <p:cNvSpPr/>
          <p:nvPr/>
        </p:nvSpPr>
        <p:spPr>
          <a:xfrm>
            <a:off x="1541463" y="3529013"/>
            <a:ext cx="1346200" cy="1965325"/>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Arial" panose="020B0604020202020204" pitchFamily="34" charset="0"/>
                <a:cs typeface="Arial" panose="020B0604020202020204" pitchFamily="34" charset="0"/>
              </a:rPr>
              <a:t>NNT SD HĐ ĐT CÓ MÃ  PHẢI TRẢ PHÍ </a:t>
            </a:r>
          </a:p>
        </p:txBody>
      </p:sp>
      <p:sp>
        <p:nvSpPr>
          <p:cNvPr id="24" name="Rectangle 23"/>
          <p:cNvSpPr/>
          <p:nvPr/>
        </p:nvSpPr>
        <p:spPr>
          <a:xfrm>
            <a:off x="3749675" y="1371600"/>
            <a:ext cx="2233613" cy="1502254"/>
          </a:xfrm>
          <a:prstGeom prst="rect">
            <a:avLst/>
          </a:prstGeom>
          <a:solidFill>
            <a:srgbClr val="FFC000"/>
          </a:solidFill>
          <a:ln>
            <a:solidFill>
              <a:schemeClr val="accent1">
                <a:shade val="50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400" dirty="0"/>
          </a:p>
          <a:p>
            <a:pPr>
              <a:defRPr/>
            </a:pPr>
            <a:endParaRPr lang="en-US" sz="1400" dirty="0"/>
          </a:p>
          <a:p>
            <a:pPr>
              <a:defRPr/>
            </a:pPr>
            <a:endParaRPr lang="en-US" sz="1400" dirty="0"/>
          </a:p>
          <a:p>
            <a:pPr>
              <a:defRPr/>
            </a:pPr>
            <a:endParaRPr lang="en-US" sz="1400" dirty="0"/>
          </a:p>
          <a:p>
            <a:pPr>
              <a:defRPr/>
            </a:pPr>
            <a:r>
              <a:rPr lang="en-US" sz="1350" dirty="0"/>
              <a:t>- </a:t>
            </a:r>
            <a:r>
              <a:rPr lang="vi-VN" sz="1350" dirty="0"/>
              <a:t>Lập hóa đơn bán hàng hóa, cung cấp dịch vụ.</a:t>
            </a:r>
          </a:p>
          <a:p>
            <a:pPr>
              <a:defRPr/>
            </a:pPr>
            <a:r>
              <a:rPr lang="vi-VN" sz="1350" dirty="0"/>
              <a:t>- Ký số trên các hóa đơn đã lập </a:t>
            </a:r>
          </a:p>
          <a:p>
            <a:pPr algn="ctr">
              <a:defRPr/>
            </a:pPr>
            <a:endParaRPr lang="en-US" sz="1600" b="1" dirty="0">
              <a:solidFill>
                <a:schemeClr val="tx1"/>
              </a:solidFill>
              <a:latin typeface="Arial" panose="020B0604020202020204" pitchFamily="34" charset="0"/>
              <a:cs typeface="Arial" panose="020B0604020202020204" pitchFamily="34" charset="0"/>
            </a:endParaRPr>
          </a:p>
        </p:txBody>
      </p:sp>
      <p:sp>
        <p:nvSpPr>
          <p:cNvPr id="25" name="Rectangle 24"/>
          <p:cNvSpPr/>
          <p:nvPr/>
        </p:nvSpPr>
        <p:spPr>
          <a:xfrm>
            <a:off x="3775075" y="3207910"/>
            <a:ext cx="2168525" cy="1671638"/>
          </a:xfrm>
          <a:prstGeom prst="rect">
            <a:avLst/>
          </a:prstGeom>
          <a:solidFill>
            <a:srgbClr val="FFC000"/>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600" dirty="0"/>
          </a:p>
          <a:p>
            <a:pPr>
              <a:defRPr/>
            </a:pPr>
            <a:endParaRPr lang="en-US" sz="1600" dirty="0"/>
          </a:p>
          <a:p>
            <a:pPr>
              <a:defRPr/>
            </a:pPr>
            <a:endParaRPr lang="en-US" sz="1400" dirty="0"/>
          </a:p>
          <a:p>
            <a:pPr>
              <a:defRPr/>
            </a:pPr>
            <a:endParaRPr lang="en-US" sz="1400" dirty="0"/>
          </a:p>
          <a:p>
            <a:pPr>
              <a:defRPr/>
            </a:pPr>
            <a:r>
              <a:rPr lang="en-US" sz="1350" dirty="0"/>
              <a:t>- </a:t>
            </a:r>
            <a:r>
              <a:rPr lang="vi-VN" sz="1350" dirty="0"/>
              <a:t>Lập hóa đơn bán hàng hóa, cung cấp dịch vụ.</a:t>
            </a:r>
          </a:p>
          <a:p>
            <a:pPr>
              <a:defRPr/>
            </a:pPr>
            <a:r>
              <a:rPr lang="vi-VN" sz="1350" dirty="0"/>
              <a:t>- Ký số trên các hóa đơn đã lập </a:t>
            </a:r>
          </a:p>
          <a:p>
            <a:pPr algn="ctr">
              <a:defRPr/>
            </a:pPr>
            <a:endParaRPr lang="en-US" sz="1600" b="1" dirty="0">
              <a:solidFill>
                <a:schemeClr val="tx1"/>
              </a:solidFill>
              <a:latin typeface="Arial" panose="020B0604020202020204" pitchFamily="34" charset="0"/>
              <a:cs typeface="Arial" panose="020B0604020202020204" pitchFamily="34" charset="0"/>
            </a:endParaRPr>
          </a:p>
        </p:txBody>
      </p:sp>
      <p:sp>
        <p:nvSpPr>
          <p:cNvPr id="26" name="TextBox 18"/>
          <p:cNvSpPr txBox="1">
            <a:spLocks noChangeArrowheads="1"/>
          </p:cNvSpPr>
          <p:nvPr/>
        </p:nvSpPr>
        <p:spPr bwMode="auto">
          <a:xfrm>
            <a:off x="3756025" y="3307793"/>
            <a:ext cx="2135188" cy="738188"/>
          </a:xfrm>
          <a:prstGeom prst="rect">
            <a:avLst/>
          </a:prstGeom>
          <a:noFill/>
          <a:ln>
            <a:noFill/>
          </a:ln>
          <a:scene3d>
            <a:camera prst="orthographicFront"/>
            <a:lightRig rig="threePt" dir="t"/>
          </a:scene3d>
          <a:sp3d>
            <a:bevelT w="165100" prst="coolSlan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a:spcBef>
                <a:spcPct val="0"/>
              </a:spcBef>
              <a:buClrTx/>
              <a:buSzTx/>
              <a:buFontTx/>
              <a:buNone/>
              <a:defRPr/>
            </a:pPr>
            <a:r>
              <a:rPr lang="en-US" altLang="en-US" sz="1400" b="1" smtClean="0">
                <a:solidFill>
                  <a:schemeClr val="tx1"/>
                </a:solidFill>
                <a:latin typeface="Arial" panose="020B0604020202020204" pitchFamily="34" charset="0"/>
                <a:cs typeface="Arial" panose="020B0604020202020204" pitchFamily="34" charset="0"/>
              </a:rPr>
              <a:t>Cổng thông tin điện tử của Tổ chức cung cấp DV HĐ ĐT</a:t>
            </a:r>
          </a:p>
        </p:txBody>
      </p:sp>
      <p:sp>
        <p:nvSpPr>
          <p:cNvPr id="27" name="TextBox 19"/>
          <p:cNvSpPr txBox="1">
            <a:spLocks noChangeArrowheads="1"/>
          </p:cNvSpPr>
          <p:nvPr/>
        </p:nvSpPr>
        <p:spPr bwMode="auto">
          <a:xfrm>
            <a:off x="3846513" y="1436688"/>
            <a:ext cx="2136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400" b="1">
                <a:solidFill>
                  <a:schemeClr val="tx1"/>
                </a:solidFill>
                <a:latin typeface="Arial" panose="020B0604020202020204" pitchFamily="34" charset="0"/>
                <a:cs typeface="Arial" panose="020B0604020202020204" pitchFamily="34" charset="0"/>
              </a:rPr>
              <a:t>Cổng thông tin điện tử TCT</a:t>
            </a:r>
          </a:p>
        </p:txBody>
      </p:sp>
      <p:sp>
        <p:nvSpPr>
          <p:cNvPr id="28" name="Right Arrow 27"/>
          <p:cNvSpPr/>
          <p:nvPr/>
        </p:nvSpPr>
        <p:spPr>
          <a:xfrm>
            <a:off x="2887663" y="1960564"/>
            <a:ext cx="854075" cy="8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sp>
        <p:nvSpPr>
          <p:cNvPr id="29" name="Rounded Rectangle 28"/>
          <p:cNvSpPr/>
          <p:nvPr/>
        </p:nvSpPr>
        <p:spPr>
          <a:xfrm>
            <a:off x="7812088" y="1311275"/>
            <a:ext cx="3043237" cy="5045075"/>
          </a:xfrm>
          <a:prstGeom prst="roundRect">
            <a:avLst/>
          </a:prstGeom>
          <a:solidFill>
            <a:srgbClr val="EAA8E1"/>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400" dirty="0"/>
          </a:p>
          <a:p>
            <a:pPr>
              <a:defRPr/>
            </a:pPr>
            <a:endParaRPr lang="en-US" sz="1400" dirty="0"/>
          </a:p>
          <a:p>
            <a:pPr>
              <a:defRPr/>
            </a:pPr>
            <a:endParaRPr lang="en-US" sz="1400" dirty="0"/>
          </a:p>
          <a:p>
            <a:pPr>
              <a:defRPr/>
            </a:pPr>
            <a:endParaRPr lang="en-US" sz="1400" dirty="0"/>
          </a:p>
          <a:p>
            <a:pPr>
              <a:spcBef>
                <a:spcPts val="600"/>
              </a:spcBef>
              <a:defRPr/>
            </a:pPr>
            <a:r>
              <a:rPr lang="en-US" sz="1400" dirty="0"/>
              <a:t>- </a:t>
            </a:r>
            <a:r>
              <a:rPr lang="vi-VN" sz="1400" dirty="0"/>
              <a:t>Đầy đủ nội dung về hóa đơn điện tử theo quy định tại Điều 10 Nghị định số 123/2020/NĐ-CP .</a:t>
            </a:r>
            <a:endParaRPr lang="en-US" sz="1400" dirty="0"/>
          </a:p>
          <a:p>
            <a:pPr>
              <a:spcBef>
                <a:spcPts val="600"/>
              </a:spcBef>
              <a:defRPr/>
            </a:pPr>
            <a:r>
              <a:rPr lang="vi-VN" sz="1400" dirty="0"/>
              <a:t>- Đúng định dạng về hóa đơn điện tử theo quy định tại Điều 12 Nghị định số 123/2020/NĐ-CP.</a:t>
            </a:r>
            <a:endParaRPr lang="en-US" sz="1400" dirty="0"/>
          </a:p>
          <a:p>
            <a:pPr>
              <a:spcBef>
                <a:spcPts val="600"/>
              </a:spcBef>
              <a:defRPr/>
            </a:pPr>
            <a:r>
              <a:rPr lang="vi-VN" sz="1400" dirty="0"/>
              <a:t>- Đúng thông tin đăng ký theo quy định tại Điều 15 Nghị định số 123/2020/NĐ-CP .</a:t>
            </a:r>
            <a:endParaRPr lang="en-US" sz="1400" dirty="0"/>
          </a:p>
          <a:p>
            <a:pPr>
              <a:spcBef>
                <a:spcPts val="600"/>
              </a:spcBef>
              <a:defRPr/>
            </a:pPr>
            <a:r>
              <a:rPr lang="vi-VN" sz="1400" dirty="0"/>
              <a:t>- Không thuộc trường hợp ngừng sử dụng hóa đơn điện tử có mã của cơ quan thuế theo quy định tại khoản 1 Điều 16 Nghị định số 123/2020/NĐ-CP.</a:t>
            </a:r>
            <a:endParaRPr lang="en-US" sz="1400" dirty="0"/>
          </a:p>
          <a:p>
            <a:pPr algn="ctr">
              <a:defRPr/>
            </a:pPr>
            <a:endParaRPr lang="en-US" dirty="0"/>
          </a:p>
        </p:txBody>
      </p:sp>
      <p:sp>
        <p:nvSpPr>
          <p:cNvPr id="30" name="TextBox 22"/>
          <p:cNvSpPr txBox="1">
            <a:spLocks noChangeArrowheads="1"/>
          </p:cNvSpPr>
          <p:nvPr/>
        </p:nvSpPr>
        <p:spPr bwMode="auto">
          <a:xfrm>
            <a:off x="7913688" y="1501775"/>
            <a:ext cx="2836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400" b="1">
                <a:solidFill>
                  <a:schemeClr val="tx1"/>
                </a:solidFill>
                <a:latin typeface="Arial" panose="020B0604020202020204" pitchFamily="34" charset="0"/>
                <a:cs typeface="Arial" panose="020B0604020202020204" pitchFamily="34" charset="0"/>
              </a:rPr>
              <a:t>HỆ THỐNG HÓA ĐƠN ĐIỆN TỬ CỦA TỔNG CỤC THUẾ</a:t>
            </a:r>
          </a:p>
        </p:txBody>
      </p:sp>
      <p:sp>
        <p:nvSpPr>
          <p:cNvPr id="31" name="Right Arrow 30"/>
          <p:cNvSpPr/>
          <p:nvPr/>
        </p:nvSpPr>
        <p:spPr>
          <a:xfrm>
            <a:off x="5983288" y="1960563"/>
            <a:ext cx="1825625" cy="619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TextBox 24"/>
          <p:cNvSpPr txBox="1">
            <a:spLocks noChangeArrowheads="1"/>
          </p:cNvSpPr>
          <p:nvPr/>
        </p:nvSpPr>
        <p:spPr bwMode="auto">
          <a:xfrm>
            <a:off x="6388100" y="1501775"/>
            <a:ext cx="1174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endParaRPr lang="en-US" altLang="en-US">
              <a:solidFill>
                <a:schemeClr val="tx1"/>
              </a:solidFill>
              <a:latin typeface="Trebuchet MS" panose="020B0603020202020204" pitchFamily="34" charset="0"/>
            </a:endParaRPr>
          </a:p>
        </p:txBody>
      </p:sp>
      <p:sp>
        <p:nvSpPr>
          <p:cNvPr id="33" name="Right Arrow 32"/>
          <p:cNvSpPr/>
          <p:nvPr/>
        </p:nvSpPr>
        <p:spPr>
          <a:xfrm flipV="1">
            <a:off x="2754093" y="3811588"/>
            <a:ext cx="987645" cy="719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Right Arrow 33"/>
          <p:cNvSpPr/>
          <p:nvPr/>
        </p:nvSpPr>
        <p:spPr>
          <a:xfrm>
            <a:off x="5937250" y="3813175"/>
            <a:ext cx="1841501" cy="840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5" name="Straight Arrow Connector 34"/>
          <p:cNvCxnSpPr/>
          <p:nvPr/>
        </p:nvCxnSpPr>
        <p:spPr>
          <a:xfrm flipH="1">
            <a:off x="5983288" y="2153748"/>
            <a:ext cx="1828801" cy="1587"/>
          </a:xfrm>
          <a:prstGeom prst="straightConnector1">
            <a:avLst/>
          </a:prstGeom>
          <a:ln w="38100">
            <a:solidFill>
              <a:srgbClr val="9F219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5937250" y="4040188"/>
            <a:ext cx="1874839" cy="0"/>
          </a:xfrm>
          <a:prstGeom prst="straightConnector1">
            <a:avLst/>
          </a:prstGeom>
          <a:ln w="38100">
            <a:solidFill>
              <a:srgbClr val="9F219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a:off x="2805113" y="2156508"/>
            <a:ext cx="944562" cy="0"/>
          </a:xfrm>
          <a:prstGeom prst="straightConnector1">
            <a:avLst/>
          </a:prstGeom>
          <a:ln w="38100">
            <a:solidFill>
              <a:srgbClr val="9F219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TextBox 45"/>
          <p:cNvSpPr txBox="1">
            <a:spLocks noChangeArrowheads="1"/>
          </p:cNvSpPr>
          <p:nvPr/>
        </p:nvSpPr>
        <p:spPr bwMode="auto">
          <a:xfrm>
            <a:off x="5937250" y="1647825"/>
            <a:ext cx="2030413"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300">
                <a:solidFill>
                  <a:schemeClr val="accent1">
                    <a:lumMod val="75000"/>
                  </a:schemeClr>
                </a:solidFill>
                <a:latin typeface="Arial" panose="020B0604020202020204" pitchFamily="34" charset="0"/>
                <a:cs typeface="Arial" panose="020B0604020202020204" pitchFamily="34" charset="0"/>
              </a:rPr>
              <a:t>Gửi HĐ đã lập, đã kí số</a:t>
            </a:r>
          </a:p>
        </p:txBody>
      </p:sp>
      <p:sp>
        <p:nvSpPr>
          <p:cNvPr id="40" name="TextBox 46"/>
          <p:cNvSpPr txBox="1">
            <a:spLocks noChangeArrowheads="1"/>
          </p:cNvSpPr>
          <p:nvPr/>
        </p:nvSpPr>
        <p:spPr bwMode="auto">
          <a:xfrm>
            <a:off x="5943600" y="3449638"/>
            <a:ext cx="20320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300">
                <a:solidFill>
                  <a:schemeClr val="accent1">
                    <a:lumMod val="75000"/>
                  </a:schemeClr>
                </a:solidFill>
                <a:latin typeface="Arial" panose="020B0604020202020204" pitchFamily="34" charset="0"/>
                <a:cs typeface="Arial" panose="020B0604020202020204" pitchFamily="34" charset="0"/>
              </a:rPr>
              <a:t>Gửi HĐ đã lập, đã kí số</a:t>
            </a:r>
          </a:p>
        </p:txBody>
      </p:sp>
      <p:sp>
        <p:nvSpPr>
          <p:cNvPr id="41" name="TextBox 49"/>
          <p:cNvSpPr txBox="1">
            <a:spLocks noChangeArrowheads="1"/>
          </p:cNvSpPr>
          <p:nvPr/>
        </p:nvSpPr>
        <p:spPr bwMode="auto">
          <a:xfrm>
            <a:off x="6289675" y="2249488"/>
            <a:ext cx="12144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300">
                <a:solidFill>
                  <a:srgbClr val="9F2190"/>
                </a:solidFill>
                <a:latin typeface="Arial" panose="020B0604020202020204" pitchFamily="34" charset="0"/>
                <a:cs typeface="Arial" panose="020B0604020202020204" pitchFamily="34" charset="0"/>
              </a:rPr>
              <a:t>Cấp mã CQT</a:t>
            </a:r>
          </a:p>
        </p:txBody>
      </p:sp>
      <p:sp>
        <p:nvSpPr>
          <p:cNvPr id="42" name="TextBox 50"/>
          <p:cNvSpPr txBox="1">
            <a:spLocks noChangeArrowheads="1"/>
          </p:cNvSpPr>
          <p:nvPr/>
        </p:nvSpPr>
        <p:spPr bwMode="auto">
          <a:xfrm>
            <a:off x="6270625" y="4121150"/>
            <a:ext cx="12144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300">
                <a:solidFill>
                  <a:srgbClr val="9F2190"/>
                </a:solidFill>
                <a:latin typeface="Arial" panose="020B0604020202020204" pitchFamily="34" charset="0"/>
                <a:cs typeface="Arial" panose="020B0604020202020204" pitchFamily="34" charset="0"/>
              </a:rPr>
              <a:t>Cấp mã CQT</a:t>
            </a:r>
          </a:p>
        </p:txBody>
      </p:sp>
      <p:sp>
        <p:nvSpPr>
          <p:cNvPr id="43" name="TextBox 51"/>
          <p:cNvSpPr txBox="1">
            <a:spLocks noChangeArrowheads="1"/>
          </p:cNvSpPr>
          <p:nvPr/>
        </p:nvSpPr>
        <p:spPr bwMode="auto">
          <a:xfrm>
            <a:off x="2978150" y="2274888"/>
            <a:ext cx="7318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300">
                <a:solidFill>
                  <a:srgbClr val="9F2190"/>
                </a:solidFill>
                <a:latin typeface="Arial" panose="020B0604020202020204" pitchFamily="34" charset="0"/>
                <a:cs typeface="Arial" panose="020B0604020202020204" pitchFamily="34" charset="0"/>
              </a:rPr>
              <a:t>HĐ ĐT đã Cấp mã CQT</a:t>
            </a:r>
          </a:p>
        </p:txBody>
      </p:sp>
      <p:sp>
        <p:nvSpPr>
          <p:cNvPr id="44" name="TextBox 52"/>
          <p:cNvSpPr txBox="1">
            <a:spLocks noChangeArrowheads="1"/>
          </p:cNvSpPr>
          <p:nvPr/>
        </p:nvSpPr>
        <p:spPr bwMode="auto">
          <a:xfrm>
            <a:off x="2952750" y="4130675"/>
            <a:ext cx="73025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300">
                <a:solidFill>
                  <a:srgbClr val="9F2190"/>
                </a:solidFill>
                <a:latin typeface="Arial" panose="020B0604020202020204" pitchFamily="34" charset="0"/>
                <a:cs typeface="Arial" panose="020B0604020202020204" pitchFamily="34" charset="0"/>
              </a:rPr>
              <a:t>HĐ ĐT đã Cấp mã CQT</a:t>
            </a:r>
          </a:p>
        </p:txBody>
      </p:sp>
      <p:sp>
        <p:nvSpPr>
          <p:cNvPr id="45" name="Rectangle 44"/>
          <p:cNvSpPr/>
          <p:nvPr/>
        </p:nvSpPr>
        <p:spPr>
          <a:xfrm>
            <a:off x="3775075" y="5256214"/>
            <a:ext cx="2168525" cy="1358784"/>
          </a:xfrm>
          <a:prstGeom prst="rect">
            <a:avLst/>
          </a:prstGeom>
          <a:solidFill>
            <a:srgbClr val="FFC000"/>
          </a:solidFill>
          <a:ln>
            <a:solidFill>
              <a:schemeClr val="accent6">
                <a:lumMod val="75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600" dirty="0"/>
          </a:p>
          <a:p>
            <a:pPr>
              <a:defRPr/>
            </a:pPr>
            <a:endParaRPr lang="en-US" sz="1600" dirty="0"/>
          </a:p>
          <a:p>
            <a:pPr>
              <a:defRPr/>
            </a:pPr>
            <a:endParaRPr lang="en-US" sz="1400" dirty="0"/>
          </a:p>
          <a:p>
            <a:pPr>
              <a:defRPr/>
            </a:pPr>
            <a:r>
              <a:rPr lang="en-US" sz="1350" dirty="0"/>
              <a:t>- </a:t>
            </a:r>
            <a:r>
              <a:rPr lang="vi-VN" sz="1350" dirty="0"/>
              <a:t>Lập hóa đơn bán hàng hóa, cung cấp dịch vụ.</a:t>
            </a:r>
          </a:p>
          <a:p>
            <a:pPr>
              <a:defRPr/>
            </a:pPr>
            <a:r>
              <a:rPr lang="vi-VN" sz="1350" dirty="0"/>
              <a:t>- Ký số trên các hóa đơn đã lập </a:t>
            </a:r>
          </a:p>
          <a:p>
            <a:pPr algn="ctr">
              <a:defRPr/>
            </a:pPr>
            <a:endParaRPr lang="en-US" sz="1600" b="1" dirty="0">
              <a:solidFill>
                <a:schemeClr val="tx1"/>
              </a:solidFill>
              <a:latin typeface="Arial" panose="020B0604020202020204" pitchFamily="34" charset="0"/>
              <a:cs typeface="Arial" panose="020B0604020202020204" pitchFamily="34" charset="0"/>
            </a:endParaRPr>
          </a:p>
        </p:txBody>
      </p:sp>
      <p:sp>
        <p:nvSpPr>
          <p:cNvPr id="46" name="TextBox 61"/>
          <p:cNvSpPr txBox="1">
            <a:spLocks noChangeArrowheads="1"/>
          </p:cNvSpPr>
          <p:nvPr/>
        </p:nvSpPr>
        <p:spPr bwMode="auto">
          <a:xfrm>
            <a:off x="3802063" y="5343525"/>
            <a:ext cx="2108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400" b="1">
                <a:solidFill>
                  <a:schemeClr val="tx1"/>
                </a:solidFill>
                <a:latin typeface="Arial" panose="020B0604020202020204" pitchFamily="34" charset="0"/>
                <a:cs typeface="Arial" panose="020B0604020202020204" pitchFamily="34" charset="0"/>
              </a:rPr>
              <a:t>Phần mềm HĐ ĐT của NNT</a:t>
            </a:r>
          </a:p>
        </p:txBody>
      </p:sp>
      <p:cxnSp>
        <p:nvCxnSpPr>
          <p:cNvPr id="47" name="Elbow Connector 46"/>
          <p:cNvCxnSpPr>
            <a:stCxn id="23" idx="4"/>
          </p:cNvCxnSpPr>
          <p:nvPr/>
        </p:nvCxnSpPr>
        <p:spPr>
          <a:xfrm rot="16200000" flipH="1">
            <a:off x="2861469" y="4847432"/>
            <a:ext cx="266700" cy="1560512"/>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5983288" y="5703888"/>
            <a:ext cx="1828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5956300" y="5908675"/>
            <a:ext cx="1855789" cy="0"/>
          </a:xfrm>
          <a:prstGeom prst="straightConnector1">
            <a:avLst/>
          </a:prstGeom>
          <a:ln w="38100">
            <a:solidFill>
              <a:srgbClr val="9F219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TextBox 67"/>
          <p:cNvSpPr txBox="1">
            <a:spLocks noChangeArrowheads="1"/>
          </p:cNvSpPr>
          <p:nvPr/>
        </p:nvSpPr>
        <p:spPr bwMode="auto">
          <a:xfrm>
            <a:off x="5956300" y="5365750"/>
            <a:ext cx="20320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300">
                <a:solidFill>
                  <a:schemeClr val="accent1">
                    <a:lumMod val="75000"/>
                  </a:schemeClr>
                </a:solidFill>
                <a:latin typeface="Arial" panose="020B0604020202020204" pitchFamily="34" charset="0"/>
                <a:cs typeface="Arial" panose="020B0604020202020204" pitchFamily="34" charset="0"/>
              </a:rPr>
              <a:t>Gửi HĐ đã lập, đã kí số</a:t>
            </a:r>
          </a:p>
        </p:txBody>
      </p:sp>
      <p:sp>
        <p:nvSpPr>
          <p:cNvPr id="51" name="TextBox 68"/>
          <p:cNvSpPr txBox="1">
            <a:spLocks noChangeArrowheads="1"/>
          </p:cNvSpPr>
          <p:nvPr/>
        </p:nvSpPr>
        <p:spPr bwMode="auto">
          <a:xfrm>
            <a:off x="6283325" y="6035675"/>
            <a:ext cx="1214438"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300">
                <a:solidFill>
                  <a:srgbClr val="9F2190"/>
                </a:solidFill>
                <a:latin typeface="Arial" panose="020B0604020202020204" pitchFamily="34" charset="0"/>
                <a:cs typeface="Arial" panose="020B0604020202020204" pitchFamily="34" charset="0"/>
              </a:rPr>
              <a:t>Cấp mã CQT</a:t>
            </a:r>
          </a:p>
        </p:txBody>
      </p:sp>
      <p:cxnSp>
        <p:nvCxnSpPr>
          <p:cNvPr id="52" name="Elbow Connector 51"/>
          <p:cNvCxnSpPr>
            <a:endCxn id="23" idx="3"/>
          </p:cNvCxnSpPr>
          <p:nvPr/>
        </p:nvCxnSpPr>
        <p:spPr>
          <a:xfrm rot="10800000">
            <a:off x="1738609" y="5206523"/>
            <a:ext cx="2036466" cy="765652"/>
          </a:xfrm>
          <a:prstGeom prst="bentConnector2">
            <a:avLst/>
          </a:prstGeom>
          <a:ln w="38100">
            <a:solidFill>
              <a:srgbClr val="9F219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TextBox 71"/>
          <p:cNvSpPr txBox="1">
            <a:spLocks noChangeArrowheads="1"/>
          </p:cNvSpPr>
          <p:nvPr/>
        </p:nvSpPr>
        <p:spPr bwMode="auto">
          <a:xfrm>
            <a:off x="1566863" y="6062663"/>
            <a:ext cx="234473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300">
                <a:solidFill>
                  <a:srgbClr val="9F2190"/>
                </a:solidFill>
                <a:latin typeface="Arial" panose="020B0604020202020204" pitchFamily="34" charset="0"/>
                <a:cs typeface="Arial" panose="020B0604020202020204" pitchFamily="34" charset="0"/>
              </a:rPr>
              <a:t>HĐ ĐT đã Cấp mã CQT</a:t>
            </a:r>
          </a:p>
        </p:txBody>
      </p:sp>
      <p:sp>
        <p:nvSpPr>
          <p:cNvPr id="54" name="Rectangle 53"/>
          <p:cNvSpPr/>
          <p:nvPr/>
        </p:nvSpPr>
        <p:spPr>
          <a:xfrm>
            <a:off x="836613" y="2755900"/>
            <a:ext cx="835025" cy="985838"/>
          </a:xfrm>
          <a:prstGeom prst="rect">
            <a:avLst/>
          </a:prstGeom>
          <a:solidFill>
            <a:srgbClr val="4E65DA"/>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latin typeface="Arial" panose="020B0604020202020204" pitchFamily="34" charset="0"/>
                <a:cs typeface="Arial" panose="020B0604020202020204" pitchFamily="34" charset="0"/>
              </a:rPr>
              <a:t>NGƯỜI MUA</a:t>
            </a:r>
          </a:p>
        </p:txBody>
      </p:sp>
      <p:cxnSp>
        <p:nvCxnSpPr>
          <p:cNvPr id="55" name="Elbow Connector 54"/>
          <p:cNvCxnSpPr>
            <a:stCxn id="22" idx="2"/>
            <a:endCxn id="54" idx="0"/>
          </p:cNvCxnSpPr>
          <p:nvPr/>
        </p:nvCxnSpPr>
        <p:spPr>
          <a:xfrm rot="10800000" flipV="1">
            <a:off x="1254125" y="2159000"/>
            <a:ext cx="417513" cy="596900"/>
          </a:xfrm>
          <a:prstGeom prst="bentConnector2">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p:cNvCxnSpPr>
            <a:stCxn id="23" idx="2"/>
            <a:endCxn id="54" idx="2"/>
          </p:cNvCxnSpPr>
          <p:nvPr/>
        </p:nvCxnSpPr>
        <p:spPr>
          <a:xfrm rot="10800000">
            <a:off x="1254125" y="3741738"/>
            <a:ext cx="287338" cy="769937"/>
          </a:xfrm>
          <a:prstGeom prst="bentConnector2">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a:off x="2830513" y="4040188"/>
            <a:ext cx="944562" cy="0"/>
          </a:xfrm>
          <a:prstGeom prst="straightConnector1">
            <a:avLst/>
          </a:prstGeom>
          <a:ln w="38100">
            <a:solidFill>
              <a:srgbClr val="9F219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9" name="Content Placeholder 2"/>
          <p:cNvSpPr txBox="1">
            <a:spLocks/>
          </p:cNvSpPr>
          <p:nvPr/>
        </p:nvSpPr>
        <p:spPr>
          <a:xfrm>
            <a:off x="1053570" y="928489"/>
            <a:ext cx="9859436" cy="503238"/>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2200" b="1" smtClean="0">
                <a:solidFill>
                  <a:schemeClr val="accent1">
                    <a:lumMod val="50000"/>
                  </a:schemeClr>
                </a:solidFill>
                <a:latin typeface="Arial" panose="020B0604020202020204" pitchFamily="34" charset="0"/>
                <a:cs typeface="Arial" panose="020B0604020202020204" pitchFamily="34" charset="0"/>
              </a:rPr>
              <a:t>Lập hóa đơn điện tử có mã của cơ quan thuế (Điều 17 Nghị định 123/2020/NĐ-CP)</a:t>
            </a:r>
            <a:endParaRPr lang="en-US" altLang="en-US" sz="2200">
              <a:solidFill>
                <a:schemeClr val="accent1">
                  <a:lumMod val="50000"/>
                </a:schemeClr>
              </a:solidFill>
              <a:latin typeface="Arial" panose="020B0604020202020204" pitchFamily="34" charset="0"/>
              <a:cs typeface="Arial" panose="020B0604020202020204" pitchFamily="34" charset="0"/>
            </a:endParaRPr>
          </a:p>
        </p:txBody>
      </p:sp>
      <p:sp>
        <p:nvSpPr>
          <p:cNvPr id="57" name="Oval 56"/>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7991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221179"/>
            <a:ext cx="9900431" cy="769441"/>
          </a:xfrm>
          <a:prstGeom prst="rect">
            <a:avLst/>
          </a:prstGeom>
          <a:noFill/>
        </p:spPr>
        <p:txBody>
          <a:bodyPr wrap="square" rtlCol="0">
            <a:spAutoFit/>
          </a:bodyPr>
          <a:lstStyle/>
          <a:p>
            <a:pPr algn="ctr"/>
            <a:r>
              <a:rPr lang="en-US" sz="2200" b="1" smtClean="0">
                <a:solidFill>
                  <a:schemeClr val="accent1">
                    <a:lumMod val="50000"/>
                  </a:schemeClr>
                </a:solidFill>
                <a:latin typeface="Arial (Body)"/>
              </a:rPr>
              <a:t>8. </a:t>
            </a:r>
            <a:r>
              <a:rPr lang="vi-VN" sz="2200" b="1" smtClean="0">
                <a:solidFill>
                  <a:schemeClr val="accent1">
                    <a:lumMod val="50000"/>
                  </a:schemeClr>
                </a:solidFill>
                <a:latin typeface="Arial (Body)"/>
              </a:rPr>
              <a:t>LẬP HÓA ĐƠN ĐIỆN TỬ</a:t>
            </a:r>
          </a:p>
          <a:p>
            <a:pPr algn="ctr"/>
            <a:endParaRPr lang="vi-VN" sz="2200" b="1">
              <a:solidFill>
                <a:schemeClr val="accent1">
                  <a:lumMod val="50000"/>
                </a:schemeClr>
              </a:solidFill>
              <a:latin typeface="Arial (Body)"/>
            </a:endParaRPr>
          </a:p>
        </p:txBody>
      </p:sp>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21" name="Content Placeholder 2"/>
          <p:cNvSpPr txBox="1">
            <a:spLocks/>
          </p:cNvSpPr>
          <p:nvPr/>
        </p:nvSpPr>
        <p:spPr>
          <a:xfrm>
            <a:off x="878729" y="1168063"/>
            <a:ext cx="11061331" cy="503238"/>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2200" b="1" smtClean="0">
                <a:solidFill>
                  <a:schemeClr val="accent1">
                    <a:lumMod val="50000"/>
                  </a:schemeClr>
                </a:solidFill>
                <a:latin typeface="Arial" panose="020B0604020202020204" pitchFamily="34" charset="0"/>
                <a:cs typeface="Arial" panose="020B0604020202020204" pitchFamily="34" charset="0"/>
              </a:rPr>
              <a:t>Lập hóa đơn điện tử không có mã của cơ quan thuế </a:t>
            </a:r>
            <a:r>
              <a:rPr lang="en-US" altLang="en-US" sz="2200" b="1">
                <a:solidFill>
                  <a:schemeClr val="accent1">
                    <a:lumMod val="50000"/>
                  </a:schemeClr>
                </a:solidFill>
                <a:latin typeface="Arial" panose="020B0604020202020204" pitchFamily="34" charset="0"/>
                <a:cs typeface="Arial" panose="020B0604020202020204" pitchFamily="34" charset="0"/>
              </a:rPr>
              <a:t>(Điều </a:t>
            </a:r>
            <a:r>
              <a:rPr lang="en-US" altLang="en-US" sz="2200" b="1" smtClean="0">
                <a:solidFill>
                  <a:schemeClr val="accent1">
                    <a:lumMod val="50000"/>
                  </a:schemeClr>
                </a:solidFill>
                <a:latin typeface="Arial" panose="020B0604020202020204" pitchFamily="34" charset="0"/>
                <a:cs typeface="Arial" panose="020B0604020202020204" pitchFamily="34" charset="0"/>
              </a:rPr>
              <a:t>18 </a:t>
            </a:r>
            <a:r>
              <a:rPr lang="en-US" altLang="en-US" sz="2200" b="1">
                <a:solidFill>
                  <a:schemeClr val="accent1">
                    <a:lumMod val="50000"/>
                  </a:schemeClr>
                </a:solidFill>
                <a:latin typeface="Arial" panose="020B0604020202020204" pitchFamily="34" charset="0"/>
                <a:cs typeface="Arial" panose="020B0604020202020204" pitchFamily="34" charset="0"/>
              </a:rPr>
              <a:t>Nghị định 123/2020/NĐ-CP)</a:t>
            </a:r>
            <a:endParaRPr lang="en-US" altLang="en-US" sz="2200">
              <a:solidFill>
                <a:schemeClr val="accent1">
                  <a:lumMod val="50000"/>
                </a:schemeClr>
              </a:solidFill>
              <a:latin typeface="Arial" panose="020B0604020202020204" pitchFamily="34" charset="0"/>
              <a:cs typeface="Arial" panose="020B0604020202020204" pitchFamily="34" charset="0"/>
            </a:endParaRPr>
          </a:p>
          <a:p>
            <a:endParaRPr lang="en-US" altLang="en-US" sz="2200">
              <a:solidFill>
                <a:schemeClr val="accent1">
                  <a:lumMod val="50000"/>
                </a:schemeClr>
              </a:solidFill>
              <a:latin typeface="Arial" panose="020B0604020202020204" pitchFamily="34" charset="0"/>
              <a:cs typeface="Arial" panose="020B0604020202020204" pitchFamily="34" charset="0"/>
            </a:endParaRPr>
          </a:p>
        </p:txBody>
      </p:sp>
      <p:sp>
        <p:nvSpPr>
          <p:cNvPr id="57" name="Oval 56"/>
          <p:cNvSpPr/>
          <p:nvPr/>
        </p:nvSpPr>
        <p:spPr>
          <a:xfrm>
            <a:off x="1924436" y="2279631"/>
            <a:ext cx="1344613" cy="1965325"/>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Arial" panose="020B0604020202020204" pitchFamily="34" charset="0"/>
                <a:cs typeface="Arial" panose="020B0604020202020204" pitchFamily="34" charset="0"/>
              </a:rPr>
              <a:t>NNT SD HĐ ĐT KHÔNG CÓ  MÃ  CỦA CQT</a:t>
            </a:r>
          </a:p>
        </p:txBody>
      </p:sp>
      <p:sp>
        <p:nvSpPr>
          <p:cNvPr id="59" name="Rectangle 58"/>
          <p:cNvSpPr/>
          <p:nvPr/>
        </p:nvSpPr>
        <p:spPr>
          <a:xfrm>
            <a:off x="5072449" y="2184381"/>
            <a:ext cx="2508250" cy="21558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600" dirty="0"/>
          </a:p>
          <a:p>
            <a:pPr>
              <a:defRPr/>
            </a:pPr>
            <a:endParaRPr lang="en-US" sz="1600" dirty="0"/>
          </a:p>
          <a:p>
            <a:pPr>
              <a:defRPr/>
            </a:pPr>
            <a:r>
              <a:rPr lang="en-US" sz="1600" dirty="0"/>
              <a:t>- </a:t>
            </a:r>
            <a:r>
              <a:rPr lang="vi-VN" sz="1600" dirty="0"/>
              <a:t>Lập hóa đơn bán hàng hóa, cung cấp dịch vụ.</a:t>
            </a:r>
          </a:p>
          <a:p>
            <a:pPr>
              <a:defRPr/>
            </a:pPr>
            <a:r>
              <a:rPr lang="vi-VN" sz="1600" dirty="0"/>
              <a:t>- Ký số trên các hóa đơn đã lập </a:t>
            </a:r>
          </a:p>
          <a:p>
            <a:pPr algn="ctr">
              <a:defRPr/>
            </a:pPr>
            <a:endParaRPr lang="en-US" sz="1600" b="1" dirty="0">
              <a:solidFill>
                <a:schemeClr val="tx1"/>
              </a:solidFill>
              <a:latin typeface="Arial" panose="020B0604020202020204" pitchFamily="34" charset="0"/>
              <a:cs typeface="Arial" panose="020B0604020202020204" pitchFamily="34" charset="0"/>
            </a:endParaRPr>
          </a:p>
        </p:txBody>
      </p:sp>
      <p:sp>
        <p:nvSpPr>
          <p:cNvPr id="60" name="TextBox 61"/>
          <p:cNvSpPr txBox="1">
            <a:spLocks noChangeArrowheads="1"/>
          </p:cNvSpPr>
          <p:nvPr/>
        </p:nvSpPr>
        <p:spPr bwMode="auto">
          <a:xfrm>
            <a:off x="5085149" y="2236768"/>
            <a:ext cx="2508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400" b="1">
                <a:solidFill>
                  <a:schemeClr val="tx1"/>
                </a:solidFill>
                <a:latin typeface="Arial" panose="020B0604020202020204" pitchFamily="34" charset="0"/>
                <a:cs typeface="Arial" panose="020B0604020202020204" pitchFamily="34" charset="0"/>
              </a:rPr>
              <a:t>Phần mềm HĐ ĐT của NNT</a:t>
            </a:r>
          </a:p>
        </p:txBody>
      </p:sp>
      <p:sp>
        <p:nvSpPr>
          <p:cNvPr id="61" name="Oval 60"/>
          <p:cNvSpPr/>
          <p:nvPr/>
        </p:nvSpPr>
        <p:spPr>
          <a:xfrm>
            <a:off x="9382511" y="2293918"/>
            <a:ext cx="1346200" cy="196373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Arial" panose="020B0604020202020204" pitchFamily="34" charset="0"/>
                <a:cs typeface="Arial" panose="020B0604020202020204" pitchFamily="34" charset="0"/>
              </a:rPr>
              <a:t>NGƯỜI MUA HÀNG HÓA DỊCH VỤ</a:t>
            </a:r>
          </a:p>
        </p:txBody>
      </p:sp>
      <p:sp>
        <p:nvSpPr>
          <p:cNvPr id="62" name="TextBox 61"/>
          <p:cNvSpPr txBox="1"/>
          <p:nvPr/>
        </p:nvSpPr>
        <p:spPr>
          <a:xfrm>
            <a:off x="7723574" y="3530581"/>
            <a:ext cx="1658937" cy="2168525"/>
          </a:xfrm>
          <a:prstGeom prst="rect">
            <a:avLst/>
          </a:prstGeom>
          <a:noFill/>
        </p:spPr>
        <p:txBody>
          <a:bodyPr>
            <a:spAutoFit/>
          </a:bodyPr>
          <a:lstStyle/>
          <a:p>
            <a:pPr algn="ctr">
              <a:defRPr/>
            </a:pPr>
            <a:r>
              <a:rPr lang="en-US" sz="1500" dirty="0">
                <a:latin typeface="+mn-lt"/>
              </a:rPr>
              <a:t>B</a:t>
            </a:r>
            <a:r>
              <a:rPr lang="vi-VN" sz="1500" dirty="0">
                <a:latin typeface="+mn-lt"/>
              </a:rPr>
              <a:t>ằng phương thức điện tử theo thỏa thuận giữa người bán và người mua, đảm bảo phù hợp với quy định của pháp luật về giao dịch điện tử.</a:t>
            </a:r>
            <a:endParaRPr lang="en-US" sz="1500" dirty="0">
              <a:latin typeface="+mn-lt"/>
            </a:endParaRPr>
          </a:p>
        </p:txBody>
      </p:sp>
      <p:sp>
        <p:nvSpPr>
          <p:cNvPr id="63" name="Notched Right Arrow 62"/>
          <p:cNvSpPr/>
          <p:nvPr/>
        </p:nvSpPr>
        <p:spPr>
          <a:xfrm>
            <a:off x="3545274" y="3151168"/>
            <a:ext cx="1293812" cy="2540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4" name="Notched Right Arrow 63"/>
          <p:cNvSpPr/>
          <p:nvPr/>
        </p:nvSpPr>
        <p:spPr>
          <a:xfrm>
            <a:off x="7814061" y="3135293"/>
            <a:ext cx="1293813" cy="2540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5255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09301" y="150839"/>
            <a:ext cx="9900431" cy="769441"/>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9. </a:t>
            </a:r>
            <a:r>
              <a:rPr lang="vi-VN" sz="2200" b="1" smtClean="0">
                <a:solidFill>
                  <a:schemeClr val="accent1">
                    <a:lumMod val="50000"/>
                  </a:schemeClr>
                </a:solidFill>
                <a:latin typeface="Arial "/>
                <a:cs typeface="Times New Roman" panose="02020603050405020304" pitchFamily="18" charset="0"/>
              </a:rPr>
              <a:t>CHUYỂN DỮ LIỆU HÓA ĐƠN ĐIỆN TỬ KHÔNG CÓ MÃ ĐẾN </a:t>
            </a:r>
            <a:r>
              <a:rPr lang="en-US" sz="2200" b="1" smtClean="0">
                <a:solidFill>
                  <a:schemeClr val="accent1">
                    <a:lumMod val="50000"/>
                  </a:schemeClr>
                </a:solidFill>
                <a:latin typeface="Arial "/>
                <a:cs typeface="Times New Roman" panose="02020603050405020304" pitchFamily="18" charset="0"/>
              </a:rPr>
              <a:t>CQT</a:t>
            </a:r>
          </a:p>
          <a:p>
            <a:pPr algn="ctr"/>
            <a:r>
              <a:rPr lang="en-US" sz="2200" b="1" smtClean="0">
                <a:solidFill>
                  <a:schemeClr val="accent1">
                    <a:lumMod val="50000"/>
                  </a:schemeClr>
                </a:solidFill>
                <a:latin typeface="Arial "/>
                <a:cs typeface="Times New Roman" panose="02020603050405020304" pitchFamily="18" charset="0"/>
              </a:rPr>
              <a:t>(Khoản 3 Điều 22 Nghị định 123/2020/NĐ-CP)</a:t>
            </a:r>
            <a:endParaRPr lang="vi-VN" sz="2200" b="1">
              <a:solidFill>
                <a:schemeClr val="accent1">
                  <a:lumMod val="50000"/>
                </a:schemeClr>
              </a:solidFill>
              <a:latin typeface="Arial "/>
            </a:endParaRPr>
          </a:p>
        </p:txBody>
      </p:sp>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24" name="Rectangle 23"/>
          <p:cNvSpPr/>
          <p:nvPr/>
        </p:nvSpPr>
        <p:spPr>
          <a:xfrm>
            <a:off x="1176338" y="1246188"/>
            <a:ext cx="2651125" cy="94138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chemeClr val="tx1"/>
                </a:solidFill>
              </a:rPr>
              <a:t>NNT </a:t>
            </a:r>
            <a:r>
              <a:rPr lang="en-US" sz="1400" dirty="0" err="1">
                <a:solidFill>
                  <a:schemeClr val="tx1"/>
                </a:solidFill>
              </a:rPr>
              <a:t>cung</a:t>
            </a:r>
            <a:r>
              <a:rPr lang="en-US" sz="1400" dirty="0">
                <a:solidFill>
                  <a:schemeClr val="tx1"/>
                </a:solidFill>
              </a:rPr>
              <a:t> </a:t>
            </a:r>
            <a:r>
              <a:rPr lang="en-US" sz="1400" dirty="0" err="1">
                <a:solidFill>
                  <a:schemeClr val="tx1"/>
                </a:solidFill>
              </a:rPr>
              <a:t>cấp</a:t>
            </a:r>
            <a:r>
              <a:rPr lang="en-US" sz="1400" dirty="0">
                <a:solidFill>
                  <a:schemeClr val="tx1"/>
                </a:solidFill>
              </a:rPr>
              <a:t> HH, DV: </a:t>
            </a:r>
            <a:r>
              <a:rPr lang="vi-VN" sz="1400" dirty="0">
                <a:solidFill>
                  <a:schemeClr val="tx1"/>
                </a:solidFill>
              </a:rPr>
              <a:t>bưu chính viễn thông, bảo hiểm, tài chính ngân hàng, vận tải hàng không, chứng khoán</a:t>
            </a:r>
            <a:endParaRPr lang="en-US" sz="1400" dirty="0">
              <a:solidFill>
                <a:schemeClr val="tx1"/>
              </a:solidFill>
            </a:endParaRPr>
          </a:p>
        </p:txBody>
      </p:sp>
      <p:sp>
        <p:nvSpPr>
          <p:cNvPr id="25" name="Rectangle 24"/>
          <p:cNvSpPr/>
          <p:nvPr/>
        </p:nvSpPr>
        <p:spPr>
          <a:xfrm>
            <a:off x="1176338" y="2470150"/>
            <a:ext cx="2520950" cy="9398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chemeClr val="tx1"/>
                </a:solidFill>
              </a:rPr>
              <a:t>NNT b</a:t>
            </a:r>
            <a:r>
              <a:rPr lang="vi-VN" sz="1400" dirty="0">
                <a:solidFill>
                  <a:schemeClr val="tx1"/>
                </a:solidFill>
              </a:rPr>
              <a:t>án hàng hóa là điện, nước sạch nếu có thông tin về mã khách hàng hoặc mã số thuế của khách hàng</a:t>
            </a:r>
            <a:endParaRPr lang="en-US" sz="1400" dirty="0">
              <a:solidFill>
                <a:schemeClr val="tx1"/>
              </a:solidFill>
            </a:endParaRPr>
          </a:p>
        </p:txBody>
      </p:sp>
      <p:sp>
        <p:nvSpPr>
          <p:cNvPr id="26" name="Rectangle 25"/>
          <p:cNvSpPr/>
          <p:nvPr/>
        </p:nvSpPr>
        <p:spPr>
          <a:xfrm>
            <a:off x="1176338" y="4756150"/>
            <a:ext cx="2520950" cy="9398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solidFill>
                  <a:schemeClr val="tx1"/>
                </a:solidFill>
                <a:latin typeface="Arial" panose="020B0604020202020204" pitchFamily="34" charset="0"/>
                <a:cs typeface="Arial" panose="020B0604020202020204" pitchFamily="34" charset="0"/>
              </a:rPr>
              <a:t>NNT </a:t>
            </a:r>
            <a:r>
              <a:rPr lang="en-US" sz="1400" dirty="0" err="1">
                <a:solidFill>
                  <a:schemeClr val="tx1"/>
                </a:solidFill>
                <a:latin typeface="Arial" panose="020B0604020202020204" pitchFamily="34" charset="0"/>
                <a:cs typeface="Arial" panose="020B0604020202020204" pitchFamily="34" charset="0"/>
              </a:rPr>
              <a:t>thuộc</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các</a:t>
            </a:r>
            <a:r>
              <a:rPr lang="en-US" sz="1400" dirty="0">
                <a:solidFill>
                  <a:schemeClr val="tx1"/>
                </a:solidFill>
                <a:latin typeface="Arial" panose="020B0604020202020204" pitchFamily="34" charset="0"/>
                <a:cs typeface="Arial" panose="020B0604020202020204" pitchFamily="34" charset="0"/>
              </a:rPr>
              <a:t> TH </a:t>
            </a:r>
            <a:r>
              <a:rPr lang="en-US" sz="1400" dirty="0" err="1">
                <a:solidFill>
                  <a:schemeClr val="tx1"/>
                </a:solidFill>
                <a:latin typeface="Arial" panose="020B0604020202020204" pitchFamily="34" charset="0"/>
                <a:cs typeface="Arial" panose="020B0604020202020204" pitchFamily="34" charset="0"/>
              </a:rPr>
              <a:t>còn</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lại</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khác</a:t>
            </a:r>
            <a:r>
              <a:rPr lang="en-US" sz="1400" dirty="0">
                <a:solidFill>
                  <a:schemeClr val="tx1"/>
                </a:solidFill>
                <a:latin typeface="Arial" panose="020B0604020202020204" pitchFamily="34" charset="0"/>
                <a:cs typeface="Arial" panose="020B0604020202020204" pitchFamily="34" charset="0"/>
              </a:rPr>
              <a:t> TH 1, 2</a:t>
            </a:r>
          </a:p>
        </p:txBody>
      </p:sp>
      <p:cxnSp>
        <p:nvCxnSpPr>
          <p:cNvPr id="27" name="Elbow Connector 26"/>
          <p:cNvCxnSpPr>
            <a:stCxn id="24" idx="3"/>
            <a:endCxn id="25" idx="3"/>
          </p:cNvCxnSpPr>
          <p:nvPr/>
        </p:nvCxnSpPr>
        <p:spPr>
          <a:xfrm flipH="1">
            <a:off x="3697288" y="1716882"/>
            <a:ext cx="130175" cy="1223168"/>
          </a:xfrm>
          <a:prstGeom prst="bentConnector3">
            <a:avLst>
              <a:gd name="adj1" fmla="val -175610"/>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376738" y="1331913"/>
            <a:ext cx="914400" cy="2078037"/>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err="1">
                <a:solidFill>
                  <a:schemeClr val="tx1"/>
                </a:solidFill>
                <a:latin typeface="Arial" panose="020B0604020202020204" pitchFamily="34" charset="0"/>
                <a:cs typeface="Arial" panose="020B0604020202020204" pitchFamily="34" charset="0"/>
              </a:rPr>
              <a:t>Bảng</a:t>
            </a:r>
            <a:r>
              <a:rPr lang="en-US" sz="1400" b="1" dirty="0">
                <a:solidFill>
                  <a:schemeClr val="tx1"/>
                </a:solidFill>
                <a:latin typeface="Arial" panose="020B0604020202020204" pitchFamily="34" charset="0"/>
                <a:cs typeface="Arial" panose="020B0604020202020204" pitchFamily="34" charset="0"/>
              </a:rPr>
              <a:t> TH </a:t>
            </a:r>
            <a:r>
              <a:rPr lang="en-US" sz="1400" b="1" dirty="0" err="1">
                <a:solidFill>
                  <a:schemeClr val="tx1"/>
                </a:solidFill>
                <a:latin typeface="Arial" panose="020B0604020202020204" pitchFamily="34" charset="0"/>
                <a:cs typeface="Arial" panose="020B0604020202020204" pitchFamily="34" charset="0"/>
              </a:rPr>
              <a:t>dữ</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liệu</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hóa</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đơn</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mẫu</a:t>
            </a:r>
            <a:r>
              <a:rPr lang="en-US" sz="1400" b="1" dirty="0">
                <a:solidFill>
                  <a:schemeClr val="tx1"/>
                </a:solidFill>
                <a:latin typeface="Arial" panose="020B0604020202020204" pitchFamily="34" charset="0"/>
                <a:cs typeface="Arial" panose="020B0604020202020204" pitchFamily="34" charset="0"/>
              </a:rPr>
              <a:t> 01/TH-HĐĐT</a:t>
            </a:r>
          </a:p>
        </p:txBody>
      </p:sp>
      <p:sp>
        <p:nvSpPr>
          <p:cNvPr id="29" name="Rounded Rectangle 28"/>
          <p:cNvSpPr/>
          <p:nvPr/>
        </p:nvSpPr>
        <p:spPr>
          <a:xfrm>
            <a:off x="10685463" y="1651085"/>
            <a:ext cx="1201737" cy="3849383"/>
          </a:xfrm>
          <a:prstGeom prst="roundRect">
            <a:avLst/>
          </a:prstGeom>
          <a:solidFill>
            <a:srgbClr val="EAA8E1"/>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latin typeface="Arial" panose="020B0604020202020204" pitchFamily="34" charset="0"/>
                <a:cs typeface="Arial" panose="020B0604020202020204" pitchFamily="34" charset="0"/>
              </a:rPr>
              <a:t>CỔNG THÔNG TIN ĐIỆN TỬ CỦA TỔNG CỤC THUẾ</a:t>
            </a:r>
          </a:p>
        </p:txBody>
      </p:sp>
      <p:sp>
        <p:nvSpPr>
          <p:cNvPr id="30" name="TextBox 26"/>
          <p:cNvSpPr txBox="1">
            <a:spLocks noChangeArrowheads="1"/>
          </p:cNvSpPr>
          <p:nvPr/>
        </p:nvSpPr>
        <p:spPr bwMode="auto">
          <a:xfrm>
            <a:off x="6609717" y="1468456"/>
            <a:ext cx="2874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1400">
                <a:solidFill>
                  <a:schemeClr val="tx1"/>
                </a:solidFill>
                <a:latin typeface="Arial" panose="020B0604020202020204" pitchFamily="34" charset="0"/>
                <a:cs typeface="Arial" panose="020B0604020202020204" pitchFamily="34" charset="0"/>
              </a:rPr>
              <a:t>Đáp ứng yêu cầu Khoản 4 Điều 12 Nghị định 123/2020/NĐ-CP</a:t>
            </a:r>
          </a:p>
        </p:txBody>
      </p:sp>
      <p:sp>
        <p:nvSpPr>
          <p:cNvPr id="32" name="Oval 31"/>
          <p:cNvSpPr/>
          <p:nvPr/>
        </p:nvSpPr>
        <p:spPr>
          <a:xfrm>
            <a:off x="7410451" y="2237065"/>
            <a:ext cx="1933575" cy="893763"/>
          </a:xfrm>
          <a:prstGeom prst="ellipse">
            <a:avLst/>
          </a:prstGeom>
          <a:solidFill>
            <a:srgbClr val="79C6FF"/>
          </a:soli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err="1">
                <a:solidFill>
                  <a:schemeClr val="tx1"/>
                </a:solidFill>
                <a:latin typeface="Arial" panose="020B0604020202020204" pitchFamily="34" charset="0"/>
                <a:cs typeface="Arial" panose="020B0604020202020204" pitchFamily="34" charset="0"/>
              </a:rPr>
              <a:t>Tổ</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chức</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cung</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cấp</a:t>
            </a:r>
            <a:r>
              <a:rPr lang="en-US" sz="1400" b="1" dirty="0">
                <a:solidFill>
                  <a:schemeClr val="tx1"/>
                </a:solidFill>
                <a:latin typeface="Arial" panose="020B0604020202020204" pitchFamily="34" charset="0"/>
                <a:cs typeface="Arial" panose="020B0604020202020204" pitchFamily="34" charset="0"/>
              </a:rPr>
              <a:t> DV HĐ ĐT</a:t>
            </a:r>
          </a:p>
        </p:txBody>
      </p:sp>
      <p:sp>
        <p:nvSpPr>
          <p:cNvPr id="33" name="TextBox 45"/>
          <p:cNvSpPr txBox="1">
            <a:spLocks noChangeArrowheads="1"/>
          </p:cNvSpPr>
          <p:nvPr/>
        </p:nvSpPr>
        <p:spPr bwMode="auto">
          <a:xfrm>
            <a:off x="5271293" y="2666275"/>
            <a:ext cx="22463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200">
                <a:solidFill>
                  <a:schemeClr val="tx1"/>
                </a:solidFill>
                <a:latin typeface="Arial" panose="020B0604020202020204" pitchFamily="34" charset="0"/>
                <a:cs typeface="Arial" panose="020B0604020202020204" pitchFamily="34" charset="0"/>
              </a:rPr>
              <a:t>Không đáp ứng Khoản 4 Điều 12 Nghị định 123/2020/NĐ-CP </a:t>
            </a:r>
          </a:p>
        </p:txBody>
      </p:sp>
      <p:sp>
        <p:nvSpPr>
          <p:cNvPr id="34" name="Rectangle 33"/>
          <p:cNvSpPr/>
          <p:nvPr/>
        </p:nvSpPr>
        <p:spPr>
          <a:xfrm>
            <a:off x="4448175" y="4349750"/>
            <a:ext cx="914400" cy="1346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Arial" panose="020B0604020202020204" pitchFamily="34" charset="0"/>
                <a:cs typeface="Arial" panose="020B0604020202020204" pitchFamily="34" charset="0"/>
              </a:rPr>
              <a:t>HĐ </a:t>
            </a:r>
            <a:r>
              <a:rPr lang="en-US" sz="1400" b="1" dirty="0" err="1">
                <a:solidFill>
                  <a:schemeClr val="tx1"/>
                </a:solidFill>
                <a:latin typeface="Arial" panose="020B0604020202020204" pitchFamily="34" charset="0"/>
                <a:cs typeface="Arial" panose="020B0604020202020204" pitchFamily="34" charset="0"/>
              </a:rPr>
              <a:t>điện</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tử</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đã</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lập</a:t>
            </a:r>
            <a:endParaRPr lang="en-US" sz="1400" b="1" dirty="0">
              <a:solidFill>
                <a:schemeClr val="tx1"/>
              </a:solidFill>
              <a:latin typeface="Arial" panose="020B0604020202020204" pitchFamily="34" charset="0"/>
              <a:cs typeface="Arial" panose="020B0604020202020204" pitchFamily="34" charset="0"/>
            </a:endParaRPr>
          </a:p>
        </p:txBody>
      </p:sp>
      <p:sp>
        <p:nvSpPr>
          <p:cNvPr id="35" name="Oval 34"/>
          <p:cNvSpPr/>
          <p:nvPr/>
        </p:nvSpPr>
        <p:spPr>
          <a:xfrm>
            <a:off x="1040376" y="1612814"/>
            <a:ext cx="244475" cy="2667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1</a:t>
            </a:r>
          </a:p>
        </p:txBody>
      </p:sp>
      <p:sp>
        <p:nvSpPr>
          <p:cNvPr id="36" name="Oval 35"/>
          <p:cNvSpPr/>
          <p:nvPr/>
        </p:nvSpPr>
        <p:spPr>
          <a:xfrm>
            <a:off x="1050925" y="2806700"/>
            <a:ext cx="244475" cy="2667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2</a:t>
            </a:r>
          </a:p>
        </p:txBody>
      </p:sp>
      <p:sp>
        <p:nvSpPr>
          <p:cNvPr id="37" name="Oval 36"/>
          <p:cNvSpPr/>
          <p:nvPr/>
        </p:nvSpPr>
        <p:spPr>
          <a:xfrm>
            <a:off x="1071563" y="5092700"/>
            <a:ext cx="244475" cy="2667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3</a:t>
            </a:r>
          </a:p>
        </p:txBody>
      </p:sp>
      <p:sp>
        <p:nvSpPr>
          <p:cNvPr id="39" name="TextBox 61"/>
          <p:cNvSpPr txBox="1">
            <a:spLocks noChangeArrowheads="1"/>
          </p:cNvSpPr>
          <p:nvPr/>
        </p:nvSpPr>
        <p:spPr bwMode="auto">
          <a:xfrm>
            <a:off x="5380476" y="5322094"/>
            <a:ext cx="30178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ts val="600"/>
              </a:spcBef>
              <a:spcAft>
                <a:spcPts val="600"/>
              </a:spcAft>
              <a:buClrTx/>
              <a:buFontTx/>
              <a:buNone/>
            </a:pPr>
            <a:r>
              <a:rPr lang="en-US" altLang="en-US" sz="1400">
                <a:solidFill>
                  <a:schemeClr val="tx1"/>
                </a:solidFill>
                <a:latin typeface="Arial" panose="020B0604020202020204" pitchFamily="34" charset="0"/>
                <a:cs typeface="Arial" panose="020B0604020202020204" pitchFamily="34" charset="0"/>
              </a:rPr>
              <a:t>Đáp ứng yêu cầu Khoản 4 Điều 12 Nghị định 123/2020/NĐ-CP </a:t>
            </a:r>
          </a:p>
        </p:txBody>
      </p:sp>
      <p:cxnSp>
        <p:nvCxnSpPr>
          <p:cNvPr id="40" name="Straight Connector 39"/>
          <p:cNvCxnSpPr>
            <a:stCxn id="34" idx="2"/>
          </p:cNvCxnSpPr>
          <p:nvPr/>
        </p:nvCxnSpPr>
        <p:spPr>
          <a:xfrm>
            <a:off x="4905375" y="5695950"/>
            <a:ext cx="0" cy="452438"/>
          </a:xfrm>
          <a:prstGeom prst="lin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905375" y="6153150"/>
            <a:ext cx="1844675" cy="1587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41"/>
          <p:cNvSpPr/>
          <p:nvPr/>
        </p:nvSpPr>
        <p:spPr>
          <a:xfrm>
            <a:off x="6789738" y="5894388"/>
            <a:ext cx="1776412" cy="50958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vi-VN" sz="1600" b="1" dirty="0">
                <a:solidFill>
                  <a:schemeClr val="tx1"/>
                </a:solidFill>
              </a:rPr>
              <a:t>Ngườ</a:t>
            </a:r>
            <a:r>
              <a:rPr lang="en-US" sz="1600" b="1" dirty="0">
                <a:solidFill>
                  <a:schemeClr val="tx1"/>
                </a:solidFill>
              </a:rPr>
              <a:t>i </a:t>
            </a:r>
            <a:r>
              <a:rPr lang="en-US" sz="1600" b="1" dirty="0" err="1">
                <a:solidFill>
                  <a:schemeClr val="tx1"/>
                </a:solidFill>
              </a:rPr>
              <a:t>mua</a:t>
            </a:r>
            <a:endParaRPr lang="en-US" sz="1600" b="1" dirty="0">
              <a:solidFill>
                <a:schemeClr val="tx1"/>
              </a:solidFill>
            </a:endParaRPr>
          </a:p>
        </p:txBody>
      </p:sp>
      <p:cxnSp>
        <p:nvCxnSpPr>
          <p:cNvPr id="43" name="Straight Arrow Connector 42"/>
          <p:cNvCxnSpPr/>
          <p:nvPr/>
        </p:nvCxnSpPr>
        <p:spPr>
          <a:xfrm>
            <a:off x="4079631" y="2371725"/>
            <a:ext cx="322507"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5291138" y="1962970"/>
            <a:ext cx="5394325" cy="15026"/>
          </a:xfrm>
          <a:prstGeom prst="straightConnector1">
            <a:avLst/>
          </a:prstGeom>
          <a:ln w="285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368925" y="5246804"/>
            <a:ext cx="5316538" cy="2528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9344026" y="2683946"/>
            <a:ext cx="1341437"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7481888" y="4240213"/>
            <a:ext cx="1933575" cy="895350"/>
          </a:xfrm>
          <a:prstGeom prst="ellipse">
            <a:avLst/>
          </a:prstGeom>
          <a:solidFill>
            <a:srgbClr val="79C6FF"/>
          </a:soli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err="1">
                <a:solidFill>
                  <a:schemeClr val="tx1"/>
                </a:solidFill>
                <a:latin typeface="Arial" panose="020B0604020202020204" pitchFamily="34" charset="0"/>
                <a:cs typeface="Arial" panose="020B0604020202020204" pitchFamily="34" charset="0"/>
              </a:rPr>
              <a:t>Tổ</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chức</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cung</a:t>
            </a:r>
            <a:r>
              <a:rPr lang="en-US" sz="1400" b="1" dirty="0">
                <a:solidFill>
                  <a:schemeClr val="tx1"/>
                </a:solidFill>
                <a:latin typeface="Arial" panose="020B0604020202020204" pitchFamily="34" charset="0"/>
                <a:cs typeface="Arial" panose="020B0604020202020204" pitchFamily="34" charset="0"/>
              </a:rPr>
              <a:t> </a:t>
            </a:r>
            <a:r>
              <a:rPr lang="en-US" sz="1400" b="1" dirty="0" err="1">
                <a:solidFill>
                  <a:schemeClr val="tx1"/>
                </a:solidFill>
                <a:latin typeface="Arial" panose="020B0604020202020204" pitchFamily="34" charset="0"/>
                <a:cs typeface="Arial" panose="020B0604020202020204" pitchFamily="34" charset="0"/>
              </a:rPr>
              <a:t>cấp</a:t>
            </a:r>
            <a:r>
              <a:rPr lang="en-US" sz="1400" b="1" dirty="0">
                <a:solidFill>
                  <a:schemeClr val="tx1"/>
                </a:solidFill>
                <a:latin typeface="Arial" panose="020B0604020202020204" pitchFamily="34" charset="0"/>
                <a:cs typeface="Arial" panose="020B0604020202020204" pitchFamily="34" charset="0"/>
              </a:rPr>
              <a:t> DV HĐ ĐT</a:t>
            </a:r>
          </a:p>
        </p:txBody>
      </p:sp>
      <p:cxnSp>
        <p:nvCxnSpPr>
          <p:cNvPr id="52" name="Straight Arrow Connector 51"/>
          <p:cNvCxnSpPr/>
          <p:nvPr/>
        </p:nvCxnSpPr>
        <p:spPr>
          <a:xfrm flipV="1">
            <a:off x="9415463" y="4660131"/>
            <a:ext cx="1270000" cy="27757"/>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3" name="TextBox 36914"/>
          <p:cNvSpPr txBox="1">
            <a:spLocks noChangeArrowheads="1"/>
          </p:cNvSpPr>
          <p:nvPr/>
        </p:nvSpPr>
        <p:spPr bwMode="auto">
          <a:xfrm>
            <a:off x="130175" y="1331913"/>
            <a:ext cx="698500" cy="2292350"/>
          </a:xfrm>
          <a:prstGeom prst="rect">
            <a:avLst/>
          </a:prstGeom>
          <a:noFill/>
          <a:ln>
            <a:noFill/>
          </a:ln>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defRPr/>
            </a:pPr>
            <a:r>
              <a:rPr lang="en-US" altLang="en-US" sz="1300" b="1" smtClean="0">
                <a:solidFill>
                  <a:schemeClr val="tx1"/>
                </a:solidFill>
                <a:latin typeface="Trebuchet MS" panose="020B0603020202020204" pitchFamily="34" charset="0"/>
              </a:rPr>
              <a:t>Mẫu 01/TH-HĐĐT</a:t>
            </a:r>
          </a:p>
          <a:p>
            <a:pPr algn="ctr">
              <a:spcBef>
                <a:spcPct val="0"/>
              </a:spcBef>
              <a:buClrTx/>
              <a:buFontTx/>
              <a:buNone/>
              <a:defRPr/>
            </a:pPr>
            <a:r>
              <a:rPr lang="en-US" altLang="en-US" sz="1300" b="1" smtClean="0">
                <a:solidFill>
                  <a:schemeClr val="tx1"/>
                </a:solidFill>
                <a:latin typeface="Trebuchet MS" panose="020B0603020202020204" pitchFamily="34" charset="0"/>
              </a:rPr>
              <a:t>cùng thời gian gửi  Tờ khai thuế GTGT</a:t>
            </a:r>
          </a:p>
        </p:txBody>
      </p:sp>
      <p:sp>
        <p:nvSpPr>
          <p:cNvPr id="54" name="TextBox 125"/>
          <p:cNvSpPr txBox="1">
            <a:spLocks noChangeArrowheads="1"/>
          </p:cNvSpPr>
          <p:nvPr/>
        </p:nvSpPr>
        <p:spPr bwMode="auto">
          <a:xfrm>
            <a:off x="114300" y="4108450"/>
            <a:ext cx="762000" cy="2092325"/>
          </a:xfrm>
          <a:prstGeom prst="rect">
            <a:avLst/>
          </a:prstGeom>
          <a:noFill/>
          <a:ln>
            <a:noFill/>
          </a:ln>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defRPr/>
            </a:pPr>
            <a:r>
              <a:rPr lang="en-US" altLang="en-US" sz="1300" b="1" smtClean="0">
                <a:solidFill>
                  <a:schemeClr val="tx1"/>
                </a:solidFill>
                <a:latin typeface="Trebuchet MS" panose="020B0603020202020204" pitchFamily="34" charset="0"/>
              </a:rPr>
              <a:t>Chuyền đầy đủ ND hóa đơn trong cùng ngày gửi người mua</a:t>
            </a:r>
          </a:p>
        </p:txBody>
      </p:sp>
      <p:sp>
        <p:nvSpPr>
          <p:cNvPr id="55" name="Left Brace 54"/>
          <p:cNvSpPr/>
          <p:nvPr/>
        </p:nvSpPr>
        <p:spPr>
          <a:xfrm>
            <a:off x="665163" y="1158875"/>
            <a:ext cx="292100" cy="2473325"/>
          </a:xfrm>
          <a:prstGeom prst="leftBrace">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56" name="Left Brace 55"/>
          <p:cNvSpPr/>
          <p:nvPr/>
        </p:nvSpPr>
        <p:spPr>
          <a:xfrm>
            <a:off x="730250" y="4502151"/>
            <a:ext cx="360362" cy="1392238"/>
          </a:xfrm>
          <a:prstGeom prst="leftBrace">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14" name="Straight Arrow Connector 13"/>
          <p:cNvCxnSpPr/>
          <p:nvPr/>
        </p:nvCxnSpPr>
        <p:spPr>
          <a:xfrm>
            <a:off x="5316537" y="2627674"/>
            <a:ext cx="2030684" cy="9782"/>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5379767" y="4725639"/>
            <a:ext cx="2030684" cy="9782"/>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66" name="TextBox 45"/>
          <p:cNvSpPr txBox="1">
            <a:spLocks noChangeArrowheads="1"/>
          </p:cNvSpPr>
          <p:nvPr/>
        </p:nvSpPr>
        <p:spPr bwMode="auto">
          <a:xfrm>
            <a:off x="5342731" y="4198466"/>
            <a:ext cx="22463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en-US" altLang="en-US" sz="1200">
                <a:solidFill>
                  <a:schemeClr val="tx1"/>
                </a:solidFill>
                <a:latin typeface="Arial" panose="020B0604020202020204" pitchFamily="34" charset="0"/>
                <a:cs typeface="Arial" panose="020B0604020202020204" pitchFamily="34" charset="0"/>
              </a:rPr>
              <a:t>Không đáp ứng Khoản 4 Điều 12 Nghị định 123/2020/NĐ-CP </a:t>
            </a:r>
          </a:p>
        </p:txBody>
      </p:sp>
      <p:sp>
        <p:nvSpPr>
          <p:cNvPr id="19" name="Rectangle 18"/>
          <p:cNvSpPr/>
          <p:nvPr/>
        </p:nvSpPr>
        <p:spPr>
          <a:xfrm>
            <a:off x="8062290" y="839763"/>
            <a:ext cx="2685351" cy="369332"/>
          </a:xfrm>
          <a:prstGeom prst="rect">
            <a:avLst/>
          </a:prstGeom>
        </p:spPr>
        <p:txBody>
          <a:bodyPr wrap="none">
            <a:spAutoFit/>
          </a:bodyPr>
          <a:lstStyle/>
          <a:p>
            <a:r>
              <a:rPr lang="vi-VN" altLang="en-US" b="1"/>
              <a:t>hình </a:t>
            </a:r>
            <a:r>
              <a:rPr lang="vi-VN" altLang="en-US" sz="1600" b="1"/>
              <a:t>thức</a:t>
            </a:r>
            <a:r>
              <a:rPr lang="vi-VN" altLang="en-US" b="1"/>
              <a:t> gửi trực tiếp</a:t>
            </a:r>
            <a:endParaRPr lang="en-US"/>
          </a:p>
        </p:txBody>
      </p:sp>
      <p:cxnSp>
        <p:nvCxnSpPr>
          <p:cNvPr id="68" name="Straight Arrow Connector 67"/>
          <p:cNvCxnSpPr/>
          <p:nvPr/>
        </p:nvCxnSpPr>
        <p:spPr>
          <a:xfrm flipV="1">
            <a:off x="7300141" y="1018396"/>
            <a:ext cx="713144" cy="1986"/>
          </a:xfrm>
          <a:prstGeom prst="straightConnector1">
            <a:avLst/>
          </a:prstGeom>
          <a:ln w="285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8069351" y="1107172"/>
            <a:ext cx="3853940" cy="369332"/>
          </a:xfrm>
          <a:prstGeom prst="rect">
            <a:avLst/>
          </a:prstGeom>
        </p:spPr>
        <p:txBody>
          <a:bodyPr wrap="none">
            <a:spAutoFit/>
          </a:bodyPr>
          <a:lstStyle/>
          <a:p>
            <a:r>
              <a:rPr lang="vi-VN" altLang="en-US" b="1"/>
              <a:t>hình thức </a:t>
            </a:r>
            <a:r>
              <a:rPr lang="vi-VN" altLang="en-US" sz="1600" b="1" smtClean="0"/>
              <a:t>gửi</a:t>
            </a:r>
            <a:r>
              <a:rPr lang="en-US" altLang="en-US" b="1" smtClean="0"/>
              <a:t> </a:t>
            </a:r>
            <a:r>
              <a:rPr lang="en-US" altLang="en-US" b="1" smtClean="0">
                <a:latin typeface="Arial (Body)"/>
              </a:rPr>
              <a:t>qua tổ chức CC GP</a:t>
            </a:r>
            <a:endParaRPr lang="en-US">
              <a:latin typeface="Arial (Body)"/>
            </a:endParaRPr>
          </a:p>
        </p:txBody>
      </p:sp>
      <p:cxnSp>
        <p:nvCxnSpPr>
          <p:cNvPr id="70" name="Straight Arrow Connector 69"/>
          <p:cNvCxnSpPr/>
          <p:nvPr/>
        </p:nvCxnSpPr>
        <p:spPr>
          <a:xfrm flipV="1">
            <a:off x="7300141" y="1285805"/>
            <a:ext cx="663933" cy="23551"/>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3706837" y="5245955"/>
            <a:ext cx="745588"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57" name="Oval 56"/>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0181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47" name="TextBox 46"/>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9. </a:t>
            </a:r>
            <a:r>
              <a:rPr lang="vi-VN" sz="2200" b="1" smtClean="0">
                <a:solidFill>
                  <a:schemeClr val="accent1">
                    <a:lumMod val="50000"/>
                  </a:schemeClr>
                </a:solidFill>
                <a:latin typeface="Arial "/>
                <a:cs typeface="Times New Roman" panose="02020603050405020304" pitchFamily="18" charset="0"/>
              </a:rPr>
              <a:t>CHUYỂN DỮ LIỆU HÓA ĐƠN ĐIỆN TỬ KHÔNG CÓ MÃ ĐẾN </a:t>
            </a:r>
            <a:r>
              <a:rPr lang="en-US" sz="2200" b="1" smtClean="0">
                <a:solidFill>
                  <a:schemeClr val="accent1">
                    <a:lumMod val="50000"/>
                  </a:schemeClr>
                </a:solidFill>
                <a:latin typeface="Arial "/>
                <a:cs typeface="Times New Roman" panose="02020603050405020304" pitchFamily="18" charset="0"/>
              </a:rPr>
              <a:t>CQT</a:t>
            </a:r>
            <a:endParaRPr lang="vi-VN" sz="2200" b="1">
              <a:solidFill>
                <a:schemeClr val="accent1">
                  <a:lumMod val="50000"/>
                </a:schemeClr>
              </a:solidFill>
              <a:latin typeface="Arial "/>
            </a:endParaRPr>
          </a:p>
        </p:txBody>
      </p:sp>
      <p:sp>
        <p:nvSpPr>
          <p:cNvPr id="48" name="Content Placeholder 2"/>
          <p:cNvSpPr txBox="1">
            <a:spLocks/>
          </p:cNvSpPr>
          <p:nvPr/>
        </p:nvSpPr>
        <p:spPr>
          <a:xfrm>
            <a:off x="674747" y="1106945"/>
            <a:ext cx="4860925" cy="59436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vi-VN" altLang="en-US" sz="1600" b="1" smtClean="0">
                <a:latin typeface="Arial (Body)"/>
              </a:rPr>
              <a:t>Phương thức chuyển dữ liệu hóa đơn điện tử theo </a:t>
            </a:r>
            <a:r>
              <a:rPr lang="en-US" altLang="en-US" sz="1600" b="1" smtClean="0">
                <a:latin typeface="Arial (Body)"/>
              </a:rPr>
              <a:t>Bảng tổng hợp dữ liệu hóa đơn điện tử theo Mẫu số 01/TH-HĐĐT đối với một số TH đặc thù:</a:t>
            </a:r>
          </a:p>
          <a:p>
            <a:pPr algn="just"/>
            <a:r>
              <a:rPr lang="vi-VN" altLang="en-US" sz="1400" smtClean="0"/>
              <a:t>Trường hợp phát sinh số lượng hóa đơn lớn thì bảng tổng hợp sẽ được tách theo định dạng chuẩn dữ liệu của cơ quan thuế nhằm đảm bảo yêu cầu gửi nhận dữ liệu trên đường truyền. </a:t>
            </a:r>
          </a:p>
          <a:p>
            <a:pPr algn="just"/>
            <a:r>
              <a:rPr lang="vi-VN" altLang="en-US" sz="1400" smtClean="0"/>
              <a:t>Đối với hóa đơn gửi theo bảng tổng hợp thì người bán gửi thông tin hủy, điều chỉnh trực tiếp trên bảng tổng hợp của các kỳ tiếp theo mà không gửi thông báo hóa đơn điện tử có sai sót theo Mẫu số 04/SS-HĐĐT Phụ lục IA Nghị định này đến cơ quan thuế.</a:t>
            </a:r>
          </a:p>
          <a:p>
            <a:pPr algn="just"/>
            <a:r>
              <a:rPr lang="vi-VN" altLang="en-US" sz="1400" smtClean="0"/>
              <a:t>Các hóa đơn được lập cho tổng doanh thu của người mua là cá nhân không kinh doanh phát sinh trong ngày hoặc tháng theo bảng kê chi tiết thì người bán chỉ gửi dữ liệu hóa đơn điện tử (không kèm bảng kê chi tiết) đến cơ quan thuế.</a:t>
            </a:r>
          </a:p>
          <a:p>
            <a:pPr algn="just"/>
            <a:r>
              <a:rPr lang="vi-VN" altLang="en-US" sz="1400" smtClean="0"/>
              <a:t>Riêng đối với trường hợp bán xăng dầu cho khách hàng thì người bán tổng hợp dữ liệu tất cả các hóa đơn bán xăng dầu trong ngày theo từng mặt hàng để thể hiện trên bảng tổng hợp dữ liệu hóa đơn điện tử và chuyển bảng tổng hợp dữ liệu hóa đơn điện tử này ngay trong ngày</a:t>
            </a:r>
            <a:r>
              <a:rPr lang="en-US" altLang="en-US" sz="1600" smtClean="0"/>
              <a:t>.</a:t>
            </a:r>
            <a:endParaRPr lang="en-US" altLang="en-US"/>
          </a:p>
        </p:txBody>
      </p:sp>
      <p:sp>
        <p:nvSpPr>
          <p:cNvPr id="49" name="Content Placeholder 2"/>
          <p:cNvSpPr txBox="1">
            <a:spLocks/>
          </p:cNvSpPr>
          <p:nvPr/>
        </p:nvSpPr>
        <p:spPr bwMode="auto">
          <a:xfrm>
            <a:off x="5808722" y="1106945"/>
            <a:ext cx="5957887" cy="577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defTabSz="45720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defTabSz="4572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defTabSz="4572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defTabSz="4572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marL="0" indent="0" algn="just">
              <a:buSzPct val="80000"/>
              <a:buNone/>
            </a:pPr>
            <a:r>
              <a:rPr lang="vi-VN" altLang="en-US" sz="1600" b="1">
                <a:latin typeface="Arial" panose="020B0604020202020204" pitchFamily="34" charset="0"/>
              </a:rPr>
              <a:t>Đối với hình thức gửi trực tiếp</a:t>
            </a:r>
            <a:r>
              <a:rPr lang="en-US" altLang="en-US" sz="1600" b="1" smtClean="0">
                <a:latin typeface="Trebuchet MS" panose="020B0603020202020204" pitchFamily="34" charset="0"/>
              </a:rPr>
              <a:t>:</a:t>
            </a:r>
            <a:r>
              <a:rPr lang="vi-VN" altLang="en-US" sz="1400" smtClean="0">
                <a:latin typeface="Arial" panose="020B0604020202020204" pitchFamily="34" charset="0"/>
              </a:rPr>
              <a:t>Tại </a:t>
            </a:r>
            <a:r>
              <a:rPr lang="vi-VN" altLang="en-US" sz="1400">
                <a:latin typeface="Arial" panose="020B0604020202020204" pitchFamily="34" charset="0"/>
              </a:rPr>
              <a:t>Khoản 4 Điều 12 Nghị định 123/2020/NĐ-CP của chính phủ hướng dẫn các tổ chức, doanh nghiệp bán hàng hóa, cung cấp dịch vụ khi chuyển dữ liệu hóa đơn điện tử đến cơ quan thuế bằng hình thức gửi trực tiếp phải đáp ứng yêu cầu </a:t>
            </a:r>
            <a:r>
              <a:rPr lang="vi-VN" altLang="en-US" sz="1400" smtClean="0">
                <a:latin typeface="Arial" panose="020B0604020202020204" pitchFamily="34" charset="0"/>
              </a:rPr>
              <a:t>sau:</a:t>
            </a:r>
            <a:endParaRPr lang="en-US" altLang="en-US" sz="1400" smtClean="0">
              <a:latin typeface="Arial" panose="020B0604020202020204" pitchFamily="34" charset="0"/>
            </a:endParaRPr>
          </a:p>
          <a:p>
            <a:pPr marL="0" indent="0" algn="just">
              <a:buSzPct val="80000"/>
              <a:buNone/>
            </a:pPr>
            <a:r>
              <a:rPr lang="vi-VN" altLang="en-US" sz="1400" smtClean="0">
                <a:latin typeface="Arial" panose="020B0604020202020204" pitchFamily="34" charset="0"/>
              </a:rPr>
              <a:t>a) Kết </a:t>
            </a:r>
            <a:r>
              <a:rPr lang="vi-VN" altLang="en-US" sz="1400">
                <a:latin typeface="Arial" panose="020B0604020202020204" pitchFamily="34" charset="0"/>
              </a:rPr>
              <a:t>nối với Tổng cục Thuế thông qua kênh thuê riêng hoặc kênh MPLS VPN Layer 3, gồm 1 kênh truyền chính và 1 kênh truyền dự phòng. Mỗi kênh truyền có băng thông tối thiểu 5 </a:t>
            </a:r>
            <a:r>
              <a:rPr lang="vi-VN" altLang="en-US" sz="1400" smtClean="0">
                <a:latin typeface="Arial" panose="020B0604020202020204" pitchFamily="34" charset="0"/>
              </a:rPr>
              <a:t>Mbps.</a:t>
            </a:r>
            <a:endParaRPr lang="en-US" altLang="en-US" sz="1400" smtClean="0">
              <a:latin typeface="Arial" panose="020B0604020202020204" pitchFamily="34" charset="0"/>
            </a:endParaRPr>
          </a:p>
          <a:p>
            <a:pPr marL="0" indent="0" algn="just">
              <a:buSzPct val="80000"/>
              <a:buNone/>
            </a:pPr>
            <a:r>
              <a:rPr lang="vi-VN" altLang="en-US" sz="1400" smtClean="0">
                <a:latin typeface="Arial" panose="020B0604020202020204" pitchFamily="34" charset="0"/>
              </a:rPr>
              <a:t>b</a:t>
            </a:r>
            <a:r>
              <a:rPr lang="vi-VN" altLang="en-US" sz="1400">
                <a:latin typeface="Arial" panose="020B0604020202020204" pitchFamily="34" charset="0"/>
              </a:rPr>
              <a:t>) Sử dụng dịch vụ Web (Web Service) hoặc Message Queue (MQ) có mã hóa làm phương thức để kết nối.</a:t>
            </a:r>
          </a:p>
          <a:p>
            <a:pPr marL="0" indent="0" algn="just">
              <a:buSzPct val="80000"/>
              <a:buNone/>
            </a:pPr>
            <a:r>
              <a:rPr lang="vi-VN" altLang="en-US" sz="1400" smtClean="0">
                <a:latin typeface="Arial" panose="020B0604020202020204" pitchFamily="34" charset="0"/>
              </a:rPr>
              <a:t>c) </a:t>
            </a:r>
            <a:r>
              <a:rPr lang="vi-VN" altLang="en-US" sz="1400">
                <a:latin typeface="Arial" panose="020B0604020202020204" pitchFamily="34" charset="0"/>
              </a:rPr>
              <a:t>Sử dụng giao thức SOAP để đóng gói và truyền nhận dữ liệu.</a:t>
            </a:r>
          </a:p>
          <a:p>
            <a:pPr marL="0" indent="0" algn="just">
              <a:buSzPct val="80000"/>
              <a:buNone/>
            </a:pPr>
            <a:r>
              <a:rPr lang="vi-VN" altLang="en-US" sz="1400" smtClean="0">
                <a:latin typeface="Arial" panose="020B0604020202020204" pitchFamily="34" charset="0"/>
              </a:rPr>
              <a:t>- </a:t>
            </a:r>
            <a:r>
              <a:rPr lang="vi-VN" altLang="en-US" sz="1400">
                <a:latin typeface="Arial" panose="020B0604020202020204" pitchFamily="34" charset="0"/>
              </a:rPr>
              <a:t>Doanh nghiệp, tổ chức kinh tế sử dụng hóa đơn số lượng lớn, có hệ thống công nghệ thông tin đáp ứng yêu cầu về định dạng chuẩn dữ liệu và quy định tại khoản 4 Điều 12 Nghị định 123 NĐ-CP, có nhu cầu chuyển dữ liệu hóa đơn điện tử theo hình thức gửi trực tiếp đến cơ quan thuế gửi văn bản kèm theo tài liệu chứng minh điều kiện đáp ứng đến Tổng cục Thuế.</a:t>
            </a:r>
          </a:p>
          <a:p>
            <a:pPr marL="0" indent="0" algn="just">
              <a:buSzPct val="80000"/>
              <a:buNone/>
            </a:pPr>
            <a:r>
              <a:rPr lang="vi-VN" altLang="en-US" sz="1400">
                <a:latin typeface="Arial" panose="020B0604020202020204" pitchFamily="34" charset="0"/>
              </a:rPr>
              <a:t>- Doanh nghiệp, tổ chức kinh tế có tổ chức mô hình </a:t>
            </a:r>
            <a:r>
              <a:rPr lang="vi-VN" altLang="en-US" sz="1400" b="1">
                <a:latin typeface="Arial" panose="020B0604020202020204" pitchFamily="34" charset="0"/>
              </a:rPr>
              <a:t>Công ty mẹ - con</a:t>
            </a:r>
            <a:r>
              <a:rPr lang="vi-VN" altLang="en-US" sz="1400">
                <a:latin typeface="Arial" panose="020B0604020202020204" pitchFamily="34" charset="0"/>
              </a:rPr>
              <a:t>, có xây dựng hệ thống quản lý dữ liệu hóa đơn tập trung tại Công ty mẹ và có nhu cầu Công ty mẹ chuyển toàn bộ dữ liệu hóa đơn điện tử bao gồm cả dữ liệu của các công ty con đến cơ quan thuế qua Cổng thông tin điện tử của Tổng cục Thuế thì gửi kèm theo danh sách công ty con đến Tổng cục Thuế để thực hiện kết nối kỹ thuật.</a:t>
            </a:r>
          </a:p>
          <a:p>
            <a:pPr algn="just">
              <a:buSzPct val="80000"/>
              <a:buFont typeface="Wingdings 3" panose="05040102010807070707" pitchFamily="18" charset="2"/>
              <a:buChar char=""/>
            </a:pPr>
            <a:endParaRPr lang="vi-VN" altLang="en-US" sz="1600">
              <a:latin typeface="Arial" panose="020B0604020202020204" pitchFamily="34" charset="0"/>
            </a:endParaRPr>
          </a:p>
          <a:p>
            <a:pPr algn="just">
              <a:buSzPct val="80000"/>
              <a:buFont typeface="Wingdings 3" panose="05040102010807070707" pitchFamily="18" charset="2"/>
              <a:buChar char=""/>
            </a:pPr>
            <a:endParaRPr lang="en-US" altLang="en-US">
              <a:latin typeface="Trebuchet MS" panose="020B0603020202020204" pitchFamily="34" charset="0"/>
            </a:endParaRPr>
          </a:p>
        </p:txBody>
      </p:sp>
      <p:sp>
        <p:nvSpPr>
          <p:cNvPr id="18" name="Oval 17"/>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0860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47" name="TextBox 46"/>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10. </a:t>
            </a:r>
            <a:r>
              <a:rPr lang="vi-VN" sz="2200" b="1" smtClean="0">
                <a:solidFill>
                  <a:schemeClr val="accent1">
                    <a:lumMod val="50000"/>
                  </a:schemeClr>
                </a:solidFill>
                <a:latin typeface="Arial "/>
                <a:cs typeface="Times New Roman" panose="02020603050405020304" pitchFamily="18" charset="0"/>
              </a:rPr>
              <a:t>XỬ LÝ SỰ CỐ KHI SỬ DỤNG HÓA ĐƠN ĐIỆN TỬ CÓ MÃ CỦA</a:t>
            </a:r>
            <a:r>
              <a:rPr lang="en-US" sz="2200" b="1" smtClean="0">
                <a:solidFill>
                  <a:schemeClr val="accent1">
                    <a:lumMod val="50000"/>
                  </a:schemeClr>
                </a:solidFill>
                <a:latin typeface="Arial "/>
                <a:cs typeface="Times New Roman" panose="02020603050405020304" pitchFamily="18" charset="0"/>
              </a:rPr>
              <a:t> CQT</a:t>
            </a:r>
            <a:endParaRPr lang="vi-VN" sz="2200" b="1">
              <a:solidFill>
                <a:schemeClr val="accent1">
                  <a:lumMod val="50000"/>
                </a:schemeClr>
              </a:solidFill>
              <a:latin typeface="Arial "/>
            </a:endParaRPr>
          </a:p>
        </p:txBody>
      </p:sp>
      <p:sp>
        <p:nvSpPr>
          <p:cNvPr id="3" name="TextBox 2"/>
          <p:cNvSpPr txBox="1"/>
          <p:nvPr/>
        </p:nvSpPr>
        <p:spPr>
          <a:xfrm>
            <a:off x="247189" y="1336431"/>
            <a:ext cx="2453807" cy="5078313"/>
          </a:xfrm>
          <a:prstGeom prst="rect">
            <a:avLst/>
          </a:prstGeom>
          <a:noFill/>
        </p:spPr>
        <p:txBody>
          <a:bodyPr wrap="square" rtlCol="0">
            <a:spAutoFit/>
          </a:bodyPr>
          <a:lstStyle/>
          <a:p>
            <a:pPr algn="just">
              <a:buFont typeface="Wingdings 3" charset="2"/>
              <a:buChar char=""/>
              <a:defRPr/>
            </a:pPr>
            <a:r>
              <a:rPr lang="vi-VN" b="1" i="1" smtClean="0">
                <a:solidFill>
                  <a:srgbClr val="FF0000"/>
                </a:solidFill>
                <a:latin typeface="Arial (Body)"/>
              </a:rPr>
              <a:t>Trường </a:t>
            </a:r>
            <a:r>
              <a:rPr lang="vi-VN" b="1" i="1">
                <a:solidFill>
                  <a:srgbClr val="FF0000"/>
                </a:solidFill>
                <a:latin typeface="Arial (Body)"/>
              </a:rPr>
              <a:t>hợp người bán gặp sự cố dẫn đến không sử dụng được </a:t>
            </a:r>
            <a:r>
              <a:rPr lang="en-US" b="1" i="1">
                <a:solidFill>
                  <a:srgbClr val="FF0000"/>
                </a:solidFill>
                <a:latin typeface="Arial (Body)"/>
              </a:rPr>
              <a:t>HĐ ĐT </a:t>
            </a:r>
            <a:r>
              <a:rPr lang="vi-VN" b="1" i="1">
                <a:solidFill>
                  <a:srgbClr val="FF0000"/>
                </a:solidFill>
                <a:latin typeface="Arial (Body)"/>
              </a:rPr>
              <a:t>có mã của </a:t>
            </a:r>
            <a:r>
              <a:rPr lang="en-US" b="1" i="1">
                <a:solidFill>
                  <a:srgbClr val="FF0000"/>
                </a:solidFill>
                <a:latin typeface="Arial (Body)"/>
              </a:rPr>
              <a:t>CQT</a:t>
            </a:r>
            <a:endParaRPr lang="en-US">
              <a:solidFill>
                <a:srgbClr val="FF0000"/>
              </a:solidFill>
              <a:latin typeface="Arial (Body)"/>
            </a:endParaRPr>
          </a:p>
          <a:p>
            <a:pPr algn="just">
              <a:buFont typeface="Wingdings 3" panose="05040102010807070707" pitchFamily="18" charset="2"/>
              <a:buNone/>
              <a:defRPr/>
            </a:pPr>
            <a:r>
              <a:rPr lang="en-US" smtClean="0">
                <a:solidFill>
                  <a:schemeClr val="tx1">
                    <a:lumMod val="75000"/>
                    <a:lumOff val="25000"/>
                  </a:schemeClr>
                </a:solidFill>
                <a:latin typeface="Arial (Body)"/>
              </a:rPr>
              <a:t>L</a:t>
            </a:r>
            <a:r>
              <a:rPr lang="vi-VN" smtClean="0">
                <a:solidFill>
                  <a:schemeClr val="tx1">
                    <a:lumMod val="75000"/>
                    <a:lumOff val="25000"/>
                  </a:schemeClr>
                </a:solidFill>
                <a:latin typeface="Arial (Body)"/>
              </a:rPr>
              <a:t>iên </a:t>
            </a:r>
            <a:r>
              <a:rPr lang="vi-VN">
                <a:solidFill>
                  <a:schemeClr val="tx1">
                    <a:lumMod val="75000"/>
                    <a:lumOff val="25000"/>
                  </a:schemeClr>
                </a:solidFill>
                <a:latin typeface="Arial (Body)"/>
              </a:rPr>
              <a:t>hệ với </a:t>
            </a:r>
            <a:r>
              <a:rPr lang="en-US">
                <a:solidFill>
                  <a:schemeClr val="tx1">
                    <a:lumMod val="75000"/>
                    <a:lumOff val="25000"/>
                  </a:schemeClr>
                </a:solidFill>
                <a:latin typeface="Arial (Body)"/>
              </a:rPr>
              <a:t>CQT </a:t>
            </a:r>
            <a:r>
              <a:rPr lang="vi-VN">
                <a:solidFill>
                  <a:schemeClr val="tx1">
                    <a:lumMod val="75000"/>
                    <a:lumOff val="25000"/>
                  </a:schemeClr>
                </a:solidFill>
                <a:latin typeface="Arial (Body)"/>
              </a:rPr>
              <a:t>hoặc tổ chức cung cấp dịch vụ để hỗ trợ xử lý sự cố. </a:t>
            </a:r>
            <a:endParaRPr lang="en-US" smtClean="0">
              <a:solidFill>
                <a:schemeClr val="tx1">
                  <a:lumMod val="75000"/>
                  <a:lumOff val="25000"/>
                </a:schemeClr>
              </a:solidFill>
              <a:latin typeface="Arial (Body)"/>
            </a:endParaRPr>
          </a:p>
          <a:p>
            <a:pPr algn="just">
              <a:buFont typeface="Wingdings 3" panose="05040102010807070707" pitchFamily="18" charset="2"/>
              <a:buNone/>
              <a:defRPr/>
            </a:pPr>
            <a:r>
              <a:rPr lang="vi-VN" smtClean="0">
                <a:solidFill>
                  <a:schemeClr val="tx1">
                    <a:lumMod val="75000"/>
                    <a:lumOff val="25000"/>
                  </a:schemeClr>
                </a:solidFill>
                <a:latin typeface="Arial (Body)"/>
              </a:rPr>
              <a:t>Trong </a:t>
            </a:r>
            <a:r>
              <a:rPr lang="vi-VN">
                <a:solidFill>
                  <a:schemeClr val="tx1">
                    <a:lumMod val="75000"/>
                    <a:lumOff val="25000"/>
                  </a:schemeClr>
                </a:solidFill>
                <a:latin typeface="Arial (Body)"/>
              </a:rPr>
              <a:t>thời gian xử lý sự cố </a:t>
            </a:r>
            <a:r>
              <a:rPr lang="en-US" smtClean="0">
                <a:solidFill>
                  <a:schemeClr val="tx1">
                    <a:lumMod val="75000"/>
                    <a:lumOff val="25000"/>
                  </a:schemeClr>
                </a:solidFill>
                <a:latin typeface="Arial (Body)"/>
                <a:sym typeface="Wingdings" panose="05000000000000000000" pitchFamily="2" charset="2"/>
              </a:rPr>
              <a:t> S</a:t>
            </a:r>
            <a:r>
              <a:rPr lang="vi-VN" smtClean="0">
                <a:solidFill>
                  <a:schemeClr val="tx1">
                    <a:lumMod val="75000"/>
                    <a:lumOff val="25000"/>
                  </a:schemeClr>
                </a:solidFill>
                <a:latin typeface="Arial (Body)"/>
              </a:rPr>
              <a:t>ử </a:t>
            </a:r>
            <a:r>
              <a:rPr lang="vi-VN">
                <a:solidFill>
                  <a:schemeClr val="tx1">
                    <a:lumMod val="75000"/>
                    <a:lumOff val="25000"/>
                  </a:schemeClr>
                </a:solidFill>
                <a:latin typeface="Arial (Body)"/>
              </a:rPr>
              <a:t>dụng HĐ ĐT có mã của CQT</a:t>
            </a:r>
            <a:r>
              <a:rPr lang="en-US">
                <a:solidFill>
                  <a:schemeClr val="tx1">
                    <a:lumMod val="75000"/>
                    <a:lumOff val="25000"/>
                  </a:schemeClr>
                </a:solidFill>
                <a:latin typeface="Arial (Body)"/>
              </a:rPr>
              <a:t> </a:t>
            </a:r>
            <a:r>
              <a:rPr lang="vi-VN">
                <a:solidFill>
                  <a:schemeClr val="tx1">
                    <a:lumMod val="75000"/>
                    <a:lumOff val="25000"/>
                  </a:schemeClr>
                </a:solidFill>
                <a:latin typeface="Arial (Body)"/>
              </a:rPr>
              <a:t>thì đến </a:t>
            </a:r>
            <a:r>
              <a:rPr lang="en-US">
                <a:solidFill>
                  <a:schemeClr val="tx1">
                    <a:lumMod val="75000"/>
                    <a:lumOff val="25000"/>
                  </a:schemeClr>
                </a:solidFill>
                <a:latin typeface="Arial (Body)"/>
              </a:rPr>
              <a:t>CQT</a:t>
            </a:r>
            <a:r>
              <a:rPr lang="vi-VN">
                <a:solidFill>
                  <a:schemeClr val="tx1">
                    <a:lumMod val="75000"/>
                    <a:lumOff val="25000"/>
                  </a:schemeClr>
                </a:solidFill>
                <a:latin typeface="Arial (Body)"/>
              </a:rPr>
              <a:t> để sử dụng HĐ ĐT có mã của CQT.</a:t>
            </a:r>
            <a:r>
              <a:rPr lang="en-US">
                <a:solidFill>
                  <a:schemeClr val="tx1">
                    <a:lumMod val="75000"/>
                    <a:lumOff val="25000"/>
                  </a:schemeClr>
                </a:solidFill>
                <a:latin typeface="Arial (Body)"/>
              </a:rPr>
              <a:t> </a:t>
            </a:r>
            <a:endParaRPr lang="en-US" smtClean="0">
              <a:solidFill>
                <a:schemeClr val="tx1">
                  <a:lumMod val="75000"/>
                  <a:lumOff val="25000"/>
                </a:schemeClr>
              </a:solidFill>
              <a:latin typeface="Arial (Body)"/>
            </a:endParaRPr>
          </a:p>
          <a:p>
            <a:pPr algn="just">
              <a:buFont typeface="Wingdings 3" panose="05040102010807070707" pitchFamily="18" charset="2"/>
              <a:buNone/>
              <a:defRPr/>
            </a:pPr>
            <a:r>
              <a:rPr lang="vi-VN" i="1" smtClean="0">
                <a:solidFill>
                  <a:schemeClr val="tx1">
                    <a:lumMod val="75000"/>
                    <a:lumOff val="25000"/>
                  </a:schemeClr>
                </a:solidFill>
                <a:latin typeface="Arial (Body)"/>
              </a:rPr>
              <a:t>(</a:t>
            </a:r>
            <a:r>
              <a:rPr lang="vi-VN" i="1">
                <a:solidFill>
                  <a:schemeClr val="tx1">
                    <a:lumMod val="75000"/>
                    <a:lumOff val="25000"/>
                  </a:schemeClr>
                </a:solidFill>
                <a:latin typeface="Arial (Body)"/>
              </a:rPr>
              <a:t>Khoản 1 Điều 20 Nghị định số 123/2020/NĐ-CP)</a:t>
            </a:r>
            <a:endParaRPr lang="en-US">
              <a:solidFill>
                <a:schemeClr val="tx1">
                  <a:lumMod val="75000"/>
                  <a:lumOff val="25000"/>
                </a:schemeClr>
              </a:solidFill>
              <a:latin typeface="Arial (Body)"/>
            </a:endParaRPr>
          </a:p>
        </p:txBody>
      </p:sp>
      <p:sp>
        <p:nvSpPr>
          <p:cNvPr id="19" name="TextBox 18"/>
          <p:cNvSpPr txBox="1"/>
          <p:nvPr/>
        </p:nvSpPr>
        <p:spPr>
          <a:xfrm>
            <a:off x="2995809" y="1315956"/>
            <a:ext cx="5815988" cy="5078313"/>
          </a:xfrm>
          <a:prstGeom prst="rect">
            <a:avLst/>
          </a:prstGeom>
          <a:noFill/>
        </p:spPr>
        <p:txBody>
          <a:bodyPr wrap="square" rtlCol="0">
            <a:spAutoFit/>
          </a:bodyPr>
          <a:lstStyle/>
          <a:p>
            <a:pPr>
              <a:buFont typeface="Wingdings 3" charset="2"/>
              <a:buChar char=""/>
              <a:defRPr/>
            </a:pPr>
            <a:r>
              <a:rPr lang="en-US" b="1" i="1" smtClean="0">
                <a:solidFill>
                  <a:srgbClr val="FF0000"/>
                </a:solidFill>
                <a:latin typeface="Arial (Body)"/>
              </a:rPr>
              <a:t>Trường </a:t>
            </a:r>
            <a:r>
              <a:rPr lang="en-US" b="1" i="1">
                <a:solidFill>
                  <a:srgbClr val="FF0000"/>
                </a:solidFill>
                <a:latin typeface="Arial (Body)"/>
              </a:rPr>
              <a:t>hợp hệ thống cấp mã của CQT gặp sự cố</a:t>
            </a:r>
            <a:endParaRPr lang="en-US">
              <a:solidFill>
                <a:srgbClr val="FF0000"/>
              </a:solidFill>
              <a:latin typeface="Arial (Body)"/>
            </a:endParaRPr>
          </a:p>
          <a:p>
            <a:pPr algn="just">
              <a:buFont typeface="Wingdings 3" panose="05040102010807070707" pitchFamily="18" charset="2"/>
              <a:buNone/>
              <a:defRPr/>
            </a:pPr>
            <a:r>
              <a:rPr lang="en-US" smtClean="0">
                <a:solidFill>
                  <a:schemeClr val="tx1">
                    <a:lumMod val="75000"/>
                    <a:lumOff val="25000"/>
                  </a:schemeClr>
                </a:solidFill>
                <a:latin typeface="Arial (Body)"/>
              </a:rPr>
              <a:t>Tổng </a:t>
            </a:r>
            <a:r>
              <a:rPr lang="en-US">
                <a:solidFill>
                  <a:schemeClr val="tx1">
                    <a:lumMod val="75000"/>
                    <a:lumOff val="25000"/>
                  </a:schemeClr>
                </a:solidFill>
                <a:latin typeface="Arial (Body)"/>
              </a:rPr>
              <a:t>cục Thuế thực hiện </a:t>
            </a:r>
            <a:r>
              <a:rPr lang="en-US" smtClean="0">
                <a:solidFill>
                  <a:schemeClr val="tx1">
                    <a:lumMod val="75000"/>
                    <a:lumOff val="25000"/>
                  </a:schemeClr>
                </a:solidFill>
                <a:latin typeface="Arial (Body)"/>
              </a:rPr>
              <a:t>chuyển </a:t>
            </a:r>
            <a:r>
              <a:rPr lang="en-US">
                <a:solidFill>
                  <a:schemeClr val="tx1">
                    <a:lumMod val="75000"/>
                    <a:lumOff val="25000"/>
                  </a:schemeClr>
                </a:solidFill>
                <a:latin typeface="Arial (Body)"/>
              </a:rPr>
              <a:t>sang hệ thống dự phòng và có trách nhiệm thông báo trên Cổng thông tin điện tử của Tổng cục </a:t>
            </a:r>
            <a:r>
              <a:rPr lang="en-US" smtClean="0">
                <a:solidFill>
                  <a:schemeClr val="tx1">
                    <a:lumMod val="75000"/>
                    <a:lumOff val="25000"/>
                  </a:schemeClr>
                </a:solidFill>
                <a:latin typeface="Arial (Body)"/>
              </a:rPr>
              <a:t>Thuế.</a:t>
            </a:r>
          </a:p>
          <a:p>
            <a:pPr algn="just">
              <a:buFont typeface="Wingdings 3" panose="05040102010807070707" pitchFamily="18" charset="2"/>
              <a:buNone/>
              <a:defRPr/>
            </a:pPr>
            <a:r>
              <a:rPr lang="en-US" smtClean="0">
                <a:solidFill>
                  <a:schemeClr val="tx1">
                    <a:lumMod val="75000"/>
                    <a:lumOff val="25000"/>
                  </a:schemeClr>
                </a:solidFill>
                <a:latin typeface="Arial (Body)"/>
              </a:rPr>
              <a:t>Tổng </a:t>
            </a:r>
            <a:r>
              <a:rPr lang="en-US">
                <a:solidFill>
                  <a:schemeClr val="tx1">
                    <a:lumMod val="75000"/>
                    <a:lumOff val="25000"/>
                  </a:schemeClr>
                </a:solidFill>
                <a:latin typeface="Arial (Body)"/>
              </a:rPr>
              <a:t>cục Thuế lựa chọn </a:t>
            </a:r>
            <a:r>
              <a:rPr lang="en-US" smtClean="0">
                <a:solidFill>
                  <a:schemeClr val="tx1">
                    <a:lumMod val="75000"/>
                    <a:lumOff val="25000"/>
                  </a:schemeClr>
                </a:solidFill>
                <a:latin typeface="Arial (Body)"/>
              </a:rPr>
              <a:t>tổ </a:t>
            </a:r>
            <a:r>
              <a:rPr lang="en-US">
                <a:solidFill>
                  <a:schemeClr val="tx1">
                    <a:lumMod val="75000"/>
                    <a:lumOff val="25000"/>
                  </a:schemeClr>
                </a:solidFill>
                <a:latin typeface="Arial (Body)"/>
              </a:rPr>
              <a:t>chức cung cấp dịch vụ về HĐ ĐT có đủ điều kiện để ủy quyền cấp mã HĐ ĐT  trong trường hợp hệ thống của CQT gặp sự cố.</a:t>
            </a:r>
          </a:p>
          <a:p>
            <a:pPr algn="just">
              <a:defRPr/>
            </a:pPr>
            <a:r>
              <a:rPr lang="en-US">
                <a:solidFill>
                  <a:schemeClr val="tx1">
                    <a:lumMod val="75000"/>
                    <a:lumOff val="25000"/>
                  </a:schemeClr>
                </a:solidFill>
                <a:latin typeface="Arial (Body)"/>
              </a:rPr>
              <a:t>Trường hợp trong thời gian chưa khắc phục được sự cố </a:t>
            </a:r>
            <a:r>
              <a:rPr lang="en-US" smtClean="0">
                <a:solidFill>
                  <a:schemeClr val="tx1">
                    <a:lumMod val="75000"/>
                    <a:lumOff val="25000"/>
                  </a:schemeClr>
                </a:solidFill>
                <a:latin typeface="Arial (Body)"/>
                <a:sym typeface="Wingdings" panose="05000000000000000000" pitchFamily="2" charset="2"/>
              </a:rPr>
              <a:t> B</a:t>
            </a:r>
            <a:r>
              <a:rPr lang="en-US" smtClean="0">
                <a:solidFill>
                  <a:schemeClr val="tx1">
                    <a:lumMod val="75000"/>
                    <a:lumOff val="25000"/>
                  </a:schemeClr>
                </a:solidFill>
                <a:latin typeface="Arial (Body)"/>
              </a:rPr>
              <a:t>án </a:t>
            </a:r>
            <a:r>
              <a:rPr lang="en-US">
                <a:solidFill>
                  <a:schemeClr val="tx1">
                    <a:lumMod val="75000"/>
                    <a:lumOff val="25000"/>
                  </a:schemeClr>
                </a:solidFill>
                <a:latin typeface="Arial (Body)"/>
              </a:rPr>
              <a:t>HĐ do CQT đặt in cho một số tổ chức, cá nhân để sử dụng. </a:t>
            </a:r>
            <a:endParaRPr lang="en-US" smtClean="0">
              <a:solidFill>
                <a:schemeClr val="tx1">
                  <a:lumMod val="75000"/>
                  <a:lumOff val="25000"/>
                </a:schemeClr>
              </a:solidFill>
              <a:latin typeface="Arial (Body)"/>
            </a:endParaRPr>
          </a:p>
          <a:p>
            <a:pPr algn="just">
              <a:defRPr/>
            </a:pPr>
            <a:r>
              <a:rPr lang="en-US" smtClean="0">
                <a:solidFill>
                  <a:schemeClr val="tx1">
                    <a:lumMod val="75000"/>
                    <a:lumOff val="25000"/>
                  </a:schemeClr>
                </a:solidFill>
                <a:latin typeface="Arial (Body)"/>
              </a:rPr>
              <a:t>Sau </a:t>
            </a:r>
            <a:r>
              <a:rPr lang="en-US">
                <a:solidFill>
                  <a:schemeClr val="tx1">
                    <a:lumMod val="75000"/>
                    <a:lumOff val="25000"/>
                  </a:schemeClr>
                </a:solidFill>
                <a:latin typeface="Arial (Body)"/>
              </a:rPr>
              <a:t>khi hệ thống cấp mã của CQT được khắc phục, CQT thông báo </a:t>
            </a:r>
            <a:r>
              <a:rPr lang="en-US" smtClean="0">
                <a:solidFill>
                  <a:schemeClr val="tx1">
                    <a:lumMod val="75000"/>
                    <a:lumOff val="25000"/>
                  </a:schemeClr>
                </a:solidFill>
                <a:latin typeface="Arial (Body)"/>
                <a:sym typeface="Wingdings" panose="05000000000000000000" pitchFamily="2" charset="2"/>
              </a:rPr>
              <a:t> </a:t>
            </a:r>
            <a:r>
              <a:rPr lang="en-US" smtClean="0">
                <a:solidFill>
                  <a:schemeClr val="tx1">
                    <a:lumMod val="75000"/>
                    <a:lumOff val="25000"/>
                  </a:schemeClr>
                </a:solidFill>
                <a:latin typeface="Arial (Body)"/>
              </a:rPr>
              <a:t>chậm </a:t>
            </a:r>
            <a:r>
              <a:rPr lang="en-US">
                <a:solidFill>
                  <a:schemeClr val="tx1">
                    <a:lumMod val="75000"/>
                    <a:lumOff val="25000"/>
                  </a:schemeClr>
                </a:solidFill>
                <a:latin typeface="Arial (Body)"/>
              </a:rPr>
              <a:t>nhất 02 ngày làm việc kể từ thời hạn ghi trên thông báo của </a:t>
            </a:r>
            <a:r>
              <a:rPr lang="en-US" smtClean="0">
                <a:solidFill>
                  <a:schemeClr val="tx1">
                    <a:lumMod val="75000"/>
                    <a:lumOff val="25000"/>
                  </a:schemeClr>
                </a:solidFill>
                <a:latin typeface="Arial (Body)"/>
              </a:rPr>
              <a:t>CQT</a:t>
            </a:r>
            <a:r>
              <a:rPr lang="en-US" smtClean="0">
                <a:solidFill>
                  <a:schemeClr val="tx1">
                    <a:lumMod val="75000"/>
                    <a:lumOff val="25000"/>
                  </a:schemeClr>
                </a:solidFill>
                <a:latin typeface="Arial (Body)"/>
                <a:sym typeface="Wingdings" panose="05000000000000000000" pitchFamily="2" charset="2"/>
              </a:rPr>
              <a:t> G</a:t>
            </a:r>
            <a:r>
              <a:rPr lang="en-US" smtClean="0">
                <a:solidFill>
                  <a:schemeClr val="tx1">
                    <a:lumMod val="75000"/>
                    <a:lumOff val="25000"/>
                  </a:schemeClr>
                </a:solidFill>
                <a:latin typeface="Arial (Body)"/>
              </a:rPr>
              <a:t>ửi </a:t>
            </a:r>
            <a:r>
              <a:rPr lang="en-US">
                <a:solidFill>
                  <a:schemeClr val="tx1">
                    <a:lumMod val="75000"/>
                    <a:lumOff val="25000"/>
                  </a:schemeClr>
                </a:solidFill>
                <a:latin typeface="Arial (Body)"/>
              </a:rPr>
              <a:t>báo cáo tình hình sử dụng hóa đơn giấy đã mua của CQT theo Mẫu số BC26/HĐG Phụ lục IA </a:t>
            </a:r>
            <a:r>
              <a:rPr lang="en-US" smtClean="0">
                <a:solidFill>
                  <a:schemeClr val="tx1">
                    <a:lumMod val="75000"/>
                    <a:lumOff val="25000"/>
                  </a:schemeClr>
                </a:solidFill>
                <a:latin typeface="Arial (Body)"/>
              </a:rPr>
              <a:t>ban hành </a:t>
            </a:r>
            <a:r>
              <a:rPr lang="en-US">
                <a:solidFill>
                  <a:schemeClr val="tx1">
                    <a:lumMod val="75000"/>
                    <a:lumOff val="25000"/>
                  </a:schemeClr>
                </a:solidFill>
                <a:latin typeface="Arial (Body)"/>
              </a:rPr>
              <a:t>kèm theo Nghị định này. </a:t>
            </a:r>
            <a:endParaRPr lang="en-US" smtClean="0">
              <a:solidFill>
                <a:schemeClr val="tx1">
                  <a:lumMod val="75000"/>
                  <a:lumOff val="25000"/>
                </a:schemeClr>
              </a:solidFill>
              <a:latin typeface="Arial (Body)"/>
            </a:endParaRPr>
          </a:p>
          <a:p>
            <a:pPr>
              <a:defRPr/>
            </a:pPr>
            <a:r>
              <a:rPr lang="vi-VN" i="1" smtClean="0">
                <a:solidFill>
                  <a:schemeClr val="tx1">
                    <a:lumMod val="75000"/>
                    <a:lumOff val="25000"/>
                  </a:schemeClr>
                </a:solidFill>
                <a:latin typeface="Arial (Body)"/>
              </a:rPr>
              <a:t>(</a:t>
            </a:r>
            <a:r>
              <a:rPr lang="vi-VN" i="1">
                <a:solidFill>
                  <a:schemeClr val="tx1">
                    <a:lumMod val="75000"/>
                    <a:lumOff val="25000"/>
                  </a:schemeClr>
                </a:solidFill>
                <a:latin typeface="Arial (Body)"/>
              </a:rPr>
              <a:t>Khoản 2 Điều 20 Nghị định số 123/2020/NĐ-CP)</a:t>
            </a:r>
            <a:endParaRPr lang="en-US">
              <a:solidFill>
                <a:schemeClr val="tx1">
                  <a:lumMod val="75000"/>
                  <a:lumOff val="25000"/>
                </a:schemeClr>
              </a:solidFill>
              <a:latin typeface="Arial (Body)"/>
            </a:endParaRPr>
          </a:p>
          <a:p>
            <a:pPr>
              <a:buFont typeface="Wingdings 3" panose="05040102010807070707" pitchFamily="18" charset="2"/>
              <a:buNone/>
              <a:defRPr/>
            </a:pPr>
            <a:endParaRPr lang="en-US">
              <a:solidFill>
                <a:schemeClr val="tx1">
                  <a:lumMod val="75000"/>
                  <a:lumOff val="25000"/>
                </a:schemeClr>
              </a:solidFill>
              <a:latin typeface="Arial (Body)"/>
            </a:endParaRPr>
          </a:p>
        </p:txBody>
      </p:sp>
      <p:sp>
        <p:nvSpPr>
          <p:cNvPr id="21" name="TextBox 20"/>
          <p:cNvSpPr txBox="1"/>
          <p:nvPr/>
        </p:nvSpPr>
        <p:spPr>
          <a:xfrm>
            <a:off x="9106610" y="1336431"/>
            <a:ext cx="2833449" cy="5078313"/>
          </a:xfrm>
          <a:prstGeom prst="rect">
            <a:avLst/>
          </a:prstGeom>
          <a:noFill/>
        </p:spPr>
        <p:txBody>
          <a:bodyPr wrap="square" rtlCol="0">
            <a:spAutoFit/>
          </a:bodyPr>
          <a:lstStyle/>
          <a:p>
            <a:pPr algn="just">
              <a:buFont typeface="Wingdings 3" charset="2"/>
              <a:buChar char=""/>
              <a:defRPr/>
            </a:pPr>
            <a:r>
              <a:rPr lang="vi-VN" b="1" i="1" smtClean="0">
                <a:solidFill>
                  <a:srgbClr val="FF0000"/>
                </a:solidFill>
                <a:latin typeface="Arial (Body)"/>
              </a:rPr>
              <a:t>Trường </a:t>
            </a:r>
            <a:r>
              <a:rPr lang="vi-VN" b="1" i="1">
                <a:solidFill>
                  <a:srgbClr val="FF0000"/>
                </a:solidFill>
                <a:latin typeface="Arial (Body)"/>
              </a:rPr>
              <a:t>hợp do lỗi hệ thống hạ tầng kỹ thuật của tổ chức cung cấp dịch vụ hóa đơn điện tử</a:t>
            </a:r>
            <a:endParaRPr lang="en-US">
              <a:solidFill>
                <a:srgbClr val="FF0000"/>
              </a:solidFill>
              <a:latin typeface="Arial (Body)"/>
            </a:endParaRPr>
          </a:p>
          <a:p>
            <a:pPr algn="just">
              <a:buFont typeface="Wingdings 3" panose="05040102010807070707" pitchFamily="18" charset="2"/>
              <a:buNone/>
              <a:defRPr/>
            </a:pPr>
            <a:r>
              <a:rPr lang="en-US" smtClean="0">
                <a:solidFill>
                  <a:schemeClr val="tx1">
                    <a:lumMod val="75000"/>
                    <a:lumOff val="25000"/>
                  </a:schemeClr>
                </a:solidFill>
                <a:latin typeface="Arial (Body)"/>
              </a:rPr>
              <a:t>T</a:t>
            </a:r>
            <a:r>
              <a:rPr lang="vi-VN" smtClean="0">
                <a:solidFill>
                  <a:schemeClr val="tx1">
                    <a:lumMod val="75000"/>
                    <a:lumOff val="25000"/>
                  </a:schemeClr>
                </a:solidFill>
                <a:latin typeface="Arial (Body)"/>
              </a:rPr>
              <a:t>ổ </a:t>
            </a:r>
            <a:r>
              <a:rPr lang="vi-VN">
                <a:solidFill>
                  <a:schemeClr val="tx1">
                    <a:lumMod val="75000"/>
                    <a:lumOff val="25000"/>
                  </a:schemeClr>
                </a:solidFill>
                <a:latin typeface="Arial (Body)"/>
              </a:rPr>
              <a:t>chức cung cấp dịch vụ </a:t>
            </a:r>
            <a:r>
              <a:rPr lang="en-US">
                <a:solidFill>
                  <a:schemeClr val="tx1">
                    <a:lumMod val="75000"/>
                    <a:lumOff val="25000"/>
                  </a:schemeClr>
                </a:solidFill>
                <a:latin typeface="Arial (Body)"/>
              </a:rPr>
              <a:t>HĐ ĐT </a:t>
            </a:r>
            <a:r>
              <a:rPr lang="vi-VN">
                <a:solidFill>
                  <a:schemeClr val="tx1">
                    <a:lumMod val="75000"/>
                    <a:lumOff val="25000"/>
                  </a:schemeClr>
                </a:solidFill>
                <a:latin typeface="Arial (Body)"/>
              </a:rPr>
              <a:t>có trách nhiệm thông báo cho người bán được biết, phối hợp với Tổng cục Thuế để được hỗ trợ kịp thời. Tổ chức cung cấp dịch vụ </a:t>
            </a:r>
            <a:r>
              <a:rPr lang="en-US">
                <a:solidFill>
                  <a:schemeClr val="tx1">
                    <a:lumMod val="75000"/>
                    <a:lumOff val="25000"/>
                  </a:schemeClr>
                </a:solidFill>
                <a:latin typeface="Arial (Body)"/>
              </a:rPr>
              <a:t>HĐ ĐT </a:t>
            </a:r>
            <a:r>
              <a:rPr lang="vi-VN">
                <a:solidFill>
                  <a:schemeClr val="tx1">
                    <a:lumMod val="75000"/>
                    <a:lumOff val="25000"/>
                  </a:schemeClr>
                </a:solidFill>
                <a:latin typeface="Arial (Body)"/>
              </a:rPr>
              <a:t>phải khắc phục nhanh nhất sự cố, có biện pháp hỗ trợ người bán lập </a:t>
            </a:r>
            <a:r>
              <a:rPr lang="en-US">
                <a:solidFill>
                  <a:schemeClr val="tx1">
                    <a:lumMod val="75000"/>
                    <a:lumOff val="25000"/>
                  </a:schemeClr>
                </a:solidFill>
                <a:latin typeface="Arial (Body)"/>
              </a:rPr>
              <a:t>HĐ ĐT</a:t>
            </a:r>
            <a:r>
              <a:rPr lang="vi-VN">
                <a:solidFill>
                  <a:schemeClr val="tx1">
                    <a:lumMod val="75000"/>
                    <a:lumOff val="25000"/>
                  </a:schemeClr>
                </a:solidFill>
                <a:latin typeface="Arial (Body)"/>
              </a:rPr>
              <a:t> để gửi </a:t>
            </a:r>
            <a:r>
              <a:rPr lang="en-US">
                <a:solidFill>
                  <a:schemeClr val="tx1">
                    <a:lumMod val="75000"/>
                    <a:lumOff val="25000"/>
                  </a:schemeClr>
                </a:solidFill>
                <a:latin typeface="Arial (Body)"/>
              </a:rPr>
              <a:t>CQT </a:t>
            </a:r>
            <a:r>
              <a:rPr lang="vi-VN">
                <a:solidFill>
                  <a:schemeClr val="tx1">
                    <a:lumMod val="75000"/>
                    <a:lumOff val="25000"/>
                  </a:schemeClr>
                </a:solidFill>
                <a:latin typeface="Arial (Body)"/>
              </a:rPr>
              <a:t>cấp mã trong thời gian ngắn nhất.</a:t>
            </a:r>
            <a:r>
              <a:rPr lang="vi-VN" i="1">
                <a:solidFill>
                  <a:schemeClr val="tx1">
                    <a:lumMod val="75000"/>
                    <a:lumOff val="25000"/>
                  </a:schemeClr>
                </a:solidFill>
                <a:latin typeface="Arial (Body)"/>
              </a:rPr>
              <a:t> (Khoản 3 Điều 20 Nghị định số 123/2020/NĐ-CP)</a:t>
            </a:r>
            <a:endParaRPr lang="en-US" dirty="0">
              <a:solidFill>
                <a:schemeClr val="tx1">
                  <a:lumMod val="75000"/>
                  <a:lumOff val="25000"/>
                </a:schemeClr>
              </a:solidFill>
              <a:latin typeface="Arial (Body)"/>
            </a:endParaRPr>
          </a:p>
        </p:txBody>
      </p:sp>
      <p:sp>
        <p:nvSpPr>
          <p:cNvPr id="18" name="Oval 17"/>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21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327268" y="3369690"/>
            <a:ext cx="2402958" cy="321806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2995808" y="3369690"/>
            <a:ext cx="2069107" cy="3160361"/>
          </a:xfrm>
          <a:prstGeom prst="rect">
            <a:avLst/>
          </a:prstGeom>
          <a:solidFill>
            <a:schemeClr val="accent1">
              <a:lumMod val="20000"/>
              <a:lumOff val="80000"/>
            </a:schemeClr>
          </a:solidFill>
          <a:ln>
            <a:solidFill>
              <a:schemeClr val="accent1">
                <a:lumMod val="75000"/>
              </a:schemeClr>
            </a:solidFill>
          </a:ln>
        </p:spPr>
        <p:txBody>
          <a:bodyPr wrap="square" rtlCol="0">
            <a:spAutoFit/>
          </a:bodyPr>
          <a:lstStyle/>
          <a:p>
            <a:endParaRPr lang="en-US"/>
          </a:p>
        </p:txBody>
      </p:sp>
      <p:sp>
        <p:nvSpPr>
          <p:cNvPr id="25" name="Rectangle 24"/>
          <p:cNvSpPr/>
          <p:nvPr/>
        </p:nvSpPr>
        <p:spPr>
          <a:xfrm>
            <a:off x="7025202" y="3376249"/>
            <a:ext cx="1631853" cy="954107"/>
          </a:xfrm>
          <a:prstGeom prst="rect">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5303519" y="3376249"/>
            <a:ext cx="1631853" cy="954107"/>
          </a:xfrm>
          <a:prstGeom prst="rect">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47" name="TextBox 46"/>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11. </a:t>
            </a:r>
            <a:r>
              <a:rPr lang="vi-VN" sz="2200" b="1" smtClean="0">
                <a:solidFill>
                  <a:schemeClr val="accent1">
                    <a:lumMod val="50000"/>
                  </a:schemeClr>
                </a:solidFill>
                <a:latin typeface="Arial "/>
                <a:cs typeface="Times New Roman" panose="02020603050405020304" pitchFamily="18" charset="0"/>
              </a:rPr>
              <a:t>XỬ LÝ HÓA ĐƠN ĐIỆN TỬ CÓ SAI SÓT </a:t>
            </a:r>
            <a:endParaRPr lang="vi-VN" sz="2200" b="1">
              <a:solidFill>
                <a:schemeClr val="accent1">
                  <a:lumMod val="50000"/>
                </a:schemeClr>
              </a:solidFill>
              <a:latin typeface="Arial "/>
            </a:endParaRPr>
          </a:p>
        </p:txBody>
      </p:sp>
      <p:sp>
        <p:nvSpPr>
          <p:cNvPr id="3" name="TextBox 2"/>
          <p:cNvSpPr txBox="1"/>
          <p:nvPr/>
        </p:nvSpPr>
        <p:spPr>
          <a:xfrm>
            <a:off x="313259" y="3315943"/>
            <a:ext cx="2432007" cy="2893100"/>
          </a:xfrm>
          <a:prstGeom prst="rect">
            <a:avLst/>
          </a:prstGeom>
          <a:noFill/>
        </p:spPr>
        <p:txBody>
          <a:bodyPr wrap="square" rtlCol="0">
            <a:spAutoFit/>
          </a:bodyPr>
          <a:lstStyle/>
          <a:p>
            <a:pPr algn="just">
              <a:buFont typeface="Wingdings 3" panose="05040102010807070707" pitchFamily="18" charset="2"/>
              <a:buNone/>
              <a:defRPr/>
            </a:pPr>
            <a:r>
              <a:rPr lang="en-US" sz="1400" smtClean="0">
                <a:solidFill>
                  <a:schemeClr val="tx1">
                    <a:lumMod val="75000"/>
                    <a:lumOff val="25000"/>
                  </a:schemeClr>
                </a:solidFill>
                <a:latin typeface="Arial (Body)"/>
              </a:rPr>
              <a:t>-T</a:t>
            </a:r>
            <a:r>
              <a:rPr lang="vi-VN" sz="1400" smtClean="0">
                <a:solidFill>
                  <a:schemeClr val="tx1">
                    <a:lumMod val="75000"/>
                    <a:lumOff val="25000"/>
                  </a:schemeClr>
                </a:solidFill>
                <a:latin typeface="Arial (Body)"/>
              </a:rPr>
              <a:t>hông </a:t>
            </a:r>
            <a:r>
              <a:rPr lang="vi-VN" sz="1400">
                <a:solidFill>
                  <a:schemeClr val="tx1">
                    <a:lumMod val="75000"/>
                    <a:lumOff val="25000"/>
                  </a:schemeClr>
                </a:solidFill>
                <a:latin typeface="Arial (Body)"/>
              </a:rPr>
              <a:t>báo với </a:t>
            </a:r>
            <a:r>
              <a:rPr lang="en-US" sz="1400" smtClean="0">
                <a:solidFill>
                  <a:schemeClr val="tx1">
                    <a:lumMod val="75000"/>
                    <a:lumOff val="25000"/>
                  </a:schemeClr>
                </a:solidFill>
                <a:latin typeface="Arial (Body)"/>
              </a:rPr>
              <a:t>CQT </a:t>
            </a:r>
            <a:r>
              <a:rPr lang="vi-VN" sz="1400" smtClean="0">
                <a:solidFill>
                  <a:schemeClr val="tx1">
                    <a:lumMod val="75000"/>
                    <a:lumOff val="25000"/>
                  </a:schemeClr>
                </a:solidFill>
                <a:latin typeface="Arial (Body)"/>
              </a:rPr>
              <a:t> </a:t>
            </a:r>
            <a:r>
              <a:rPr lang="vi-VN" sz="1400">
                <a:solidFill>
                  <a:schemeClr val="tx1">
                    <a:lumMod val="75000"/>
                    <a:lumOff val="25000"/>
                  </a:schemeClr>
                </a:solidFill>
                <a:latin typeface="Arial (Body)"/>
              </a:rPr>
              <a:t>theo Mẫu số </a:t>
            </a:r>
            <a:r>
              <a:rPr lang="vi-VN" sz="1400" smtClean="0">
                <a:solidFill>
                  <a:schemeClr val="tx1">
                    <a:lumMod val="75000"/>
                    <a:lumOff val="25000"/>
                  </a:schemeClr>
                </a:solidFill>
                <a:latin typeface="Arial (Body)"/>
              </a:rPr>
              <a:t>04/SS-HĐĐT</a:t>
            </a:r>
            <a:r>
              <a:rPr lang="en-US" sz="1400" smtClean="0">
                <a:solidFill>
                  <a:schemeClr val="tx1">
                    <a:lumMod val="75000"/>
                    <a:lumOff val="25000"/>
                  </a:schemeClr>
                </a:solidFill>
                <a:latin typeface="Arial (Body)"/>
              </a:rPr>
              <a:t>, TB h</a:t>
            </a:r>
            <a:r>
              <a:rPr lang="vi-VN" sz="1400" smtClean="0">
                <a:solidFill>
                  <a:schemeClr val="tx1">
                    <a:lumMod val="75000"/>
                    <a:lumOff val="25000"/>
                  </a:schemeClr>
                </a:solidFill>
                <a:latin typeface="Arial (Body)"/>
              </a:rPr>
              <a:t>ủy </a:t>
            </a:r>
            <a:r>
              <a:rPr lang="en-US" sz="1400" smtClean="0">
                <a:solidFill>
                  <a:schemeClr val="tx1">
                    <a:lumMod val="75000"/>
                    <a:lumOff val="25000"/>
                  </a:schemeClr>
                </a:solidFill>
                <a:latin typeface="Arial (Body)"/>
              </a:rPr>
              <a:t>HĐĐT </a:t>
            </a:r>
            <a:r>
              <a:rPr lang="vi-VN" sz="1400" smtClean="0">
                <a:solidFill>
                  <a:schemeClr val="tx1">
                    <a:lumMod val="75000"/>
                    <a:lumOff val="25000"/>
                  </a:schemeClr>
                </a:solidFill>
                <a:latin typeface="Arial (Body)"/>
              </a:rPr>
              <a:t>sai sót</a:t>
            </a:r>
            <a:r>
              <a:rPr lang="en-US" sz="1400" smtClean="0">
                <a:solidFill>
                  <a:schemeClr val="tx1">
                    <a:lumMod val="75000"/>
                    <a:lumOff val="25000"/>
                  </a:schemeClr>
                </a:solidFill>
                <a:latin typeface="Arial (Body)"/>
              </a:rPr>
              <a:t>,</a:t>
            </a:r>
          </a:p>
          <a:p>
            <a:pPr algn="just">
              <a:defRPr/>
            </a:pPr>
            <a:r>
              <a:rPr lang="en-US" sz="1400" smtClean="0">
                <a:solidFill>
                  <a:schemeClr val="tx1">
                    <a:lumMod val="75000"/>
                    <a:lumOff val="25000"/>
                  </a:schemeClr>
                </a:solidFill>
                <a:latin typeface="Arial (Body)"/>
              </a:rPr>
              <a:t>- L</a:t>
            </a:r>
            <a:r>
              <a:rPr lang="vi-VN" sz="1400" smtClean="0">
                <a:solidFill>
                  <a:schemeClr val="tx1">
                    <a:lumMod val="75000"/>
                    <a:lumOff val="25000"/>
                  </a:schemeClr>
                </a:solidFill>
                <a:latin typeface="Arial (Body)"/>
              </a:rPr>
              <a:t>ập </a:t>
            </a:r>
            <a:r>
              <a:rPr lang="vi-VN" sz="1400">
                <a:solidFill>
                  <a:schemeClr val="tx1">
                    <a:lumMod val="75000"/>
                    <a:lumOff val="25000"/>
                  </a:schemeClr>
                </a:solidFill>
                <a:latin typeface="Arial (Body)"/>
              </a:rPr>
              <a:t>hóa đơn điện </a:t>
            </a:r>
            <a:r>
              <a:rPr lang="vi-VN" sz="1400" smtClean="0">
                <a:solidFill>
                  <a:schemeClr val="tx1">
                    <a:lumMod val="75000"/>
                    <a:lumOff val="25000"/>
                  </a:schemeClr>
                </a:solidFill>
                <a:latin typeface="Arial (Body)"/>
              </a:rPr>
              <a:t>tử</a:t>
            </a:r>
            <a:r>
              <a:rPr lang="en-US" sz="1400" smtClean="0">
                <a:solidFill>
                  <a:schemeClr val="tx1">
                    <a:lumMod val="75000"/>
                    <a:lumOff val="25000"/>
                  </a:schemeClr>
                </a:solidFill>
                <a:latin typeface="Arial (Body)"/>
              </a:rPr>
              <a:t> thay thế</a:t>
            </a:r>
            <a:r>
              <a:rPr lang="vi-VN" sz="1400" smtClean="0">
                <a:solidFill>
                  <a:schemeClr val="tx1">
                    <a:lumMod val="75000"/>
                    <a:lumOff val="25000"/>
                  </a:schemeClr>
                </a:solidFill>
                <a:latin typeface="Arial (Body)"/>
              </a:rPr>
              <a:t>, </a:t>
            </a:r>
            <a:r>
              <a:rPr lang="vi-VN" sz="1400">
                <a:solidFill>
                  <a:schemeClr val="tx1">
                    <a:lumMod val="75000"/>
                    <a:lumOff val="25000"/>
                  </a:schemeClr>
                </a:solidFill>
                <a:latin typeface="Arial (Body)"/>
              </a:rPr>
              <a:t>ký số gửi cơ quan thuế để cấp </a:t>
            </a:r>
            <a:r>
              <a:rPr lang="vi-VN" sz="1400" smtClean="0">
                <a:solidFill>
                  <a:schemeClr val="tx1">
                    <a:lumMod val="75000"/>
                    <a:lumOff val="25000"/>
                  </a:schemeClr>
                </a:solidFill>
                <a:latin typeface="Arial (Body)"/>
              </a:rPr>
              <a:t>mã.</a:t>
            </a:r>
            <a:endParaRPr lang="en-US" sz="1400" smtClean="0">
              <a:solidFill>
                <a:schemeClr val="tx1">
                  <a:lumMod val="75000"/>
                  <a:lumOff val="25000"/>
                </a:schemeClr>
              </a:solidFill>
              <a:latin typeface="Arial (Body)"/>
            </a:endParaRPr>
          </a:p>
          <a:p>
            <a:pPr algn="just">
              <a:defRPr/>
            </a:pPr>
            <a:r>
              <a:rPr lang="en-US" sz="1400" smtClean="0">
                <a:solidFill>
                  <a:schemeClr val="tx1">
                    <a:lumMod val="75000"/>
                    <a:lumOff val="25000"/>
                  </a:schemeClr>
                </a:solidFill>
                <a:latin typeface="Arial (Body)"/>
              </a:rPr>
              <a:t>- </a:t>
            </a:r>
            <a:r>
              <a:rPr lang="vi-VN" sz="1400" smtClean="0">
                <a:solidFill>
                  <a:schemeClr val="tx1">
                    <a:lumMod val="75000"/>
                    <a:lumOff val="25000"/>
                  </a:schemeClr>
                </a:solidFill>
                <a:latin typeface="Arial (Body)"/>
              </a:rPr>
              <a:t>Cơ </a:t>
            </a:r>
            <a:r>
              <a:rPr lang="vi-VN" sz="1400">
                <a:solidFill>
                  <a:schemeClr val="tx1">
                    <a:lumMod val="75000"/>
                    <a:lumOff val="25000"/>
                  </a:schemeClr>
                </a:solidFill>
                <a:latin typeface="Arial (Body)"/>
              </a:rPr>
              <a:t>quan thuế thực hiện hủy hóa đơn điện tử đã được cấp mã có sai sót lưu trên hệ thống của cơ quan thuế.</a:t>
            </a:r>
          </a:p>
          <a:p>
            <a:pPr algn="just">
              <a:buFont typeface="Wingdings 3" panose="05040102010807070707" pitchFamily="18" charset="2"/>
              <a:buNone/>
              <a:defRPr/>
            </a:pPr>
            <a:r>
              <a:rPr lang="vi-VN" sz="1400" i="1">
                <a:solidFill>
                  <a:schemeClr val="tx1">
                    <a:lumMod val="75000"/>
                    <a:lumOff val="25000"/>
                  </a:schemeClr>
                </a:solidFill>
                <a:latin typeface="Arial (Body)"/>
              </a:rPr>
              <a:t>(Khoản 1 Điều 19 Nghị định số 123/2020/NĐ-CP).</a:t>
            </a:r>
          </a:p>
        </p:txBody>
      </p:sp>
      <p:sp>
        <p:nvSpPr>
          <p:cNvPr id="19" name="TextBox 18"/>
          <p:cNvSpPr txBox="1"/>
          <p:nvPr/>
        </p:nvSpPr>
        <p:spPr>
          <a:xfrm>
            <a:off x="2995808" y="1192285"/>
            <a:ext cx="5815988" cy="830997"/>
          </a:xfrm>
          <a:prstGeom prst="rect">
            <a:avLst/>
          </a:prstGeom>
          <a:noFill/>
        </p:spPr>
        <p:txBody>
          <a:bodyPr wrap="square" rtlCol="0">
            <a:spAutoFit/>
          </a:bodyPr>
          <a:lstStyle/>
          <a:p>
            <a:pPr algn="just">
              <a:buFont typeface="Wingdings 3" charset="2"/>
              <a:buChar char=""/>
              <a:defRPr/>
            </a:pPr>
            <a:r>
              <a:rPr lang="vi-VN" sz="1600" b="1" i="1">
                <a:solidFill>
                  <a:srgbClr val="FF0000"/>
                </a:solidFill>
                <a:latin typeface="Arial (Body)"/>
              </a:rPr>
              <a:t>Trường hợp </a:t>
            </a:r>
            <a:r>
              <a:rPr lang="en-US" sz="1600" b="1" i="1" smtClean="0">
                <a:solidFill>
                  <a:srgbClr val="FF0000"/>
                </a:solidFill>
                <a:latin typeface="Arial (Body)"/>
              </a:rPr>
              <a:t>HĐ ĐT </a:t>
            </a:r>
            <a:r>
              <a:rPr lang="vi-VN" sz="1600" b="1" i="1" smtClean="0">
                <a:solidFill>
                  <a:srgbClr val="FF0000"/>
                </a:solidFill>
                <a:latin typeface="Arial (Body)"/>
              </a:rPr>
              <a:t>có </a:t>
            </a:r>
            <a:r>
              <a:rPr lang="vi-VN" sz="1600" b="1" i="1">
                <a:solidFill>
                  <a:srgbClr val="FF0000"/>
                </a:solidFill>
                <a:latin typeface="Arial (Body)"/>
              </a:rPr>
              <a:t>mã </a:t>
            </a:r>
            <a:r>
              <a:rPr lang="vi-VN" sz="1600" b="1" i="1" smtClean="0">
                <a:solidFill>
                  <a:srgbClr val="FF0000"/>
                </a:solidFill>
                <a:latin typeface="Arial (Body)"/>
              </a:rPr>
              <a:t>hoặc không </a:t>
            </a:r>
            <a:r>
              <a:rPr lang="vi-VN" sz="1600" b="1" i="1">
                <a:solidFill>
                  <a:srgbClr val="FF0000"/>
                </a:solidFill>
                <a:latin typeface="Arial (Body)"/>
              </a:rPr>
              <a:t>có mã của </a:t>
            </a:r>
            <a:r>
              <a:rPr lang="en-US" sz="1600" b="1" i="1" smtClean="0">
                <a:solidFill>
                  <a:srgbClr val="FF0000"/>
                </a:solidFill>
                <a:latin typeface="Arial (Body)"/>
              </a:rPr>
              <a:t>CQT </a:t>
            </a:r>
            <a:r>
              <a:rPr lang="vi-VN" sz="1600" b="1" i="1" smtClean="0">
                <a:solidFill>
                  <a:srgbClr val="92D050"/>
                </a:solidFill>
                <a:latin typeface="Arial (Body)"/>
              </a:rPr>
              <a:t>đã </a:t>
            </a:r>
            <a:r>
              <a:rPr lang="vi-VN" sz="1600" b="1" i="1">
                <a:solidFill>
                  <a:srgbClr val="92D050"/>
                </a:solidFill>
                <a:latin typeface="Arial (Body)"/>
              </a:rPr>
              <a:t>gửi cho người mua </a:t>
            </a:r>
            <a:r>
              <a:rPr lang="vi-VN" sz="1600" b="1" i="1">
                <a:solidFill>
                  <a:srgbClr val="FF0000"/>
                </a:solidFill>
                <a:latin typeface="Arial (Body)"/>
              </a:rPr>
              <a:t>mà người mua hoặc người bán phát hiện có sai sót. </a:t>
            </a:r>
            <a:endParaRPr lang="en-US">
              <a:solidFill>
                <a:schemeClr val="tx1">
                  <a:lumMod val="75000"/>
                  <a:lumOff val="25000"/>
                </a:schemeClr>
              </a:solidFill>
              <a:latin typeface="Arial (Body)"/>
            </a:endParaRPr>
          </a:p>
        </p:txBody>
      </p:sp>
      <p:sp>
        <p:nvSpPr>
          <p:cNvPr id="2" name="TextBox 1"/>
          <p:cNvSpPr txBox="1"/>
          <p:nvPr/>
        </p:nvSpPr>
        <p:spPr>
          <a:xfrm>
            <a:off x="2995808" y="2263835"/>
            <a:ext cx="2069107" cy="3754874"/>
          </a:xfrm>
          <a:prstGeom prst="rect">
            <a:avLst/>
          </a:prstGeom>
          <a:noFill/>
        </p:spPr>
        <p:txBody>
          <a:bodyPr wrap="square" rtlCol="0">
            <a:spAutoFit/>
          </a:bodyPr>
          <a:lstStyle/>
          <a:p>
            <a:pPr algn="just"/>
            <a:r>
              <a:rPr lang="en-US" sz="1400" b="1" smtClean="0">
                <a:latin typeface="Arial (Body)"/>
              </a:rPr>
              <a:t>S</a:t>
            </a:r>
            <a:r>
              <a:rPr lang="vi-VN" sz="1400" b="1" smtClean="0">
                <a:latin typeface="Arial (Body)"/>
              </a:rPr>
              <a:t>ai tên, địa chỉ của người </a:t>
            </a:r>
            <a:r>
              <a:rPr lang="vi-VN" sz="1400" smtClean="0">
                <a:latin typeface="Arial (Body)"/>
              </a:rPr>
              <a:t>mua nhưng </a:t>
            </a:r>
            <a:r>
              <a:rPr lang="vi-VN" sz="1400" b="1" smtClean="0">
                <a:latin typeface="Arial (Body)"/>
              </a:rPr>
              <a:t>không sai MST</a:t>
            </a:r>
            <a:r>
              <a:rPr lang="vi-VN" sz="1400" smtClean="0">
                <a:latin typeface="Arial (Body)"/>
              </a:rPr>
              <a:t>, </a:t>
            </a:r>
            <a:r>
              <a:rPr lang="vi-VN" sz="1400" b="1" smtClean="0">
                <a:latin typeface="Arial (Body)"/>
              </a:rPr>
              <a:t>các nội dung khác không sai sót</a:t>
            </a:r>
            <a:r>
              <a:rPr lang="en-US" sz="1400" b="1" smtClean="0">
                <a:latin typeface="Arial (Body)"/>
              </a:rPr>
              <a:t>:</a:t>
            </a:r>
          </a:p>
          <a:p>
            <a:pPr algn="just"/>
            <a:r>
              <a:rPr lang="en-US" sz="1400" smtClean="0">
                <a:latin typeface="Arial (Body)"/>
              </a:rPr>
              <a:t>- T</a:t>
            </a:r>
            <a:r>
              <a:rPr lang="vi-VN" sz="1400" smtClean="0">
                <a:latin typeface="Arial (Body)"/>
              </a:rPr>
              <a:t>hông báo cho người mua về việc HĐ có sai sót và không phải lập lại HĐ. </a:t>
            </a:r>
            <a:endParaRPr lang="en-US" sz="1400" smtClean="0">
              <a:latin typeface="Arial (Body)"/>
            </a:endParaRPr>
          </a:p>
          <a:p>
            <a:pPr algn="just"/>
            <a:r>
              <a:rPr lang="en-US" sz="1400" smtClean="0">
                <a:latin typeface="Arial (Body)"/>
              </a:rPr>
              <a:t>- T</a:t>
            </a:r>
            <a:r>
              <a:rPr lang="vi-VN" sz="1400" smtClean="0">
                <a:latin typeface="Arial (Body)"/>
              </a:rPr>
              <a:t>hông báo với CQT về HĐ ĐT có sai sót theo Mẫu số 04/SS-HĐĐT,</a:t>
            </a:r>
            <a:r>
              <a:rPr lang="en-US" sz="1400">
                <a:latin typeface="Arial (Body)"/>
              </a:rPr>
              <a:t> </a:t>
            </a:r>
            <a:r>
              <a:rPr lang="vi-VN" sz="1400" smtClean="0">
                <a:latin typeface="Arial (Body)"/>
              </a:rPr>
              <a:t>trừ trường hợp HĐ ĐT không có mã của CQT có sai sót nêu trên chưa gửi dữ liệu hóa đơn cho CQT.</a:t>
            </a:r>
            <a:endParaRPr lang="vi-VN" sz="1400">
              <a:latin typeface="Arial (Body)"/>
            </a:endParaRPr>
          </a:p>
        </p:txBody>
      </p:sp>
      <p:sp>
        <p:nvSpPr>
          <p:cNvPr id="5" name="TextBox 4"/>
          <p:cNvSpPr txBox="1"/>
          <p:nvPr/>
        </p:nvSpPr>
        <p:spPr>
          <a:xfrm>
            <a:off x="5303519" y="2263835"/>
            <a:ext cx="3508277" cy="954107"/>
          </a:xfrm>
          <a:prstGeom prst="rect">
            <a:avLst/>
          </a:prstGeom>
          <a:noFill/>
        </p:spPr>
        <p:txBody>
          <a:bodyPr wrap="square" rtlCol="0">
            <a:spAutoFit/>
          </a:bodyPr>
          <a:lstStyle/>
          <a:p>
            <a:r>
              <a:rPr lang="en-US" altLang="en-US" sz="1400" b="1" smtClean="0">
                <a:latin typeface="Arial (Body)"/>
              </a:rPr>
              <a:t>S</a:t>
            </a:r>
            <a:r>
              <a:rPr lang="vi-VN" altLang="en-US" sz="1400" b="1" smtClean="0">
                <a:latin typeface="Arial (Body)"/>
              </a:rPr>
              <a:t>ai</a:t>
            </a:r>
            <a:r>
              <a:rPr lang="vi-VN" altLang="en-US" sz="1400" b="1">
                <a:latin typeface="Arial (Body)"/>
              </a:rPr>
              <a:t>: mã số thuế; sai sót về số tiền ghi trên hóa đơn, sai về thuế suất, tiền thuế hoặc hàng hóa ghi trên hóa đơn không đúng quy cách, chất </a:t>
            </a:r>
            <a:r>
              <a:rPr lang="vi-VN" altLang="en-US" sz="1400" b="1" smtClean="0">
                <a:latin typeface="Arial (Body)"/>
              </a:rPr>
              <a:t>lượng</a:t>
            </a:r>
            <a:r>
              <a:rPr lang="en-US" altLang="en-US" sz="1400" b="1" smtClean="0">
                <a:latin typeface="Arial (Body)"/>
              </a:rPr>
              <a:t>:</a:t>
            </a:r>
            <a:endParaRPr lang="en-US" sz="1400"/>
          </a:p>
        </p:txBody>
      </p:sp>
      <p:sp>
        <p:nvSpPr>
          <p:cNvPr id="11" name="TextBox 10"/>
          <p:cNvSpPr txBox="1"/>
          <p:nvPr/>
        </p:nvSpPr>
        <p:spPr>
          <a:xfrm>
            <a:off x="5303519" y="3376249"/>
            <a:ext cx="1505244" cy="954107"/>
          </a:xfrm>
          <a:prstGeom prst="rect">
            <a:avLst/>
          </a:prstGeom>
          <a:noFill/>
          <a:ln>
            <a:noFill/>
          </a:ln>
        </p:spPr>
        <p:txBody>
          <a:bodyPr wrap="square" rtlCol="0">
            <a:spAutoFit/>
          </a:bodyPr>
          <a:lstStyle/>
          <a:p>
            <a:pPr algn="just"/>
            <a:r>
              <a:rPr lang="vi-VN" sz="1400" smtClean="0"/>
              <a:t>Người bán lập HĐ ĐT điều chỉnh HĐ đã lập có sai sót. </a:t>
            </a:r>
            <a:endParaRPr lang="vi-VN" sz="1400"/>
          </a:p>
        </p:txBody>
      </p:sp>
      <p:sp>
        <p:nvSpPr>
          <p:cNvPr id="22" name="TextBox 21"/>
          <p:cNvSpPr txBox="1"/>
          <p:nvPr/>
        </p:nvSpPr>
        <p:spPr>
          <a:xfrm>
            <a:off x="7057657" y="3411894"/>
            <a:ext cx="1505244" cy="954107"/>
          </a:xfrm>
          <a:prstGeom prst="rect">
            <a:avLst/>
          </a:prstGeom>
          <a:noFill/>
          <a:ln>
            <a:noFill/>
          </a:ln>
        </p:spPr>
        <p:txBody>
          <a:bodyPr wrap="square" rtlCol="0">
            <a:spAutoFit/>
          </a:bodyPr>
          <a:lstStyle/>
          <a:p>
            <a:pPr algn="just"/>
            <a:r>
              <a:rPr lang="vi-VN" sz="1400" smtClean="0"/>
              <a:t>Người bán lập HĐ ĐT </a:t>
            </a:r>
            <a:r>
              <a:rPr lang="en-US" sz="1400" smtClean="0">
                <a:latin typeface="Arial (Body)"/>
              </a:rPr>
              <a:t>thay thế </a:t>
            </a:r>
            <a:r>
              <a:rPr lang="vi-VN" sz="1400" smtClean="0"/>
              <a:t>HĐ đã lập có sai sót. </a:t>
            </a:r>
            <a:endParaRPr lang="vi-VN" sz="1400"/>
          </a:p>
        </p:txBody>
      </p:sp>
      <p:sp>
        <p:nvSpPr>
          <p:cNvPr id="18" name="TextBox 17"/>
          <p:cNvSpPr txBox="1"/>
          <p:nvPr/>
        </p:nvSpPr>
        <p:spPr>
          <a:xfrm>
            <a:off x="5303519" y="4463071"/>
            <a:ext cx="3344793" cy="1846659"/>
          </a:xfrm>
          <a:prstGeom prst="rect">
            <a:avLst/>
          </a:prstGeom>
          <a:solidFill>
            <a:schemeClr val="accent1">
              <a:lumMod val="20000"/>
              <a:lumOff val="80000"/>
            </a:schemeClr>
          </a:solidFill>
          <a:ln>
            <a:solidFill>
              <a:schemeClr val="accent1">
                <a:lumMod val="75000"/>
              </a:schemeClr>
            </a:solidFill>
          </a:ln>
        </p:spPr>
        <p:txBody>
          <a:bodyPr wrap="square" rtlCol="0">
            <a:spAutoFit/>
          </a:bodyPr>
          <a:lstStyle/>
          <a:p>
            <a:r>
              <a:rPr lang="en-US" sz="1600" smtClean="0">
                <a:latin typeface="Arial (Body)"/>
              </a:rPr>
              <a:t>-T</a:t>
            </a:r>
            <a:r>
              <a:rPr lang="vi-VN" sz="1600">
                <a:latin typeface="Arial (Body)"/>
              </a:rPr>
              <a:t>hông báo với CQT về HĐ ĐT có sai sót theo Mẫu số </a:t>
            </a:r>
            <a:r>
              <a:rPr lang="vi-VN" sz="1600" smtClean="0">
                <a:latin typeface="Arial (Body)"/>
              </a:rPr>
              <a:t>04/SS-HĐĐT</a:t>
            </a:r>
            <a:r>
              <a:rPr lang="en-US" sz="1600" smtClean="0">
                <a:latin typeface="Arial (Body)"/>
              </a:rPr>
              <a:t>.</a:t>
            </a:r>
          </a:p>
          <a:p>
            <a:r>
              <a:rPr lang="en-US" sz="1600" smtClean="0">
                <a:latin typeface="Arial (Body)"/>
              </a:rPr>
              <a:t>- Lập Biên bản ghi rõ sai sót (Nếu có thỏa thuận về lập văn bản thỏa thuận trước khi lập hóa đơn thay thế/ điều chỉnh).</a:t>
            </a:r>
          </a:p>
          <a:p>
            <a:pPr marL="285750" indent="-285750">
              <a:buFontTx/>
              <a:buChar char="-"/>
            </a:pPr>
            <a:endParaRPr lang="en-US"/>
          </a:p>
        </p:txBody>
      </p:sp>
      <p:cxnSp>
        <p:nvCxnSpPr>
          <p:cNvPr id="27" name="Straight Connector 26"/>
          <p:cNvCxnSpPr/>
          <p:nvPr/>
        </p:nvCxnSpPr>
        <p:spPr>
          <a:xfrm>
            <a:off x="3150551" y="2151291"/>
            <a:ext cx="5497761" cy="0"/>
          </a:xfrm>
          <a:prstGeom prst="line">
            <a:avLst/>
          </a:prstGeom>
          <a:ln w="28575" cap="rnd" cmpd="dbl">
            <a:prstDash val="dashDot"/>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47189" y="1223887"/>
            <a:ext cx="2608548" cy="954107"/>
          </a:xfrm>
          <a:prstGeom prst="rect">
            <a:avLst/>
          </a:prstGeom>
          <a:noFill/>
        </p:spPr>
        <p:txBody>
          <a:bodyPr wrap="square" rtlCol="0">
            <a:spAutoFit/>
          </a:bodyPr>
          <a:lstStyle/>
          <a:p>
            <a:pPr algn="just">
              <a:buFont typeface="Wingdings 3" charset="2"/>
              <a:buChar char=""/>
              <a:defRPr/>
            </a:pPr>
            <a:r>
              <a:rPr lang="vi-VN" sz="1400" b="1" i="1">
                <a:solidFill>
                  <a:srgbClr val="FF0000"/>
                </a:solidFill>
                <a:latin typeface="Arial (Body)"/>
              </a:rPr>
              <a:t>Trường hợp người bán phát hiện </a:t>
            </a:r>
            <a:r>
              <a:rPr lang="en-US" sz="1400" b="1" i="1">
                <a:solidFill>
                  <a:srgbClr val="FF0000"/>
                </a:solidFill>
                <a:latin typeface="Arial (Body)"/>
              </a:rPr>
              <a:t>HĐ ĐT </a:t>
            </a:r>
            <a:r>
              <a:rPr lang="vi-VN" sz="1400" b="1" i="1">
                <a:solidFill>
                  <a:srgbClr val="FF0000"/>
                </a:solidFill>
                <a:latin typeface="Arial (Body)"/>
              </a:rPr>
              <a:t>đã được cấp mã của </a:t>
            </a:r>
            <a:r>
              <a:rPr lang="en-US" sz="1400" b="1" i="1">
                <a:solidFill>
                  <a:srgbClr val="FF0000"/>
                </a:solidFill>
                <a:latin typeface="Arial (Body)"/>
              </a:rPr>
              <a:t>CQT </a:t>
            </a:r>
            <a:r>
              <a:rPr lang="vi-VN" sz="1400" b="1" i="1">
                <a:solidFill>
                  <a:srgbClr val="92D050"/>
                </a:solidFill>
                <a:latin typeface="Arial (Body)"/>
              </a:rPr>
              <a:t>chưa gửi cho người mua </a:t>
            </a:r>
            <a:r>
              <a:rPr lang="vi-VN" sz="1400" b="1" i="1">
                <a:solidFill>
                  <a:srgbClr val="FF0000"/>
                </a:solidFill>
                <a:latin typeface="Arial (Body)"/>
              </a:rPr>
              <a:t>có sai sót.</a:t>
            </a:r>
          </a:p>
        </p:txBody>
      </p:sp>
      <p:cxnSp>
        <p:nvCxnSpPr>
          <p:cNvPr id="31" name="Straight Connector 30"/>
          <p:cNvCxnSpPr/>
          <p:nvPr/>
        </p:nvCxnSpPr>
        <p:spPr>
          <a:xfrm>
            <a:off x="417007" y="2177994"/>
            <a:ext cx="2199584" cy="0"/>
          </a:xfrm>
          <a:prstGeom prst="line">
            <a:avLst/>
          </a:prstGeom>
          <a:ln w="28575" cap="rnd" cmpd="dbl">
            <a:prstDash val="dashDot"/>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9158540" y="3376249"/>
            <a:ext cx="2402958" cy="321806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Tx/>
              <a:buChar char="-"/>
            </a:pPr>
            <a:r>
              <a:rPr lang="en-US" sz="1400" smtClean="0">
                <a:solidFill>
                  <a:schemeClr val="tx1"/>
                </a:solidFill>
                <a:latin typeface="Arial (Body)"/>
              </a:rPr>
              <a:t>CQT</a:t>
            </a:r>
            <a:r>
              <a:rPr lang="vi-VN" sz="1400" smtClean="0">
                <a:solidFill>
                  <a:schemeClr val="tx1"/>
                </a:solidFill>
                <a:latin typeface="Arial (Body)"/>
              </a:rPr>
              <a:t> thông báo cho người bán theo Mẫu số 01/TB-RSĐT</a:t>
            </a:r>
            <a:endParaRPr lang="en-US" sz="1400" smtClean="0">
              <a:solidFill>
                <a:schemeClr val="tx1"/>
              </a:solidFill>
              <a:latin typeface="Arial (Body)"/>
            </a:endParaRPr>
          </a:p>
          <a:p>
            <a:pPr marL="285750" indent="-285750" algn="just">
              <a:buFontTx/>
              <a:buChar char="-"/>
            </a:pPr>
            <a:r>
              <a:rPr lang="en-US" sz="1400">
                <a:solidFill>
                  <a:schemeClr val="tx1"/>
                </a:solidFill>
                <a:latin typeface="Arial (Body)"/>
              </a:rPr>
              <a:t>N</a:t>
            </a:r>
            <a:r>
              <a:rPr lang="vi-VN" sz="1400">
                <a:solidFill>
                  <a:schemeClr val="tx1"/>
                </a:solidFill>
                <a:latin typeface="Arial (Body)"/>
              </a:rPr>
              <a:t>gười bán thực hiện thông báo với cơ quan thuế theo Mẫu số </a:t>
            </a:r>
            <a:r>
              <a:rPr lang="vi-VN" sz="1400" smtClean="0">
                <a:solidFill>
                  <a:schemeClr val="tx1"/>
                </a:solidFill>
                <a:latin typeface="Arial (Body)"/>
              </a:rPr>
              <a:t>04/SS-HĐĐT</a:t>
            </a:r>
            <a:endParaRPr lang="en-US" sz="1400" smtClean="0">
              <a:solidFill>
                <a:schemeClr val="tx1"/>
              </a:solidFill>
              <a:latin typeface="Arial (Body)"/>
            </a:endParaRPr>
          </a:p>
          <a:p>
            <a:pPr marL="285750" indent="-285750" algn="just">
              <a:buFontTx/>
              <a:buChar char="-"/>
            </a:pPr>
            <a:r>
              <a:rPr lang="vi-VN" sz="1400">
                <a:solidFill>
                  <a:schemeClr val="tx1"/>
                </a:solidFill>
                <a:latin typeface="Arial (Body)"/>
              </a:rPr>
              <a:t>Hết thời hạn thông báo ghi trên Mẫu số 01/TB-RSĐT lần 2</a:t>
            </a:r>
            <a:r>
              <a:rPr lang="en-US" sz="1400">
                <a:solidFill>
                  <a:schemeClr val="tx1"/>
                </a:solidFill>
                <a:latin typeface="Arial (Body)"/>
              </a:rPr>
              <a:t>, </a:t>
            </a:r>
            <a:r>
              <a:rPr lang="vi-VN" sz="1400">
                <a:solidFill>
                  <a:schemeClr val="tx1"/>
                </a:solidFill>
                <a:latin typeface="Arial (Body)"/>
              </a:rPr>
              <a:t>người không có thông báo</a:t>
            </a:r>
            <a:r>
              <a:rPr lang="en-US" sz="1400">
                <a:solidFill>
                  <a:schemeClr val="tx1"/>
                </a:solidFill>
                <a:latin typeface="Arial (Body)"/>
              </a:rPr>
              <a:t> 04/SS-HĐĐT</a:t>
            </a:r>
            <a:r>
              <a:rPr lang="vi-VN" sz="1400">
                <a:solidFill>
                  <a:schemeClr val="tx1"/>
                </a:solidFill>
                <a:latin typeface="Arial (Body)"/>
              </a:rPr>
              <a:t> thì</a:t>
            </a:r>
            <a:r>
              <a:rPr lang="en-US" sz="1400">
                <a:solidFill>
                  <a:schemeClr val="tx1"/>
                </a:solidFill>
                <a:latin typeface="Arial (Body)"/>
              </a:rPr>
              <a:t> CQT</a:t>
            </a:r>
            <a:r>
              <a:rPr lang="vi-VN" sz="1400">
                <a:solidFill>
                  <a:schemeClr val="tx1"/>
                </a:solidFill>
                <a:latin typeface="Arial (Body)"/>
              </a:rPr>
              <a:t> xem xét chuyển sang trường hợp kiểm tra về </a:t>
            </a:r>
            <a:r>
              <a:rPr lang="vi-VN" sz="1400" smtClean="0">
                <a:solidFill>
                  <a:schemeClr val="tx1"/>
                </a:solidFill>
                <a:latin typeface="Arial (Body)"/>
              </a:rPr>
              <a:t>sử</a:t>
            </a:r>
            <a:r>
              <a:rPr lang="en-US" sz="1400">
                <a:solidFill>
                  <a:schemeClr val="tx1"/>
                </a:solidFill>
                <a:latin typeface="Arial (Body)"/>
              </a:rPr>
              <a:t> </a:t>
            </a:r>
            <a:r>
              <a:rPr lang="en-US" sz="1400" smtClean="0">
                <a:solidFill>
                  <a:schemeClr val="tx1"/>
                </a:solidFill>
                <a:latin typeface="Arial (Body)"/>
              </a:rPr>
              <a:t>HĐ ĐT</a:t>
            </a:r>
            <a:endParaRPr lang="en-US" sz="1400">
              <a:solidFill>
                <a:schemeClr val="tx1"/>
              </a:solidFill>
              <a:latin typeface="Arial (Body)"/>
            </a:endParaRPr>
          </a:p>
        </p:txBody>
      </p:sp>
      <p:sp>
        <p:nvSpPr>
          <p:cNvPr id="34" name="TextBox 33"/>
          <p:cNvSpPr txBox="1"/>
          <p:nvPr/>
        </p:nvSpPr>
        <p:spPr>
          <a:xfrm>
            <a:off x="8951867" y="1197184"/>
            <a:ext cx="2816304" cy="738664"/>
          </a:xfrm>
          <a:prstGeom prst="rect">
            <a:avLst/>
          </a:prstGeom>
          <a:noFill/>
        </p:spPr>
        <p:txBody>
          <a:bodyPr wrap="square" rtlCol="0">
            <a:spAutoFit/>
          </a:bodyPr>
          <a:lstStyle/>
          <a:p>
            <a:pPr algn="just">
              <a:buFont typeface="Wingdings 3" charset="2"/>
              <a:buChar char=""/>
              <a:defRPr/>
            </a:pPr>
            <a:r>
              <a:rPr lang="vi-VN" sz="1400" b="1" i="1">
                <a:solidFill>
                  <a:srgbClr val="FF0000"/>
                </a:solidFill>
                <a:latin typeface="Arial (Body)"/>
              </a:rPr>
              <a:t>Trường hợp cơ quan thuế phát hiện hóa đơn điện tử </a:t>
            </a:r>
            <a:r>
              <a:rPr lang="vi-VN" sz="1400" b="1" i="1" smtClean="0">
                <a:solidFill>
                  <a:srgbClr val="FF0000"/>
                </a:solidFill>
                <a:latin typeface="Arial (Body)"/>
              </a:rPr>
              <a:t>đã </a:t>
            </a:r>
            <a:r>
              <a:rPr lang="vi-VN" sz="1400" b="1" i="1">
                <a:solidFill>
                  <a:srgbClr val="FF0000"/>
                </a:solidFill>
                <a:latin typeface="Arial (Body)"/>
              </a:rPr>
              <a:t>lập có sai sót </a:t>
            </a:r>
          </a:p>
        </p:txBody>
      </p:sp>
      <p:cxnSp>
        <p:nvCxnSpPr>
          <p:cNvPr id="35" name="Straight Connector 34"/>
          <p:cNvCxnSpPr/>
          <p:nvPr/>
        </p:nvCxnSpPr>
        <p:spPr>
          <a:xfrm>
            <a:off x="9139707" y="2151291"/>
            <a:ext cx="2522410" cy="0"/>
          </a:xfrm>
          <a:prstGeom prst="line">
            <a:avLst/>
          </a:prstGeom>
          <a:ln w="28575" cap="rnd" cmpd="dbl">
            <a:prstDash val="dashDot"/>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582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47" name="TextBox 46"/>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11. </a:t>
            </a:r>
            <a:r>
              <a:rPr lang="vi-VN" sz="2200" b="1" smtClean="0">
                <a:solidFill>
                  <a:schemeClr val="accent1">
                    <a:lumMod val="50000"/>
                  </a:schemeClr>
                </a:solidFill>
                <a:latin typeface="Arial "/>
                <a:cs typeface="Times New Roman" panose="02020603050405020304" pitchFamily="18" charset="0"/>
              </a:rPr>
              <a:t>XỬ LÝ HÓA ĐƠN ĐIỆN</a:t>
            </a:r>
            <a:r>
              <a:rPr lang="en-US" sz="2200" b="1" smtClean="0">
                <a:solidFill>
                  <a:schemeClr val="accent1">
                    <a:lumMod val="50000"/>
                  </a:schemeClr>
                </a:solidFill>
                <a:latin typeface="Arial "/>
                <a:cs typeface="Times New Roman" panose="02020603050405020304" pitchFamily="18" charset="0"/>
              </a:rPr>
              <a:t> </a:t>
            </a:r>
            <a:r>
              <a:rPr lang="vi-VN" sz="2200" b="1" smtClean="0">
                <a:solidFill>
                  <a:schemeClr val="accent1">
                    <a:lumMod val="50000"/>
                  </a:schemeClr>
                </a:solidFill>
                <a:latin typeface="Arial "/>
                <a:cs typeface="Times New Roman" panose="02020603050405020304" pitchFamily="18" charset="0"/>
              </a:rPr>
              <a:t>TỬ CÓ SAI SÓT </a:t>
            </a:r>
            <a:endParaRPr lang="vi-VN" sz="2200" b="1">
              <a:solidFill>
                <a:schemeClr val="accent1">
                  <a:lumMod val="50000"/>
                </a:schemeClr>
              </a:solidFill>
              <a:latin typeface="Arial "/>
            </a:endParaRPr>
          </a:p>
        </p:txBody>
      </p:sp>
      <p:sp>
        <p:nvSpPr>
          <p:cNvPr id="30" name="Content Placeholder 2"/>
          <p:cNvSpPr txBox="1">
            <a:spLocks/>
          </p:cNvSpPr>
          <p:nvPr/>
        </p:nvSpPr>
        <p:spPr>
          <a:xfrm>
            <a:off x="648497" y="1013039"/>
            <a:ext cx="11222037" cy="3918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vi-VN" altLang="en-US" sz="1800" b="1" smtClean="0">
                <a:solidFill>
                  <a:schemeClr val="tx1">
                    <a:lumMod val="75000"/>
                    <a:lumOff val="25000"/>
                  </a:schemeClr>
                </a:solidFill>
                <a:latin typeface="Arial (Body)"/>
              </a:rPr>
              <a:t>Xử</a:t>
            </a:r>
            <a:r>
              <a:rPr lang="en-US" altLang="en-US" sz="1800" b="1" smtClean="0">
                <a:solidFill>
                  <a:schemeClr val="tx1">
                    <a:lumMod val="75000"/>
                    <a:lumOff val="25000"/>
                  </a:schemeClr>
                </a:solidFill>
                <a:latin typeface="Arial (Body)"/>
              </a:rPr>
              <a:t> lý HĐ ĐT</a:t>
            </a:r>
            <a:r>
              <a:rPr lang="vi-VN" altLang="en-US" sz="1800" b="1" smtClean="0">
                <a:solidFill>
                  <a:schemeClr val="tx1">
                    <a:lumMod val="75000"/>
                    <a:lumOff val="25000"/>
                  </a:schemeClr>
                </a:solidFill>
                <a:latin typeface="Arial (Body)"/>
              </a:rPr>
              <a:t>, bảng tổng hợp dữ liệu </a:t>
            </a:r>
            <a:r>
              <a:rPr lang="en-US" altLang="en-US" sz="1800" b="1" smtClean="0">
                <a:solidFill>
                  <a:schemeClr val="tx1">
                    <a:lumMod val="75000"/>
                    <a:lumOff val="25000"/>
                  </a:schemeClr>
                </a:solidFill>
                <a:latin typeface="Arial (Body)"/>
              </a:rPr>
              <a:t>HĐ ĐT </a:t>
            </a:r>
            <a:r>
              <a:rPr lang="vi-VN" altLang="en-US" sz="1800" b="1" smtClean="0">
                <a:solidFill>
                  <a:schemeClr val="tx1">
                    <a:lumMod val="75000"/>
                    <a:lumOff val="25000"/>
                  </a:schemeClr>
                </a:solidFill>
                <a:latin typeface="Arial (Body)"/>
              </a:rPr>
              <a:t>đã gửi </a:t>
            </a:r>
            <a:r>
              <a:rPr lang="en-US" altLang="en-US" sz="1800" b="1" smtClean="0">
                <a:solidFill>
                  <a:schemeClr val="tx1">
                    <a:lumMod val="75000"/>
                    <a:lumOff val="25000"/>
                  </a:schemeClr>
                </a:solidFill>
                <a:latin typeface="Arial (Body)"/>
              </a:rPr>
              <a:t>CQT </a:t>
            </a:r>
            <a:r>
              <a:rPr lang="vi-VN" altLang="en-US" sz="1800" b="1" smtClean="0">
                <a:solidFill>
                  <a:schemeClr val="tx1">
                    <a:lumMod val="75000"/>
                    <a:lumOff val="25000"/>
                  </a:schemeClr>
                </a:solidFill>
                <a:latin typeface="Arial (Body)"/>
              </a:rPr>
              <a:t>có sai sót trong một số trường hợp:</a:t>
            </a:r>
            <a:endParaRPr lang="en-US" altLang="en-US" sz="1800" b="1" smtClean="0">
              <a:solidFill>
                <a:schemeClr val="tx1">
                  <a:lumMod val="75000"/>
                  <a:lumOff val="25000"/>
                </a:schemeClr>
              </a:solidFill>
              <a:latin typeface="Arial (Body)"/>
            </a:endParaRPr>
          </a:p>
          <a:p>
            <a:pPr algn="just">
              <a:buFont typeface="Wingdings 3" charset="2"/>
              <a:buChar char=""/>
              <a:defRPr/>
            </a:pPr>
            <a:endParaRPr lang="en-US" altLang="en-US" sz="1800" b="1" smtClean="0">
              <a:solidFill>
                <a:schemeClr val="tx1">
                  <a:lumMod val="75000"/>
                  <a:lumOff val="25000"/>
                </a:schemeClr>
              </a:solidFill>
              <a:latin typeface="Arial (Body)"/>
            </a:endParaRPr>
          </a:p>
          <a:p>
            <a:pPr algn="just">
              <a:buFont typeface="Wingdings 3" charset="2"/>
              <a:buChar char=""/>
              <a:defRPr/>
            </a:pPr>
            <a:r>
              <a:rPr lang="en-US" altLang="en-US" sz="2000" b="1" smtClean="0">
                <a:solidFill>
                  <a:schemeClr val="tx1">
                    <a:lumMod val="75000"/>
                    <a:lumOff val="25000"/>
                  </a:schemeClr>
                </a:solidFill>
                <a:latin typeface="Arial (Body)"/>
              </a:rPr>
              <a:t> </a:t>
            </a:r>
            <a:r>
              <a:rPr lang="vi-VN" altLang="en-US" sz="2000" b="1" smtClean="0">
                <a:solidFill>
                  <a:schemeClr val="tx1">
                    <a:lumMod val="75000"/>
                    <a:lumOff val="25000"/>
                  </a:schemeClr>
                </a:solidFill>
                <a:latin typeface="Arial (Body)"/>
              </a:rPr>
              <a:t>Đối với hóa đơn điện tử</a:t>
            </a:r>
            <a:r>
              <a:rPr lang="en-US" altLang="en-US" sz="2000" b="1" smtClean="0">
                <a:solidFill>
                  <a:schemeClr val="tx1">
                    <a:lumMod val="75000"/>
                    <a:lumOff val="25000"/>
                  </a:schemeClr>
                </a:solidFill>
                <a:latin typeface="Arial (Body)"/>
              </a:rPr>
              <a:t> </a:t>
            </a:r>
            <a:r>
              <a:rPr lang="vi-VN" altLang="en-US" sz="2000" i="1" smtClean="0">
                <a:solidFill>
                  <a:schemeClr val="tx1">
                    <a:lumMod val="75000"/>
                    <a:lumOff val="25000"/>
                  </a:schemeClr>
                </a:solidFill>
                <a:latin typeface="Arial (Body)"/>
              </a:rPr>
              <a:t>(Khoản 1 Điều 7 Thông tư 78/2021/TT-BTC)</a:t>
            </a:r>
            <a:endParaRPr lang="en-US" altLang="en-US" sz="2000" i="1" smtClean="0">
              <a:solidFill>
                <a:schemeClr val="tx1">
                  <a:lumMod val="75000"/>
                  <a:lumOff val="25000"/>
                </a:schemeClr>
              </a:solidFill>
              <a:latin typeface="Arial (Body)"/>
            </a:endParaRPr>
          </a:p>
          <a:p>
            <a:pPr algn="just">
              <a:defRPr/>
            </a:pPr>
            <a:r>
              <a:rPr lang="en-US" altLang="en-US" sz="2000" smtClean="0">
                <a:solidFill>
                  <a:schemeClr val="tx1">
                    <a:lumMod val="75000"/>
                    <a:lumOff val="25000"/>
                  </a:schemeClr>
                </a:solidFill>
                <a:latin typeface="Arial (Body)"/>
              </a:rPr>
              <a:t>HĐ ĐT đ</a:t>
            </a:r>
            <a:r>
              <a:rPr lang="vi-VN" altLang="en-US" sz="2000" smtClean="0">
                <a:solidFill>
                  <a:schemeClr val="tx1">
                    <a:lumMod val="75000"/>
                    <a:lumOff val="25000"/>
                  </a:schemeClr>
                </a:solidFill>
                <a:latin typeface="Arial (Body)"/>
              </a:rPr>
              <a:t>ã lập có sai sót thì người bán được lựa chọn thông báo việc điều chỉnh cho từng hóa đơn có sai sót hoặc thông báo việc điều chỉnh cho nhiều hóa đơn điện tử có sai sót và gửi đến </a:t>
            </a:r>
            <a:r>
              <a:rPr lang="en-US" altLang="en-US" sz="2000" smtClean="0">
                <a:solidFill>
                  <a:schemeClr val="tx1">
                    <a:lumMod val="75000"/>
                    <a:lumOff val="25000"/>
                  </a:schemeClr>
                </a:solidFill>
                <a:latin typeface="Arial (Body)"/>
              </a:rPr>
              <a:t>CQT </a:t>
            </a:r>
            <a:r>
              <a:rPr lang="vi-VN" altLang="en-US" sz="2000" smtClean="0">
                <a:solidFill>
                  <a:schemeClr val="tx1">
                    <a:lumMod val="75000"/>
                    <a:lumOff val="25000"/>
                  </a:schemeClr>
                </a:solidFill>
                <a:latin typeface="Arial (Body)"/>
              </a:rPr>
              <a:t>bất cứ thời gian nào nhưng chậm nhất là ngày cuối cùng của kỳ kê khai thuế </a:t>
            </a:r>
            <a:r>
              <a:rPr lang="en-US" altLang="en-US" sz="2000" smtClean="0">
                <a:solidFill>
                  <a:schemeClr val="tx1">
                    <a:lumMod val="75000"/>
                    <a:lumOff val="25000"/>
                  </a:schemeClr>
                </a:solidFill>
                <a:latin typeface="Arial (Body)"/>
              </a:rPr>
              <a:t>GTGT </a:t>
            </a:r>
            <a:r>
              <a:rPr lang="vi-VN" altLang="en-US" sz="2000" smtClean="0">
                <a:solidFill>
                  <a:schemeClr val="tx1">
                    <a:lumMod val="75000"/>
                    <a:lumOff val="25000"/>
                  </a:schemeClr>
                </a:solidFill>
                <a:latin typeface="Arial (Body)"/>
              </a:rPr>
              <a:t>phát sinh </a:t>
            </a:r>
            <a:r>
              <a:rPr lang="en-US" altLang="en-US" sz="2000" smtClean="0">
                <a:solidFill>
                  <a:schemeClr val="tx1">
                    <a:lumMod val="75000"/>
                    <a:lumOff val="25000"/>
                  </a:schemeClr>
                </a:solidFill>
                <a:latin typeface="Arial (Body)"/>
              </a:rPr>
              <a:t>HĐ ĐT</a:t>
            </a:r>
            <a:r>
              <a:rPr lang="vi-VN" altLang="en-US" sz="2000" smtClean="0">
                <a:solidFill>
                  <a:schemeClr val="tx1">
                    <a:lumMod val="75000"/>
                    <a:lumOff val="25000"/>
                  </a:schemeClr>
                </a:solidFill>
                <a:latin typeface="Arial (Body)"/>
              </a:rPr>
              <a:t>điều chỉnh;</a:t>
            </a:r>
          </a:p>
          <a:p>
            <a:pPr algn="just">
              <a:buFont typeface="Wingdings 3" panose="05040102010807070707" pitchFamily="18" charset="2"/>
              <a:buNone/>
              <a:defRPr/>
            </a:pPr>
            <a:r>
              <a:rPr lang="en-US" altLang="en-US" sz="2000" smtClean="0">
                <a:solidFill>
                  <a:schemeClr val="tx1">
                    <a:lumMod val="75000"/>
                    <a:lumOff val="25000"/>
                  </a:schemeClr>
                </a:solidFill>
                <a:latin typeface="Arial (Body)"/>
              </a:rPr>
              <a:t>N</a:t>
            </a:r>
            <a:r>
              <a:rPr lang="vi-VN" altLang="en-US" sz="2000" smtClean="0">
                <a:solidFill>
                  <a:schemeClr val="tx1">
                    <a:lumMod val="75000"/>
                    <a:lumOff val="25000"/>
                  </a:schemeClr>
                </a:solidFill>
                <a:latin typeface="Arial (Body)"/>
              </a:rPr>
              <a:t>gười bán lập hóa đơn khi thu tiền trước hoặc trong khi cung cấp dịch vụ sau đó có phát sinh việc hủy hoặc chấm dứt việc cung cấp dịch vụ thì người bán thực hiện hủy hóa đơn điện tử đã lập và thông báo với cơ quan thuế về việc hủy hóa đơn</a:t>
            </a:r>
            <a:r>
              <a:rPr lang="en-US" altLang="en-US" sz="2000" smtClean="0">
                <a:solidFill>
                  <a:schemeClr val="tx1">
                    <a:lumMod val="75000"/>
                    <a:lumOff val="25000"/>
                  </a:schemeClr>
                </a:solidFill>
                <a:latin typeface="Arial (Body)"/>
              </a:rPr>
              <a:t>;</a:t>
            </a:r>
            <a:endParaRPr lang="vi-VN" altLang="en-US" sz="2000" smtClean="0">
              <a:solidFill>
                <a:schemeClr val="tx1">
                  <a:lumMod val="75000"/>
                  <a:lumOff val="25000"/>
                </a:schemeClr>
              </a:solidFill>
              <a:latin typeface="Arial (Body)"/>
            </a:endParaRPr>
          </a:p>
          <a:p>
            <a:pPr algn="just">
              <a:buFont typeface="Wingdings 3" panose="05040102010807070707" pitchFamily="18" charset="2"/>
              <a:buNone/>
              <a:defRPr/>
            </a:pPr>
            <a:r>
              <a:rPr lang="en-US" altLang="en-US" sz="2000" smtClean="0">
                <a:solidFill>
                  <a:schemeClr val="tx1">
                    <a:lumMod val="75000"/>
                    <a:lumOff val="25000"/>
                  </a:schemeClr>
                </a:solidFill>
                <a:latin typeface="Arial (Body)"/>
              </a:rPr>
              <a:t>H</a:t>
            </a:r>
            <a:r>
              <a:rPr lang="vi-VN" altLang="en-US" sz="2000" smtClean="0">
                <a:solidFill>
                  <a:schemeClr val="tx1">
                    <a:lumMod val="75000"/>
                    <a:lumOff val="25000"/>
                  </a:schemeClr>
                </a:solidFill>
                <a:latin typeface="Arial (Body)"/>
              </a:rPr>
              <a:t>óa đơn điện tử đã lập có sai sót và người bán đã xử lý theo hình thức điều chỉnh hoặc thay</a:t>
            </a:r>
            <a:r>
              <a:rPr lang="en-US" altLang="en-US" sz="2000" smtClean="0">
                <a:solidFill>
                  <a:schemeClr val="tx1">
                    <a:lumMod val="75000"/>
                    <a:lumOff val="25000"/>
                  </a:schemeClr>
                </a:solidFill>
                <a:latin typeface="Arial (Body)"/>
              </a:rPr>
              <a:t> thế, </a:t>
            </a:r>
            <a:r>
              <a:rPr lang="vi-VN" altLang="en-US" sz="2000" smtClean="0">
                <a:solidFill>
                  <a:schemeClr val="tx1">
                    <a:lumMod val="75000"/>
                    <a:lumOff val="25000"/>
                  </a:schemeClr>
                </a:solidFill>
                <a:latin typeface="Arial (Body)"/>
              </a:rPr>
              <a:t>sau đó lại phát hiện hóa đơn tiếp tục có sai sót thì các lần xử lý tiếp theo người bán sẽ thực hiện theo hình thức đã áp dụng khi xử lý sai sót lần đầu;</a:t>
            </a:r>
          </a:p>
          <a:p>
            <a:pPr algn="just">
              <a:buFont typeface="Wingdings 3" panose="05040102010807070707" pitchFamily="18" charset="2"/>
              <a:buNone/>
              <a:defRPr/>
            </a:pPr>
            <a:r>
              <a:rPr lang="en-US" altLang="en-US" sz="2000" smtClean="0">
                <a:solidFill>
                  <a:schemeClr val="tx1">
                    <a:lumMod val="75000"/>
                    <a:lumOff val="25000"/>
                  </a:schemeClr>
                </a:solidFill>
                <a:latin typeface="Arial (Body)"/>
              </a:rPr>
              <a:t>Trường hợp</a:t>
            </a:r>
            <a:r>
              <a:rPr lang="vi-VN" altLang="en-US" sz="2000" smtClean="0">
                <a:solidFill>
                  <a:schemeClr val="tx1">
                    <a:lumMod val="75000"/>
                    <a:lumOff val="25000"/>
                  </a:schemeClr>
                </a:solidFill>
                <a:latin typeface="Arial (Body)"/>
              </a:rPr>
              <a:t> hóa đơn điện tử được lập không có ký hiệu mẫu số hóa đơn, ký hiệu hóa đơn, số hóa đơn có sai sót thì người bán chỉ thực hiện điều chỉnh mà không thực hiện hủy hoặc thay thế;</a:t>
            </a:r>
          </a:p>
          <a:p>
            <a:pPr algn="just">
              <a:buFont typeface="Wingdings 3" panose="05040102010807070707" pitchFamily="18" charset="2"/>
              <a:buNone/>
              <a:defRPr/>
            </a:pPr>
            <a:r>
              <a:rPr lang="en-US" altLang="en-US" sz="2000" smtClean="0">
                <a:solidFill>
                  <a:schemeClr val="tx1">
                    <a:lumMod val="75000"/>
                    <a:lumOff val="25000"/>
                  </a:schemeClr>
                </a:solidFill>
                <a:latin typeface="Arial (Body)"/>
              </a:rPr>
              <a:t>G</a:t>
            </a:r>
            <a:r>
              <a:rPr lang="vi-VN" altLang="en-US" sz="2000" smtClean="0">
                <a:solidFill>
                  <a:schemeClr val="tx1">
                    <a:lumMod val="75000"/>
                    <a:lumOff val="25000"/>
                  </a:schemeClr>
                </a:solidFill>
                <a:latin typeface="Arial (Body)"/>
              </a:rPr>
              <a:t>iá trị trên hóa đơn có sai sót thì: </a:t>
            </a:r>
            <a:r>
              <a:rPr lang="vi-VN" altLang="en-US" sz="2000" b="1" smtClean="0">
                <a:solidFill>
                  <a:schemeClr val="tx1">
                    <a:lumMod val="75000"/>
                    <a:lumOff val="25000"/>
                  </a:schemeClr>
                </a:solidFill>
                <a:latin typeface="Arial (Body)"/>
              </a:rPr>
              <a:t>điều chỉnh tăng (ghi dấu dương), điều chỉnh giảm (ghi dấu âm) đúng với thực tế điều chỉnh.</a:t>
            </a:r>
            <a:endParaRPr lang="vi-VN" altLang="en-US" sz="2000" b="1" dirty="0">
              <a:solidFill>
                <a:schemeClr val="tx1">
                  <a:lumMod val="75000"/>
                  <a:lumOff val="25000"/>
                </a:schemeClr>
              </a:solidFill>
              <a:latin typeface="Arial (Body)"/>
            </a:endParaRPr>
          </a:p>
        </p:txBody>
      </p:sp>
      <p:sp>
        <p:nvSpPr>
          <p:cNvPr id="32" name="Rectangle 31"/>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3434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30" name="Content Placeholder 2"/>
          <p:cNvSpPr txBox="1">
            <a:spLocks/>
          </p:cNvSpPr>
          <p:nvPr/>
        </p:nvSpPr>
        <p:spPr>
          <a:xfrm>
            <a:off x="603907" y="1542041"/>
            <a:ext cx="11222037" cy="3918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buFont typeface="Wingdings 3" charset="2"/>
              <a:buChar char=""/>
              <a:defRPr/>
            </a:pPr>
            <a:r>
              <a:rPr lang="vi-VN" altLang="en-US" sz="2000" b="1">
                <a:solidFill>
                  <a:schemeClr val="tx1">
                    <a:lumMod val="75000"/>
                    <a:lumOff val="25000"/>
                  </a:schemeClr>
                </a:solidFill>
                <a:latin typeface="Arial (Body)"/>
              </a:rPr>
              <a:t>Đối với bảng tổng hợp dữ liệu hóa đơn điện tử</a:t>
            </a:r>
          </a:p>
          <a:p>
            <a:pPr algn="just">
              <a:defRPr/>
            </a:pPr>
            <a:r>
              <a:rPr lang="en-US" altLang="en-US" sz="2000" smtClean="0">
                <a:solidFill>
                  <a:schemeClr val="tx1">
                    <a:lumMod val="75000"/>
                    <a:lumOff val="25000"/>
                  </a:schemeClr>
                </a:solidFill>
                <a:latin typeface="Arial (Body)"/>
              </a:rPr>
              <a:t>- </a:t>
            </a:r>
            <a:r>
              <a:rPr lang="vi-VN" altLang="en-US" sz="2000" smtClean="0">
                <a:solidFill>
                  <a:schemeClr val="tx1">
                    <a:lumMod val="75000"/>
                    <a:lumOff val="25000"/>
                  </a:schemeClr>
                </a:solidFill>
                <a:latin typeface="Arial (Body)"/>
              </a:rPr>
              <a:t>Sau </a:t>
            </a:r>
            <a:r>
              <a:rPr lang="vi-VN" altLang="en-US" sz="2000">
                <a:solidFill>
                  <a:schemeClr val="tx1">
                    <a:lumMod val="75000"/>
                    <a:lumOff val="25000"/>
                  </a:schemeClr>
                </a:solidFill>
                <a:latin typeface="Arial (Body)"/>
              </a:rPr>
              <a:t>thời hạn chuyển bảng tổng hợp dữ liệu hóa đơn điện tử đến cơ quan thuế, trường hợp thiếu dữ liệu </a:t>
            </a:r>
            <a:r>
              <a:rPr lang="vi-VN" altLang="en-US" sz="2000" smtClean="0">
                <a:solidFill>
                  <a:schemeClr val="tx1">
                    <a:lumMod val="75000"/>
                    <a:lumOff val="25000"/>
                  </a:schemeClr>
                </a:solidFill>
                <a:latin typeface="Arial (Body)"/>
              </a:rPr>
              <a:t>thì </a:t>
            </a:r>
            <a:r>
              <a:rPr lang="vi-VN" altLang="en-US" sz="2000">
                <a:solidFill>
                  <a:schemeClr val="tx1">
                    <a:lumMod val="75000"/>
                    <a:lumOff val="25000"/>
                  </a:schemeClr>
                </a:solidFill>
                <a:latin typeface="Arial (Body)"/>
              </a:rPr>
              <a:t>người bán gửi bảng tổng hợp dữ liệu hóa đơn điện tử bổ sung; </a:t>
            </a:r>
          </a:p>
          <a:p>
            <a:pPr algn="just">
              <a:defRPr/>
            </a:pPr>
            <a:r>
              <a:rPr lang="en-US" altLang="en-US" sz="2000" smtClean="0">
                <a:solidFill>
                  <a:schemeClr val="tx1">
                    <a:lumMod val="75000"/>
                    <a:lumOff val="25000"/>
                  </a:schemeClr>
                </a:solidFill>
                <a:latin typeface="Arial (Body)"/>
              </a:rPr>
              <a:t>- </a:t>
            </a:r>
            <a:r>
              <a:rPr lang="vi-VN" altLang="en-US" sz="2000" smtClean="0">
                <a:solidFill>
                  <a:schemeClr val="tx1">
                    <a:lumMod val="75000"/>
                    <a:lumOff val="25000"/>
                  </a:schemeClr>
                </a:solidFill>
                <a:latin typeface="Arial (Body)"/>
              </a:rPr>
              <a:t>Trường </a:t>
            </a:r>
            <a:r>
              <a:rPr lang="vi-VN" altLang="en-US" sz="2000">
                <a:solidFill>
                  <a:schemeClr val="tx1">
                    <a:lumMod val="75000"/>
                    <a:lumOff val="25000"/>
                  </a:schemeClr>
                </a:solidFill>
                <a:latin typeface="Arial (Body)"/>
              </a:rPr>
              <a:t>hợp bảng tổng hợp dữ liệu hóa đơn điện tử đã gửi cơ quan thuế có sai sót thì người bán gửi thông tin điều chỉnh cho các thông tin đã kê khai trên bảng tổng hợp;</a:t>
            </a:r>
          </a:p>
          <a:p>
            <a:pPr algn="just">
              <a:defRPr/>
            </a:pPr>
            <a:r>
              <a:rPr lang="en-US" altLang="en-US" sz="2000" smtClean="0">
                <a:solidFill>
                  <a:schemeClr val="tx1">
                    <a:lumMod val="75000"/>
                    <a:lumOff val="25000"/>
                  </a:schemeClr>
                </a:solidFill>
                <a:latin typeface="Arial (Body)"/>
              </a:rPr>
              <a:t>- </a:t>
            </a:r>
            <a:r>
              <a:rPr lang="vi-VN" altLang="en-US" sz="2000" smtClean="0">
                <a:solidFill>
                  <a:schemeClr val="tx1">
                    <a:lumMod val="75000"/>
                    <a:lumOff val="25000"/>
                  </a:schemeClr>
                </a:solidFill>
                <a:latin typeface="Arial (Body)"/>
              </a:rPr>
              <a:t>Việc </a:t>
            </a:r>
            <a:r>
              <a:rPr lang="vi-VN" altLang="en-US" sz="2000">
                <a:solidFill>
                  <a:schemeClr val="tx1">
                    <a:lumMod val="75000"/>
                    <a:lumOff val="25000"/>
                  </a:schemeClr>
                </a:solidFill>
                <a:latin typeface="Arial (Body)"/>
              </a:rPr>
              <a:t>điều chỉnh hóa đơn trên bảng tổng hợp dữ liệu hóa đơn điện tử theo </a:t>
            </a:r>
            <a:r>
              <a:rPr lang="vi-VN" altLang="en-US" sz="2000" smtClean="0">
                <a:solidFill>
                  <a:schemeClr val="tx1">
                    <a:lumMod val="75000"/>
                    <a:lumOff val="25000"/>
                  </a:schemeClr>
                </a:solidFill>
                <a:latin typeface="Arial (Body)"/>
              </a:rPr>
              <a:t>thì </a:t>
            </a:r>
            <a:r>
              <a:rPr lang="vi-VN" altLang="en-US" sz="2000">
                <a:solidFill>
                  <a:schemeClr val="tx1">
                    <a:lumMod val="75000"/>
                    <a:lumOff val="25000"/>
                  </a:schemeClr>
                </a:solidFill>
                <a:latin typeface="Arial (Body)"/>
              </a:rPr>
              <a:t>phải điền đủ các thông tin: ký hiệu mẫu số hóa đơn, ký hiệu hóa đơn, số hóa đơn vào cột 14 “thông tin hóa đơn liên quan” tại Mẫu 01/TH-HĐĐT ban hành kèm theo Nghị định số </a:t>
            </a:r>
            <a:r>
              <a:rPr lang="vi-VN" altLang="en-US" sz="2000" smtClean="0">
                <a:solidFill>
                  <a:schemeClr val="tx1">
                    <a:lumMod val="75000"/>
                    <a:lumOff val="25000"/>
                  </a:schemeClr>
                </a:solidFill>
                <a:latin typeface="Arial (Body)"/>
              </a:rPr>
              <a:t>123/2020/NĐ-CP</a:t>
            </a:r>
            <a:r>
              <a:rPr lang="en-US" altLang="en-US" sz="2000" smtClean="0">
                <a:solidFill>
                  <a:schemeClr val="tx1">
                    <a:lumMod val="75000"/>
                    <a:lumOff val="25000"/>
                  </a:schemeClr>
                </a:solidFill>
                <a:latin typeface="Arial (Body)"/>
              </a:rPr>
              <a:t>.</a:t>
            </a:r>
            <a:endParaRPr lang="vi-VN" altLang="en-US" sz="2000">
              <a:solidFill>
                <a:schemeClr val="tx1">
                  <a:lumMod val="75000"/>
                  <a:lumOff val="25000"/>
                </a:schemeClr>
              </a:solidFill>
              <a:latin typeface="Arial (Body)"/>
            </a:endParaRPr>
          </a:p>
          <a:p>
            <a:pPr algn="just">
              <a:defRPr/>
            </a:pPr>
            <a:r>
              <a:rPr lang="vi-VN" altLang="en-US" sz="2000" i="1">
                <a:solidFill>
                  <a:schemeClr val="tx1">
                    <a:lumMod val="75000"/>
                    <a:lumOff val="25000"/>
                  </a:schemeClr>
                </a:solidFill>
                <a:latin typeface="Arial (Body)"/>
              </a:rPr>
              <a:t>(Khoản 2 Điều 7 Thông tư 78/2021/TT-BTC)</a:t>
            </a:r>
          </a:p>
          <a:p>
            <a:pPr algn="just">
              <a:buFont typeface="Wingdings 3" charset="2"/>
              <a:buChar char=""/>
              <a:defRPr/>
            </a:pPr>
            <a:r>
              <a:rPr lang="vi-VN" altLang="en-US" sz="2000">
                <a:solidFill>
                  <a:schemeClr val="tx1">
                    <a:lumMod val="75000"/>
                    <a:lumOff val="25000"/>
                  </a:schemeClr>
                </a:solidFill>
                <a:latin typeface="Arial (Body)"/>
              </a:rPr>
              <a:t>Việc khai bổ sung hồ sơ khai thuế liên quan các hóa đơn điện tử điều chỉnh, thay thế (bao gồm cả hóa đơn điện tử bị hủy) thực hiện theo quy định của pháp luật quản lý thuế.</a:t>
            </a:r>
          </a:p>
          <a:p>
            <a:pPr algn="just">
              <a:defRPr/>
            </a:pPr>
            <a:r>
              <a:rPr lang="vi-VN" altLang="en-US" sz="2000" i="1">
                <a:solidFill>
                  <a:schemeClr val="tx1">
                    <a:lumMod val="75000"/>
                    <a:lumOff val="25000"/>
                  </a:schemeClr>
                </a:solidFill>
                <a:latin typeface="Arial (Body)"/>
              </a:rPr>
              <a:t>(Khoản 3 Điều 7 Thông tư 78/2021/TT-BTC)</a:t>
            </a:r>
            <a:endParaRPr lang="vi-VN" altLang="en-US" sz="2000" i="1" dirty="0">
              <a:solidFill>
                <a:schemeClr val="tx1">
                  <a:lumMod val="75000"/>
                  <a:lumOff val="25000"/>
                </a:schemeClr>
              </a:solidFill>
              <a:latin typeface="Arial (Body)"/>
            </a:endParaRPr>
          </a:p>
        </p:txBody>
      </p:sp>
      <p:sp>
        <p:nvSpPr>
          <p:cNvPr id="13" name="Content Placeholder 2"/>
          <p:cNvSpPr txBox="1">
            <a:spLocks/>
          </p:cNvSpPr>
          <p:nvPr/>
        </p:nvSpPr>
        <p:spPr>
          <a:xfrm>
            <a:off x="603906" y="1041986"/>
            <a:ext cx="11222037" cy="39188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vi-VN" altLang="en-US" sz="1800" b="1" smtClean="0">
                <a:solidFill>
                  <a:schemeClr val="tx1">
                    <a:lumMod val="75000"/>
                    <a:lumOff val="25000"/>
                  </a:schemeClr>
                </a:solidFill>
                <a:latin typeface="Arial (Body)"/>
              </a:rPr>
              <a:t>Xử</a:t>
            </a:r>
            <a:r>
              <a:rPr lang="en-US" altLang="en-US" sz="1800" b="1" smtClean="0">
                <a:solidFill>
                  <a:schemeClr val="tx1">
                    <a:lumMod val="75000"/>
                    <a:lumOff val="25000"/>
                  </a:schemeClr>
                </a:solidFill>
                <a:latin typeface="Arial (Body)"/>
              </a:rPr>
              <a:t> lý HĐ ĐT</a:t>
            </a:r>
            <a:r>
              <a:rPr lang="vi-VN" altLang="en-US" sz="1800" b="1" smtClean="0">
                <a:solidFill>
                  <a:schemeClr val="tx1">
                    <a:lumMod val="75000"/>
                    <a:lumOff val="25000"/>
                  </a:schemeClr>
                </a:solidFill>
                <a:latin typeface="Arial (Body)"/>
              </a:rPr>
              <a:t>, bảng tổng hợp dữ liệu </a:t>
            </a:r>
            <a:r>
              <a:rPr lang="en-US" altLang="en-US" sz="1800" b="1" smtClean="0">
                <a:solidFill>
                  <a:schemeClr val="tx1">
                    <a:lumMod val="75000"/>
                    <a:lumOff val="25000"/>
                  </a:schemeClr>
                </a:solidFill>
                <a:latin typeface="Arial (Body)"/>
              </a:rPr>
              <a:t>HĐ ĐT </a:t>
            </a:r>
            <a:r>
              <a:rPr lang="vi-VN" altLang="en-US" sz="1800" b="1" smtClean="0">
                <a:solidFill>
                  <a:schemeClr val="tx1">
                    <a:lumMod val="75000"/>
                    <a:lumOff val="25000"/>
                  </a:schemeClr>
                </a:solidFill>
                <a:latin typeface="Arial (Body)"/>
              </a:rPr>
              <a:t>đã gửi </a:t>
            </a:r>
            <a:r>
              <a:rPr lang="en-US" altLang="en-US" sz="1800" b="1" smtClean="0">
                <a:solidFill>
                  <a:schemeClr val="tx1">
                    <a:lumMod val="75000"/>
                    <a:lumOff val="25000"/>
                  </a:schemeClr>
                </a:solidFill>
                <a:latin typeface="Arial (Body)"/>
              </a:rPr>
              <a:t>CQT </a:t>
            </a:r>
            <a:r>
              <a:rPr lang="vi-VN" altLang="en-US" sz="1800" b="1" smtClean="0">
                <a:solidFill>
                  <a:schemeClr val="tx1">
                    <a:lumMod val="75000"/>
                    <a:lumOff val="25000"/>
                  </a:schemeClr>
                </a:solidFill>
                <a:latin typeface="Arial (Body)"/>
              </a:rPr>
              <a:t>có sai sót trong một số trường hợp:</a:t>
            </a:r>
            <a:endParaRPr lang="en-US" altLang="en-US" sz="1800" b="1" smtClean="0">
              <a:solidFill>
                <a:schemeClr val="tx1">
                  <a:lumMod val="75000"/>
                  <a:lumOff val="25000"/>
                </a:schemeClr>
              </a:solidFill>
              <a:latin typeface="Arial (Body)"/>
            </a:endParaRPr>
          </a:p>
        </p:txBody>
      </p:sp>
      <p:sp>
        <p:nvSpPr>
          <p:cNvPr id="17" name="Rectangle 16"/>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11. </a:t>
            </a:r>
            <a:r>
              <a:rPr lang="vi-VN" sz="2200" b="1" smtClean="0">
                <a:solidFill>
                  <a:schemeClr val="accent1">
                    <a:lumMod val="50000"/>
                  </a:schemeClr>
                </a:solidFill>
                <a:latin typeface="Arial "/>
                <a:cs typeface="Times New Roman" panose="02020603050405020304" pitchFamily="18" charset="0"/>
              </a:rPr>
              <a:t>XỬ LÝ HÓA ĐƠN ĐIỆN</a:t>
            </a:r>
            <a:r>
              <a:rPr lang="en-US" sz="2200" b="1" smtClean="0">
                <a:solidFill>
                  <a:schemeClr val="accent1">
                    <a:lumMod val="50000"/>
                  </a:schemeClr>
                </a:solidFill>
                <a:latin typeface="Arial "/>
                <a:cs typeface="Times New Roman" panose="02020603050405020304" pitchFamily="18" charset="0"/>
              </a:rPr>
              <a:t> </a:t>
            </a:r>
            <a:r>
              <a:rPr lang="vi-VN" sz="2200" b="1" smtClean="0">
                <a:solidFill>
                  <a:schemeClr val="accent1">
                    <a:lumMod val="50000"/>
                  </a:schemeClr>
                </a:solidFill>
                <a:latin typeface="Arial "/>
                <a:cs typeface="Times New Roman" panose="02020603050405020304" pitchFamily="18" charset="0"/>
              </a:rPr>
              <a:t>TỬ CÓ SAI SÓT </a:t>
            </a:r>
            <a:endParaRPr lang="vi-VN" sz="2200" b="1">
              <a:solidFill>
                <a:schemeClr val="accent1">
                  <a:lumMod val="50000"/>
                </a:schemeClr>
              </a:solidFill>
              <a:latin typeface="Arial "/>
            </a:endParaRPr>
          </a:p>
        </p:txBody>
      </p:sp>
      <p:sp>
        <p:nvSpPr>
          <p:cNvPr id="19" name="Oval 18"/>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1492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0778" y="107520"/>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Content Placeholder 2"/>
          <p:cNvSpPr txBox="1">
            <a:spLocks/>
          </p:cNvSpPr>
          <p:nvPr/>
        </p:nvSpPr>
        <p:spPr>
          <a:xfrm>
            <a:off x="652935" y="555291"/>
            <a:ext cx="11287125" cy="348525"/>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3" panose="05040102010807070707" pitchFamily="18" charset="2"/>
              <a:buNone/>
            </a:pPr>
            <a:endParaRPr lang="en-US" altLang="en-US" i="1">
              <a:latin typeface="Arial" panose="020B0604020202020204" pitchFamily="34" charset="0"/>
              <a:cs typeface="Arial" panose="020B0604020202020204" pitchFamily="34" charset="0"/>
            </a:endParaRPr>
          </a:p>
        </p:txBody>
      </p:sp>
      <p:sp>
        <p:nvSpPr>
          <p:cNvPr id="47" name="TextBox 46"/>
          <p:cNvSpPr txBox="1"/>
          <p:nvPr/>
        </p:nvSpPr>
        <p:spPr>
          <a:xfrm>
            <a:off x="1309301" y="221179"/>
            <a:ext cx="9900431" cy="430887"/>
          </a:xfrm>
          <a:prstGeom prst="rect">
            <a:avLst/>
          </a:prstGeom>
          <a:noFill/>
        </p:spPr>
        <p:txBody>
          <a:bodyPr wrap="square" rtlCol="0">
            <a:spAutoFit/>
          </a:bodyPr>
          <a:lstStyle/>
          <a:p>
            <a:pPr algn="ctr"/>
            <a:r>
              <a:rPr lang="en-US" sz="2200" b="1" smtClean="0">
                <a:solidFill>
                  <a:schemeClr val="accent1">
                    <a:lumMod val="50000"/>
                  </a:schemeClr>
                </a:solidFill>
                <a:latin typeface="Arial "/>
                <a:cs typeface="Times New Roman" panose="02020603050405020304" pitchFamily="18" charset="0"/>
              </a:rPr>
              <a:t>12. </a:t>
            </a:r>
            <a:r>
              <a:rPr lang="vi-VN" sz="2200" b="1" smtClean="0">
                <a:solidFill>
                  <a:schemeClr val="accent1">
                    <a:lumMod val="50000"/>
                  </a:schemeClr>
                </a:solidFill>
                <a:latin typeface="Arial "/>
                <a:cs typeface="Times New Roman" panose="02020603050405020304" pitchFamily="18" charset="0"/>
              </a:rPr>
              <a:t>CHUYỂN ĐỔI HÓA ĐƠN ĐIỆN TỬ THÀNH HÓA ĐƠN GIẤY</a:t>
            </a:r>
            <a:endParaRPr lang="vi-VN" sz="2200" b="1">
              <a:solidFill>
                <a:schemeClr val="accent1">
                  <a:lumMod val="50000"/>
                </a:schemeClr>
              </a:solidFill>
              <a:latin typeface="Arial "/>
            </a:endParaRPr>
          </a:p>
        </p:txBody>
      </p:sp>
      <p:sp>
        <p:nvSpPr>
          <p:cNvPr id="19" name="Rectangle 18"/>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p:cNvSpPr txBox="1">
            <a:spLocks/>
          </p:cNvSpPr>
          <p:nvPr/>
        </p:nvSpPr>
        <p:spPr>
          <a:xfrm>
            <a:off x="5117376" y="892576"/>
            <a:ext cx="6492286" cy="5470795"/>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buFont typeface="Wingdings 3" charset="2"/>
              <a:buChar char=""/>
              <a:defRPr/>
            </a:pPr>
            <a:r>
              <a:rPr lang="vi-VN" altLang="en-US" smtClean="0">
                <a:solidFill>
                  <a:schemeClr val="tx1">
                    <a:lumMod val="75000"/>
                    <a:lumOff val="25000"/>
                  </a:schemeClr>
                </a:solidFill>
                <a:latin typeface="Arial (Body)"/>
              </a:rPr>
              <a:t>Hóa đơn điện tử, chứng từ điện tử hợp pháp được chuyển đổi thành hóa đơn, chứng từ giấy khi có yêu cầu nghiệp vụ kinh tế, tài chính phát sinh hoặc theo yêu cầu của cơ quan quản lý thuế, cơ quan kiểm toán, thanh tra, kiểm tra, điều tra và theo quy định của pháp luật về thanh tra, kiểm tra và điều tra.</a:t>
            </a:r>
          </a:p>
          <a:p>
            <a:pPr algn="just">
              <a:buFont typeface="Wingdings 3" charset="2"/>
              <a:buChar char=""/>
              <a:defRPr/>
            </a:pPr>
            <a:r>
              <a:rPr lang="vi-VN" altLang="en-US" smtClean="0">
                <a:solidFill>
                  <a:schemeClr val="tx1">
                    <a:lumMod val="75000"/>
                    <a:lumOff val="25000"/>
                  </a:schemeClr>
                </a:solidFill>
                <a:latin typeface="Arial (Body)"/>
              </a:rPr>
              <a:t>Việc chuyển đổi hóa đơn điện tử, chứng từ điện tử thành hóa đơn, chứng từ giấy phải bảo đảm sự khớp đúng giữa nội dung của hóa đơn điện tử, chứng từ điện tử và hóa đơn, chứng từ giấy sau khi chuyển đổi.</a:t>
            </a:r>
          </a:p>
          <a:p>
            <a:pPr algn="just">
              <a:buFont typeface="Wingdings 3" charset="2"/>
              <a:buChar char=""/>
              <a:defRPr/>
            </a:pPr>
            <a:r>
              <a:rPr lang="vi-VN" altLang="en-US" b="1" smtClean="0">
                <a:solidFill>
                  <a:schemeClr val="tx1">
                    <a:lumMod val="75000"/>
                    <a:lumOff val="25000"/>
                  </a:schemeClr>
                </a:solidFill>
                <a:latin typeface="Arial (Body)"/>
              </a:rPr>
              <a:t>Hóa đơn điện tử, chứng từ điện tử được chuyển đổi thành hóa đơn, chứng từ giấy </a:t>
            </a:r>
            <a:r>
              <a:rPr lang="vi-VN" altLang="en-US" smtClean="0">
                <a:solidFill>
                  <a:schemeClr val="tx1">
                    <a:lumMod val="75000"/>
                    <a:lumOff val="25000"/>
                  </a:schemeClr>
                </a:solidFill>
                <a:latin typeface="Arial (Body)"/>
              </a:rPr>
              <a:t>thì hóa đơn, chứng từ giấy chỉ có </a:t>
            </a:r>
            <a:r>
              <a:rPr lang="vi-VN" altLang="en-US" b="1" smtClean="0">
                <a:solidFill>
                  <a:schemeClr val="tx1">
                    <a:lumMod val="75000"/>
                    <a:lumOff val="25000"/>
                  </a:schemeClr>
                </a:solidFill>
                <a:latin typeface="Arial (Body)"/>
              </a:rPr>
              <a:t>giá trị lưu giữ để ghi sổ</a:t>
            </a:r>
            <a:r>
              <a:rPr lang="vi-VN" altLang="en-US" smtClean="0">
                <a:solidFill>
                  <a:schemeClr val="tx1">
                    <a:lumMod val="75000"/>
                    <a:lumOff val="25000"/>
                  </a:schemeClr>
                </a:solidFill>
                <a:latin typeface="Arial (Body)"/>
              </a:rPr>
              <a:t>, theo dõi theo quy định của pháp luật về kế toán, pháp luật về giao dịch điện tử, </a:t>
            </a:r>
            <a:r>
              <a:rPr lang="vi-VN" altLang="en-US" b="1" smtClean="0">
                <a:solidFill>
                  <a:schemeClr val="tx1">
                    <a:lumMod val="75000"/>
                    <a:lumOff val="25000"/>
                  </a:schemeClr>
                </a:solidFill>
                <a:latin typeface="Arial (Body)"/>
              </a:rPr>
              <a:t>không có hiệu lực để giao dịch, thanh toán</a:t>
            </a:r>
            <a:r>
              <a:rPr lang="vi-VN" altLang="en-US" smtClean="0">
                <a:solidFill>
                  <a:schemeClr val="tx1">
                    <a:lumMod val="75000"/>
                    <a:lumOff val="25000"/>
                  </a:schemeClr>
                </a:solidFill>
                <a:latin typeface="Arial (Body)"/>
              </a:rPr>
              <a:t>, trừ trường hợp hóa đơn được khởi tạo từ máy tính tiền có kết nối chuyển dữ liệu điện tử với cơ quan thuế theo quy định tại Nghị định này.</a:t>
            </a:r>
          </a:p>
          <a:p>
            <a:pPr algn="just">
              <a:defRPr/>
            </a:pPr>
            <a:r>
              <a:rPr lang="vi-VN" altLang="en-US" i="1" smtClean="0">
                <a:solidFill>
                  <a:schemeClr val="tx1">
                    <a:lumMod val="75000"/>
                    <a:lumOff val="25000"/>
                  </a:schemeClr>
                </a:solidFill>
                <a:latin typeface="Arial (Body)"/>
              </a:rPr>
              <a:t>(Điều 7 Nghị định số 123/2020/NĐ-CP).</a:t>
            </a:r>
          </a:p>
          <a:p>
            <a:pPr>
              <a:buFont typeface="Wingdings 3" charset="2"/>
              <a:buChar char=""/>
              <a:defRPr/>
            </a:pPr>
            <a:endParaRPr lang="en-US" sz="1600" smtClean="0">
              <a:solidFill>
                <a:schemeClr val="tx1">
                  <a:lumMod val="75000"/>
                  <a:lumOff val="25000"/>
                </a:schemeClr>
              </a:solidFill>
              <a:cs typeface="Arial" panose="020B0604020202020204" pitchFamily="34" charset="0"/>
            </a:endParaRPr>
          </a:p>
          <a:p>
            <a:pPr>
              <a:buFont typeface="Wingdings 3" charset="2"/>
              <a:buChar char=""/>
              <a:defRPr/>
            </a:pPr>
            <a:endParaRPr lang="en-US" sz="1600" smtClean="0">
              <a:solidFill>
                <a:schemeClr val="tx1">
                  <a:lumMod val="75000"/>
                  <a:lumOff val="25000"/>
                </a:schemeClr>
              </a:solidFill>
              <a:cs typeface="Arial" panose="020B0604020202020204" pitchFamily="34" charset="0"/>
            </a:endParaRPr>
          </a:p>
          <a:p>
            <a:pPr algn="just">
              <a:buFont typeface="Wingdings 3" panose="05040102010807070707" pitchFamily="18" charset="2"/>
              <a:buNone/>
              <a:defRPr/>
            </a:pPr>
            <a:endParaRPr lang="en-US" altLang="en-US" b="1" smtClean="0">
              <a:solidFill>
                <a:schemeClr val="tx1">
                  <a:lumMod val="75000"/>
                  <a:lumOff val="25000"/>
                </a:schemeClr>
              </a:solidFill>
              <a:latin typeface="Arial (Body)"/>
            </a:endParaRPr>
          </a:p>
          <a:p>
            <a:pPr algn="just">
              <a:buFont typeface="Wingdings 3" panose="05040102010807070707" pitchFamily="18" charset="2"/>
              <a:buNone/>
              <a:defRPr/>
            </a:pPr>
            <a:endParaRPr lang="vi-VN" altLang="en-US" i="1" dirty="0">
              <a:solidFill>
                <a:schemeClr val="tx1">
                  <a:lumMod val="75000"/>
                  <a:lumOff val="25000"/>
                </a:schemeClr>
              </a:solidFill>
              <a:latin typeface="Arial (Body)"/>
            </a:endParaRPr>
          </a:p>
        </p:txBody>
      </p:sp>
      <p:sp>
        <p:nvSpPr>
          <p:cNvPr id="14" name="Oval 13"/>
          <p:cNvSpPr/>
          <p:nvPr/>
        </p:nvSpPr>
        <p:spPr>
          <a:xfrm>
            <a:off x="11162579" y="0"/>
            <a:ext cx="1029421" cy="95818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8263" y="101776"/>
            <a:ext cx="759282" cy="75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7"/>
          <p:cNvPicPr>
            <a:picLocks noChangeAspect="1"/>
          </p:cNvPicPr>
          <p:nvPr/>
        </p:nvPicPr>
        <p:blipFill>
          <a:blip r:embed="rId3"/>
          <a:stretch>
            <a:fillRect/>
          </a:stretch>
        </p:blipFill>
        <p:spPr>
          <a:xfrm>
            <a:off x="187402" y="986320"/>
            <a:ext cx="4694087" cy="4978382"/>
          </a:xfrm>
          <a:prstGeom prst="rect">
            <a:avLst/>
          </a:prstGeom>
          <a:solidFill>
            <a:schemeClr val="accent1"/>
          </a:solidFill>
        </p:spPr>
      </p:pic>
    </p:spTree>
    <p:extLst>
      <p:ext uri="{BB962C8B-B14F-4D97-AF65-F5344CB8AC3E}">
        <p14:creationId xmlns:p14="http://schemas.microsoft.com/office/powerpoint/2010/main" val="2405121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3259" y="143691"/>
            <a:ext cx="809142" cy="718458"/>
          </a:xfrm>
          <a:prstGeom prst="rect">
            <a:avLst/>
          </a:prstGeom>
          <a:solidFill>
            <a:schemeClr val="accent1">
              <a:lumMod val="75000"/>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469" y="143691"/>
            <a:ext cx="10868297" cy="718458"/>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100" b="1" smtClean="0">
              <a:solidFill>
                <a:schemeClr val="accent1">
                  <a:lumMod val="50000"/>
                </a:schemeClr>
              </a:solidFill>
              <a:latin typeface="Arial (Body)"/>
            </a:endParaRPr>
          </a:p>
        </p:txBody>
      </p:sp>
      <p:sp>
        <p:nvSpPr>
          <p:cNvPr id="8" name="Rectangle 7"/>
          <p:cNvSpPr/>
          <p:nvPr/>
        </p:nvSpPr>
        <p:spPr>
          <a:xfrm>
            <a:off x="187402" y="232118"/>
            <a:ext cx="487345" cy="463227"/>
          </a:xfrm>
          <a:prstGeom prst="rect">
            <a:avLst/>
          </a:prstGeom>
          <a:solidFill>
            <a:schemeClr val="accent1">
              <a:lumMod val="75000"/>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1440" y="65314"/>
            <a:ext cx="339635" cy="365760"/>
          </a:xfrm>
          <a:prstGeom prst="rect">
            <a:avLst/>
          </a:prstGeom>
          <a:solidFill>
            <a:schemeClr val="accent1">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372" y="568733"/>
            <a:ext cx="339635" cy="361744"/>
          </a:xfrm>
          <a:prstGeom prst="rect">
            <a:avLst/>
          </a:prstGeom>
          <a:solidFill>
            <a:schemeClr val="accent1">
              <a:alpha val="7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03907" y="695345"/>
            <a:ext cx="274822" cy="255231"/>
          </a:xfrm>
          <a:prstGeom prst="rect">
            <a:avLst/>
          </a:prstGeom>
          <a:solidFill>
            <a:schemeClr val="accent1">
              <a:lumMod val="40000"/>
              <a:lumOff val="60000"/>
              <a:alpha val="8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03907" y="232118"/>
            <a:ext cx="288890" cy="336615"/>
          </a:xfrm>
          <a:prstGeom prst="rect">
            <a:avLst/>
          </a:prstGeom>
          <a:solidFill>
            <a:schemeClr val="accent1">
              <a:lumMod val="20000"/>
              <a:lumOff val="80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87402" y="6683325"/>
            <a:ext cx="11752658" cy="9847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6517" y="1049046"/>
            <a:ext cx="1069706" cy="106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Shape 491"/>
          <p:cNvSpPr txBox="1">
            <a:spLocks noGrp="1"/>
          </p:cNvSpPr>
          <p:nvPr>
            <p:ph type="ctrTitle" idx="4294967295"/>
          </p:nvPr>
        </p:nvSpPr>
        <p:spPr>
          <a:xfrm>
            <a:off x="410362" y="3066923"/>
            <a:ext cx="11588092" cy="848913"/>
          </a:xfrm>
          <a:prstGeom prst="rect">
            <a:avLst/>
          </a:prstGeom>
          <a:noFill/>
          <a:ln>
            <a:noFill/>
          </a:ln>
        </p:spPr>
        <p:txBody>
          <a:bodyPr lIns="91425" tIns="91425" rIns="91425" bIns="91425" anchor="b" anchorCtr="0">
            <a:noAutofit/>
          </a:bodyPr>
          <a:lstStyle/>
          <a:p>
            <a:pPr lvl="0" algn="ctr">
              <a:spcBef>
                <a:spcPts val="11400"/>
              </a:spcBef>
            </a:pPr>
            <a:r>
              <a:rPr lang="vi-VN" sz="4000" b="1">
                <a:solidFill>
                  <a:schemeClr val="accent5">
                    <a:lumMod val="50000"/>
                  </a:schemeClr>
                </a:solidFill>
                <a:latin typeface="Arial" panose="020B0604020202020204" pitchFamily="34" charset="0"/>
                <a:cs typeface="Arial" panose="020B0604020202020204" pitchFamily="34" charset="0"/>
              </a:rPr>
              <a:t>GIẢI ĐÁP CÁC VƯỚNG MẮC </a:t>
            </a:r>
            <a:endParaRPr lang="en" sz="4000" b="1" dirty="0">
              <a:solidFill>
                <a:schemeClr val="accent5">
                  <a:lumMod val="50000"/>
                </a:schemeClr>
              </a:solidFill>
              <a:latin typeface="Arial" panose="020B0604020202020204" pitchFamily="34" charset="0"/>
              <a:cs typeface="Arial" panose="020B0604020202020204" pitchFamily="34" charset="0"/>
            </a:endParaRPr>
          </a:p>
        </p:txBody>
      </p:sp>
      <p:sp>
        <p:nvSpPr>
          <p:cNvPr id="23" name="Shape 491"/>
          <p:cNvSpPr txBox="1">
            <a:spLocks noGrp="1"/>
          </p:cNvSpPr>
          <p:nvPr>
            <p:ph type="ctrTitle" idx="4294967295"/>
          </p:nvPr>
        </p:nvSpPr>
        <p:spPr>
          <a:xfrm>
            <a:off x="3796135" y="2064543"/>
            <a:ext cx="4602277" cy="476299"/>
          </a:xfrm>
          <a:prstGeom prst="rect">
            <a:avLst/>
          </a:prstGeom>
          <a:noFill/>
          <a:ln>
            <a:noFill/>
          </a:ln>
        </p:spPr>
        <p:txBody>
          <a:bodyPr lIns="91425" tIns="91425" rIns="91425" bIns="91425" anchor="b" anchorCtr="0">
            <a:noAutofit/>
          </a:bodyPr>
          <a:lstStyle/>
          <a:p>
            <a:pPr lvl="0" algn="ctr">
              <a:spcBef>
                <a:spcPts val="11400"/>
              </a:spcBef>
            </a:pPr>
            <a:r>
              <a:rPr lang="en" sz="1800" b="1" smtClean="0">
                <a:solidFill>
                  <a:srgbClr val="FF0000"/>
                </a:solidFill>
                <a:latin typeface="Times New Roman" panose="02020603050405020304" pitchFamily="18" charset="0"/>
                <a:cs typeface="Times New Roman" panose="02020603050405020304" pitchFamily="18" charset="0"/>
              </a:rPr>
              <a:t>CỤC THUẾ TỈNH PHÚ THỌ</a:t>
            </a:r>
            <a:endParaRPr lang="en" sz="1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49" y="4149970"/>
            <a:ext cx="11152107" cy="2409997"/>
          </a:xfrm>
          <a:prstGeom prst="rect">
            <a:avLst/>
          </a:prstGeom>
        </p:spPr>
      </p:pic>
    </p:spTree>
    <p:extLst>
      <p:ext uri="{BB962C8B-B14F-4D97-AF65-F5344CB8AC3E}">
        <p14:creationId xmlns:p14="http://schemas.microsoft.com/office/powerpoint/2010/main" val="717150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6070EC7B8CDA46B67D0AB247BB0995" ma:contentTypeVersion="17" ma:contentTypeDescription="Create a new document." ma:contentTypeScope="" ma:versionID="6208f6ef4f99ac4220cc73d428f7a3be">
  <xsd:schema xmlns:xsd="http://www.w3.org/2001/XMLSchema" xmlns:xs="http://www.w3.org/2001/XMLSchema" xmlns:p="http://schemas.microsoft.com/office/2006/metadata/properties" xmlns:ns2="3841c666-fd63-40bc-beef-ced2745222d3" xmlns:ns3="097e1a6a-fc06-45b2-8873-15e0270064ac" xmlns:ns4="4243d5be-521d-4052-81ca-f0f31ea6f2da" targetNamespace="http://schemas.microsoft.com/office/2006/metadata/properties" ma:root="true" ma:fieldsID="811c77fad17e661c7daf78d2eb917f1e" ns2:_="" ns3:_="" ns4:_="">
    <xsd:import namespace="3841c666-fd63-40bc-beef-ced2745222d3"/>
    <xsd:import namespace="097e1a6a-fc06-45b2-8873-15e0270064ac"/>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1c666-fd63-40bc-beef-ced2745222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97e1a6a-fc06-45b2-8873-15e0270064a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735b32c-89d7-4def-8826-2e55c195f91e}" ma:internalName="TaxCatchAll" ma:showField="CatchAllData" ma:web="097e1a6a-fc06-45b2-8873-15e0270064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841c666-fd63-40bc-beef-ced2745222d3">
      <Terms xmlns="http://schemas.microsoft.com/office/infopath/2007/PartnerControls"/>
    </lcf76f155ced4ddcb4097134ff3c332f>
    <TaxCatchAll xmlns="4243d5be-521d-4052-81ca-f0f31ea6f2da" xsi:nil="true"/>
  </documentManagement>
</p:properties>
</file>

<file path=customXml/itemProps1.xml><?xml version="1.0" encoding="utf-8"?>
<ds:datastoreItem xmlns:ds="http://schemas.openxmlformats.org/officeDocument/2006/customXml" ds:itemID="{1FC14042-1585-4803-9E73-4EBF54777A4F}"/>
</file>

<file path=customXml/itemProps2.xml><?xml version="1.0" encoding="utf-8"?>
<ds:datastoreItem xmlns:ds="http://schemas.openxmlformats.org/officeDocument/2006/customXml" ds:itemID="{6725DE39-37AE-48C3-B14B-C9A2D0750F32}"/>
</file>

<file path=customXml/itemProps3.xml><?xml version="1.0" encoding="utf-8"?>
<ds:datastoreItem xmlns:ds="http://schemas.openxmlformats.org/officeDocument/2006/customXml" ds:itemID="{AA521FDB-14B2-4332-9A9E-BF034339E65C}"/>
</file>

<file path=docProps/app.xml><?xml version="1.0" encoding="utf-8"?>
<Properties xmlns="http://schemas.openxmlformats.org/officeDocument/2006/extended-properties" xmlns:vt="http://schemas.openxmlformats.org/officeDocument/2006/docPropsVTypes">
  <TotalTime>546</TotalTime>
  <Words>6414</Words>
  <Application>Microsoft Office PowerPoint</Application>
  <PresentationFormat>Widescreen</PresentationFormat>
  <Paragraphs>401</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Arial</vt:lpstr>
      <vt:lpstr>Arial </vt:lpstr>
      <vt:lpstr>Arial (Body)</vt:lpstr>
      <vt:lpstr>Calibri</vt:lpstr>
      <vt:lpstr>Calibri Light</vt:lpstr>
      <vt:lpstr>DejaVu Sans</vt:lpstr>
      <vt:lpstr>Tahoma</vt:lpstr>
      <vt:lpstr>Times New Roman</vt:lpstr>
      <vt:lpstr>Trebuchet MS</vt:lpstr>
      <vt:lpstr>Wingdings</vt:lpstr>
      <vt:lpstr>Wingdings 3</vt:lpstr>
      <vt:lpstr>Office Theme</vt:lpstr>
      <vt:lpstr>MỘT SỐ NỘI DUNG VỀ HÓA ĐƠN ĐIỆN TỬ theo quy định tại Luật Quản lý thuế số 38/2019/QH14,  Nghị định 123/2020/NĐ-CP và Thông tư số 78/2021/TT-BTC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GIẢI ĐÁP CÁC VƯỚNG MẮC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Huyen, Hoang Thu Huyen (TTHT-PTH)</cp:lastModifiedBy>
  <cp:revision>83</cp:revision>
  <dcterms:created xsi:type="dcterms:W3CDTF">2021-11-23T02:11:15Z</dcterms:created>
  <dcterms:modified xsi:type="dcterms:W3CDTF">2021-11-25T06:40:50Z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0x0101008E6070EC7B8CDA46B67D0AB247BB0995</vt:lpwstr>
  </property>
</Properties>
</file>