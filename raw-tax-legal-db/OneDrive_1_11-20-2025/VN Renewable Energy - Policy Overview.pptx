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1.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6.xml" ContentType="application/vnd.openxmlformats-officedocument.presentationml.tags+xml"/>
  <Override PartName="/ppt/tags/tag5.xml" ContentType="application/vnd.openxmlformats-officedocument.presentationml.tags+xml"/>
  <Override PartName="/ppt/tags/tag7.xml" ContentType="application/vnd.openxmlformats-officedocument.presentationml.tags+xml"/>
  <Override PartName="/ppt/tags/tag4.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ppt/tags/tag1.xml" ContentType="application/vnd.openxmlformats-officedocument.presentationml.tags+xml"/>
  <Override PartName="/ppt/tags/tag8.xml" ContentType="application/vnd.openxmlformats-officedocument.presentationml.tag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1"/>
  </p:notesMasterIdLst>
  <p:sldIdLst>
    <p:sldId id="256" r:id="rId2"/>
    <p:sldId id="329" r:id="rId3"/>
    <p:sldId id="347" r:id="rId4"/>
    <p:sldId id="336" r:id="rId5"/>
    <p:sldId id="341" r:id="rId6"/>
    <p:sldId id="350" r:id="rId7"/>
    <p:sldId id="351" r:id="rId8"/>
    <p:sldId id="344" r:id="rId9"/>
    <p:sldId id="343" r:id="rId10"/>
  </p:sldIdLst>
  <p:sldSz cx="9906000" cy="6858000" type="A4"/>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204B"/>
    <a:srgbClr val="F68D2E"/>
    <a:srgbClr val="EAAA00"/>
    <a:srgbClr val="43B02A"/>
    <a:srgbClr val="009A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5110" autoAdjust="0"/>
  </p:normalViewPr>
  <p:slideViewPr>
    <p:cSldViewPr snapToGrid="0" showGuides="1">
      <p:cViewPr varScale="1">
        <p:scale>
          <a:sx n="85" d="100"/>
          <a:sy n="85" d="100"/>
        </p:scale>
        <p:origin x="1302" y="90"/>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17"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3EC93F-3503-49A8-BBDD-813EA55428AE}" type="datetimeFigureOut">
              <a:rPr lang="en-SG" smtClean="0"/>
              <a:t>29/10/2021</a:t>
            </a:fld>
            <a:endParaRPr lang="en-SG"/>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3C7788-2CF0-40FE-8282-F8C5D75FA5DE}" type="slidenum">
              <a:rPr lang="en-SG" smtClean="0"/>
              <a:t>‹#›</a:t>
            </a:fld>
            <a:endParaRPr lang="en-SG"/>
          </a:p>
        </p:txBody>
      </p:sp>
    </p:spTree>
    <p:extLst>
      <p:ext uri="{BB962C8B-B14F-4D97-AF65-F5344CB8AC3E}">
        <p14:creationId xmlns:p14="http://schemas.microsoft.com/office/powerpoint/2010/main" val="456978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5 - Singular image">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r="2980"/>
          <a:stretch/>
        </p:blipFill>
        <p:spPr>
          <a:xfrm>
            <a:off x="1693573" y="0"/>
            <a:ext cx="8212428" cy="6858000"/>
          </a:xfrm>
          <a:prstGeom prst="rect">
            <a:avLst/>
          </a:prstGeom>
        </p:spPr>
      </p:pic>
      <p:sp>
        <p:nvSpPr>
          <p:cNvPr id="2" name="Title 1"/>
          <p:cNvSpPr>
            <a:spLocks noGrp="1"/>
          </p:cNvSpPr>
          <p:nvPr>
            <p:ph type="ctrTitle" hasCustomPrompt="1"/>
          </p:nvPr>
        </p:nvSpPr>
        <p:spPr>
          <a:xfrm>
            <a:off x="1867469" y="1346400"/>
            <a:ext cx="6708000" cy="3510000"/>
          </a:xfrm>
        </p:spPr>
        <p:txBody>
          <a:bodyPr anchor="t" anchorCtr="0"/>
          <a:lstStyle>
            <a:lvl1pPr algn="l">
              <a:defRPr sz="11000">
                <a:solidFill>
                  <a:schemeClr val="bg1"/>
                </a:solidFill>
              </a:defRPr>
            </a:lvl1pPr>
          </a:lstStyle>
          <a:p>
            <a:r>
              <a:rPr lang="en-US" dirty="0"/>
              <a:t>Title slide 5</a:t>
            </a:r>
            <a:br>
              <a:rPr lang="en-US" dirty="0"/>
            </a:br>
            <a:r>
              <a:rPr lang="en-US" dirty="0"/>
              <a:t>singular </a:t>
            </a:r>
            <a:br>
              <a:rPr lang="en-US" dirty="0"/>
            </a:br>
            <a:r>
              <a:rPr lang="en-US" dirty="0"/>
              <a:t>image</a:t>
            </a:r>
          </a:p>
        </p:txBody>
      </p:sp>
      <p:sp>
        <p:nvSpPr>
          <p:cNvPr id="4" name="object 3"/>
          <p:cNvSpPr/>
          <p:nvPr userDrawn="1"/>
        </p:nvSpPr>
        <p:spPr>
          <a:xfrm>
            <a:off x="1" y="0"/>
            <a:ext cx="169357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Arial" panose="020B0604020202020204" pitchFamily="34" charset="0"/>
            </a:endParaRPr>
          </a:p>
        </p:txBody>
      </p:sp>
      <p:sp>
        <p:nvSpPr>
          <p:cNvPr id="6" name="Freeform 19"/>
          <p:cNvSpPr>
            <a:spLocks noEditPoints="1"/>
          </p:cNvSpPr>
          <p:nvPr userDrawn="1"/>
        </p:nvSpPr>
        <p:spPr bwMode="auto">
          <a:xfrm>
            <a:off x="1972089" y="781200"/>
            <a:ext cx="8424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800" dirty="0"/>
          </a:p>
        </p:txBody>
      </p:sp>
      <p:sp>
        <p:nvSpPr>
          <p:cNvPr id="9" name="Text Placeholder 3"/>
          <p:cNvSpPr>
            <a:spLocks noGrp="1"/>
          </p:cNvSpPr>
          <p:nvPr>
            <p:ph type="body" sz="quarter" idx="11"/>
          </p:nvPr>
        </p:nvSpPr>
        <p:spPr>
          <a:xfrm>
            <a:off x="1888377"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494990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6 - No ima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dirty="0"/>
              <a:t>Title slide 6</a:t>
            </a:r>
            <a:br>
              <a:rPr lang="en-GB" dirty="0"/>
            </a:br>
            <a:r>
              <a:rPr lang="en-GB" dirty="0"/>
              <a:t>no image</a:t>
            </a:r>
            <a:endParaRPr lang="en-US" dirty="0"/>
          </a:p>
        </p:txBody>
      </p:sp>
      <p:sp>
        <p:nvSpPr>
          <p:cNvPr id="4" name="object 3"/>
          <p:cNvSpPr/>
          <p:nvPr userDrawn="1"/>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Arial" panose="020B0604020202020204" pitchFamily="34" charset="0"/>
            </a:endParaRPr>
          </a:p>
        </p:txBody>
      </p:sp>
      <p:sp>
        <p:nvSpPr>
          <p:cNvPr id="9" name="Freeform 19"/>
          <p:cNvSpPr>
            <a:spLocks noEditPoints="1"/>
          </p:cNvSpPr>
          <p:nvPr userDrawn="1"/>
        </p:nvSpPr>
        <p:spPr bwMode="auto">
          <a:xfrm>
            <a:off x="2236108" y="784800"/>
            <a:ext cx="8424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800" dirty="0"/>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48723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KEY MESSAGE">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48" y="1422400"/>
            <a:ext cx="1746000" cy="4604400"/>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1"/>
          </p:nvPr>
        </p:nvSpPr>
        <p:spPr>
          <a:xfrm>
            <a:off x="2451100" y="1422400"/>
            <a:ext cx="6965950" cy="4604400"/>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GB" dirty="0"/>
          </a:p>
        </p:txBody>
      </p:sp>
      <p:sp>
        <p:nvSpPr>
          <p:cNvPr id="6" name="Text Placeholder 4"/>
          <p:cNvSpPr>
            <a:spLocks noGrp="1"/>
          </p:cNvSpPr>
          <p:nvPr>
            <p:ph type="body" sz="quarter" idx="12" hasCustomPrompt="1"/>
          </p:nvPr>
        </p:nvSpPr>
        <p:spPr>
          <a:xfrm>
            <a:off x="488950" y="203863"/>
            <a:ext cx="859145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3988297081"/>
      </p:ext>
    </p:extLst>
  </p:cSld>
  <p:clrMapOvr>
    <a:masterClrMapping/>
  </p:clrMapOvr>
  <p:extLst>
    <p:ext uri="{DCECCB84-F9BA-43D5-87BE-67443E8EF086}">
      <p15:sldGuideLst xmlns:p15="http://schemas.microsoft.com/office/powerpoint/2012/main">
        <p15:guide id="1" pos="15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KEY MESSAGE 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1747838" cy="4604400"/>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1"/>
          </p:nvPr>
        </p:nvSpPr>
        <p:spPr>
          <a:xfrm>
            <a:off x="2446338" y="1422400"/>
            <a:ext cx="3402000" cy="4604400"/>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2"/>
          </p:nvPr>
        </p:nvSpPr>
        <p:spPr>
          <a:xfrm>
            <a:off x="6015990" y="1422400"/>
            <a:ext cx="3402000" cy="4604400"/>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GB"/>
          </a:p>
        </p:txBody>
      </p:sp>
      <p:sp>
        <p:nvSpPr>
          <p:cNvPr id="7" name="Text Placeholder 4"/>
          <p:cNvSpPr>
            <a:spLocks noGrp="1"/>
          </p:cNvSpPr>
          <p:nvPr>
            <p:ph type="body" sz="quarter" idx="13" hasCustomPrompt="1"/>
          </p:nvPr>
        </p:nvSpPr>
        <p:spPr>
          <a:xfrm>
            <a:off x="488950" y="203863"/>
            <a:ext cx="859145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45295165"/>
      </p:ext>
    </p:extLst>
  </p:cSld>
  <p:clrMapOvr>
    <a:masterClrMapping/>
  </p:clrMapOvr>
  <p:extLst>
    <p:ext uri="{DCECCB84-F9BA-43D5-87BE-67443E8EF086}">
      <p15:sldGuideLst xmlns:p15="http://schemas.microsoft.com/office/powerpoint/2012/main">
        <p15:guide id="1" pos="1409">
          <p15:clr>
            <a:srgbClr val="FBAE40"/>
          </p15:clr>
        </p15:guide>
        <p15:guide id="2" pos="154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KEY MESSAGE Graph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1747838" cy="4604400"/>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2"/>
          </p:nvPr>
        </p:nvSpPr>
        <p:spPr>
          <a:xfrm>
            <a:off x="6015990" y="1422400"/>
            <a:ext cx="3402000" cy="4604400"/>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GB"/>
          </a:p>
        </p:txBody>
      </p:sp>
      <p:sp>
        <p:nvSpPr>
          <p:cNvPr id="7" name="Text Placeholder 4"/>
          <p:cNvSpPr>
            <a:spLocks noGrp="1"/>
          </p:cNvSpPr>
          <p:nvPr>
            <p:ph type="body" sz="quarter" idx="13" hasCustomPrompt="1"/>
          </p:nvPr>
        </p:nvSpPr>
        <p:spPr>
          <a:xfrm>
            <a:off x="488950" y="203863"/>
            <a:ext cx="859145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4150666215"/>
      </p:ext>
    </p:extLst>
  </p:cSld>
  <p:clrMapOvr>
    <a:masterClrMapping/>
  </p:clrMapOvr>
  <p:extLst>
    <p:ext uri="{DCECCB84-F9BA-43D5-87BE-67443E8EF086}">
      <p15:sldGuideLst xmlns:p15="http://schemas.microsoft.com/office/powerpoint/2012/main">
        <p15:guide id="1" pos="1409">
          <p15:clr>
            <a:srgbClr val="FBAE40"/>
          </p15:clr>
        </p15:guide>
        <p15:guide id="2" pos="154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108670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8928100" cy="460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dirty="0"/>
              <a:t>Super title here</a:t>
            </a:r>
          </a:p>
        </p:txBody>
      </p:sp>
      <p:sp>
        <p:nvSpPr>
          <p:cNvPr id="6" name="Title 5"/>
          <p:cNvSpPr>
            <a:spLocks noGrp="1"/>
          </p:cNvSpPr>
          <p:nvPr>
            <p:ph type="title"/>
          </p:nvPr>
        </p:nvSpPr>
        <p:spPr>
          <a:xfrm>
            <a:off x="488950" y="451575"/>
            <a:ext cx="8928100" cy="723600"/>
          </a:xfrm>
        </p:spPr>
        <p:txBody>
          <a:bodyPr/>
          <a:lstStyle/>
          <a:p>
            <a:r>
              <a:rPr lang="en-US"/>
              <a:t>Click to edit Master title style</a:t>
            </a:r>
            <a:endParaRPr lang="en-GB" dirty="0"/>
          </a:p>
        </p:txBody>
      </p:sp>
    </p:spTree>
    <p:extLst>
      <p:ext uri="{BB962C8B-B14F-4D97-AF65-F5344CB8AC3E}">
        <p14:creationId xmlns:p14="http://schemas.microsoft.com/office/powerpoint/2010/main" val="1076173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4373150" cy="460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5043900" y="1422400"/>
            <a:ext cx="4036500" cy="460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a:xfrm>
            <a:off x="488950" y="451575"/>
            <a:ext cx="8591450" cy="723600"/>
          </a:xfrm>
        </p:spPr>
        <p:txBody>
          <a:bodyPr/>
          <a:lstStyle/>
          <a:p>
            <a:r>
              <a:rPr lang="en-US"/>
              <a:t>Click to edit Master title style</a:t>
            </a:r>
            <a:endParaRPr lang="en-GB" dirty="0"/>
          </a:p>
        </p:txBody>
      </p:sp>
      <p:sp>
        <p:nvSpPr>
          <p:cNvPr id="5" name="Text Placeholder 4"/>
          <p:cNvSpPr>
            <a:spLocks noGrp="1"/>
          </p:cNvSpPr>
          <p:nvPr>
            <p:ph type="body" sz="quarter" idx="12" hasCustomPrompt="1"/>
          </p:nvPr>
        </p:nvSpPr>
        <p:spPr>
          <a:xfrm>
            <a:off x="488950" y="203863"/>
            <a:ext cx="859145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760996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1422400"/>
            <a:ext cx="4373150" cy="460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Chart Placeholder 5"/>
          <p:cNvSpPr>
            <a:spLocks noGrp="1"/>
          </p:cNvSpPr>
          <p:nvPr>
            <p:ph type="chart" sz="quarter" idx="13"/>
          </p:nvPr>
        </p:nvSpPr>
        <p:spPr>
          <a:xfrm>
            <a:off x="5043900" y="1422400"/>
            <a:ext cx="4373150" cy="4604400"/>
          </a:xfrm>
        </p:spPr>
        <p:txBody>
          <a:bodyPr anchor="ctr"/>
          <a:lstStyle>
            <a:lvl1pPr algn="ctr">
              <a:defRPr/>
            </a:lvl1pPr>
          </a:lstStyle>
          <a:p>
            <a:r>
              <a:rPr lang="en-US"/>
              <a:t>Click icon to add chart</a:t>
            </a:r>
            <a:endParaRPr lang="en-GB" dirty="0"/>
          </a:p>
        </p:txBody>
      </p:sp>
      <p:sp>
        <p:nvSpPr>
          <p:cNvPr id="2" name="Title 1"/>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5" name="Text Placeholder 4"/>
          <p:cNvSpPr>
            <a:spLocks noGrp="1"/>
          </p:cNvSpPr>
          <p:nvPr>
            <p:ph type="body" sz="quarter" idx="11" hasCustomPrompt="1"/>
          </p:nvPr>
        </p:nvSpPr>
        <p:spPr>
          <a:xfrm>
            <a:off x="488950" y="203863"/>
            <a:ext cx="825480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1468853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3830800"/>
            <a:ext cx="89281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1"/>
          </p:nvPr>
        </p:nvSpPr>
        <p:spPr>
          <a:xfrm>
            <a:off x="488950" y="1422400"/>
            <a:ext cx="8928100" cy="2196000"/>
          </a:xfrm>
        </p:spPr>
        <p:txBody>
          <a:bodyPr anchor="ctr"/>
          <a:lstStyle>
            <a:lvl1pPr algn="ctr">
              <a:defRPr/>
            </a:lvl1pPr>
          </a:lstStyle>
          <a:p>
            <a:r>
              <a:rPr lang="en-US"/>
              <a:t>Click icon to add chart</a:t>
            </a:r>
            <a:endParaRPr lang="en-GB" dirty="0"/>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6" name="Text Placeholder 4"/>
          <p:cNvSpPr>
            <a:spLocks noGrp="1"/>
          </p:cNvSpPr>
          <p:nvPr>
            <p:ph type="body" sz="quarter" idx="12" hasCustomPrompt="1"/>
          </p:nvPr>
        </p:nvSpPr>
        <p:spPr>
          <a:xfrm>
            <a:off x="488950" y="203863"/>
            <a:ext cx="859145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778661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CHART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3531000" y="1422400"/>
            <a:ext cx="2844000" cy="2196000"/>
          </a:xfrm>
        </p:spPr>
        <p:txBody>
          <a:bodyPr anchor="ctr"/>
          <a:lstStyle>
            <a:lvl1pPr algn="ctr">
              <a:defRPr/>
            </a:lvl1pPr>
          </a:lstStyle>
          <a:p>
            <a:r>
              <a:rPr lang="en-US"/>
              <a:t>Click icon to add chart</a:t>
            </a:r>
            <a:endParaRPr lang="en-GB" dirty="0"/>
          </a:p>
        </p:txBody>
      </p:sp>
      <p:sp>
        <p:nvSpPr>
          <p:cNvPr id="6" name="Chart Placeholder 4"/>
          <p:cNvSpPr>
            <a:spLocks noGrp="1"/>
          </p:cNvSpPr>
          <p:nvPr>
            <p:ph type="chart" sz="quarter" idx="12"/>
          </p:nvPr>
        </p:nvSpPr>
        <p:spPr>
          <a:xfrm>
            <a:off x="488950" y="1422400"/>
            <a:ext cx="2844000" cy="2196000"/>
          </a:xfrm>
        </p:spPr>
        <p:txBody>
          <a:bodyPr anchor="ctr"/>
          <a:lstStyle>
            <a:lvl1pPr algn="ctr">
              <a:defRPr/>
            </a:lvl1pPr>
          </a:lstStyle>
          <a:p>
            <a:r>
              <a:rPr lang="en-US"/>
              <a:t>Click icon to add chart</a:t>
            </a:r>
            <a:endParaRPr lang="en-GB" dirty="0"/>
          </a:p>
        </p:txBody>
      </p:sp>
      <p:sp>
        <p:nvSpPr>
          <p:cNvPr id="7" name="Text Placeholder 8"/>
          <p:cNvSpPr>
            <a:spLocks noGrp="1"/>
          </p:cNvSpPr>
          <p:nvPr>
            <p:ph type="body" sz="quarter" idx="10"/>
          </p:nvPr>
        </p:nvSpPr>
        <p:spPr>
          <a:xfrm>
            <a:off x="488949" y="3830800"/>
            <a:ext cx="2844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hart Placeholder 4"/>
          <p:cNvSpPr>
            <a:spLocks noGrp="1"/>
          </p:cNvSpPr>
          <p:nvPr>
            <p:ph type="chart" sz="quarter" idx="13"/>
          </p:nvPr>
        </p:nvSpPr>
        <p:spPr>
          <a:xfrm>
            <a:off x="6573050" y="1422400"/>
            <a:ext cx="2844000" cy="2196000"/>
          </a:xfrm>
        </p:spPr>
        <p:txBody>
          <a:bodyPr anchor="ctr"/>
          <a:lstStyle>
            <a:lvl1pPr algn="ctr">
              <a:defRPr/>
            </a:lvl1pPr>
          </a:lstStyle>
          <a:p>
            <a:r>
              <a:rPr lang="en-US"/>
              <a:t>Click icon to add chart</a:t>
            </a:r>
            <a:endParaRPr lang="en-GB" dirty="0"/>
          </a:p>
        </p:txBody>
      </p:sp>
      <p:sp>
        <p:nvSpPr>
          <p:cNvPr id="9" name="Text Placeholder 8"/>
          <p:cNvSpPr>
            <a:spLocks noGrp="1"/>
          </p:cNvSpPr>
          <p:nvPr>
            <p:ph type="body" sz="quarter" idx="14"/>
          </p:nvPr>
        </p:nvSpPr>
        <p:spPr>
          <a:xfrm>
            <a:off x="3530999" y="3830800"/>
            <a:ext cx="2844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8"/>
          <p:cNvSpPr>
            <a:spLocks noGrp="1"/>
          </p:cNvSpPr>
          <p:nvPr>
            <p:ph type="body" sz="quarter" idx="15"/>
          </p:nvPr>
        </p:nvSpPr>
        <p:spPr>
          <a:xfrm>
            <a:off x="6573050" y="3830800"/>
            <a:ext cx="2844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11" name="Text Placeholder 4"/>
          <p:cNvSpPr>
            <a:spLocks noGrp="1"/>
          </p:cNvSpPr>
          <p:nvPr>
            <p:ph type="body" sz="quarter" idx="16" hasCustomPrompt="1"/>
          </p:nvPr>
        </p:nvSpPr>
        <p:spPr>
          <a:xfrm>
            <a:off x="488950" y="203863"/>
            <a:ext cx="859145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3441336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88950" y="1422400"/>
            <a:ext cx="8928100" cy="4604400"/>
          </a:xfrm>
        </p:spPr>
        <p:txBody>
          <a:bodyPr anchor="ctr"/>
          <a:lstStyle>
            <a:lvl1pPr algn="ctr">
              <a:defRPr/>
            </a:lvl1pPr>
          </a:lstStyle>
          <a:p>
            <a:r>
              <a:rPr lang="en-US"/>
              <a:t>Click icon to add picture</a:t>
            </a:r>
            <a:endParaRPr lang="en-GB"/>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5"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1546685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906000" cy="6026800"/>
          </a:xfrm>
        </p:spPr>
        <p:txBody>
          <a:bodyPr anchor="ctr"/>
          <a:lstStyle>
            <a:lvl1pPr algn="ctr">
              <a:defRPr/>
            </a:lvl1pPr>
          </a:lstStyle>
          <a:p>
            <a:r>
              <a:rPr lang="en-US"/>
              <a:t>Click icon to add picture</a:t>
            </a:r>
            <a:endParaRPr lang="en-GB"/>
          </a:p>
        </p:txBody>
      </p:sp>
    </p:spTree>
    <p:extLst>
      <p:ext uri="{BB962C8B-B14F-4D97-AF65-F5344CB8AC3E}">
        <p14:creationId xmlns:p14="http://schemas.microsoft.com/office/powerpoint/2010/main" val="29006133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ROCESS FIVE COLUM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2336184"/>
            <a:ext cx="1620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2315975" y="2336184"/>
            <a:ext cx="1620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4143000" y="2336184"/>
            <a:ext cx="1620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5970025" y="2336184"/>
            <a:ext cx="1620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488950" y="1426659"/>
            <a:ext cx="1620000" cy="604800"/>
          </a:xfrm>
          <a:prstGeom prst="homePlate">
            <a:avLst>
              <a:gd name="adj" fmla="val 3197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315975" y="1426659"/>
            <a:ext cx="162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4143000" y="1426659"/>
            <a:ext cx="162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5970025" y="1426659"/>
            <a:ext cx="162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12"/>
          <p:cNvSpPr>
            <a:spLocks noGrp="1"/>
          </p:cNvSpPr>
          <p:nvPr>
            <p:ph type="body" sz="quarter" idx="18" hasCustomPrompt="1"/>
          </p:nvPr>
        </p:nvSpPr>
        <p:spPr>
          <a:xfrm>
            <a:off x="7797050" y="1426659"/>
            <a:ext cx="162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7797050" y="2336184"/>
            <a:ext cx="1620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14" name="Text Placeholder 4"/>
          <p:cNvSpPr>
            <a:spLocks noGrp="1"/>
          </p:cNvSpPr>
          <p:nvPr>
            <p:ph type="body" sz="quarter" idx="20" hasCustomPrompt="1"/>
          </p:nvPr>
        </p:nvSpPr>
        <p:spPr>
          <a:xfrm>
            <a:off x="488950" y="203863"/>
            <a:ext cx="859145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28775981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88950" y="2336184"/>
            <a:ext cx="2088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2768983" y="2336184"/>
            <a:ext cx="2088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5049016" y="2336184"/>
            <a:ext cx="2088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7329050" y="2336184"/>
            <a:ext cx="2088000" cy="3690616"/>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488950" y="1426659"/>
            <a:ext cx="2088000" cy="604800"/>
          </a:xfrm>
          <a:prstGeom prst="homePlate">
            <a:avLst>
              <a:gd name="adj" fmla="val 3197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768983" y="1426659"/>
            <a:ext cx="2088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5049016" y="1426659"/>
            <a:ext cx="2088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7329050" y="1426659"/>
            <a:ext cx="2088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11" name="Text Placeholder 4"/>
          <p:cNvSpPr>
            <a:spLocks noGrp="1"/>
          </p:cNvSpPr>
          <p:nvPr>
            <p:ph type="body" sz="quarter" idx="18" hasCustomPrompt="1"/>
          </p:nvPr>
        </p:nvSpPr>
        <p:spPr>
          <a:xfrm>
            <a:off x="488950" y="203863"/>
            <a:ext cx="859145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26838659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5" name="Text Placeholder 8"/>
          <p:cNvSpPr>
            <a:spLocks noGrp="1"/>
          </p:cNvSpPr>
          <p:nvPr>
            <p:ph type="body" sz="quarter" idx="12"/>
          </p:nvPr>
        </p:nvSpPr>
        <p:spPr>
          <a:xfrm>
            <a:off x="5963100" y="4532800"/>
            <a:ext cx="3453950" cy="14940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5963100" y="1775459"/>
            <a:ext cx="3453950" cy="14940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4357201" y="3191932"/>
            <a:ext cx="1191600" cy="1191600"/>
          </a:xfrm>
          <a:prstGeom prst="ellipse">
            <a:avLst/>
          </a:prstGeom>
          <a:solidFill>
            <a:schemeClr val="accent1"/>
          </a:solidFill>
        </p:spPr>
        <p:txBody>
          <a:bodyPr lIns="54000" tIns="54000" rIns="54000" bIns="54000" anchor="ctr"/>
          <a:lstStyle>
            <a:lvl1pPr algn="ctr">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8"/>
          <p:cNvSpPr>
            <a:spLocks noGrp="1"/>
          </p:cNvSpPr>
          <p:nvPr>
            <p:ph type="body" sz="quarter" idx="15"/>
          </p:nvPr>
        </p:nvSpPr>
        <p:spPr>
          <a:xfrm>
            <a:off x="5963100" y="1428430"/>
            <a:ext cx="34539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2" name="Text Placeholder 8"/>
          <p:cNvSpPr>
            <a:spLocks noGrp="1"/>
          </p:cNvSpPr>
          <p:nvPr>
            <p:ph type="body" sz="quarter" idx="16"/>
          </p:nvPr>
        </p:nvSpPr>
        <p:spPr>
          <a:xfrm>
            <a:off x="5963100" y="4182242"/>
            <a:ext cx="34539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4" name="Text Placeholder 8"/>
          <p:cNvSpPr>
            <a:spLocks noGrp="1"/>
          </p:cNvSpPr>
          <p:nvPr>
            <p:ph type="body" sz="quarter" idx="17"/>
          </p:nvPr>
        </p:nvSpPr>
        <p:spPr>
          <a:xfrm>
            <a:off x="488950" y="4532800"/>
            <a:ext cx="3453950" cy="14940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8"/>
          <p:cNvSpPr>
            <a:spLocks noGrp="1"/>
          </p:cNvSpPr>
          <p:nvPr>
            <p:ph type="body" sz="quarter" idx="18"/>
          </p:nvPr>
        </p:nvSpPr>
        <p:spPr>
          <a:xfrm>
            <a:off x="488950" y="4182242"/>
            <a:ext cx="34539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9" name="Text Placeholder 8"/>
          <p:cNvSpPr>
            <a:spLocks noGrp="1"/>
          </p:cNvSpPr>
          <p:nvPr>
            <p:ph type="body" sz="quarter" idx="19"/>
          </p:nvPr>
        </p:nvSpPr>
        <p:spPr>
          <a:xfrm>
            <a:off x="488950" y="1775459"/>
            <a:ext cx="3453950" cy="14940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488950" y="1428430"/>
            <a:ext cx="34539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Right Arrow 2"/>
          <p:cNvSpPr/>
          <p:nvPr userDrawn="1"/>
        </p:nvSpPr>
        <p:spPr>
          <a:xfrm rot="2655894">
            <a:off x="4100849" y="2812312"/>
            <a:ext cx="4134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a:endParaRPr lang="en-GB" sz="900" dirty="0">
              <a:solidFill>
                <a:schemeClr val="bg1"/>
              </a:solidFill>
            </a:endParaRPr>
          </a:p>
        </p:txBody>
      </p:sp>
      <p:sp>
        <p:nvSpPr>
          <p:cNvPr id="21" name="Right Arrow 20"/>
          <p:cNvSpPr/>
          <p:nvPr userDrawn="1"/>
        </p:nvSpPr>
        <p:spPr>
          <a:xfrm rot="18944106" flipH="1">
            <a:off x="5391752" y="2812312"/>
            <a:ext cx="4134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a:endParaRPr lang="en-GB" sz="900" dirty="0">
              <a:solidFill>
                <a:schemeClr val="bg1"/>
              </a:solidFill>
            </a:endParaRPr>
          </a:p>
        </p:txBody>
      </p:sp>
      <p:sp>
        <p:nvSpPr>
          <p:cNvPr id="22" name="Right Arrow 21"/>
          <p:cNvSpPr/>
          <p:nvPr userDrawn="1"/>
        </p:nvSpPr>
        <p:spPr>
          <a:xfrm rot="18944106" flipV="1">
            <a:off x="4100849" y="4385153"/>
            <a:ext cx="4134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a:endParaRPr lang="en-GB" sz="900" dirty="0">
              <a:solidFill>
                <a:schemeClr val="bg1"/>
              </a:solidFill>
            </a:endParaRPr>
          </a:p>
        </p:txBody>
      </p:sp>
      <p:sp>
        <p:nvSpPr>
          <p:cNvPr id="23" name="Right Arrow 22"/>
          <p:cNvSpPr/>
          <p:nvPr userDrawn="1"/>
        </p:nvSpPr>
        <p:spPr>
          <a:xfrm rot="2655894" flipH="1" flipV="1">
            <a:off x="5391752" y="4385153"/>
            <a:ext cx="4134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a:endParaRPr lang="en-GB" sz="900" dirty="0">
              <a:solidFill>
                <a:schemeClr val="bg1"/>
              </a:solidFill>
            </a:endParaRPr>
          </a:p>
        </p:txBody>
      </p:sp>
      <p:sp>
        <p:nvSpPr>
          <p:cNvPr id="4" name="Title 3"/>
          <p:cNvSpPr>
            <a:spLocks noGrp="1"/>
          </p:cNvSpPr>
          <p:nvPr>
            <p:ph type="title"/>
          </p:nvPr>
        </p:nvSpPr>
        <p:spPr/>
        <p:txBody>
          <a:bodyPr/>
          <a:lstStyle/>
          <a:p>
            <a:r>
              <a:rPr lang="en-US"/>
              <a:t>Click to edit Master title style</a:t>
            </a:r>
            <a:endParaRPr lang="en-GB" dirty="0"/>
          </a:p>
        </p:txBody>
      </p:sp>
      <p:sp>
        <p:nvSpPr>
          <p:cNvPr id="16" name="Text Placeholder 4"/>
          <p:cNvSpPr>
            <a:spLocks noGrp="1"/>
          </p:cNvSpPr>
          <p:nvPr>
            <p:ph type="body" sz="quarter" idx="11" hasCustomPrompt="1"/>
          </p:nvPr>
        </p:nvSpPr>
        <p:spPr>
          <a:xfrm>
            <a:off x="488950" y="203863"/>
            <a:ext cx="825480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16957156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488950" y="1781375"/>
            <a:ext cx="4373150" cy="4245425"/>
          </a:xfrm>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488950" y="1426659"/>
            <a:ext cx="4373150" cy="360000"/>
          </a:xfrm>
          <a:solidFill>
            <a:schemeClr val="tx2"/>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5043900" y="1781375"/>
            <a:ext cx="4373150" cy="4245425"/>
          </a:xfrm>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22"/>
          </p:nvPr>
        </p:nvSpPr>
        <p:spPr>
          <a:xfrm>
            <a:off x="5043900" y="1426659"/>
            <a:ext cx="4373150" cy="360000"/>
          </a:xfrm>
          <a:solidFill>
            <a:schemeClr val="tx2"/>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7"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3855353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AD">
    <p:spTree>
      <p:nvGrpSpPr>
        <p:cNvPr id="1" name=""/>
        <p:cNvGrpSpPr/>
        <p:nvPr/>
      </p:nvGrpSpPr>
      <p:grpSpPr>
        <a:xfrm>
          <a:off x="0" y="0"/>
          <a:ext cx="0" cy="0"/>
          <a:chOff x="0" y="0"/>
          <a:chExt cx="0" cy="0"/>
        </a:xfrm>
      </p:grpSpPr>
      <p:sp>
        <p:nvSpPr>
          <p:cNvPr id="5" name="Text Placeholder 8"/>
          <p:cNvSpPr>
            <a:spLocks noGrp="1"/>
          </p:cNvSpPr>
          <p:nvPr>
            <p:ph type="body" sz="quarter" idx="12"/>
          </p:nvPr>
        </p:nvSpPr>
        <p:spPr>
          <a:xfrm>
            <a:off x="5054324" y="4241200"/>
            <a:ext cx="4362725" cy="17856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5054324" y="1775459"/>
            <a:ext cx="4362725" cy="17856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8"/>
          <p:cNvSpPr>
            <a:spLocks noGrp="1"/>
          </p:cNvSpPr>
          <p:nvPr>
            <p:ph type="body" sz="quarter" idx="15"/>
          </p:nvPr>
        </p:nvSpPr>
        <p:spPr>
          <a:xfrm>
            <a:off x="5054324" y="1428430"/>
            <a:ext cx="4362725"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2" name="Text Placeholder 8"/>
          <p:cNvSpPr>
            <a:spLocks noGrp="1"/>
          </p:cNvSpPr>
          <p:nvPr>
            <p:ph type="body" sz="quarter" idx="16"/>
          </p:nvPr>
        </p:nvSpPr>
        <p:spPr>
          <a:xfrm>
            <a:off x="5054324" y="3890142"/>
            <a:ext cx="4362725"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4" name="Text Placeholder 8"/>
          <p:cNvSpPr>
            <a:spLocks noGrp="1"/>
          </p:cNvSpPr>
          <p:nvPr>
            <p:ph type="body" sz="quarter" idx="17"/>
          </p:nvPr>
        </p:nvSpPr>
        <p:spPr>
          <a:xfrm>
            <a:off x="488950" y="4241200"/>
            <a:ext cx="4361750" cy="17856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8"/>
          <p:cNvSpPr>
            <a:spLocks noGrp="1"/>
          </p:cNvSpPr>
          <p:nvPr>
            <p:ph type="body" sz="quarter" idx="18"/>
          </p:nvPr>
        </p:nvSpPr>
        <p:spPr>
          <a:xfrm>
            <a:off x="488950" y="3890142"/>
            <a:ext cx="43617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9" name="Text Placeholder 8"/>
          <p:cNvSpPr>
            <a:spLocks noGrp="1"/>
          </p:cNvSpPr>
          <p:nvPr>
            <p:ph type="body" sz="quarter" idx="19"/>
          </p:nvPr>
        </p:nvSpPr>
        <p:spPr>
          <a:xfrm>
            <a:off x="488950" y="1775459"/>
            <a:ext cx="4361750" cy="17856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488950" y="1428430"/>
            <a:ext cx="4361750" cy="3600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4" name="Title 3"/>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13"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8996279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AD - NO HEADING">
    <p:spTree>
      <p:nvGrpSpPr>
        <p:cNvPr id="1" name=""/>
        <p:cNvGrpSpPr/>
        <p:nvPr/>
      </p:nvGrpSpPr>
      <p:grpSpPr>
        <a:xfrm>
          <a:off x="0" y="0"/>
          <a:ext cx="0" cy="0"/>
          <a:chOff x="0" y="0"/>
          <a:chExt cx="0" cy="0"/>
        </a:xfrm>
      </p:grpSpPr>
      <p:sp>
        <p:nvSpPr>
          <p:cNvPr id="5" name="Text Placeholder 8"/>
          <p:cNvSpPr>
            <a:spLocks noGrp="1"/>
          </p:cNvSpPr>
          <p:nvPr>
            <p:ph type="body" sz="quarter" idx="12"/>
          </p:nvPr>
        </p:nvSpPr>
        <p:spPr>
          <a:xfrm>
            <a:off x="5064824" y="3829182"/>
            <a:ext cx="4352225" cy="22032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5054324" y="1422400"/>
            <a:ext cx="4352225" cy="2204719"/>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 Placeholder 8"/>
          <p:cNvSpPr>
            <a:spLocks noGrp="1"/>
          </p:cNvSpPr>
          <p:nvPr>
            <p:ph type="body" sz="quarter" idx="17"/>
          </p:nvPr>
        </p:nvSpPr>
        <p:spPr>
          <a:xfrm>
            <a:off x="499450" y="3829182"/>
            <a:ext cx="4361750" cy="2203200"/>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9" name="Text Placeholder 8"/>
          <p:cNvSpPr>
            <a:spLocks noGrp="1"/>
          </p:cNvSpPr>
          <p:nvPr>
            <p:ph type="body" sz="quarter" idx="19"/>
          </p:nvPr>
        </p:nvSpPr>
        <p:spPr>
          <a:xfrm>
            <a:off x="488950" y="1422400"/>
            <a:ext cx="4361750" cy="2204719"/>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3"/>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13" name="Text Placeholder 4"/>
          <p:cNvSpPr>
            <a:spLocks noGrp="1"/>
          </p:cNvSpPr>
          <p:nvPr>
            <p:ph type="body" sz="quarter" idx="11" hasCustomPrompt="1"/>
          </p:nvPr>
        </p:nvSpPr>
        <p:spPr>
          <a:xfrm>
            <a:off x="488950" y="203863"/>
            <a:ext cx="859145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10628604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dirty="0"/>
              <a:t>Section divider one title style</a:t>
            </a:r>
            <a:endParaRPr lang="en-US" dirty="0"/>
          </a:p>
        </p:txBody>
      </p:sp>
      <p:sp>
        <p:nvSpPr>
          <p:cNvPr id="4" name="object 3"/>
          <p:cNvSpPr/>
          <p:nvPr userDrawn="1"/>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Arial" panose="020B0604020202020204" pitchFamily="34" charset="0"/>
            </a:endParaRPr>
          </a:p>
        </p:txBody>
      </p:sp>
      <p:sp>
        <p:nvSpPr>
          <p:cNvPr id="5" name="Freeform 19"/>
          <p:cNvSpPr>
            <a:spLocks noEditPoints="1"/>
          </p:cNvSpPr>
          <p:nvPr userDrawn="1"/>
        </p:nvSpPr>
        <p:spPr bwMode="auto">
          <a:xfrm>
            <a:off x="2236108"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2386961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6D2077"/>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dirty="0"/>
              <a:t>Section divider two title style</a:t>
            </a:r>
            <a:endParaRPr lang="en-US" dirty="0"/>
          </a:p>
        </p:txBody>
      </p:sp>
      <p:sp>
        <p:nvSpPr>
          <p:cNvPr id="4" name="object 3"/>
          <p:cNvSpPr/>
          <p:nvPr userDrawn="1"/>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endParaRPr sz="1800" dirty="0">
              <a:latin typeface="Arial" panose="020B0604020202020204" pitchFamily="34" charset="0"/>
            </a:endParaRPr>
          </a:p>
        </p:txBody>
      </p:sp>
      <p:sp>
        <p:nvSpPr>
          <p:cNvPr id="5" name="Freeform 19"/>
          <p:cNvSpPr>
            <a:spLocks noEditPoints="1"/>
          </p:cNvSpPr>
          <p:nvPr userDrawn="1"/>
        </p:nvSpPr>
        <p:spPr bwMode="auto">
          <a:xfrm>
            <a:off x="2236108"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29627710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dirty="0"/>
              <a:t>Section divider three title style</a:t>
            </a:r>
            <a:endParaRPr lang="en-US" dirty="0"/>
          </a:p>
        </p:txBody>
      </p:sp>
      <p:sp>
        <p:nvSpPr>
          <p:cNvPr id="4" name="object 3"/>
          <p:cNvSpPr/>
          <p:nvPr userDrawn="1"/>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800" dirty="0">
              <a:latin typeface="Arial" panose="020B0604020202020204" pitchFamily="34" charset="0"/>
            </a:endParaRPr>
          </a:p>
        </p:txBody>
      </p:sp>
      <p:sp>
        <p:nvSpPr>
          <p:cNvPr id="5" name="Freeform 19"/>
          <p:cNvSpPr>
            <a:spLocks noEditPoints="1"/>
          </p:cNvSpPr>
          <p:nvPr userDrawn="1"/>
        </p:nvSpPr>
        <p:spPr bwMode="auto">
          <a:xfrm>
            <a:off x="2236108"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189814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00A3A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p:spPr>
        <p:txBody>
          <a:bodyPr anchor="t" anchorCtr="0"/>
          <a:lstStyle>
            <a:lvl1pPr algn="l">
              <a:defRPr sz="11000">
                <a:solidFill>
                  <a:schemeClr val="bg1"/>
                </a:solidFill>
              </a:defRPr>
            </a:lvl1pPr>
          </a:lstStyle>
          <a:p>
            <a:r>
              <a:rPr lang="en-GB" dirty="0"/>
              <a:t>Section divider four title style</a:t>
            </a:r>
            <a:endParaRPr lang="en-US" dirty="0"/>
          </a:p>
        </p:txBody>
      </p:sp>
      <p:sp>
        <p:nvSpPr>
          <p:cNvPr id="4" name="object 3"/>
          <p:cNvSpPr/>
          <p:nvPr userDrawn="1"/>
        </p:nvSpPr>
        <p:spPr>
          <a:xfrm>
            <a:off x="1"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endParaRPr sz="1800" dirty="0">
              <a:latin typeface="Arial" panose="020B0604020202020204" pitchFamily="34" charset="0"/>
            </a:endParaRPr>
          </a:p>
        </p:txBody>
      </p:sp>
      <p:sp>
        <p:nvSpPr>
          <p:cNvPr id="5" name="Freeform 19"/>
          <p:cNvSpPr>
            <a:spLocks noEditPoints="1"/>
          </p:cNvSpPr>
          <p:nvPr userDrawn="1"/>
        </p:nvSpPr>
        <p:spPr bwMode="auto">
          <a:xfrm>
            <a:off x="2236108"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29811532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5" name="object 3"/>
          <p:cNvSpPr/>
          <p:nvPr userDrawn="1"/>
        </p:nvSpPr>
        <p:spPr>
          <a:xfrm>
            <a:off x="3" y="0"/>
            <a:ext cx="82867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Arial" panose="020B0604020202020204" pitchFamily="34" charset="0"/>
              <a:sym typeface="Arial" panose="020B0604020202020204" pitchFamily="34" charset="0"/>
            </a:endParaRPr>
          </a:p>
        </p:txBody>
      </p:sp>
      <p:sp>
        <p:nvSpPr>
          <p:cNvPr id="17" name="Freeform 19"/>
          <p:cNvSpPr>
            <a:spLocks noEditPoints="1"/>
          </p:cNvSpPr>
          <p:nvPr userDrawn="1"/>
        </p:nvSpPr>
        <p:spPr bwMode="auto">
          <a:xfrm>
            <a:off x="1715999"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1" name="TextBox 10"/>
          <p:cNvSpPr txBox="1"/>
          <p:nvPr userDrawn="1"/>
        </p:nvSpPr>
        <p:spPr>
          <a:xfrm>
            <a:off x="1828800" y="6687742"/>
            <a:ext cx="5934075" cy="122633"/>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600" b="1" kern="1200" noProof="0" dirty="0">
                <a:solidFill>
                  <a:schemeClr val="tx1"/>
                </a:solidFill>
                <a:latin typeface="+mn-lt"/>
                <a:ea typeface="+mn-ea"/>
                <a:cs typeface="+mn-cs"/>
              </a:rPr>
              <a:t>Document Classification: KPMG Confidential</a:t>
            </a:r>
          </a:p>
        </p:txBody>
      </p:sp>
    </p:spTree>
    <p:extLst>
      <p:ext uri="{BB962C8B-B14F-4D97-AF65-F5344CB8AC3E}">
        <p14:creationId xmlns:p14="http://schemas.microsoft.com/office/powerpoint/2010/main" val="32672736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4" name="Text Placeholder 4"/>
          <p:cNvSpPr>
            <a:spLocks noGrp="1"/>
          </p:cNvSpPr>
          <p:nvPr>
            <p:ph type="body" sz="quarter" idx="12" hasCustomPrompt="1"/>
          </p:nvPr>
        </p:nvSpPr>
        <p:spPr>
          <a:xfrm>
            <a:off x="467783" y="227993"/>
            <a:ext cx="8974836"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2811942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8950" y="451575"/>
            <a:ext cx="8918244" cy="7236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88951" y="1422400"/>
            <a:ext cx="8918242" cy="46044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Shape 8"/>
          <p:cNvSpPr txBox="1">
            <a:spLocks/>
          </p:cNvSpPr>
          <p:nvPr userDrawn="1"/>
        </p:nvSpPr>
        <p:spPr>
          <a:xfrm>
            <a:off x="9027000" y="6320118"/>
            <a:ext cx="390050"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900" smtClean="0">
                <a:solidFill>
                  <a:schemeClr val="tx2"/>
                </a:solidFill>
                <a:latin typeface="+mn-lt"/>
                <a:ea typeface="Arial"/>
                <a:cs typeface="Arial" panose="020B0604020202020204" pitchFamily="34" charset="0"/>
              </a:rPr>
              <a:pPr algn="r"/>
              <a:t>‹#›</a:t>
            </a:fld>
            <a:endParaRPr lang="en-US" sz="900" dirty="0">
              <a:solidFill>
                <a:schemeClr val="tx2"/>
              </a:solidFill>
              <a:latin typeface="+mn-lt"/>
              <a:ea typeface="Arial"/>
              <a:cs typeface="Arial" panose="020B0604020202020204" pitchFamily="34" charset="0"/>
            </a:endParaRPr>
          </a:p>
        </p:txBody>
      </p:sp>
      <p:sp>
        <p:nvSpPr>
          <p:cNvPr id="30" name="TextBox 29"/>
          <p:cNvSpPr txBox="1"/>
          <p:nvPr userDrawn="1"/>
        </p:nvSpPr>
        <p:spPr>
          <a:xfrm>
            <a:off x="1548364" y="6320118"/>
            <a:ext cx="68445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2019 KPMG Services Pte. Ltd. (Registration No: 200003956G), a Singapore incorporated company and a member firm of the KPMG network of independent member firms affiliated with KPMG International Cooperative ("KPMG International"), a Swiss entity. All rights reserved. </a:t>
            </a:r>
          </a:p>
        </p:txBody>
      </p:sp>
      <p:sp>
        <p:nvSpPr>
          <p:cNvPr id="25" name="TextBox 24"/>
          <p:cNvSpPr txBox="1"/>
          <p:nvPr userDrawn="1"/>
        </p:nvSpPr>
        <p:spPr>
          <a:xfrm>
            <a:off x="1828800" y="6687742"/>
            <a:ext cx="5934075" cy="122633"/>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600" b="1" kern="1200" noProof="0" dirty="0">
                <a:solidFill>
                  <a:schemeClr val="tx1"/>
                </a:solidFill>
                <a:latin typeface="+mn-lt"/>
                <a:ea typeface="+mn-ea"/>
                <a:cs typeface="+mn-cs"/>
              </a:rPr>
              <a:t>Document Classification: KPMG Confidential</a:t>
            </a:r>
          </a:p>
        </p:txBody>
      </p:sp>
      <p:sp>
        <p:nvSpPr>
          <p:cNvPr id="27" name="Freeform 19"/>
          <p:cNvSpPr>
            <a:spLocks noEditPoints="1"/>
          </p:cNvSpPr>
          <p:nvPr userDrawn="1"/>
        </p:nvSpPr>
        <p:spPr bwMode="auto">
          <a:xfrm>
            <a:off x="48895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675" r:id="rId1"/>
    <p:sldLayoutId id="2147483680" r:id="rId2"/>
    <p:sldLayoutId id="2147483723" r:id="rId3"/>
    <p:sldLayoutId id="2147483726" r:id="rId4"/>
    <p:sldLayoutId id="2147483730" r:id="rId5"/>
    <p:sldLayoutId id="2147483666" r:id="rId6"/>
    <p:sldLayoutId id="2147483705" r:id="rId7"/>
    <p:sldLayoutId id="2147483689" r:id="rId8"/>
    <p:sldLayoutId id="2147483690" r:id="rId9"/>
    <p:sldLayoutId id="2147483692" r:id="rId10"/>
    <p:sldLayoutId id="2147483693" r:id="rId11"/>
    <p:sldLayoutId id="2147483694" r:id="rId12"/>
    <p:sldLayoutId id="2147483695" r:id="rId13"/>
    <p:sldLayoutId id="2147483701" r:id="rId14"/>
    <p:sldLayoutId id="2147483697" r:id="rId15"/>
    <p:sldLayoutId id="2147483698" r:id="rId16"/>
    <p:sldLayoutId id="2147483699" r:id="rId17"/>
    <p:sldLayoutId id="2147483711" r:id="rId18"/>
    <p:sldLayoutId id="2147483712" r:id="rId19"/>
    <p:sldLayoutId id="2147483682" r:id="rId20"/>
    <p:sldLayoutId id="2147483683" r:id="rId21"/>
    <p:sldLayoutId id="2147483684" r:id="rId22"/>
    <p:sldLayoutId id="2147483685" r:id="rId23"/>
    <p:sldLayoutId id="2147483667" r:id="rId24"/>
    <p:sldLayoutId id="2147483731" r:id="rId25"/>
  </p:sldLayoutIdLst>
  <p:txStyles>
    <p:titleStyle>
      <a:lvl1pPr algn="l" defTabSz="914400" rtl="0" eaLnBrk="1" latinLnBrk="0" hangingPunct="1">
        <a:lnSpc>
          <a:spcPct val="70000"/>
        </a:lnSpc>
        <a:spcBef>
          <a:spcPct val="0"/>
        </a:spcBef>
        <a:buNone/>
        <a:defRPr sz="3800" kern="1200" spc="10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userDrawn="1">
          <p15:clr>
            <a:srgbClr val="F26B43"/>
          </p15:clr>
        </p15:guide>
        <p15:guide id="2" pos="308" userDrawn="1">
          <p15:clr>
            <a:srgbClr val="F26B43"/>
          </p15:clr>
        </p15:guide>
        <p15:guide id="3" pos="5932" userDrawn="1">
          <p15:clr>
            <a:srgbClr val="F26B43"/>
          </p15:clr>
        </p15:guide>
        <p15:guide id="4" orient="horz" pos="742" userDrawn="1">
          <p15:clr>
            <a:srgbClr val="F26B43"/>
          </p15:clr>
        </p15:guide>
        <p15:guide id="6" orient="horz" pos="279" userDrawn="1">
          <p15:clr>
            <a:srgbClr val="F26B43"/>
          </p15:clr>
        </p15:guide>
        <p15:guide id="7" orient="horz" pos="896" userDrawn="1">
          <p15:clr>
            <a:srgbClr val="F26B43"/>
          </p15:clr>
        </p15:guide>
        <p15:guide id="8" pos="3061" userDrawn="1">
          <p15:clr>
            <a:srgbClr val="F26B43"/>
          </p15:clr>
        </p15:guide>
        <p15:guide id="9" pos="317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slideLayout" Target="../slideLayouts/slideLayout6.xml"/><Relationship Id="rId4" Type="http://schemas.openxmlformats.org/officeDocument/2006/relationships/tags" Target="../tags/tag5.xml"/><Relationship Id="rId9"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slideLayout" Target="../slideLayouts/slideLayout7.xml"/><Relationship Id="rId4" Type="http://schemas.openxmlformats.org/officeDocument/2006/relationships/tags" Target="../tags/tag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989676" y="1644316"/>
            <a:ext cx="5092061" cy="2596943"/>
          </a:xfrm>
        </p:spPr>
        <p:txBody>
          <a:bodyPr/>
          <a:lstStyle/>
          <a:p>
            <a:r>
              <a:rPr lang="en-GB" sz="6600" dirty="0"/>
              <a:t>Vietnam Renewable Energy Market Entry Study</a:t>
            </a:r>
          </a:p>
        </p:txBody>
      </p:sp>
      <p:sp>
        <p:nvSpPr>
          <p:cNvPr id="3" name="Text Placeholder 2">
            <a:extLst>
              <a:ext uri="{FF2B5EF4-FFF2-40B4-BE49-F238E27FC236}">
                <a16:creationId xmlns:a16="http://schemas.microsoft.com/office/drawing/2014/main" id="{9569527B-7402-4D28-BFB9-B8C97B7DAB12}"/>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438289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Policy &amp; Regulatory Structure</a:t>
            </a:r>
          </a:p>
        </p:txBody>
      </p:sp>
    </p:spTree>
    <p:extLst>
      <p:ext uri="{BB962C8B-B14F-4D97-AF65-F5344CB8AC3E}">
        <p14:creationId xmlns:p14="http://schemas.microsoft.com/office/powerpoint/2010/main" val="3408400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A051A73-21B9-43CF-989E-70A1E3747775}"/>
              </a:ext>
            </a:extLst>
          </p:cNvPr>
          <p:cNvSpPr>
            <a:spLocks noGrp="1"/>
          </p:cNvSpPr>
          <p:nvPr>
            <p:ph type="body" sz="quarter" idx="10"/>
          </p:nvPr>
        </p:nvSpPr>
        <p:spPr>
          <a:xfrm>
            <a:off x="488950" y="859696"/>
            <a:ext cx="8928100" cy="4604400"/>
          </a:xfrm>
        </p:spPr>
        <p:txBody>
          <a:bodyPr/>
          <a:lstStyle/>
          <a:p>
            <a:r>
              <a:rPr lang="en-US" sz="1200" b="0" dirty="0">
                <a:solidFill>
                  <a:srgbClr val="00B0F0"/>
                </a:solidFill>
                <a:latin typeface="Univers 55" panose="02000000000000000000" pitchFamily="2" charset="0"/>
              </a:rPr>
              <a:t>The Vietnam Market is currently structured as a single buyer market, with state utility Vietnam Electricity (EVN) being the sole off-taker of power from IPPs.  Although the market is undergoing transition to a competitive market, Solar and Wind IPP projects will continue to sign long term off-take agreements with EVN.</a:t>
            </a:r>
            <a:endParaRPr lang="en-SG" sz="1200" b="0" dirty="0">
              <a:solidFill>
                <a:srgbClr val="00B0F0"/>
              </a:solidFill>
              <a:latin typeface="Univers 55" panose="02000000000000000000" pitchFamily="2" charset="0"/>
            </a:endParaRPr>
          </a:p>
          <a:p>
            <a:endParaRPr lang="en-AU" dirty="0"/>
          </a:p>
        </p:txBody>
      </p:sp>
      <p:sp>
        <p:nvSpPr>
          <p:cNvPr id="5" name="Text Placeholder 4">
            <a:extLst>
              <a:ext uri="{FF2B5EF4-FFF2-40B4-BE49-F238E27FC236}">
                <a16:creationId xmlns:a16="http://schemas.microsoft.com/office/drawing/2014/main" id="{81AE1162-ADBD-4513-94BA-0E4456D7DF6F}"/>
              </a:ext>
            </a:extLst>
          </p:cNvPr>
          <p:cNvSpPr>
            <a:spLocks noGrp="1"/>
          </p:cNvSpPr>
          <p:nvPr>
            <p:ph type="body" sz="quarter" idx="11"/>
          </p:nvPr>
        </p:nvSpPr>
        <p:spPr/>
        <p:txBody>
          <a:bodyPr/>
          <a:lstStyle/>
          <a:p>
            <a:r>
              <a:rPr lang="en-AU" dirty="0"/>
              <a:t>Policy &amp; Regulatory Structure</a:t>
            </a:r>
          </a:p>
        </p:txBody>
      </p:sp>
      <p:sp>
        <p:nvSpPr>
          <p:cNvPr id="2" name="Title 1"/>
          <p:cNvSpPr>
            <a:spLocks noGrp="1"/>
          </p:cNvSpPr>
          <p:nvPr>
            <p:ph type="title"/>
          </p:nvPr>
        </p:nvSpPr>
        <p:spPr/>
        <p:txBody>
          <a:bodyPr/>
          <a:lstStyle/>
          <a:p>
            <a:r>
              <a:rPr lang="en-US" dirty="0"/>
              <a:t>Electricity market overview</a:t>
            </a:r>
            <a:endParaRPr lang="en-SG" dirty="0">
              <a:solidFill>
                <a:schemeClr val="bg1">
                  <a:lumMod val="50000"/>
                </a:schemeClr>
              </a:solidFill>
            </a:endParaRPr>
          </a:p>
        </p:txBody>
      </p:sp>
      <p:sp>
        <p:nvSpPr>
          <p:cNvPr id="17" name="TextBox 16"/>
          <p:cNvSpPr txBox="1"/>
          <p:nvPr/>
        </p:nvSpPr>
        <p:spPr>
          <a:xfrm>
            <a:off x="488950" y="5923902"/>
            <a:ext cx="6052527" cy="228600"/>
          </a:xfrm>
          <a:prstGeom prst="rect">
            <a:avLst/>
          </a:prstGeom>
          <a:noFill/>
        </p:spPr>
        <p:txBody>
          <a:bodyPr wrap="square" lIns="0" tIns="54610" rIns="54610" bIns="54610" rtlCol="0">
            <a:noAutofit/>
          </a:bodyPr>
          <a:lstStyle/>
          <a:p>
            <a:pPr>
              <a:spcAft>
                <a:spcPts val="600"/>
              </a:spcAft>
            </a:pPr>
            <a:r>
              <a:rPr lang="en-US" sz="800" dirty="0"/>
              <a:t>Source: ADB Report “Viet Nam, Energy Sector Assessment, Strategy, And Road Map” and Trade Press</a:t>
            </a:r>
            <a:endParaRPr lang="en-SG" sz="800" dirty="0" err="1"/>
          </a:p>
        </p:txBody>
      </p:sp>
      <p:grpSp>
        <p:nvGrpSpPr>
          <p:cNvPr id="69" name="Group 68"/>
          <p:cNvGrpSpPr/>
          <p:nvPr/>
        </p:nvGrpSpPr>
        <p:grpSpPr>
          <a:xfrm>
            <a:off x="1216515" y="4673168"/>
            <a:ext cx="2359849" cy="416546"/>
            <a:chOff x="1216515" y="4218123"/>
            <a:chExt cx="2359849" cy="416546"/>
          </a:xfrm>
        </p:grpSpPr>
        <p:sp>
          <p:nvSpPr>
            <p:cNvPr id="70" name="Rounded Rectangle 69"/>
            <p:cNvSpPr/>
            <p:nvPr/>
          </p:nvSpPr>
          <p:spPr>
            <a:xfrm>
              <a:off x="1450452" y="4218123"/>
              <a:ext cx="2125912" cy="396249"/>
            </a:xfrm>
            <a:prstGeom prst="roundRect">
              <a:avLst/>
            </a:prstGeom>
            <a:solidFill>
              <a:schemeClr val="bg1">
                <a:lumMod val="95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lstStyle/>
            <a:p>
              <a:pPr algn="ctr"/>
              <a:r>
                <a:rPr lang="en-US" sz="1000" b="1" dirty="0">
                  <a:solidFill>
                    <a:schemeClr val="tx2"/>
                  </a:solidFill>
                  <a:latin typeface="Arial" panose="020B0604020202020204" pitchFamily="34" charset="0"/>
                  <a:cs typeface="Arial" panose="020B0604020202020204" pitchFamily="34" charset="0"/>
                </a:rPr>
                <a:t>Viet Nam Electricity (EVN)</a:t>
              </a:r>
            </a:p>
          </p:txBody>
        </p:sp>
        <p:sp>
          <p:nvSpPr>
            <p:cNvPr id="71" name="Oval 70"/>
            <p:cNvSpPr/>
            <p:nvPr/>
          </p:nvSpPr>
          <p:spPr>
            <a:xfrm>
              <a:off x="1216515" y="4218123"/>
              <a:ext cx="412422" cy="416546"/>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grpSp>
      <p:sp>
        <p:nvSpPr>
          <p:cNvPr id="75" name="Rounded Rectangle 74"/>
          <p:cNvSpPr/>
          <p:nvPr/>
        </p:nvSpPr>
        <p:spPr>
          <a:xfrm>
            <a:off x="1450453" y="5456043"/>
            <a:ext cx="2125911" cy="396249"/>
          </a:xfrm>
          <a:prstGeom prst="roundRect">
            <a:avLst/>
          </a:prstGeom>
          <a:solidFill>
            <a:schemeClr val="bg1">
              <a:lumMod val="9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lstStyle/>
          <a:p>
            <a:pPr algn="ctr"/>
            <a:r>
              <a:rPr lang="en-US" sz="1000" b="1" dirty="0">
                <a:solidFill>
                  <a:schemeClr val="tx2"/>
                </a:solidFill>
                <a:latin typeface="Arial" panose="020B0604020202020204" pitchFamily="34" charset="0"/>
                <a:cs typeface="Arial" panose="020B0604020202020204" pitchFamily="34" charset="0"/>
              </a:rPr>
              <a:t>Independent Power Producers (IPPs)</a:t>
            </a:r>
          </a:p>
        </p:txBody>
      </p:sp>
      <p:sp>
        <p:nvSpPr>
          <p:cNvPr id="76" name="Oval 75"/>
          <p:cNvSpPr/>
          <p:nvPr/>
        </p:nvSpPr>
        <p:spPr>
          <a:xfrm>
            <a:off x="1216516" y="5456043"/>
            <a:ext cx="412422" cy="41654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83" name="Rectangle 82"/>
          <p:cNvSpPr/>
          <p:nvPr/>
        </p:nvSpPr>
        <p:spPr>
          <a:xfrm>
            <a:off x="3576364" y="1707150"/>
            <a:ext cx="5852160" cy="461665"/>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MOIT manages the Vietnam energy sector and oversee state-owned energy enterprises. </a:t>
            </a:r>
          </a:p>
          <a:p>
            <a:r>
              <a:rPr lang="en-US" sz="800" dirty="0">
                <a:latin typeface="Arial" panose="020B0604020202020204" pitchFamily="34" charset="0"/>
                <a:cs typeface="Arial" panose="020B0604020202020204" pitchFamily="34" charset="0"/>
              </a:rPr>
              <a:t>Selected roles are to (</a:t>
            </a:r>
            <a:r>
              <a:rPr lang="en-US" sz="800" dirty="0" err="1">
                <a:latin typeface="Arial" panose="020B0604020202020204" pitchFamily="34" charset="0"/>
                <a:cs typeface="Arial" panose="020B0604020202020204" pitchFamily="34" charset="0"/>
              </a:rPr>
              <a:t>i</a:t>
            </a:r>
            <a:r>
              <a:rPr lang="en-US" sz="800" dirty="0">
                <a:latin typeface="Arial" panose="020B0604020202020204" pitchFamily="34" charset="0"/>
                <a:cs typeface="Arial" panose="020B0604020202020204" pitchFamily="34" charset="0"/>
              </a:rPr>
              <a:t>) develop policies, oversee planning and implement strategies, (ii) manage and regulate energy sector activities and use of energy and (iii) </a:t>
            </a:r>
            <a:r>
              <a:rPr lang="en-US" sz="800" dirty="0"/>
              <a:t>set retail electricity prices, and mechanisms and policies on electricity prices</a:t>
            </a:r>
            <a:endParaRPr lang="en-US" sz="800" dirty="0">
              <a:latin typeface="Arial" panose="020B0604020202020204" pitchFamily="34" charset="0"/>
              <a:cs typeface="Arial" panose="020B0604020202020204" pitchFamily="34" charset="0"/>
            </a:endParaRPr>
          </a:p>
        </p:txBody>
      </p:sp>
      <p:sp>
        <p:nvSpPr>
          <p:cNvPr id="84" name="Rectangle 83"/>
          <p:cNvSpPr/>
          <p:nvPr/>
        </p:nvSpPr>
        <p:spPr>
          <a:xfrm>
            <a:off x="3576364" y="2440391"/>
            <a:ext cx="5852160" cy="33855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GDE conducts overall energy planning and policy formulation; appraisal of power and energy development plans, and local and regional development plans; and management of build–operate–transfer (BOT) power projects.</a:t>
            </a:r>
          </a:p>
        </p:txBody>
      </p:sp>
      <p:sp>
        <p:nvSpPr>
          <p:cNvPr id="85" name="Rectangle 84"/>
          <p:cNvSpPr/>
          <p:nvPr/>
        </p:nvSpPr>
        <p:spPr>
          <a:xfrm>
            <a:off x="3576364" y="3609176"/>
            <a:ext cx="5852160" cy="584775"/>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ERAV develops regulations and directions to implement and regulate the power market; including developing technical codes and performance standards for power distribution and transmission; monitoring electricity tariff review and conducting tariff setting; issuing reliability criteria for power supply; reviewing power demand forecast and conducting system studies, and recommend measures to achieve supply–demand balance; and monitoring the implementation of power projects.</a:t>
            </a:r>
          </a:p>
        </p:txBody>
      </p:sp>
      <p:sp>
        <p:nvSpPr>
          <p:cNvPr id="86" name="Rectangle 85"/>
          <p:cNvSpPr/>
          <p:nvPr/>
        </p:nvSpPr>
        <p:spPr>
          <a:xfrm>
            <a:off x="3576364" y="2993233"/>
            <a:ext cx="5852160" cy="461665"/>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Institute of Energy conducts research on national energy strategies, policies, and development plans; to forecast future demand for energy, to prepare project feasibility studies, and to identify new technologies to improve energy efficiency and supply.</a:t>
            </a:r>
          </a:p>
        </p:txBody>
      </p:sp>
      <p:sp>
        <p:nvSpPr>
          <p:cNvPr id="87" name="Rectangle 86"/>
          <p:cNvSpPr/>
          <p:nvPr/>
        </p:nvSpPr>
        <p:spPr>
          <a:xfrm>
            <a:off x="3576364" y="4614135"/>
            <a:ext cx="5852160" cy="461665"/>
          </a:xfrm>
          <a:prstGeom prst="rect">
            <a:avLst/>
          </a:prstGeom>
          <a:noFill/>
        </p:spPr>
        <p:txBody>
          <a:bodyPr>
            <a:spAutoFit/>
          </a:bodyPr>
          <a:lstStyle/>
          <a:p>
            <a:r>
              <a:rPr lang="en-US" sz="800" dirty="0"/>
              <a:t>Through its subsidiaries, EVN is currently the single buyer of power in the Vietnam electricity market, monopoly distributor and the largest power generation company.  In addition, EVN owns National Load Dispatch Center, which serves as the system and market operator (SMO) and the Electric Power Trading Company (EPTC).</a:t>
            </a:r>
          </a:p>
        </p:txBody>
      </p:sp>
      <p:cxnSp>
        <p:nvCxnSpPr>
          <p:cNvPr id="88" name="Elbow Connector 87"/>
          <p:cNvCxnSpPr>
            <a:stCxn id="68" idx="2"/>
            <a:endCxn id="74" idx="2"/>
          </p:cNvCxnSpPr>
          <p:nvPr/>
        </p:nvCxnSpPr>
        <p:spPr>
          <a:xfrm rot="10800000" flipH="1" flipV="1">
            <a:off x="1216514" y="1931880"/>
            <a:ext cx="1" cy="716784"/>
          </a:xfrm>
          <a:prstGeom prst="bentConnector3">
            <a:avLst>
              <a:gd name="adj1" fmla="val -2286000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89" name="Elbow Connector 88"/>
          <p:cNvCxnSpPr>
            <a:stCxn id="68" idx="2"/>
            <a:endCxn id="79" idx="2"/>
          </p:cNvCxnSpPr>
          <p:nvPr/>
        </p:nvCxnSpPr>
        <p:spPr>
          <a:xfrm rot="10800000" flipH="1" flipV="1">
            <a:off x="1216514" y="1931879"/>
            <a:ext cx="1" cy="1302335"/>
          </a:xfrm>
          <a:prstGeom prst="bentConnector3">
            <a:avLst>
              <a:gd name="adj1" fmla="val -2286000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90" name="Elbow Connector 89"/>
          <p:cNvCxnSpPr>
            <a:stCxn id="68" idx="2"/>
            <a:endCxn id="82" idx="2"/>
          </p:cNvCxnSpPr>
          <p:nvPr/>
        </p:nvCxnSpPr>
        <p:spPr>
          <a:xfrm rot="10800000" flipH="1" flipV="1">
            <a:off x="1216514" y="1931879"/>
            <a:ext cx="1" cy="2013857"/>
          </a:xfrm>
          <a:prstGeom prst="bentConnector3">
            <a:avLst>
              <a:gd name="adj1" fmla="val -2286000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91" name="Elbow Connector 90"/>
          <p:cNvCxnSpPr>
            <a:stCxn id="68" idx="2"/>
            <a:endCxn id="71" idx="2"/>
          </p:cNvCxnSpPr>
          <p:nvPr/>
        </p:nvCxnSpPr>
        <p:spPr>
          <a:xfrm rot="10800000" flipV="1">
            <a:off x="1216515" y="1931879"/>
            <a:ext cx="12700" cy="2949561"/>
          </a:xfrm>
          <a:prstGeom prst="bentConnector3">
            <a:avLst>
              <a:gd name="adj1" fmla="val 5505882"/>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a:stCxn id="70" idx="2"/>
            <a:endCxn id="75" idx="0"/>
          </p:cNvCxnSpPr>
          <p:nvPr/>
        </p:nvCxnSpPr>
        <p:spPr>
          <a:xfrm>
            <a:off x="2513408" y="5069417"/>
            <a:ext cx="1" cy="38662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rot="16200000">
            <a:off x="104523" y="2666350"/>
            <a:ext cx="1454050" cy="397669"/>
          </a:xfrm>
          <a:prstGeom prst="rect">
            <a:avLst/>
          </a:prstGeom>
          <a:noFill/>
        </p:spPr>
        <p:txBody>
          <a:bodyPr wrap="square" lIns="54610" tIns="54610" rIns="54610" bIns="54610" rtlCol="0">
            <a:noAutofit/>
          </a:bodyPr>
          <a:lstStyle/>
          <a:p>
            <a:pPr algn="ctr">
              <a:spcAft>
                <a:spcPts val="600"/>
              </a:spcAft>
            </a:pPr>
            <a:r>
              <a:rPr lang="en-US" sz="800" dirty="0">
                <a:solidFill>
                  <a:schemeClr val="tx2"/>
                </a:solidFill>
              </a:rPr>
              <a:t>Government bodies established under MOIT</a:t>
            </a:r>
          </a:p>
        </p:txBody>
      </p:sp>
      <p:sp>
        <p:nvSpPr>
          <p:cNvPr id="94" name="TextBox 93"/>
          <p:cNvSpPr txBox="1"/>
          <p:nvPr/>
        </p:nvSpPr>
        <p:spPr>
          <a:xfrm rot="16200000">
            <a:off x="-347617" y="3265750"/>
            <a:ext cx="1454050" cy="225608"/>
          </a:xfrm>
          <a:prstGeom prst="rect">
            <a:avLst/>
          </a:prstGeom>
          <a:noFill/>
        </p:spPr>
        <p:txBody>
          <a:bodyPr wrap="square" lIns="54610" tIns="54610" rIns="54610" bIns="54610" rtlCol="0">
            <a:noAutofit/>
          </a:bodyPr>
          <a:lstStyle/>
          <a:p>
            <a:pPr algn="ctr">
              <a:spcAft>
                <a:spcPts val="600"/>
              </a:spcAft>
            </a:pPr>
            <a:r>
              <a:rPr lang="en-US" sz="800" dirty="0">
                <a:solidFill>
                  <a:schemeClr val="tx2"/>
                </a:solidFill>
              </a:rPr>
              <a:t>Corporation owned by MOIT</a:t>
            </a:r>
          </a:p>
        </p:txBody>
      </p:sp>
      <p:sp>
        <p:nvSpPr>
          <p:cNvPr id="95" name="TextBox 94"/>
          <p:cNvSpPr txBox="1"/>
          <p:nvPr/>
        </p:nvSpPr>
        <p:spPr>
          <a:xfrm>
            <a:off x="1059358" y="5124098"/>
            <a:ext cx="1454050" cy="225608"/>
          </a:xfrm>
          <a:prstGeom prst="rect">
            <a:avLst/>
          </a:prstGeom>
          <a:noFill/>
        </p:spPr>
        <p:txBody>
          <a:bodyPr wrap="square" lIns="54610" tIns="54610" rIns="54610" bIns="54610" rtlCol="0">
            <a:noAutofit/>
          </a:bodyPr>
          <a:lstStyle/>
          <a:p>
            <a:pPr algn="ctr">
              <a:spcAft>
                <a:spcPts val="600"/>
              </a:spcAft>
            </a:pPr>
            <a:r>
              <a:rPr lang="en-US" sz="800" dirty="0">
                <a:solidFill>
                  <a:srgbClr val="BC204B"/>
                </a:solidFill>
              </a:rPr>
              <a:t>IPPs to sign PPA with EVN</a:t>
            </a:r>
          </a:p>
        </p:txBody>
      </p:sp>
      <p:pic>
        <p:nvPicPr>
          <p:cNvPr id="101" name="Picture 2" descr="Image result for EV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24330" y="4732178"/>
            <a:ext cx="196792" cy="285348"/>
          </a:xfrm>
          <a:prstGeom prst="rect">
            <a:avLst/>
          </a:prstGeom>
          <a:noFill/>
          <a:extLst>
            <a:ext uri="{909E8E84-426E-40DD-AFC4-6F175D3DCCD1}">
              <a14:hiddenFill xmlns:a14="http://schemas.microsoft.com/office/drawing/2010/main">
                <a:solidFill>
                  <a:srgbClr val="FFFFFF"/>
                </a:solidFill>
              </a14:hiddenFill>
            </a:ext>
          </a:extLst>
        </p:spPr>
      </p:pic>
      <p:sp>
        <p:nvSpPr>
          <p:cNvPr id="103" name="TextBox 102"/>
          <p:cNvSpPr txBox="1"/>
          <p:nvPr/>
        </p:nvSpPr>
        <p:spPr>
          <a:xfrm>
            <a:off x="3611776" y="1484598"/>
            <a:ext cx="2065123" cy="225608"/>
          </a:xfrm>
          <a:prstGeom prst="rect">
            <a:avLst/>
          </a:prstGeom>
          <a:noFill/>
        </p:spPr>
        <p:txBody>
          <a:bodyPr wrap="square" lIns="54610" tIns="54610" rIns="54610" bIns="54610" rtlCol="0" anchor="ctr">
            <a:noAutofit/>
          </a:bodyPr>
          <a:lstStyle/>
          <a:p>
            <a:pPr>
              <a:spcAft>
                <a:spcPts val="600"/>
              </a:spcAft>
            </a:pPr>
            <a:r>
              <a:rPr lang="en-US" sz="1000" b="1" dirty="0">
                <a:solidFill>
                  <a:srgbClr val="00338D"/>
                </a:solidFill>
              </a:rPr>
              <a:t>Roles</a:t>
            </a:r>
          </a:p>
        </p:txBody>
      </p:sp>
      <p:sp>
        <p:nvSpPr>
          <p:cNvPr id="104" name="TextBox 103"/>
          <p:cNvSpPr txBox="1"/>
          <p:nvPr/>
        </p:nvSpPr>
        <p:spPr>
          <a:xfrm>
            <a:off x="3611776" y="4386054"/>
            <a:ext cx="2065123" cy="225608"/>
          </a:xfrm>
          <a:prstGeom prst="rect">
            <a:avLst/>
          </a:prstGeom>
          <a:noFill/>
        </p:spPr>
        <p:txBody>
          <a:bodyPr wrap="square" lIns="54610" tIns="54610" rIns="54610" bIns="54610" rtlCol="0" anchor="ctr">
            <a:noAutofit/>
          </a:bodyPr>
          <a:lstStyle/>
          <a:p>
            <a:pPr>
              <a:spcAft>
                <a:spcPts val="600"/>
              </a:spcAft>
            </a:pPr>
            <a:r>
              <a:rPr lang="en-US" sz="1000" b="1" dirty="0">
                <a:solidFill>
                  <a:srgbClr val="00338D"/>
                </a:solidFill>
              </a:rPr>
              <a:t>Description</a:t>
            </a:r>
          </a:p>
        </p:txBody>
      </p:sp>
      <p:sp>
        <p:nvSpPr>
          <p:cNvPr id="105" name="Rectangle 104"/>
          <p:cNvSpPr/>
          <p:nvPr/>
        </p:nvSpPr>
        <p:spPr>
          <a:xfrm>
            <a:off x="3588504" y="5369871"/>
            <a:ext cx="5674367" cy="584775"/>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Overtime, IPPs (either as traditional IPPs or BOT projects) have grown to provide a significant minority of capacity to the Vietnam market. Traditionally, IPPs have operated under long term contracts with EVN as the off-taker of power.  Although Vietnam is currently transitioning to a competitive wholesale market, Solar and Wind IPPs will not be required to take on any merchant market risk as they will continue to sign long term off-take agreements with EVN</a:t>
            </a:r>
          </a:p>
        </p:txBody>
      </p:sp>
      <p:grpSp>
        <p:nvGrpSpPr>
          <p:cNvPr id="3" name="Group 2"/>
          <p:cNvGrpSpPr/>
          <p:nvPr/>
        </p:nvGrpSpPr>
        <p:grpSpPr>
          <a:xfrm>
            <a:off x="1216516" y="3737464"/>
            <a:ext cx="2359849" cy="416546"/>
            <a:chOff x="1216516" y="3637817"/>
            <a:chExt cx="2359849" cy="416546"/>
          </a:xfrm>
        </p:grpSpPr>
        <p:sp>
          <p:nvSpPr>
            <p:cNvPr id="81" name="Rounded Rectangle 80"/>
            <p:cNvSpPr/>
            <p:nvPr/>
          </p:nvSpPr>
          <p:spPr>
            <a:xfrm>
              <a:off x="1450453" y="3637817"/>
              <a:ext cx="2125912" cy="396249"/>
            </a:xfrm>
            <a:prstGeom prst="roundRect">
              <a:avLst/>
            </a:prstGeom>
            <a:solidFill>
              <a:schemeClr val="bg1">
                <a:lumMod val="95000"/>
              </a:schemeClr>
            </a:solidFill>
            <a:ln>
              <a:solidFill>
                <a:srgbClr val="483698"/>
              </a:solid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lstStyle/>
            <a:p>
              <a:pPr algn="ctr"/>
              <a:r>
                <a:rPr lang="en-US" sz="1000" b="1" dirty="0">
                  <a:solidFill>
                    <a:schemeClr val="tx2"/>
                  </a:solidFill>
                  <a:latin typeface="Arial" panose="020B0604020202020204" pitchFamily="34" charset="0"/>
                  <a:cs typeface="Arial" panose="020B0604020202020204" pitchFamily="34" charset="0"/>
                </a:rPr>
                <a:t>Electricity Regulatory Authority of Vietnam (ERAV)</a:t>
              </a:r>
            </a:p>
          </p:txBody>
        </p:sp>
        <p:sp>
          <p:nvSpPr>
            <p:cNvPr id="82" name="Oval 81"/>
            <p:cNvSpPr/>
            <p:nvPr/>
          </p:nvSpPr>
          <p:spPr>
            <a:xfrm>
              <a:off x="1216516" y="3637817"/>
              <a:ext cx="412422" cy="416546"/>
            </a:xfrm>
            <a:prstGeom prst="ellipse">
              <a:avLst/>
            </a:pr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06" name="Group 105"/>
            <p:cNvGrpSpPr/>
            <p:nvPr/>
          </p:nvGrpSpPr>
          <p:grpSpPr>
            <a:xfrm>
              <a:off x="1296215" y="3708030"/>
              <a:ext cx="253019" cy="234946"/>
              <a:chOff x="2116515" y="4414403"/>
              <a:chExt cx="711200" cy="660400"/>
            </a:xfrm>
            <a:solidFill>
              <a:schemeClr val="bg1"/>
            </a:solidFill>
          </p:grpSpPr>
          <p:sp>
            <p:nvSpPr>
              <p:cNvPr id="107" name="object 41"/>
              <p:cNvSpPr/>
              <p:nvPr/>
            </p:nvSpPr>
            <p:spPr>
              <a:xfrm>
                <a:off x="2116515" y="5074803"/>
                <a:ext cx="711200" cy="0"/>
              </a:xfrm>
              <a:custGeom>
                <a:avLst/>
                <a:gdLst/>
                <a:ahLst/>
                <a:cxnLst/>
                <a:rect l="l" t="t" r="r" b="b"/>
                <a:pathLst>
                  <a:path w="711200">
                    <a:moveTo>
                      <a:pt x="0" y="0"/>
                    </a:moveTo>
                    <a:lnTo>
                      <a:pt x="711200" y="0"/>
                    </a:lnTo>
                  </a:path>
                </a:pathLst>
              </a:custGeom>
              <a:grpFill/>
              <a:ln w="12700">
                <a:solidFill>
                  <a:schemeClr val="bg1"/>
                </a:solidFill>
              </a:ln>
            </p:spPr>
            <p:txBody>
              <a:bodyPr wrap="square" lIns="0" tIns="0" rIns="0" bIns="0" rtlCol="0"/>
              <a:lstStyle/>
              <a:p>
                <a:endParaRPr/>
              </a:p>
            </p:txBody>
          </p:sp>
          <p:sp>
            <p:nvSpPr>
              <p:cNvPr id="108" name="object 42"/>
              <p:cNvSpPr/>
              <p:nvPr/>
            </p:nvSpPr>
            <p:spPr>
              <a:xfrm>
                <a:off x="2154615" y="5024003"/>
                <a:ext cx="635000" cy="0"/>
              </a:xfrm>
              <a:custGeom>
                <a:avLst/>
                <a:gdLst/>
                <a:ahLst/>
                <a:cxnLst/>
                <a:rect l="l" t="t" r="r" b="b"/>
                <a:pathLst>
                  <a:path w="635000">
                    <a:moveTo>
                      <a:pt x="0" y="0"/>
                    </a:moveTo>
                    <a:lnTo>
                      <a:pt x="635000" y="0"/>
                    </a:lnTo>
                  </a:path>
                </a:pathLst>
              </a:custGeom>
              <a:grpFill/>
              <a:ln w="12700">
                <a:solidFill>
                  <a:schemeClr val="bg1"/>
                </a:solidFill>
              </a:ln>
            </p:spPr>
            <p:txBody>
              <a:bodyPr wrap="square" lIns="0" tIns="0" rIns="0" bIns="0" rtlCol="0"/>
              <a:lstStyle/>
              <a:p>
                <a:endParaRPr/>
              </a:p>
            </p:txBody>
          </p:sp>
          <p:sp>
            <p:nvSpPr>
              <p:cNvPr id="109" name="object 43"/>
              <p:cNvSpPr/>
              <p:nvPr/>
            </p:nvSpPr>
            <p:spPr>
              <a:xfrm>
                <a:off x="22054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10" name="object 44"/>
              <p:cNvSpPr/>
              <p:nvPr/>
            </p:nvSpPr>
            <p:spPr>
              <a:xfrm>
                <a:off x="23578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11" name="object 45"/>
              <p:cNvSpPr/>
              <p:nvPr/>
            </p:nvSpPr>
            <p:spPr>
              <a:xfrm>
                <a:off x="25102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12" name="object 46"/>
              <p:cNvSpPr/>
              <p:nvPr/>
            </p:nvSpPr>
            <p:spPr>
              <a:xfrm>
                <a:off x="26626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13" name="object 47"/>
              <p:cNvSpPr/>
              <p:nvPr/>
            </p:nvSpPr>
            <p:spPr>
              <a:xfrm>
                <a:off x="2167315" y="4706503"/>
                <a:ext cx="622300" cy="0"/>
              </a:xfrm>
              <a:custGeom>
                <a:avLst/>
                <a:gdLst/>
                <a:ahLst/>
                <a:cxnLst/>
                <a:rect l="l" t="t" r="r" b="b"/>
                <a:pathLst>
                  <a:path w="622300">
                    <a:moveTo>
                      <a:pt x="0" y="0"/>
                    </a:moveTo>
                    <a:lnTo>
                      <a:pt x="622300" y="0"/>
                    </a:lnTo>
                  </a:path>
                </a:pathLst>
              </a:custGeom>
              <a:grpFill/>
              <a:ln w="12700">
                <a:solidFill>
                  <a:schemeClr val="bg1"/>
                </a:solidFill>
              </a:ln>
            </p:spPr>
            <p:txBody>
              <a:bodyPr wrap="square" lIns="0" tIns="0" rIns="0" bIns="0" rtlCol="0"/>
              <a:lstStyle/>
              <a:p>
                <a:endParaRPr/>
              </a:p>
            </p:txBody>
          </p:sp>
          <p:sp>
            <p:nvSpPr>
              <p:cNvPr id="114" name="object 48"/>
              <p:cNvSpPr/>
              <p:nvPr/>
            </p:nvSpPr>
            <p:spPr>
              <a:xfrm>
                <a:off x="2116515" y="4414403"/>
                <a:ext cx="711200" cy="241300"/>
              </a:xfrm>
              <a:custGeom>
                <a:avLst/>
                <a:gdLst/>
                <a:ahLst/>
                <a:cxnLst/>
                <a:rect l="l" t="t" r="r" b="b"/>
                <a:pathLst>
                  <a:path w="711200" h="241300">
                    <a:moveTo>
                      <a:pt x="355600" y="0"/>
                    </a:moveTo>
                    <a:lnTo>
                      <a:pt x="0" y="215900"/>
                    </a:lnTo>
                    <a:lnTo>
                      <a:pt x="0" y="241300"/>
                    </a:lnTo>
                    <a:lnTo>
                      <a:pt x="711200" y="241300"/>
                    </a:lnTo>
                    <a:lnTo>
                      <a:pt x="711200" y="215900"/>
                    </a:lnTo>
                    <a:lnTo>
                      <a:pt x="355600" y="0"/>
                    </a:lnTo>
                    <a:close/>
                  </a:path>
                </a:pathLst>
              </a:custGeom>
              <a:grpFill/>
              <a:ln w="12700">
                <a:noFill/>
              </a:ln>
            </p:spPr>
            <p:txBody>
              <a:bodyPr wrap="square" lIns="0" tIns="0" rIns="0" bIns="0" rtlCol="0"/>
              <a:lstStyle/>
              <a:p>
                <a:endParaRPr/>
              </a:p>
            </p:txBody>
          </p:sp>
        </p:grpSp>
      </p:grpSp>
      <p:grpSp>
        <p:nvGrpSpPr>
          <p:cNvPr id="11" name="Group 10"/>
          <p:cNvGrpSpPr/>
          <p:nvPr/>
        </p:nvGrpSpPr>
        <p:grpSpPr>
          <a:xfrm>
            <a:off x="1216516" y="3025942"/>
            <a:ext cx="2359849" cy="416546"/>
            <a:chOff x="1216516" y="2926295"/>
            <a:chExt cx="2359849" cy="416546"/>
          </a:xfrm>
        </p:grpSpPr>
        <p:sp>
          <p:nvSpPr>
            <p:cNvPr id="78" name="Rounded Rectangle 77"/>
            <p:cNvSpPr/>
            <p:nvPr/>
          </p:nvSpPr>
          <p:spPr>
            <a:xfrm>
              <a:off x="1450453" y="2926295"/>
              <a:ext cx="2125912" cy="396249"/>
            </a:xfrm>
            <a:prstGeom prst="roundRect">
              <a:avLst/>
            </a:prstGeom>
            <a:solidFill>
              <a:schemeClr val="bg1">
                <a:lumMod val="95000"/>
              </a:schemeClr>
            </a:solidFill>
            <a:ln>
              <a:solidFill>
                <a:srgbClr val="483698"/>
              </a:solid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lstStyle/>
            <a:p>
              <a:pPr algn="ctr"/>
              <a:r>
                <a:rPr lang="en-US" sz="1000" b="1" dirty="0">
                  <a:solidFill>
                    <a:schemeClr val="tx2"/>
                  </a:solidFill>
                  <a:latin typeface="Arial" panose="020B0604020202020204" pitchFamily="34" charset="0"/>
                  <a:cs typeface="Arial" panose="020B0604020202020204" pitchFamily="34" charset="0"/>
                </a:rPr>
                <a:t>Institute of Energy</a:t>
              </a:r>
            </a:p>
          </p:txBody>
        </p:sp>
        <p:sp>
          <p:nvSpPr>
            <p:cNvPr id="79" name="Oval 78"/>
            <p:cNvSpPr/>
            <p:nvPr/>
          </p:nvSpPr>
          <p:spPr>
            <a:xfrm>
              <a:off x="1216516" y="2926295"/>
              <a:ext cx="412422" cy="416546"/>
            </a:xfrm>
            <a:prstGeom prst="ellipse">
              <a:avLst/>
            </a:pr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15" name="Group 114"/>
            <p:cNvGrpSpPr/>
            <p:nvPr/>
          </p:nvGrpSpPr>
          <p:grpSpPr>
            <a:xfrm>
              <a:off x="1298292" y="2998691"/>
              <a:ext cx="253019" cy="234946"/>
              <a:chOff x="2116515" y="4414403"/>
              <a:chExt cx="711200" cy="660400"/>
            </a:xfrm>
            <a:solidFill>
              <a:schemeClr val="bg1"/>
            </a:solidFill>
          </p:grpSpPr>
          <p:sp>
            <p:nvSpPr>
              <p:cNvPr id="116" name="object 41"/>
              <p:cNvSpPr/>
              <p:nvPr/>
            </p:nvSpPr>
            <p:spPr>
              <a:xfrm>
                <a:off x="2116515" y="5074803"/>
                <a:ext cx="711200" cy="0"/>
              </a:xfrm>
              <a:custGeom>
                <a:avLst/>
                <a:gdLst/>
                <a:ahLst/>
                <a:cxnLst/>
                <a:rect l="l" t="t" r="r" b="b"/>
                <a:pathLst>
                  <a:path w="711200">
                    <a:moveTo>
                      <a:pt x="0" y="0"/>
                    </a:moveTo>
                    <a:lnTo>
                      <a:pt x="711200" y="0"/>
                    </a:lnTo>
                  </a:path>
                </a:pathLst>
              </a:custGeom>
              <a:grpFill/>
              <a:ln w="12700">
                <a:solidFill>
                  <a:schemeClr val="bg1"/>
                </a:solidFill>
              </a:ln>
            </p:spPr>
            <p:txBody>
              <a:bodyPr wrap="square" lIns="0" tIns="0" rIns="0" bIns="0" rtlCol="0"/>
              <a:lstStyle/>
              <a:p>
                <a:endParaRPr/>
              </a:p>
            </p:txBody>
          </p:sp>
          <p:sp>
            <p:nvSpPr>
              <p:cNvPr id="117" name="object 42"/>
              <p:cNvSpPr/>
              <p:nvPr/>
            </p:nvSpPr>
            <p:spPr>
              <a:xfrm>
                <a:off x="2154615" y="5024003"/>
                <a:ext cx="635000" cy="0"/>
              </a:xfrm>
              <a:custGeom>
                <a:avLst/>
                <a:gdLst/>
                <a:ahLst/>
                <a:cxnLst/>
                <a:rect l="l" t="t" r="r" b="b"/>
                <a:pathLst>
                  <a:path w="635000">
                    <a:moveTo>
                      <a:pt x="0" y="0"/>
                    </a:moveTo>
                    <a:lnTo>
                      <a:pt x="635000" y="0"/>
                    </a:lnTo>
                  </a:path>
                </a:pathLst>
              </a:custGeom>
              <a:grpFill/>
              <a:ln w="12700">
                <a:solidFill>
                  <a:schemeClr val="bg1"/>
                </a:solidFill>
              </a:ln>
            </p:spPr>
            <p:txBody>
              <a:bodyPr wrap="square" lIns="0" tIns="0" rIns="0" bIns="0" rtlCol="0"/>
              <a:lstStyle/>
              <a:p>
                <a:endParaRPr/>
              </a:p>
            </p:txBody>
          </p:sp>
          <p:sp>
            <p:nvSpPr>
              <p:cNvPr id="118" name="object 43"/>
              <p:cNvSpPr/>
              <p:nvPr/>
            </p:nvSpPr>
            <p:spPr>
              <a:xfrm>
                <a:off x="22054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19" name="object 44"/>
              <p:cNvSpPr/>
              <p:nvPr/>
            </p:nvSpPr>
            <p:spPr>
              <a:xfrm>
                <a:off x="23578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20" name="object 45"/>
              <p:cNvSpPr/>
              <p:nvPr/>
            </p:nvSpPr>
            <p:spPr>
              <a:xfrm>
                <a:off x="25102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21" name="object 46"/>
              <p:cNvSpPr/>
              <p:nvPr/>
            </p:nvSpPr>
            <p:spPr>
              <a:xfrm>
                <a:off x="26626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22" name="object 47"/>
              <p:cNvSpPr/>
              <p:nvPr/>
            </p:nvSpPr>
            <p:spPr>
              <a:xfrm>
                <a:off x="2167315" y="4706503"/>
                <a:ext cx="622300" cy="0"/>
              </a:xfrm>
              <a:custGeom>
                <a:avLst/>
                <a:gdLst/>
                <a:ahLst/>
                <a:cxnLst/>
                <a:rect l="l" t="t" r="r" b="b"/>
                <a:pathLst>
                  <a:path w="622300">
                    <a:moveTo>
                      <a:pt x="0" y="0"/>
                    </a:moveTo>
                    <a:lnTo>
                      <a:pt x="622300" y="0"/>
                    </a:lnTo>
                  </a:path>
                </a:pathLst>
              </a:custGeom>
              <a:grpFill/>
              <a:ln w="12700">
                <a:solidFill>
                  <a:schemeClr val="bg1"/>
                </a:solidFill>
              </a:ln>
            </p:spPr>
            <p:txBody>
              <a:bodyPr wrap="square" lIns="0" tIns="0" rIns="0" bIns="0" rtlCol="0"/>
              <a:lstStyle/>
              <a:p>
                <a:endParaRPr/>
              </a:p>
            </p:txBody>
          </p:sp>
          <p:sp>
            <p:nvSpPr>
              <p:cNvPr id="123" name="object 48"/>
              <p:cNvSpPr/>
              <p:nvPr/>
            </p:nvSpPr>
            <p:spPr>
              <a:xfrm>
                <a:off x="2116515" y="4414403"/>
                <a:ext cx="711200" cy="241300"/>
              </a:xfrm>
              <a:custGeom>
                <a:avLst/>
                <a:gdLst/>
                <a:ahLst/>
                <a:cxnLst/>
                <a:rect l="l" t="t" r="r" b="b"/>
                <a:pathLst>
                  <a:path w="711200" h="241300">
                    <a:moveTo>
                      <a:pt x="355600" y="0"/>
                    </a:moveTo>
                    <a:lnTo>
                      <a:pt x="0" y="215900"/>
                    </a:lnTo>
                    <a:lnTo>
                      <a:pt x="0" y="241300"/>
                    </a:lnTo>
                    <a:lnTo>
                      <a:pt x="711200" y="241300"/>
                    </a:lnTo>
                    <a:lnTo>
                      <a:pt x="711200" y="215900"/>
                    </a:lnTo>
                    <a:lnTo>
                      <a:pt x="355600" y="0"/>
                    </a:lnTo>
                    <a:close/>
                  </a:path>
                </a:pathLst>
              </a:custGeom>
              <a:grpFill/>
              <a:ln w="12700">
                <a:noFill/>
              </a:ln>
            </p:spPr>
            <p:txBody>
              <a:bodyPr wrap="square" lIns="0" tIns="0" rIns="0" bIns="0" rtlCol="0"/>
              <a:lstStyle/>
              <a:p>
                <a:endParaRPr/>
              </a:p>
            </p:txBody>
          </p:sp>
        </p:grpSp>
      </p:grpSp>
      <p:grpSp>
        <p:nvGrpSpPr>
          <p:cNvPr id="7" name="Group 6"/>
          <p:cNvGrpSpPr/>
          <p:nvPr/>
        </p:nvGrpSpPr>
        <p:grpSpPr>
          <a:xfrm>
            <a:off x="1216516" y="2440391"/>
            <a:ext cx="2359849" cy="416546"/>
            <a:chOff x="1216516" y="2340744"/>
            <a:chExt cx="2359849" cy="416546"/>
          </a:xfrm>
        </p:grpSpPr>
        <p:sp>
          <p:nvSpPr>
            <p:cNvPr id="73" name="Rounded Rectangle 72"/>
            <p:cNvSpPr/>
            <p:nvPr/>
          </p:nvSpPr>
          <p:spPr>
            <a:xfrm>
              <a:off x="1450453" y="2340744"/>
              <a:ext cx="2125912" cy="396249"/>
            </a:xfrm>
            <a:prstGeom prst="roundRect">
              <a:avLst/>
            </a:prstGeom>
            <a:solidFill>
              <a:schemeClr val="bg1">
                <a:lumMod val="95000"/>
              </a:schemeClr>
            </a:solidFill>
            <a:ln>
              <a:solidFill>
                <a:srgbClr val="483698"/>
              </a:solid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lstStyle/>
            <a:p>
              <a:pPr algn="ctr"/>
              <a:r>
                <a:rPr lang="en-US" sz="1000" b="1" dirty="0">
                  <a:solidFill>
                    <a:schemeClr val="tx2"/>
                  </a:solidFill>
                  <a:latin typeface="Arial" panose="020B0604020202020204" pitchFamily="34" charset="0"/>
                  <a:cs typeface="Arial" panose="020B0604020202020204" pitchFamily="34" charset="0"/>
                </a:rPr>
                <a:t>General Directorate of Energy (GDE)</a:t>
              </a:r>
            </a:p>
          </p:txBody>
        </p:sp>
        <p:sp>
          <p:nvSpPr>
            <p:cNvPr id="74" name="Oval 73"/>
            <p:cNvSpPr/>
            <p:nvPr/>
          </p:nvSpPr>
          <p:spPr>
            <a:xfrm>
              <a:off x="1216516" y="2340744"/>
              <a:ext cx="412422" cy="416546"/>
            </a:xfrm>
            <a:prstGeom prst="ellipse">
              <a:avLst/>
            </a:pr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24" name="Group 123"/>
            <p:cNvGrpSpPr/>
            <p:nvPr/>
          </p:nvGrpSpPr>
          <p:grpSpPr>
            <a:xfrm>
              <a:off x="1294136" y="2405155"/>
              <a:ext cx="253019" cy="234946"/>
              <a:chOff x="2116515" y="4414403"/>
              <a:chExt cx="711200" cy="660400"/>
            </a:xfrm>
            <a:solidFill>
              <a:schemeClr val="bg1"/>
            </a:solidFill>
          </p:grpSpPr>
          <p:sp>
            <p:nvSpPr>
              <p:cNvPr id="125" name="object 41"/>
              <p:cNvSpPr/>
              <p:nvPr/>
            </p:nvSpPr>
            <p:spPr>
              <a:xfrm>
                <a:off x="2116515" y="5074803"/>
                <a:ext cx="711200" cy="0"/>
              </a:xfrm>
              <a:custGeom>
                <a:avLst/>
                <a:gdLst/>
                <a:ahLst/>
                <a:cxnLst/>
                <a:rect l="l" t="t" r="r" b="b"/>
                <a:pathLst>
                  <a:path w="711200">
                    <a:moveTo>
                      <a:pt x="0" y="0"/>
                    </a:moveTo>
                    <a:lnTo>
                      <a:pt x="711200" y="0"/>
                    </a:lnTo>
                  </a:path>
                </a:pathLst>
              </a:custGeom>
              <a:grpFill/>
              <a:ln w="12700">
                <a:solidFill>
                  <a:schemeClr val="bg1"/>
                </a:solidFill>
              </a:ln>
            </p:spPr>
            <p:txBody>
              <a:bodyPr wrap="square" lIns="0" tIns="0" rIns="0" bIns="0" rtlCol="0"/>
              <a:lstStyle/>
              <a:p>
                <a:endParaRPr/>
              </a:p>
            </p:txBody>
          </p:sp>
          <p:sp>
            <p:nvSpPr>
              <p:cNvPr id="126" name="object 42"/>
              <p:cNvSpPr/>
              <p:nvPr/>
            </p:nvSpPr>
            <p:spPr>
              <a:xfrm>
                <a:off x="2154615" y="5024003"/>
                <a:ext cx="635000" cy="0"/>
              </a:xfrm>
              <a:custGeom>
                <a:avLst/>
                <a:gdLst/>
                <a:ahLst/>
                <a:cxnLst/>
                <a:rect l="l" t="t" r="r" b="b"/>
                <a:pathLst>
                  <a:path w="635000">
                    <a:moveTo>
                      <a:pt x="0" y="0"/>
                    </a:moveTo>
                    <a:lnTo>
                      <a:pt x="635000" y="0"/>
                    </a:lnTo>
                  </a:path>
                </a:pathLst>
              </a:custGeom>
              <a:grpFill/>
              <a:ln w="12700">
                <a:solidFill>
                  <a:schemeClr val="bg1"/>
                </a:solidFill>
              </a:ln>
            </p:spPr>
            <p:txBody>
              <a:bodyPr wrap="square" lIns="0" tIns="0" rIns="0" bIns="0" rtlCol="0"/>
              <a:lstStyle/>
              <a:p>
                <a:endParaRPr/>
              </a:p>
            </p:txBody>
          </p:sp>
          <p:sp>
            <p:nvSpPr>
              <p:cNvPr id="127" name="object 43"/>
              <p:cNvSpPr/>
              <p:nvPr/>
            </p:nvSpPr>
            <p:spPr>
              <a:xfrm>
                <a:off x="22054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28" name="object 44"/>
              <p:cNvSpPr/>
              <p:nvPr/>
            </p:nvSpPr>
            <p:spPr>
              <a:xfrm>
                <a:off x="23578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29" name="object 45"/>
              <p:cNvSpPr/>
              <p:nvPr/>
            </p:nvSpPr>
            <p:spPr>
              <a:xfrm>
                <a:off x="25102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30" name="object 46"/>
              <p:cNvSpPr/>
              <p:nvPr/>
            </p:nvSpPr>
            <p:spPr>
              <a:xfrm>
                <a:off x="26626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31" name="object 47"/>
              <p:cNvSpPr/>
              <p:nvPr/>
            </p:nvSpPr>
            <p:spPr>
              <a:xfrm>
                <a:off x="2167315" y="4706503"/>
                <a:ext cx="622300" cy="0"/>
              </a:xfrm>
              <a:custGeom>
                <a:avLst/>
                <a:gdLst/>
                <a:ahLst/>
                <a:cxnLst/>
                <a:rect l="l" t="t" r="r" b="b"/>
                <a:pathLst>
                  <a:path w="622300">
                    <a:moveTo>
                      <a:pt x="0" y="0"/>
                    </a:moveTo>
                    <a:lnTo>
                      <a:pt x="622300" y="0"/>
                    </a:lnTo>
                  </a:path>
                </a:pathLst>
              </a:custGeom>
              <a:grpFill/>
              <a:ln w="12700">
                <a:solidFill>
                  <a:schemeClr val="bg1"/>
                </a:solidFill>
              </a:ln>
            </p:spPr>
            <p:txBody>
              <a:bodyPr wrap="square" lIns="0" tIns="0" rIns="0" bIns="0" rtlCol="0"/>
              <a:lstStyle/>
              <a:p>
                <a:endParaRPr/>
              </a:p>
            </p:txBody>
          </p:sp>
          <p:sp>
            <p:nvSpPr>
              <p:cNvPr id="132" name="object 48"/>
              <p:cNvSpPr/>
              <p:nvPr/>
            </p:nvSpPr>
            <p:spPr>
              <a:xfrm>
                <a:off x="2116515" y="4414403"/>
                <a:ext cx="711200" cy="241301"/>
              </a:xfrm>
              <a:custGeom>
                <a:avLst/>
                <a:gdLst/>
                <a:ahLst/>
                <a:cxnLst/>
                <a:rect l="l" t="t" r="r" b="b"/>
                <a:pathLst>
                  <a:path w="711200" h="241300">
                    <a:moveTo>
                      <a:pt x="355600" y="0"/>
                    </a:moveTo>
                    <a:lnTo>
                      <a:pt x="0" y="215900"/>
                    </a:lnTo>
                    <a:lnTo>
                      <a:pt x="0" y="241300"/>
                    </a:lnTo>
                    <a:lnTo>
                      <a:pt x="711200" y="241300"/>
                    </a:lnTo>
                    <a:lnTo>
                      <a:pt x="711200" y="215900"/>
                    </a:lnTo>
                    <a:lnTo>
                      <a:pt x="355600" y="0"/>
                    </a:lnTo>
                    <a:close/>
                  </a:path>
                </a:pathLst>
              </a:custGeom>
              <a:grpFill/>
              <a:ln w="12700">
                <a:noFill/>
              </a:ln>
            </p:spPr>
            <p:txBody>
              <a:bodyPr wrap="square" lIns="0" tIns="0" rIns="0" bIns="0" rtlCol="0"/>
              <a:lstStyle/>
              <a:p>
                <a:endParaRPr/>
              </a:p>
            </p:txBody>
          </p:sp>
        </p:grpSp>
      </p:grpSp>
      <p:grpSp>
        <p:nvGrpSpPr>
          <p:cNvPr id="10" name="Group 9"/>
          <p:cNvGrpSpPr/>
          <p:nvPr/>
        </p:nvGrpSpPr>
        <p:grpSpPr>
          <a:xfrm>
            <a:off x="1216515" y="1723607"/>
            <a:ext cx="2359849" cy="416546"/>
            <a:chOff x="1216515" y="1623960"/>
            <a:chExt cx="2359849" cy="416546"/>
          </a:xfrm>
        </p:grpSpPr>
        <p:sp>
          <p:nvSpPr>
            <p:cNvPr id="67" name="Rounded Rectangle 66"/>
            <p:cNvSpPr/>
            <p:nvPr/>
          </p:nvSpPr>
          <p:spPr>
            <a:xfrm>
              <a:off x="1450452" y="1623960"/>
              <a:ext cx="2125912" cy="396249"/>
            </a:xfrm>
            <a:prstGeom prst="roundRect">
              <a:avLst/>
            </a:prstGeom>
            <a:solidFill>
              <a:schemeClr val="bg1">
                <a:lumMod val="95000"/>
              </a:schemeClr>
            </a:solid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lstStyle/>
            <a:p>
              <a:pPr algn="ctr"/>
              <a:r>
                <a:rPr lang="en-US" sz="1000" b="1" dirty="0">
                  <a:solidFill>
                    <a:schemeClr val="tx2"/>
                  </a:solidFill>
                  <a:latin typeface="Arial" panose="020B0604020202020204" pitchFamily="34" charset="0"/>
                  <a:cs typeface="Arial" panose="020B0604020202020204" pitchFamily="34" charset="0"/>
                </a:rPr>
                <a:t>Ministry of Industry and Trade (MOIT)</a:t>
              </a:r>
            </a:p>
          </p:txBody>
        </p:sp>
        <p:sp>
          <p:nvSpPr>
            <p:cNvPr id="68" name="Oval 67"/>
            <p:cNvSpPr/>
            <p:nvPr/>
          </p:nvSpPr>
          <p:spPr>
            <a:xfrm>
              <a:off x="1216515" y="1623960"/>
              <a:ext cx="412422" cy="416546"/>
            </a:xfrm>
            <a:prstGeom prst="ellips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33" name="Group 132"/>
            <p:cNvGrpSpPr/>
            <p:nvPr/>
          </p:nvGrpSpPr>
          <p:grpSpPr>
            <a:xfrm>
              <a:off x="1298473" y="1697905"/>
              <a:ext cx="253019" cy="234946"/>
              <a:chOff x="2116515" y="4414403"/>
              <a:chExt cx="711200" cy="660400"/>
            </a:xfrm>
            <a:solidFill>
              <a:schemeClr val="bg1"/>
            </a:solidFill>
          </p:grpSpPr>
          <p:sp>
            <p:nvSpPr>
              <p:cNvPr id="134" name="object 41"/>
              <p:cNvSpPr/>
              <p:nvPr/>
            </p:nvSpPr>
            <p:spPr>
              <a:xfrm>
                <a:off x="2116515" y="5074803"/>
                <a:ext cx="711200" cy="0"/>
              </a:xfrm>
              <a:custGeom>
                <a:avLst/>
                <a:gdLst/>
                <a:ahLst/>
                <a:cxnLst/>
                <a:rect l="l" t="t" r="r" b="b"/>
                <a:pathLst>
                  <a:path w="711200">
                    <a:moveTo>
                      <a:pt x="0" y="0"/>
                    </a:moveTo>
                    <a:lnTo>
                      <a:pt x="711200" y="0"/>
                    </a:lnTo>
                  </a:path>
                </a:pathLst>
              </a:custGeom>
              <a:grpFill/>
              <a:ln w="12700">
                <a:solidFill>
                  <a:schemeClr val="bg1"/>
                </a:solidFill>
              </a:ln>
            </p:spPr>
            <p:txBody>
              <a:bodyPr wrap="square" lIns="0" tIns="0" rIns="0" bIns="0" rtlCol="0"/>
              <a:lstStyle/>
              <a:p>
                <a:endParaRPr/>
              </a:p>
            </p:txBody>
          </p:sp>
          <p:sp>
            <p:nvSpPr>
              <p:cNvPr id="135" name="object 42"/>
              <p:cNvSpPr/>
              <p:nvPr/>
            </p:nvSpPr>
            <p:spPr>
              <a:xfrm>
                <a:off x="2154615" y="5024003"/>
                <a:ext cx="635000" cy="0"/>
              </a:xfrm>
              <a:custGeom>
                <a:avLst/>
                <a:gdLst/>
                <a:ahLst/>
                <a:cxnLst/>
                <a:rect l="l" t="t" r="r" b="b"/>
                <a:pathLst>
                  <a:path w="635000">
                    <a:moveTo>
                      <a:pt x="0" y="0"/>
                    </a:moveTo>
                    <a:lnTo>
                      <a:pt x="635000" y="0"/>
                    </a:lnTo>
                  </a:path>
                </a:pathLst>
              </a:custGeom>
              <a:grpFill/>
              <a:ln w="12700">
                <a:solidFill>
                  <a:schemeClr val="bg1"/>
                </a:solidFill>
              </a:ln>
            </p:spPr>
            <p:txBody>
              <a:bodyPr wrap="square" lIns="0" tIns="0" rIns="0" bIns="0" rtlCol="0"/>
              <a:lstStyle/>
              <a:p>
                <a:endParaRPr/>
              </a:p>
            </p:txBody>
          </p:sp>
          <p:sp>
            <p:nvSpPr>
              <p:cNvPr id="136" name="object 43"/>
              <p:cNvSpPr/>
              <p:nvPr/>
            </p:nvSpPr>
            <p:spPr>
              <a:xfrm>
                <a:off x="22054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37" name="object 44"/>
              <p:cNvSpPr/>
              <p:nvPr/>
            </p:nvSpPr>
            <p:spPr>
              <a:xfrm>
                <a:off x="23578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38" name="object 45"/>
              <p:cNvSpPr/>
              <p:nvPr/>
            </p:nvSpPr>
            <p:spPr>
              <a:xfrm>
                <a:off x="25102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39" name="object 46"/>
              <p:cNvSpPr/>
              <p:nvPr/>
            </p:nvSpPr>
            <p:spPr>
              <a:xfrm>
                <a:off x="2662615" y="4731903"/>
                <a:ext cx="76200" cy="241300"/>
              </a:xfrm>
              <a:custGeom>
                <a:avLst/>
                <a:gdLst/>
                <a:ahLst/>
                <a:cxnLst/>
                <a:rect l="l" t="t" r="r" b="b"/>
                <a:pathLst>
                  <a:path w="76200" h="241300">
                    <a:moveTo>
                      <a:pt x="76200" y="0"/>
                    </a:moveTo>
                    <a:lnTo>
                      <a:pt x="0" y="0"/>
                    </a:lnTo>
                    <a:lnTo>
                      <a:pt x="0" y="241300"/>
                    </a:lnTo>
                    <a:lnTo>
                      <a:pt x="76200" y="241300"/>
                    </a:lnTo>
                    <a:lnTo>
                      <a:pt x="76200" y="0"/>
                    </a:lnTo>
                    <a:close/>
                  </a:path>
                </a:pathLst>
              </a:custGeom>
              <a:grpFill/>
              <a:ln w="12700">
                <a:noFill/>
              </a:ln>
            </p:spPr>
            <p:txBody>
              <a:bodyPr wrap="square" lIns="0" tIns="0" rIns="0" bIns="0" rtlCol="0"/>
              <a:lstStyle/>
              <a:p>
                <a:endParaRPr/>
              </a:p>
            </p:txBody>
          </p:sp>
          <p:sp>
            <p:nvSpPr>
              <p:cNvPr id="140" name="object 47"/>
              <p:cNvSpPr/>
              <p:nvPr/>
            </p:nvSpPr>
            <p:spPr>
              <a:xfrm>
                <a:off x="2167315" y="4706503"/>
                <a:ext cx="622300" cy="0"/>
              </a:xfrm>
              <a:custGeom>
                <a:avLst/>
                <a:gdLst/>
                <a:ahLst/>
                <a:cxnLst/>
                <a:rect l="l" t="t" r="r" b="b"/>
                <a:pathLst>
                  <a:path w="622300">
                    <a:moveTo>
                      <a:pt x="0" y="0"/>
                    </a:moveTo>
                    <a:lnTo>
                      <a:pt x="622300" y="0"/>
                    </a:lnTo>
                  </a:path>
                </a:pathLst>
              </a:custGeom>
              <a:grpFill/>
              <a:ln w="12700">
                <a:solidFill>
                  <a:schemeClr val="bg1"/>
                </a:solidFill>
              </a:ln>
            </p:spPr>
            <p:txBody>
              <a:bodyPr wrap="square" lIns="0" tIns="0" rIns="0" bIns="0" rtlCol="0"/>
              <a:lstStyle/>
              <a:p>
                <a:endParaRPr/>
              </a:p>
            </p:txBody>
          </p:sp>
          <p:sp>
            <p:nvSpPr>
              <p:cNvPr id="141" name="object 48"/>
              <p:cNvSpPr/>
              <p:nvPr/>
            </p:nvSpPr>
            <p:spPr>
              <a:xfrm>
                <a:off x="2116515" y="4414403"/>
                <a:ext cx="711200" cy="241300"/>
              </a:xfrm>
              <a:custGeom>
                <a:avLst/>
                <a:gdLst/>
                <a:ahLst/>
                <a:cxnLst/>
                <a:rect l="l" t="t" r="r" b="b"/>
                <a:pathLst>
                  <a:path w="711200" h="241300">
                    <a:moveTo>
                      <a:pt x="355600" y="0"/>
                    </a:moveTo>
                    <a:lnTo>
                      <a:pt x="0" y="215900"/>
                    </a:lnTo>
                    <a:lnTo>
                      <a:pt x="0" y="241300"/>
                    </a:lnTo>
                    <a:lnTo>
                      <a:pt x="711200" y="241300"/>
                    </a:lnTo>
                    <a:lnTo>
                      <a:pt x="711200" y="215900"/>
                    </a:lnTo>
                    <a:lnTo>
                      <a:pt x="355600" y="0"/>
                    </a:lnTo>
                    <a:close/>
                  </a:path>
                </a:pathLst>
              </a:custGeom>
              <a:grpFill/>
              <a:ln w="12700">
                <a:noFill/>
              </a:ln>
            </p:spPr>
            <p:txBody>
              <a:bodyPr wrap="square" lIns="0" tIns="0" rIns="0" bIns="0" rtlCol="0"/>
              <a:lstStyle/>
              <a:p>
                <a:endParaRPr/>
              </a:p>
            </p:txBody>
          </p:sp>
        </p:grpSp>
      </p:grpSp>
      <p:grpSp>
        <p:nvGrpSpPr>
          <p:cNvPr id="142" name="Group 141"/>
          <p:cNvGrpSpPr/>
          <p:nvPr/>
        </p:nvGrpSpPr>
        <p:grpSpPr>
          <a:xfrm>
            <a:off x="1269587" y="5511309"/>
            <a:ext cx="302115" cy="302118"/>
            <a:chOff x="7052558" y="931192"/>
            <a:chExt cx="737134" cy="737143"/>
          </a:xfrm>
          <a:solidFill>
            <a:schemeClr val="bg1"/>
          </a:solidFill>
        </p:grpSpPr>
        <p:sp>
          <p:nvSpPr>
            <p:cNvPr id="143" name="object 41"/>
            <p:cNvSpPr/>
            <p:nvPr/>
          </p:nvSpPr>
          <p:spPr>
            <a:xfrm>
              <a:off x="7377872" y="1549590"/>
              <a:ext cx="86360" cy="118745"/>
            </a:xfrm>
            <a:custGeom>
              <a:avLst/>
              <a:gdLst/>
              <a:ahLst/>
              <a:cxnLst/>
              <a:rect l="l" t="t" r="r" b="b"/>
              <a:pathLst>
                <a:path w="86360" h="118745">
                  <a:moveTo>
                    <a:pt x="0" y="0"/>
                  </a:moveTo>
                  <a:lnTo>
                    <a:pt x="42989" y="118211"/>
                  </a:lnTo>
                  <a:lnTo>
                    <a:pt x="84556" y="3911"/>
                  </a:lnTo>
                  <a:lnTo>
                    <a:pt x="42989" y="3911"/>
                  </a:lnTo>
                  <a:lnTo>
                    <a:pt x="32048" y="3636"/>
                  </a:lnTo>
                  <a:lnTo>
                    <a:pt x="21242" y="2851"/>
                  </a:lnTo>
                  <a:lnTo>
                    <a:pt x="10562" y="1618"/>
                  </a:lnTo>
                  <a:lnTo>
                    <a:pt x="0" y="0"/>
                  </a:lnTo>
                  <a:close/>
                </a:path>
                <a:path w="86360" h="118745">
                  <a:moveTo>
                    <a:pt x="85979" y="0"/>
                  </a:moveTo>
                  <a:lnTo>
                    <a:pt x="75416" y="1618"/>
                  </a:lnTo>
                  <a:lnTo>
                    <a:pt x="64736" y="2851"/>
                  </a:lnTo>
                  <a:lnTo>
                    <a:pt x="53930" y="3636"/>
                  </a:lnTo>
                  <a:lnTo>
                    <a:pt x="42989" y="3911"/>
                  </a:lnTo>
                  <a:lnTo>
                    <a:pt x="84556" y="3911"/>
                  </a:lnTo>
                  <a:lnTo>
                    <a:pt x="85979" y="0"/>
                  </a:lnTo>
                  <a:close/>
                </a:path>
              </a:pathLst>
            </a:custGeom>
            <a:grpFill/>
          </p:spPr>
          <p:txBody>
            <a:bodyPr wrap="square" lIns="0" tIns="0" rIns="0" bIns="0" rtlCol="0"/>
            <a:lstStyle/>
            <a:p>
              <a:endParaRPr/>
            </a:p>
          </p:txBody>
        </p:sp>
        <p:grpSp>
          <p:nvGrpSpPr>
            <p:cNvPr id="144" name="Group 143"/>
            <p:cNvGrpSpPr/>
            <p:nvPr/>
          </p:nvGrpSpPr>
          <p:grpSpPr>
            <a:xfrm>
              <a:off x="7052558" y="931192"/>
              <a:ext cx="737134" cy="687452"/>
              <a:chOff x="1801664" y="8907571"/>
              <a:chExt cx="737134" cy="687452"/>
            </a:xfrm>
            <a:grpFill/>
          </p:grpSpPr>
          <p:sp>
            <p:nvSpPr>
              <p:cNvPr id="145" name="object 40"/>
              <p:cNvSpPr/>
              <p:nvPr/>
            </p:nvSpPr>
            <p:spPr>
              <a:xfrm>
                <a:off x="2126973" y="8907571"/>
                <a:ext cx="86360" cy="118745"/>
              </a:xfrm>
              <a:custGeom>
                <a:avLst/>
                <a:gdLst/>
                <a:ahLst/>
                <a:cxnLst/>
                <a:rect l="l" t="t" r="r" b="b"/>
                <a:pathLst>
                  <a:path w="86360" h="118745">
                    <a:moveTo>
                      <a:pt x="42989" y="0"/>
                    </a:moveTo>
                    <a:lnTo>
                      <a:pt x="0" y="118211"/>
                    </a:lnTo>
                    <a:lnTo>
                      <a:pt x="10562" y="116593"/>
                    </a:lnTo>
                    <a:lnTo>
                      <a:pt x="21242" y="115360"/>
                    </a:lnTo>
                    <a:lnTo>
                      <a:pt x="32048" y="114575"/>
                    </a:lnTo>
                    <a:lnTo>
                      <a:pt x="42989" y="114300"/>
                    </a:lnTo>
                    <a:lnTo>
                      <a:pt x="84556" y="114300"/>
                    </a:lnTo>
                    <a:lnTo>
                      <a:pt x="42989" y="0"/>
                    </a:lnTo>
                    <a:close/>
                  </a:path>
                  <a:path w="86360" h="118745">
                    <a:moveTo>
                      <a:pt x="84556" y="114300"/>
                    </a:moveTo>
                    <a:lnTo>
                      <a:pt x="42989" y="114300"/>
                    </a:lnTo>
                    <a:lnTo>
                      <a:pt x="53930" y="114575"/>
                    </a:lnTo>
                    <a:lnTo>
                      <a:pt x="64736" y="115360"/>
                    </a:lnTo>
                    <a:lnTo>
                      <a:pt x="75416" y="116593"/>
                    </a:lnTo>
                    <a:lnTo>
                      <a:pt x="85979" y="118211"/>
                    </a:lnTo>
                    <a:lnTo>
                      <a:pt x="84556" y="114300"/>
                    </a:lnTo>
                    <a:close/>
                  </a:path>
                </a:pathLst>
              </a:custGeom>
              <a:grpFill/>
            </p:spPr>
            <p:txBody>
              <a:bodyPr wrap="square" lIns="0" tIns="0" rIns="0" bIns="0" rtlCol="0"/>
              <a:lstStyle/>
              <a:p>
                <a:endParaRPr/>
              </a:p>
            </p:txBody>
          </p:sp>
          <p:sp>
            <p:nvSpPr>
              <p:cNvPr id="146" name="object 42"/>
              <p:cNvSpPr/>
              <p:nvPr/>
            </p:nvSpPr>
            <p:spPr>
              <a:xfrm>
                <a:off x="2420053" y="9232887"/>
                <a:ext cx="118745" cy="86360"/>
              </a:xfrm>
              <a:custGeom>
                <a:avLst/>
                <a:gdLst/>
                <a:ahLst/>
                <a:cxnLst/>
                <a:rect l="l" t="t" r="r" b="b"/>
                <a:pathLst>
                  <a:path w="118744" h="86359">
                    <a:moveTo>
                      <a:pt x="0" y="0"/>
                    </a:moveTo>
                    <a:lnTo>
                      <a:pt x="1618" y="10562"/>
                    </a:lnTo>
                    <a:lnTo>
                      <a:pt x="2851" y="21242"/>
                    </a:lnTo>
                    <a:lnTo>
                      <a:pt x="3636" y="32048"/>
                    </a:lnTo>
                    <a:lnTo>
                      <a:pt x="3911" y="42989"/>
                    </a:lnTo>
                    <a:lnTo>
                      <a:pt x="3636" y="53930"/>
                    </a:lnTo>
                    <a:lnTo>
                      <a:pt x="2851" y="64736"/>
                    </a:lnTo>
                    <a:lnTo>
                      <a:pt x="1618" y="75416"/>
                    </a:lnTo>
                    <a:lnTo>
                      <a:pt x="0" y="85979"/>
                    </a:lnTo>
                    <a:lnTo>
                      <a:pt x="118211" y="42989"/>
                    </a:lnTo>
                    <a:lnTo>
                      <a:pt x="0" y="0"/>
                    </a:lnTo>
                    <a:close/>
                  </a:path>
                </a:pathLst>
              </a:custGeom>
              <a:grpFill/>
            </p:spPr>
            <p:txBody>
              <a:bodyPr wrap="square" lIns="0" tIns="0" rIns="0" bIns="0" rtlCol="0"/>
              <a:lstStyle/>
              <a:p>
                <a:endParaRPr/>
              </a:p>
            </p:txBody>
          </p:sp>
          <p:sp>
            <p:nvSpPr>
              <p:cNvPr id="147" name="object 43"/>
              <p:cNvSpPr/>
              <p:nvPr/>
            </p:nvSpPr>
            <p:spPr>
              <a:xfrm>
                <a:off x="1801664" y="9232887"/>
                <a:ext cx="118745" cy="86360"/>
              </a:xfrm>
              <a:custGeom>
                <a:avLst/>
                <a:gdLst/>
                <a:ahLst/>
                <a:cxnLst/>
                <a:rect l="l" t="t" r="r" b="b"/>
                <a:pathLst>
                  <a:path w="118744" h="86359">
                    <a:moveTo>
                      <a:pt x="118211" y="0"/>
                    </a:moveTo>
                    <a:lnTo>
                      <a:pt x="0" y="42989"/>
                    </a:lnTo>
                    <a:lnTo>
                      <a:pt x="118211" y="85979"/>
                    </a:lnTo>
                    <a:lnTo>
                      <a:pt x="116593" y="75416"/>
                    </a:lnTo>
                    <a:lnTo>
                      <a:pt x="115360" y="64736"/>
                    </a:lnTo>
                    <a:lnTo>
                      <a:pt x="114575" y="53930"/>
                    </a:lnTo>
                    <a:lnTo>
                      <a:pt x="114300" y="42989"/>
                    </a:lnTo>
                    <a:lnTo>
                      <a:pt x="114575" y="32048"/>
                    </a:lnTo>
                    <a:lnTo>
                      <a:pt x="115360" y="21242"/>
                    </a:lnTo>
                    <a:lnTo>
                      <a:pt x="116593" y="10562"/>
                    </a:lnTo>
                    <a:lnTo>
                      <a:pt x="118211" y="0"/>
                    </a:lnTo>
                    <a:close/>
                  </a:path>
                </a:pathLst>
              </a:custGeom>
              <a:grpFill/>
            </p:spPr>
            <p:txBody>
              <a:bodyPr wrap="square" lIns="0" tIns="0" rIns="0" bIns="0" rtlCol="0"/>
              <a:lstStyle/>
              <a:p>
                <a:endParaRPr/>
              </a:p>
            </p:txBody>
          </p:sp>
          <p:sp>
            <p:nvSpPr>
              <p:cNvPr id="148" name="object 44"/>
              <p:cNvSpPr/>
              <p:nvPr/>
            </p:nvSpPr>
            <p:spPr>
              <a:xfrm>
                <a:off x="1985814" y="8956920"/>
                <a:ext cx="96520" cy="123825"/>
              </a:xfrm>
              <a:custGeom>
                <a:avLst/>
                <a:gdLst/>
                <a:ahLst/>
                <a:cxnLst/>
                <a:rect l="l" t="t" r="r" b="b"/>
                <a:pathLst>
                  <a:path w="96519" h="123825">
                    <a:moveTo>
                      <a:pt x="0" y="0"/>
                    </a:moveTo>
                    <a:lnTo>
                      <a:pt x="21844" y="123634"/>
                    </a:lnTo>
                    <a:lnTo>
                      <a:pt x="38909" y="110661"/>
                    </a:lnTo>
                    <a:lnTo>
                      <a:pt x="57081" y="99182"/>
                    </a:lnTo>
                    <a:lnTo>
                      <a:pt x="76256" y="89239"/>
                    </a:lnTo>
                    <a:lnTo>
                      <a:pt x="96329" y="80873"/>
                    </a:lnTo>
                    <a:lnTo>
                      <a:pt x="0" y="0"/>
                    </a:lnTo>
                    <a:close/>
                  </a:path>
                </a:pathLst>
              </a:custGeom>
              <a:grpFill/>
            </p:spPr>
            <p:txBody>
              <a:bodyPr wrap="square" lIns="0" tIns="0" rIns="0" bIns="0" rtlCol="0"/>
              <a:lstStyle/>
              <a:p>
                <a:endParaRPr/>
              </a:p>
            </p:txBody>
          </p:sp>
          <p:sp>
            <p:nvSpPr>
              <p:cNvPr id="149" name="object 45"/>
              <p:cNvSpPr/>
              <p:nvPr/>
            </p:nvSpPr>
            <p:spPr>
              <a:xfrm>
                <a:off x="2257791" y="9471198"/>
                <a:ext cx="96520" cy="123825"/>
              </a:xfrm>
              <a:custGeom>
                <a:avLst/>
                <a:gdLst/>
                <a:ahLst/>
                <a:cxnLst/>
                <a:rect l="l" t="t" r="r" b="b"/>
                <a:pathLst>
                  <a:path w="96519" h="123825">
                    <a:moveTo>
                      <a:pt x="74485" y="0"/>
                    </a:moveTo>
                    <a:lnTo>
                      <a:pt x="57417" y="12973"/>
                    </a:lnTo>
                    <a:lnTo>
                      <a:pt x="39243" y="24452"/>
                    </a:lnTo>
                    <a:lnTo>
                      <a:pt x="20067" y="34395"/>
                    </a:lnTo>
                    <a:lnTo>
                      <a:pt x="0" y="42760"/>
                    </a:lnTo>
                    <a:lnTo>
                      <a:pt x="96329" y="123634"/>
                    </a:lnTo>
                    <a:lnTo>
                      <a:pt x="74485" y="0"/>
                    </a:lnTo>
                    <a:close/>
                  </a:path>
                </a:pathLst>
              </a:custGeom>
              <a:grpFill/>
            </p:spPr>
            <p:txBody>
              <a:bodyPr wrap="square" lIns="0" tIns="0" rIns="0" bIns="0" rtlCol="0"/>
              <a:lstStyle/>
              <a:p>
                <a:endParaRPr/>
              </a:p>
            </p:txBody>
          </p:sp>
          <p:sp>
            <p:nvSpPr>
              <p:cNvPr id="150" name="object 46"/>
              <p:cNvSpPr/>
              <p:nvPr/>
            </p:nvSpPr>
            <p:spPr>
              <a:xfrm>
                <a:off x="2365287" y="9091725"/>
                <a:ext cx="123825" cy="96520"/>
              </a:xfrm>
              <a:custGeom>
                <a:avLst/>
                <a:gdLst/>
                <a:ahLst/>
                <a:cxnLst/>
                <a:rect l="l" t="t" r="r" b="b"/>
                <a:pathLst>
                  <a:path w="123825" h="96520">
                    <a:moveTo>
                      <a:pt x="123634" y="0"/>
                    </a:moveTo>
                    <a:lnTo>
                      <a:pt x="0" y="21844"/>
                    </a:lnTo>
                    <a:lnTo>
                      <a:pt x="12973" y="38909"/>
                    </a:lnTo>
                    <a:lnTo>
                      <a:pt x="24452" y="57081"/>
                    </a:lnTo>
                    <a:lnTo>
                      <a:pt x="34395" y="76256"/>
                    </a:lnTo>
                    <a:lnTo>
                      <a:pt x="42760" y="96329"/>
                    </a:lnTo>
                    <a:lnTo>
                      <a:pt x="123634" y="0"/>
                    </a:lnTo>
                    <a:close/>
                  </a:path>
                </a:pathLst>
              </a:custGeom>
              <a:grpFill/>
            </p:spPr>
            <p:txBody>
              <a:bodyPr wrap="square" lIns="0" tIns="0" rIns="0" bIns="0" rtlCol="0"/>
              <a:lstStyle/>
              <a:p>
                <a:endParaRPr/>
              </a:p>
            </p:txBody>
          </p:sp>
          <p:sp>
            <p:nvSpPr>
              <p:cNvPr id="151" name="object 47"/>
              <p:cNvSpPr/>
              <p:nvPr/>
            </p:nvSpPr>
            <p:spPr>
              <a:xfrm>
                <a:off x="1851008" y="9363697"/>
                <a:ext cx="123825" cy="96520"/>
              </a:xfrm>
              <a:custGeom>
                <a:avLst/>
                <a:gdLst/>
                <a:ahLst/>
                <a:cxnLst/>
                <a:rect l="l" t="t" r="r" b="b"/>
                <a:pathLst>
                  <a:path w="123825" h="96520">
                    <a:moveTo>
                      <a:pt x="80873" y="0"/>
                    </a:moveTo>
                    <a:lnTo>
                      <a:pt x="0" y="96329"/>
                    </a:lnTo>
                    <a:lnTo>
                      <a:pt x="123634" y="74485"/>
                    </a:lnTo>
                    <a:lnTo>
                      <a:pt x="110661" y="57419"/>
                    </a:lnTo>
                    <a:lnTo>
                      <a:pt x="99182" y="39247"/>
                    </a:lnTo>
                    <a:lnTo>
                      <a:pt x="89239" y="20073"/>
                    </a:lnTo>
                    <a:lnTo>
                      <a:pt x="80873" y="0"/>
                    </a:lnTo>
                    <a:close/>
                  </a:path>
                </a:pathLst>
              </a:custGeom>
              <a:grpFill/>
            </p:spPr>
            <p:txBody>
              <a:bodyPr wrap="square" lIns="0" tIns="0" rIns="0" bIns="0" rtlCol="0"/>
              <a:lstStyle/>
              <a:p>
                <a:endParaRPr/>
              </a:p>
            </p:txBody>
          </p:sp>
          <p:sp>
            <p:nvSpPr>
              <p:cNvPr id="152" name="object 48"/>
              <p:cNvSpPr/>
              <p:nvPr/>
            </p:nvSpPr>
            <p:spPr>
              <a:xfrm>
                <a:off x="1851005" y="9091722"/>
                <a:ext cx="123825" cy="96520"/>
              </a:xfrm>
              <a:custGeom>
                <a:avLst/>
                <a:gdLst/>
                <a:ahLst/>
                <a:cxnLst/>
                <a:rect l="l" t="t" r="r" b="b"/>
                <a:pathLst>
                  <a:path w="123825" h="96520">
                    <a:moveTo>
                      <a:pt x="0" y="0"/>
                    </a:moveTo>
                    <a:lnTo>
                      <a:pt x="80873" y="96329"/>
                    </a:lnTo>
                    <a:lnTo>
                      <a:pt x="89239" y="76256"/>
                    </a:lnTo>
                    <a:lnTo>
                      <a:pt x="99182" y="57081"/>
                    </a:lnTo>
                    <a:lnTo>
                      <a:pt x="110661" y="38909"/>
                    </a:lnTo>
                    <a:lnTo>
                      <a:pt x="123634" y="21844"/>
                    </a:lnTo>
                    <a:lnTo>
                      <a:pt x="0" y="0"/>
                    </a:lnTo>
                    <a:close/>
                  </a:path>
                </a:pathLst>
              </a:custGeom>
              <a:grpFill/>
            </p:spPr>
            <p:txBody>
              <a:bodyPr wrap="square" lIns="0" tIns="0" rIns="0" bIns="0" rtlCol="0"/>
              <a:lstStyle/>
              <a:p>
                <a:endParaRPr/>
              </a:p>
            </p:txBody>
          </p:sp>
          <p:sp>
            <p:nvSpPr>
              <p:cNvPr id="153" name="object 49"/>
              <p:cNvSpPr/>
              <p:nvPr/>
            </p:nvSpPr>
            <p:spPr>
              <a:xfrm>
                <a:off x="2365289" y="9363701"/>
                <a:ext cx="123825" cy="96520"/>
              </a:xfrm>
              <a:custGeom>
                <a:avLst/>
                <a:gdLst/>
                <a:ahLst/>
                <a:cxnLst/>
                <a:rect l="l" t="t" r="r" b="b"/>
                <a:pathLst>
                  <a:path w="123825" h="96520">
                    <a:moveTo>
                      <a:pt x="42760" y="0"/>
                    </a:moveTo>
                    <a:lnTo>
                      <a:pt x="34395" y="20073"/>
                    </a:lnTo>
                    <a:lnTo>
                      <a:pt x="24452" y="39247"/>
                    </a:lnTo>
                    <a:lnTo>
                      <a:pt x="12973" y="57419"/>
                    </a:lnTo>
                    <a:lnTo>
                      <a:pt x="0" y="74485"/>
                    </a:lnTo>
                    <a:lnTo>
                      <a:pt x="123634" y="96329"/>
                    </a:lnTo>
                    <a:lnTo>
                      <a:pt x="42760" y="0"/>
                    </a:lnTo>
                    <a:close/>
                  </a:path>
                </a:pathLst>
              </a:custGeom>
              <a:grpFill/>
            </p:spPr>
            <p:txBody>
              <a:bodyPr wrap="square" lIns="0" tIns="0" rIns="0" bIns="0" rtlCol="0"/>
              <a:lstStyle/>
              <a:p>
                <a:endParaRPr/>
              </a:p>
            </p:txBody>
          </p:sp>
          <p:sp>
            <p:nvSpPr>
              <p:cNvPr id="154" name="object 50"/>
              <p:cNvSpPr/>
              <p:nvPr/>
            </p:nvSpPr>
            <p:spPr>
              <a:xfrm>
                <a:off x="2257785" y="8956919"/>
                <a:ext cx="96520" cy="123825"/>
              </a:xfrm>
              <a:custGeom>
                <a:avLst/>
                <a:gdLst/>
                <a:ahLst/>
                <a:cxnLst/>
                <a:rect l="l" t="t" r="r" b="b"/>
                <a:pathLst>
                  <a:path w="96519" h="123825">
                    <a:moveTo>
                      <a:pt x="96329" y="0"/>
                    </a:moveTo>
                    <a:lnTo>
                      <a:pt x="0" y="80873"/>
                    </a:lnTo>
                    <a:lnTo>
                      <a:pt x="20073" y="89239"/>
                    </a:lnTo>
                    <a:lnTo>
                      <a:pt x="39247" y="99182"/>
                    </a:lnTo>
                    <a:lnTo>
                      <a:pt x="57419" y="110661"/>
                    </a:lnTo>
                    <a:lnTo>
                      <a:pt x="74485" y="123634"/>
                    </a:lnTo>
                    <a:lnTo>
                      <a:pt x="96329" y="0"/>
                    </a:lnTo>
                    <a:close/>
                  </a:path>
                </a:pathLst>
              </a:custGeom>
              <a:grpFill/>
            </p:spPr>
            <p:txBody>
              <a:bodyPr wrap="square" lIns="0" tIns="0" rIns="0" bIns="0" rtlCol="0"/>
              <a:lstStyle/>
              <a:p>
                <a:endParaRPr/>
              </a:p>
            </p:txBody>
          </p:sp>
          <p:sp>
            <p:nvSpPr>
              <p:cNvPr id="155" name="object 51"/>
              <p:cNvSpPr/>
              <p:nvPr/>
            </p:nvSpPr>
            <p:spPr>
              <a:xfrm>
                <a:off x="1985814" y="9471198"/>
                <a:ext cx="96520" cy="123825"/>
              </a:xfrm>
              <a:custGeom>
                <a:avLst/>
                <a:gdLst/>
                <a:ahLst/>
                <a:cxnLst/>
                <a:rect l="l" t="t" r="r" b="b"/>
                <a:pathLst>
                  <a:path w="96519" h="123825">
                    <a:moveTo>
                      <a:pt x="21844" y="0"/>
                    </a:moveTo>
                    <a:lnTo>
                      <a:pt x="0" y="123634"/>
                    </a:lnTo>
                    <a:lnTo>
                      <a:pt x="96329" y="42760"/>
                    </a:lnTo>
                    <a:lnTo>
                      <a:pt x="76256" y="34395"/>
                    </a:lnTo>
                    <a:lnTo>
                      <a:pt x="57081" y="24452"/>
                    </a:lnTo>
                    <a:lnTo>
                      <a:pt x="38909" y="12973"/>
                    </a:lnTo>
                    <a:lnTo>
                      <a:pt x="21844" y="0"/>
                    </a:lnTo>
                    <a:close/>
                  </a:path>
                </a:pathLst>
              </a:custGeom>
              <a:grpFill/>
            </p:spPr>
            <p:txBody>
              <a:bodyPr wrap="square" lIns="0" tIns="0" rIns="0" bIns="0" rtlCol="0"/>
              <a:lstStyle/>
              <a:p>
                <a:endParaRPr/>
              </a:p>
            </p:txBody>
          </p:sp>
          <p:sp>
            <p:nvSpPr>
              <p:cNvPr id="156" name="object 52"/>
              <p:cNvSpPr/>
              <p:nvPr/>
            </p:nvSpPr>
            <p:spPr>
              <a:xfrm>
                <a:off x="1954064" y="9059977"/>
                <a:ext cx="431800" cy="431800"/>
              </a:xfrm>
              <a:custGeom>
                <a:avLst/>
                <a:gdLst/>
                <a:ahLst/>
                <a:cxnLst/>
                <a:rect l="l" t="t" r="r" b="b"/>
                <a:pathLst>
                  <a:path w="431800" h="431800">
                    <a:moveTo>
                      <a:pt x="215900" y="0"/>
                    </a:moveTo>
                    <a:lnTo>
                      <a:pt x="166395" y="5701"/>
                    </a:lnTo>
                    <a:lnTo>
                      <a:pt x="120951" y="21943"/>
                    </a:lnTo>
                    <a:lnTo>
                      <a:pt x="80864" y="47430"/>
                    </a:lnTo>
                    <a:lnTo>
                      <a:pt x="47430" y="80864"/>
                    </a:lnTo>
                    <a:lnTo>
                      <a:pt x="21943" y="120951"/>
                    </a:lnTo>
                    <a:lnTo>
                      <a:pt x="5701" y="166395"/>
                    </a:lnTo>
                    <a:lnTo>
                      <a:pt x="0" y="215900"/>
                    </a:lnTo>
                    <a:lnTo>
                      <a:pt x="5701" y="265404"/>
                    </a:lnTo>
                    <a:lnTo>
                      <a:pt x="21943" y="310848"/>
                    </a:lnTo>
                    <a:lnTo>
                      <a:pt x="47430" y="350935"/>
                    </a:lnTo>
                    <a:lnTo>
                      <a:pt x="80864" y="384369"/>
                    </a:lnTo>
                    <a:lnTo>
                      <a:pt x="120951" y="409856"/>
                    </a:lnTo>
                    <a:lnTo>
                      <a:pt x="166395" y="426098"/>
                    </a:lnTo>
                    <a:lnTo>
                      <a:pt x="215900" y="431800"/>
                    </a:lnTo>
                    <a:lnTo>
                      <a:pt x="265404" y="426098"/>
                    </a:lnTo>
                    <a:lnTo>
                      <a:pt x="310848" y="409856"/>
                    </a:lnTo>
                    <a:lnTo>
                      <a:pt x="350935" y="384369"/>
                    </a:lnTo>
                    <a:lnTo>
                      <a:pt x="384369" y="350935"/>
                    </a:lnTo>
                    <a:lnTo>
                      <a:pt x="409856" y="310848"/>
                    </a:lnTo>
                    <a:lnTo>
                      <a:pt x="426098" y="265404"/>
                    </a:lnTo>
                    <a:lnTo>
                      <a:pt x="431800" y="215900"/>
                    </a:lnTo>
                    <a:lnTo>
                      <a:pt x="426098" y="166395"/>
                    </a:lnTo>
                    <a:lnTo>
                      <a:pt x="409856" y="120951"/>
                    </a:lnTo>
                    <a:lnTo>
                      <a:pt x="384369" y="80864"/>
                    </a:lnTo>
                    <a:lnTo>
                      <a:pt x="350935" y="47430"/>
                    </a:lnTo>
                    <a:lnTo>
                      <a:pt x="310848" y="21943"/>
                    </a:lnTo>
                    <a:lnTo>
                      <a:pt x="265404" y="5701"/>
                    </a:lnTo>
                    <a:lnTo>
                      <a:pt x="215900" y="0"/>
                    </a:lnTo>
                    <a:close/>
                  </a:path>
                </a:pathLst>
              </a:custGeom>
              <a:grpFill/>
            </p:spPr>
            <p:txBody>
              <a:bodyPr wrap="square" lIns="0" tIns="0" rIns="0" bIns="0" rtlCol="0"/>
              <a:lstStyle/>
              <a:p>
                <a:endParaRPr/>
              </a:p>
            </p:txBody>
          </p:sp>
        </p:grpSp>
      </p:grpSp>
    </p:spTree>
    <p:extLst>
      <p:ext uri="{BB962C8B-B14F-4D97-AF65-F5344CB8AC3E}">
        <p14:creationId xmlns:p14="http://schemas.microsoft.com/office/powerpoint/2010/main" val="566925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Legal framework</a:t>
            </a:r>
            <a:endParaRPr lang="en-GB" dirty="0"/>
          </a:p>
        </p:txBody>
      </p:sp>
      <p:sp>
        <p:nvSpPr>
          <p:cNvPr id="5" name="Text Placeholder 4"/>
          <p:cNvSpPr>
            <a:spLocks noGrp="1"/>
          </p:cNvSpPr>
          <p:nvPr>
            <p:ph type="body" sz="quarter" idx="11"/>
          </p:nvPr>
        </p:nvSpPr>
        <p:spPr/>
        <p:txBody>
          <a:bodyPr/>
          <a:lstStyle/>
          <a:p>
            <a:r>
              <a:rPr lang="en-AU" dirty="0"/>
              <a:t>Policy &amp; Regulatory Structure</a:t>
            </a:r>
          </a:p>
        </p:txBody>
      </p:sp>
      <p:grpSp>
        <p:nvGrpSpPr>
          <p:cNvPr id="3" name="Group 2"/>
          <p:cNvGrpSpPr/>
          <p:nvPr/>
        </p:nvGrpSpPr>
        <p:grpSpPr>
          <a:xfrm>
            <a:off x="361415" y="947336"/>
            <a:ext cx="9157283" cy="4451805"/>
            <a:chOff x="-19585" y="1750357"/>
            <a:chExt cx="9157283" cy="2921578"/>
          </a:xfrm>
        </p:grpSpPr>
        <p:sp>
          <p:nvSpPr>
            <p:cNvPr id="25" name="Oval 6"/>
            <p:cNvSpPr>
              <a:spLocks noChangeArrowheads="1"/>
            </p:cNvSpPr>
            <p:nvPr>
              <p:custDataLst>
                <p:tags r:id="rId1"/>
              </p:custDataLst>
            </p:nvPr>
          </p:nvSpPr>
          <p:spPr bwMode="gray">
            <a:xfrm>
              <a:off x="3700943" y="1750357"/>
              <a:ext cx="1732257" cy="518945"/>
            </a:xfrm>
            <a:prstGeom prst="rect">
              <a:avLst/>
            </a:prstGeom>
            <a:solidFill>
              <a:schemeClr val="tx2"/>
            </a:solidFill>
            <a:ln w="9525">
              <a:noFill/>
              <a:round/>
              <a:headEnd type="none" w="sm" len="sm"/>
              <a:tailEnd type="none" w="sm" len="sm"/>
            </a:ln>
            <a:effectLst/>
          </p:spPr>
          <p:txBody>
            <a:bodyPr lIns="54000" tIns="54000" rIns="54000" bIns="54000" anchor="ctr" anchorCtr="1"/>
            <a:lstStyle/>
            <a:p>
              <a:pPr algn="ctr" defTabSz="762000" eaLnBrk="0" hangingPunct="0"/>
              <a:r>
                <a:rPr lang="en-GB" sz="1000" b="1" dirty="0">
                  <a:solidFill>
                    <a:schemeClr val="bg1"/>
                  </a:solidFill>
                </a:rPr>
                <a:t>Law on Electricity</a:t>
              </a:r>
            </a:p>
            <a:p>
              <a:pPr algn="ctr" defTabSz="762000" eaLnBrk="0" hangingPunct="0"/>
              <a:r>
                <a:rPr lang="en-AU" sz="1000" b="1" dirty="0">
                  <a:solidFill>
                    <a:schemeClr val="bg1"/>
                  </a:solidFill>
                </a:rPr>
                <a:t>28/2004/QH11, Amended Law</a:t>
              </a:r>
              <a:r>
                <a:rPr lang="en-GB" sz="1000" b="1" dirty="0">
                  <a:solidFill>
                    <a:schemeClr val="bg1"/>
                  </a:solidFill>
                </a:rPr>
                <a:t> on Electricity</a:t>
              </a:r>
              <a:r>
                <a:rPr lang="en-AU" sz="1000" b="1" dirty="0">
                  <a:solidFill>
                    <a:schemeClr val="bg1"/>
                  </a:solidFill>
                </a:rPr>
                <a:t> 24/2012/QH13</a:t>
              </a:r>
              <a:endParaRPr lang="en-GB" sz="1000" b="1" dirty="0">
                <a:solidFill>
                  <a:schemeClr val="bg1"/>
                </a:solidFill>
              </a:endParaRPr>
            </a:p>
          </p:txBody>
        </p:sp>
        <p:sp>
          <p:nvSpPr>
            <p:cNvPr id="26" name="Rectangle 8"/>
            <p:cNvSpPr>
              <a:spLocks noChangeArrowheads="1"/>
            </p:cNvSpPr>
            <p:nvPr>
              <p:custDataLst>
                <p:tags r:id="rId2"/>
              </p:custDataLst>
            </p:nvPr>
          </p:nvSpPr>
          <p:spPr bwMode="auto">
            <a:xfrm>
              <a:off x="1776954" y="2696603"/>
              <a:ext cx="1405926" cy="518945"/>
            </a:xfrm>
            <a:prstGeom prst="rect">
              <a:avLst/>
            </a:prstGeom>
            <a:solidFill>
              <a:srgbClr val="005EB8"/>
            </a:solidFill>
            <a:ln w="6350">
              <a:noFill/>
              <a:miter lim="800000"/>
              <a:headEnd type="none" w="sm" len="sm"/>
              <a:tailEnd type="none" w="sm" len="sm"/>
            </a:ln>
            <a:effectLst/>
          </p:spPr>
          <p:txBody>
            <a:bodyPr lIns="54000" tIns="54000" rIns="54000" bIns="54000" anchor="ctr" anchorCtr="1"/>
            <a:lstStyle/>
            <a:p>
              <a:pPr algn="ctr" defTabSz="762000" eaLnBrk="0" hangingPunct="0"/>
              <a:r>
                <a:rPr lang="en-GB" sz="1000" dirty="0">
                  <a:solidFill>
                    <a:schemeClr val="bg1"/>
                  </a:solidFill>
                </a:rPr>
                <a:t>Ministry of Industry and Trade</a:t>
              </a:r>
            </a:p>
          </p:txBody>
        </p:sp>
        <p:sp>
          <p:nvSpPr>
            <p:cNvPr id="27" name="Rectangle 9"/>
            <p:cNvSpPr>
              <a:spLocks noChangeArrowheads="1"/>
            </p:cNvSpPr>
            <p:nvPr>
              <p:custDataLst>
                <p:tags r:id="rId3"/>
              </p:custDataLst>
            </p:nvPr>
          </p:nvSpPr>
          <p:spPr bwMode="auto">
            <a:xfrm>
              <a:off x="6683610" y="2696603"/>
              <a:ext cx="1405926" cy="518945"/>
            </a:xfrm>
            <a:prstGeom prst="rect">
              <a:avLst/>
            </a:prstGeom>
            <a:solidFill>
              <a:srgbClr val="005EB8"/>
            </a:solidFill>
            <a:ln w="6350">
              <a:noFill/>
              <a:miter lim="800000"/>
              <a:headEnd type="none" w="sm" len="sm"/>
              <a:tailEnd type="none" w="sm" len="sm"/>
            </a:ln>
            <a:effectLst/>
          </p:spPr>
          <p:txBody>
            <a:bodyPr lIns="54000" tIns="54000" rIns="54000" bIns="54000" anchor="ctr" anchorCtr="1"/>
            <a:lstStyle/>
            <a:p>
              <a:pPr algn="ctr" defTabSz="762000" eaLnBrk="0" hangingPunct="0"/>
              <a:r>
                <a:rPr lang="en-GB" sz="1000" dirty="0">
                  <a:solidFill>
                    <a:schemeClr val="bg1"/>
                  </a:solidFill>
                </a:rPr>
                <a:t>Government Office</a:t>
              </a:r>
            </a:p>
          </p:txBody>
        </p:sp>
        <p:sp>
          <p:nvSpPr>
            <p:cNvPr id="28" name="Rectangle 10"/>
            <p:cNvSpPr>
              <a:spLocks noChangeArrowheads="1"/>
            </p:cNvSpPr>
            <p:nvPr>
              <p:custDataLst>
                <p:tags r:id="rId4"/>
              </p:custDataLst>
            </p:nvPr>
          </p:nvSpPr>
          <p:spPr bwMode="auto">
            <a:xfrm>
              <a:off x="5579007" y="3642239"/>
              <a:ext cx="1405926" cy="518945"/>
            </a:xfrm>
            <a:prstGeom prst="rect">
              <a:avLst/>
            </a:prstGeom>
            <a:solidFill>
              <a:schemeClr val="accent1"/>
            </a:solidFill>
            <a:ln w="6350">
              <a:noFill/>
              <a:miter lim="800000"/>
              <a:headEnd type="none" w="sm" len="sm"/>
              <a:tailEnd type="none" w="sm" len="sm"/>
            </a:ln>
            <a:effectLst/>
          </p:spPr>
          <p:txBody>
            <a:bodyPr lIns="54000" tIns="54000" rIns="54000" bIns="54000" anchor="ctr" anchorCtr="1"/>
            <a:lstStyle/>
            <a:p>
              <a:pPr algn="ctr" defTabSz="762000" eaLnBrk="0" hangingPunct="0"/>
              <a:r>
                <a:rPr lang="en-AU" sz="1000" dirty="0">
                  <a:solidFill>
                    <a:schemeClr val="bg1"/>
                  </a:solidFill>
                </a:rPr>
                <a:t>Decision 11/2017/QĐ-</a:t>
              </a:r>
              <a:r>
                <a:rPr lang="en-AU" sz="1000" dirty="0" err="1">
                  <a:solidFill>
                    <a:schemeClr val="bg1"/>
                  </a:solidFill>
                </a:rPr>
                <a:t>TTg</a:t>
              </a:r>
              <a:r>
                <a:rPr lang="en-AU" sz="1000" dirty="0">
                  <a:solidFill>
                    <a:schemeClr val="bg1"/>
                  </a:solidFill>
                </a:rPr>
                <a:t> on encouragement of solar power development (Expired)</a:t>
              </a:r>
              <a:endParaRPr lang="en-GB" sz="1000" dirty="0">
                <a:solidFill>
                  <a:schemeClr val="bg1"/>
                </a:solidFill>
              </a:endParaRPr>
            </a:p>
          </p:txBody>
        </p:sp>
        <p:sp>
          <p:nvSpPr>
            <p:cNvPr id="29" name="Rectangle 11"/>
            <p:cNvSpPr>
              <a:spLocks noChangeArrowheads="1"/>
            </p:cNvSpPr>
            <p:nvPr>
              <p:custDataLst>
                <p:tags r:id="rId5"/>
              </p:custDataLst>
            </p:nvPr>
          </p:nvSpPr>
          <p:spPr bwMode="auto">
            <a:xfrm>
              <a:off x="7409151" y="3642239"/>
              <a:ext cx="1728547" cy="518945"/>
            </a:xfrm>
            <a:prstGeom prst="rect">
              <a:avLst/>
            </a:prstGeom>
            <a:solidFill>
              <a:schemeClr val="accent1"/>
            </a:solidFill>
            <a:ln w="6350">
              <a:noFill/>
              <a:miter lim="800000"/>
              <a:headEnd type="none" w="sm" len="sm"/>
              <a:tailEnd type="none" w="sm" len="sm"/>
            </a:ln>
            <a:effectLst/>
          </p:spPr>
          <p:txBody>
            <a:bodyPr lIns="54000" tIns="54000" rIns="54000" bIns="54000" anchor="ctr" anchorCtr="1"/>
            <a:lstStyle/>
            <a:p>
              <a:pPr algn="ctr" defTabSz="762000" eaLnBrk="0" hangingPunct="0"/>
              <a:r>
                <a:rPr lang="en-GB" sz="1000" dirty="0">
                  <a:solidFill>
                    <a:schemeClr val="bg1"/>
                  </a:solidFill>
                </a:rPr>
                <a:t>Decision 428/QD-</a:t>
              </a:r>
              <a:r>
                <a:rPr lang="en-GB" sz="1000" dirty="0" err="1">
                  <a:solidFill>
                    <a:schemeClr val="bg1"/>
                  </a:solidFill>
                </a:rPr>
                <a:t>TTg</a:t>
              </a:r>
              <a:r>
                <a:rPr lang="en-GB" sz="1000" dirty="0">
                  <a:solidFill>
                    <a:schemeClr val="bg1"/>
                  </a:solidFill>
                </a:rPr>
                <a:t> on National Power Development Plan from 2011 to 2020 with visions extended to 2030</a:t>
              </a:r>
            </a:p>
          </p:txBody>
        </p:sp>
        <p:sp>
          <p:nvSpPr>
            <p:cNvPr id="30" name="Rectangle 12"/>
            <p:cNvSpPr>
              <a:spLocks noChangeArrowheads="1"/>
            </p:cNvSpPr>
            <p:nvPr>
              <p:custDataLst>
                <p:tags r:id="rId6"/>
              </p:custDataLst>
            </p:nvPr>
          </p:nvSpPr>
          <p:spPr bwMode="auto">
            <a:xfrm>
              <a:off x="-19585" y="3642239"/>
              <a:ext cx="1405927" cy="518945"/>
            </a:xfrm>
            <a:prstGeom prst="rect">
              <a:avLst/>
            </a:prstGeom>
            <a:solidFill>
              <a:schemeClr val="accent1"/>
            </a:solidFill>
            <a:ln w="6350">
              <a:noFill/>
              <a:miter lim="800000"/>
              <a:headEnd type="none" w="sm" len="sm"/>
              <a:tailEnd type="none" w="sm" len="sm"/>
            </a:ln>
            <a:effectLst/>
          </p:spPr>
          <p:txBody>
            <a:bodyPr lIns="54000" tIns="54000" rIns="54000" bIns="54000" anchor="ctr" anchorCtr="1"/>
            <a:lstStyle/>
            <a:p>
              <a:pPr algn="ctr" defTabSz="762000" eaLnBrk="0" hangingPunct="0"/>
              <a:r>
                <a:rPr lang="en-GB" sz="1000" dirty="0">
                  <a:solidFill>
                    <a:schemeClr val="bg1"/>
                  </a:solidFill>
                </a:rPr>
                <a:t>Circular </a:t>
              </a:r>
              <a:r>
                <a:rPr lang="en-AU" sz="1000" dirty="0">
                  <a:solidFill>
                    <a:schemeClr val="bg1"/>
                  </a:solidFill>
                </a:rPr>
                <a:t>16/2017/TT-BCT on Solar Power Project</a:t>
              </a:r>
              <a:endParaRPr lang="en-GB" sz="1000" dirty="0">
                <a:solidFill>
                  <a:schemeClr val="bg1"/>
                </a:solidFill>
              </a:endParaRPr>
            </a:p>
          </p:txBody>
        </p:sp>
        <p:sp>
          <p:nvSpPr>
            <p:cNvPr id="31" name="Rectangle 14"/>
            <p:cNvSpPr>
              <a:spLocks noChangeArrowheads="1"/>
            </p:cNvSpPr>
            <p:nvPr>
              <p:custDataLst>
                <p:tags r:id="rId7"/>
              </p:custDataLst>
            </p:nvPr>
          </p:nvSpPr>
          <p:spPr bwMode="auto">
            <a:xfrm>
              <a:off x="3294617" y="3642239"/>
              <a:ext cx="1405926" cy="518945"/>
            </a:xfrm>
            <a:prstGeom prst="rect">
              <a:avLst/>
            </a:prstGeom>
            <a:solidFill>
              <a:schemeClr val="accent1"/>
            </a:solidFill>
            <a:ln w="6350">
              <a:noFill/>
              <a:miter lim="800000"/>
              <a:headEnd type="none" w="sm" len="sm"/>
              <a:tailEnd type="none" w="sm" len="sm"/>
            </a:ln>
            <a:effectLst/>
          </p:spPr>
          <p:txBody>
            <a:bodyPr lIns="54000" tIns="54000" rIns="54000" bIns="54000" anchor="ctr" anchorCtr="1"/>
            <a:lstStyle/>
            <a:p>
              <a:pPr algn="ctr" defTabSz="762000" eaLnBrk="0" hangingPunct="0"/>
              <a:r>
                <a:rPr lang="en-GB" sz="1000" dirty="0">
                  <a:solidFill>
                    <a:schemeClr val="bg1"/>
                  </a:solidFill>
                </a:rPr>
                <a:t>Circular </a:t>
              </a:r>
              <a:r>
                <a:rPr lang="en-AU" sz="1000" dirty="0">
                  <a:solidFill>
                    <a:schemeClr val="bg1"/>
                  </a:solidFill>
                </a:rPr>
                <a:t>32/2014/TT-BCT on Small Hydro Power Project</a:t>
              </a:r>
              <a:endParaRPr lang="en-GB" sz="1000" dirty="0">
                <a:solidFill>
                  <a:schemeClr val="bg1"/>
                </a:solidFill>
              </a:endParaRPr>
            </a:p>
          </p:txBody>
        </p:sp>
        <p:sp>
          <p:nvSpPr>
            <p:cNvPr id="34" name="Rectangle 17"/>
            <p:cNvSpPr>
              <a:spLocks noChangeArrowheads="1"/>
            </p:cNvSpPr>
            <p:nvPr>
              <p:custDataLst>
                <p:tags r:id="rId8"/>
              </p:custDataLst>
            </p:nvPr>
          </p:nvSpPr>
          <p:spPr bwMode="auto">
            <a:xfrm>
              <a:off x="5693870" y="4222286"/>
              <a:ext cx="1176201" cy="449649"/>
            </a:xfrm>
            <a:prstGeom prst="rect">
              <a:avLst/>
            </a:prstGeom>
            <a:solidFill>
              <a:schemeClr val="accent2"/>
            </a:solidFill>
            <a:ln w="6350">
              <a:noFill/>
              <a:miter lim="800000"/>
              <a:headEnd type="none" w="sm" len="sm"/>
              <a:tailEnd type="none" w="sm" len="sm"/>
            </a:ln>
            <a:effectLst/>
          </p:spPr>
          <p:txBody>
            <a:bodyPr lIns="54000" tIns="54000" rIns="54000" bIns="54000" anchor="ctr" anchorCtr="1"/>
            <a:lstStyle/>
            <a:p>
              <a:pPr algn="ctr" defTabSz="762000" eaLnBrk="0" hangingPunct="0"/>
              <a:r>
                <a:rPr lang="en-GB" sz="1000" i="1" dirty="0">
                  <a:solidFill>
                    <a:schemeClr val="bg1"/>
                  </a:solidFill>
                </a:rPr>
                <a:t>Draft replacement is being discussed and not finalised yet</a:t>
              </a:r>
            </a:p>
          </p:txBody>
        </p:sp>
        <p:cxnSp>
          <p:nvCxnSpPr>
            <p:cNvPr id="35" name="AutoShape 18"/>
            <p:cNvCxnSpPr>
              <a:cxnSpLocks noChangeShapeType="1"/>
              <a:stCxn id="25" idx="2"/>
              <a:endCxn id="26" idx="0"/>
            </p:cNvCxnSpPr>
            <p:nvPr/>
          </p:nvCxnSpPr>
          <p:spPr bwMode="auto">
            <a:xfrm rot="5400000">
              <a:off x="3309844" y="1439375"/>
              <a:ext cx="427301" cy="2087155"/>
            </a:xfrm>
            <a:prstGeom prst="bentConnector3">
              <a:avLst>
                <a:gd name="adj1" fmla="val 50000"/>
              </a:avLst>
            </a:prstGeom>
            <a:noFill/>
            <a:ln w="6350">
              <a:solidFill>
                <a:srgbClr val="005EB8"/>
              </a:solidFill>
              <a:miter lim="800000"/>
              <a:headEnd/>
              <a:tailEnd/>
            </a:ln>
            <a:effectLst/>
          </p:spPr>
        </p:cxnSp>
        <p:cxnSp>
          <p:nvCxnSpPr>
            <p:cNvPr id="36" name="AutoShape 20"/>
            <p:cNvCxnSpPr>
              <a:cxnSpLocks noChangeShapeType="1"/>
              <a:stCxn id="25" idx="2"/>
              <a:endCxn id="27" idx="0"/>
            </p:cNvCxnSpPr>
            <p:nvPr/>
          </p:nvCxnSpPr>
          <p:spPr bwMode="auto">
            <a:xfrm rot="16200000" flipH="1">
              <a:off x="5763171" y="1073202"/>
              <a:ext cx="427301" cy="2819501"/>
            </a:xfrm>
            <a:prstGeom prst="bentConnector3">
              <a:avLst>
                <a:gd name="adj1" fmla="val 50000"/>
              </a:avLst>
            </a:prstGeom>
            <a:noFill/>
            <a:ln w="6350">
              <a:solidFill>
                <a:srgbClr val="005EB8"/>
              </a:solidFill>
              <a:miter lim="800000"/>
              <a:headEnd/>
              <a:tailEnd/>
            </a:ln>
            <a:effectLst/>
          </p:spPr>
        </p:cxnSp>
        <p:cxnSp>
          <p:nvCxnSpPr>
            <p:cNvPr id="37" name="AutoShape 21"/>
            <p:cNvCxnSpPr>
              <a:cxnSpLocks noChangeShapeType="1"/>
              <a:stCxn id="26" idx="2"/>
              <a:endCxn id="30" idx="0"/>
            </p:cNvCxnSpPr>
            <p:nvPr/>
          </p:nvCxnSpPr>
          <p:spPr bwMode="auto">
            <a:xfrm rot="5400000">
              <a:off x="1368303" y="2530625"/>
              <a:ext cx="426691" cy="1796538"/>
            </a:xfrm>
            <a:prstGeom prst="bentConnector3">
              <a:avLst>
                <a:gd name="adj1" fmla="val 50000"/>
              </a:avLst>
            </a:prstGeom>
            <a:noFill/>
            <a:ln w="6350">
              <a:solidFill>
                <a:srgbClr val="005EB8"/>
              </a:solidFill>
              <a:miter lim="800000"/>
              <a:headEnd/>
              <a:tailEnd/>
            </a:ln>
            <a:effectLst/>
          </p:spPr>
        </p:cxnSp>
        <p:cxnSp>
          <p:nvCxnSpPr>
            <p:cNvPr id="38" name="AutoShape 23"/>
            <p:cNvCxnSpPr>
              <a:cxnSpLocks noChangeShapeType="1"/>
              <a:stCxn id="26" idx="2"/>
              <a:endCxn id="31" idx="0"/>
            </p:cNvCxnSpPr>
            <p:nvPr/>
          </p:nvCxnSpPr>
          <p:spPr bwMode="auto">
            <a:xfrm rot="16200000" flipH="1">
              <a:off x="3025403" y="2670062"/>
              <a:ext cx="426691" cy="1517663"/>
            </a:xfrm>
            <a:prstGeom prst="bentConnector3">
              <a:avLst>
                <a:gd name="adj1" fmla="val 50000"/>
              </a:avLst>
            </a:prstGeom>
            <a:noFill/>
            <a:ln w="6350">
              <a:solidFill>
                <a:srgbClr val="005EB8"/>
              </a:solidFill>
              <a:miter lim="800000"/>
              <a:headEnd/>
              <a:tailEnd/>
            </a:ln>
            <a:effectLst/>
          </p:spPr>
        </p:cxnSp>
        <p:cxnSp>
          <p:nvCxnSpPr>
            <p:cNvPr id="39" name="AutoShape 24"/>
            <p:cNvCxnSpPr>
              <a:cxnSpLocks noChangeShapeType="1"/>
              <a:stCxn id="27" idx="2"/>
              <a:endCxn id="28" idx="0"/>
            </p:cNvCxnSpPr>
            <p:nvPr/>
          </p:nvCxnSpPr>
          <p:spPr bwMode="auto">
            <a:xfrm rot="5400000">
              <a:off x="6620926" y="2876592"/>
              <a:ext cx="426691" cy="1104603"/>
            </a:xfrm>
            <a:prstGeom prst="bentConnector3">
              <a:avLst>
                <a:gd name="adj1" fmla="val 50000"/>
              </a:avLst>
            </a:prstGeom>
            <a:noFill/>
            <a:ln w="6350">
              <a:solidFill>
                <a:srgbClr val="005EB8"/>
              </a:solidFill>
              <a:miter lim="800000"/>
              <a:headEnd/>
              <a:tailEnd/>
            </a:ln>
            <a:effectLst/>
          </p:spPr>
        </p:cxnSp>
        <p:cxnSp>
          <p:nvCxnSpPr>
            <p:cNvPr id="40" name="AutoShape 25"/>
            <p:cNvCxnSpPr>
              <a:cxnSpLocks noChangeShapeType="1"/>
              <a:stCxn id="27" idx="2"/>
              <a:endCxn id="29" idx="0"/>
            </p:cNvCxnSpPr>
            <p:nvPr/>
          </p:nvCxnSpPr>
          <p:spPr bwMode="auto">
            <a:xfrm rot="16200000" flipH="1">
              <a:off x="7616653" y="2985467"/>
              <a:ext cx="426691" cy="886852"/>
            </a:xfrm>
            <a:prstGeom prst="bentConnector3">
              <a:avLst>
                <a:gd name="adj1" fmla="val 50000"/>
              </a:avLst>
            </a:prstGeom>
            <a:noFill/>
            <a:ln w="6350">
              <a:solidFill>
                <a:srgbClr val="005EB8"/>
              </a:solidFill>
              <a:miter lim="800000"/>
              <a:headEnd/>
              <a:tailEnd/>
            </a:ln>
            <a:effectLst/>
          </p:spPr>
        </p:cxnSp>
        <p:cxnSp>
          <p:nvCxnSpPr>
            <p:cNvPr id="43" name="AutoShape 28"/>
            <p:cNvCxnSpPr>
              <a:cxnSpLocks noChangeShapeType="1"/>
              <a:stCxn id="28" idx="2"/>
              <a:endCxn id="34" idx="0"/>
            </p:cNvCxnSpPr>
            <p:nvPr/>
          </p:nvCxnSpPr>
          <p:spPr bwMode="auto">
            <a:xfrm>
              <a:off x="6281970" y="4161184"/>
              <a:ext cx="1" cy="61103"/>
            </a:xfrm>
            <a:prstGeom prst="straightConnector1">
              <a:avLst/>
            </a:prstGeom>
            <a:noFill/>
            <a:ln w="6350">
              <a:solidFill>
                <a:srgbClr val="005EB8"/>
              </a:solidFill>
              <a:round/>
              <a:headEnd/>
              <a:tailEnd/>
            </a:ln>
            <a:effectLst/>
          </p:spPr>
        </p:cxnSp>
        <p:sp>
          <p:nvSpPr>
            <p:cNvPr id="44" name="Rectangle 12">
              <a:extLst>
                <a:ext uri="{FF2B5EF4-FFF2-40B4-BE49-F238E27FC236}">
                  <a16:creationId xmlns:a16="http://schemas.microsoft.com/office/drawing/2014/main" id="{7288C228-24EA-40CC-A9CD-C6C5CFF0FD9C}"/>
                </a:ext>
              </a:extLst>
            </p:cNvPr>
            <p:cNvSpPr>
              <a:spLocks noChangeArrowheads="1"/>
            </p:cNvSpPr>
            <p:nvPr>
              <p:custDataLst>
                <p:tags r:id="rId9"/>
              </p:custDataLst>
            </p:nvPr>
          </p:nvSpPr>
          <p:spPr bwMode="auto">
            <a:xfrm>
              <a:off x="1614892" y="3642239"/>
              <a:ext cx="1405927" cy="518945"/>
            </a:xfrm>
            <a:prstGeom prst="rect">
              <a:avLst/>
            </a:prstGeom>
            <a:solidFill>
              <a:schemeClr val="accent1"/>
            </a:solidFill>
            <a:ln w="6350">
              <a:noFill/>
              <a:miter lim="800000"/>
              <a:headEnd type="none" w="sm" len="sm"/>
              <a:tailEnd type="none" w="sm" len="sm"/>
            </a:ln>
            <a:effectLst/>
          </p:spPr>
          <p:txBody>
            <a:bodyPr lIns="54000" tIns="54000" rIns="54000" bIns="54000" anchor="ctr" anchorCtr="1"/>
            <a:lstStyle/>
            <a:p>
              <a:pPr algn="ctr" defTabSz="762000" eaLnBrk="0" hangingPunct="0"/>
              <a:r>
                <a:rPr lang="en-GB" sz="1000" dirty="0">
                  <a:solidFill>
                    <a:schemeClr val="bg1"/>
                  </a:solidFill>
                </a:rPr>
                <a:t>Circular </a:t>
              </a:r>
              <a:r>
                <a:rPr lang="en-AU" sz="1000" dirty="0">
                  <a:solidFill>
                    <a:schemeClr val="bg1"/>
                  </a:solidFill>
                </a:rPr>
                <a:t>02/2019/TT-BCT on Wind Power Project</a:t>
              </a:r>
              <a:endParaRPr lang="en-GB" sz="1000" dirty="0">
                <a:solidFill>
                  <a:schemeClr val="bg1"/>
                </a:solidFill>
              </a:endParaRPr>
            </a:p>
          </p:txBody>
        </p:sp>
      </p:grpSp>
      <p:cxnSp>
        <p:nvCxnSpPr>
          <p:cNvPr id="16" name="Connector: Elbow 15">
            <a:extLst>
              <a:ext uri="{FF2B5EF4-FFF2-40B4-BE49-F238E27FC236}">
                <a16:creationId xmlns:a16="http://schemas.microsoft.com/office/drawing/2014/main" id="{72776318-5994-43D5-ACD8-EFFC2FA1BCCC}"/>
              </a:ext>
            </a:extLst>
          </p:cNvPr>
          <p:cNvCxnSpPr>
            <a:stCxn id="26" idx="2"/>
            <a:endCxn id="44" idx="0"/>
          </p:cNvCxnSpPr>
          <p:nvPr/>
        </p:nvCxnSpPr>
        <p:spPr>
          <a:xfrm rot="5400000">
            <a:off x="2454798" y="3424007"/>
            <a:ext cx="650178" cy="162061"/>
          </a:xfrm>
          <a:prstGeom prst="bentConnector3">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0554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488950" y="5520190"/>
            <a:ext cx="8928100" cy="598388"/>
          </a:xfrm>
        </p:spPr>
        <p:txBody>
          <a:bodyPr/>
          <a:lstStyle/>
          <a:p>
            <a:r>
              <a:rPr lang="en-US" b="0" dirty="0"/>
              <a:t>The laws of Vietnam are still evolving and legal framework of solar and wind power sector are still under progress of completion, a legal document can be interpreted from different perspectives and positions. Furthermore, the relevant authorities and executive authorities sometimes can have inconsistent explanations or applications in practice.</a:t>
            </a:r>
            <a:r>
              <a:rPr lang="en-SG" b="0" dirty="0"/>
              <a:t> This approval process is </a:t>
            </a:r>
            <a:r>
              <a:rPr lang="en-US" b="0" dirty="0"/>
              <a:t>illustrative only and not exhaustive. We recommend you to frequently seek advices/confirmation from central/local authorities in all steps. KPMG Legal (Vietnam) is a licensed law firm and fully equipped to support you navigating through the legal process of developing a renewable power project.</a:t>
            </a:r>
            <a:endParaRPr lang="en-SG" b="0" dirty="0"/>
          </a:p>
          <a:p>
            <a:endParaRPr lang="en-SG" dirty="0"/>
          </a:p>
          <a:p>
            <a:endParaRPr lang="en-SG" b="0" dirty="0"/>
          </a:p>
          <a:p>
            <a:endParaRPr lang="en-SG" b="0" dirty="0"/>
          </a:p>
        </p:txBody>
      </p:sp>
      <p:sp>
        <p:nvSpPr>
          <p:cNvPr id="7" name="Text Placeholder 6">
            <a:extLst>
              <a:ext uri="{FF2B5EF4-FFF2-40B4-BE49-F238E27FC236}">
                <a16:creationId xmlns:a16="http://schemas.microsoft.com/office/drawing/2014/main" id="{B97BA78C-F636-481F-B878-6D4F73F74735}"/>
              </a:ext>
            </a:extLst>
          </p:cNvPr>
          <p:cNvSpPr>
            <a:spLocks noGrp="1"/>
          </p:cNvSpPr>
          <p:nvPr>
            <p:ph type="body" sz="quarter" idx="11"/>
          </p:nvPr>
        </p:nvSpPr>
        <p:spPr/>
        <p:txBody>
          <a:bodyPr/>
          <a:lstStyle/>
          <a:p>
            <a:r>
              <a:rPr lang="en-AU" dirty="0"/>
              <a:t>Policy &amp; Regulatory Structure</a:t>
            </a:r>
          </a:p>
        </p:txBody>
      </p:sp>
      <p:sp>
        <p:nvSpPr>
          <p:cNvPr id="2" name="Title 1"/>
          <p:cNvSpPr>
            <a:spLocks noGrp="1"/>
          </p:cNvSpPr>
          <p:nvPr>
            <p:ph type="title"/>
          </p:nvPr>
        </p:nvSpPr>
        <p:spPr>
          <a:xfrm>
            <a:off x="488950" y="451575"/>
            <a:ext cx="8928100" cy="723600"/>
          </a:xfrm>
        </p:spPr>
        <p:txBody>
          <a:bodyPr/>
          <a:lstStyle/>
          <a:p>
            <a:r>
              <a:rPr lang="en-US" dirty="0"/>
              <a:t>Outline of permit and approval process for solar and wind projects</a:t>
            </a:r>
            <a:endParaRPr lang="en-SG" dirty="0"/>
          </a:p>
        </p:txBody>
      </p:sp>
      <p:sp>
        <p:nvSpPr>
          <p:cNvPr id="4" name="TextBox 3"/>
          <p:cNvSpPr txBox="1"/>
          <p:nvPr/>
        </p:nvSpPr>
        <p:spPr>
          <a:xfrm>
            <a:off x="7455717" y="99286"/>
            <a:ext cx="2297883" cy="305452"/>
          </a:xfrm>
          <a:prstGeom prst="rect">
            <a:avLst/>
          </a:prstGeom>
          <a:solidFill>
            <a:srgbClr val="FFFF00"/>
          </a:solidFill>
        </p:spPr>
        <p:txBody>
          <a:bodyPr wrap="square" lIns="54610" tIns="54610" rIns="54610" bIns="54610" rtlCol="0">
            <a:noAutofit/>
          </a:bodyPr>
          <a:lstStyle/>
          <a:p>
            <a:pPr algn="ctr">
              <a:spcAft>
                <a:spcPts val="600"/>
              </a:spcAft>
            </a:pPr>
            <a:r>
              <a:rPr lang="en-US" sz="1200" b="1" dirty="0">
                <a:solidFill>
                  <a:srgbClr val="FF0000"/>
                </a:solidFill>
              </a:rPr>
              <a:t>Outline option 1</a:t>
            </a:r>
            <a:endParaRPr lang="en-SG" sz="1200" b="1" dirty="0" err="1">
              <a:solidFill>
                <a:srgbClr val="FF0000"/>
              </a:solidFill>
            </a:endParaRPr>
          </a:p>
        </p:txBody>
      </p:sp>
      <p:sp>
        <p:nvSpPr>
          <p:cNvPr id="535" name="AutoShape 41">
            <a:extLst>
              <a:ext uri="{FF2B5EF4-FFF2-40B4-BE49-F238E27FC236}">
                <a16:creationId xmlns:a16="http://schemas.microsoft.com/office/drawing/2014/main" id="{53A5C398-5C97-48C0-A7D2-57171FF6E284}"/>
              </a:ext>
            </a:extLst>
          </p:cNvPr>
          <p:cNvSpPr>
            <a:spLocks noChangeArrowheads="1"/>
          </p:cNvSpPr>
          <p:nvPr>
            <p:custDataLst>
              <p:tags r:id="rId1"/>
            </p:custDataLst>
          </p:nvPr>
        </p:nvSpPr>
        <p:spPr bwMode="auto">
          <a:xfrm>
            <a:off x="2738574" y="1059832"/>
            <a:ext cx="2052000" cy="370510"/>
          </a:xfrm>
          <a:prstGeom prst="homePlate">
            <a:avLst>
              <a:gd name="adj" fmla="val 28642"/>
            </a:avLst>
          </a:prstGeom>
          <a:solidFill>
            <a:srgbClr val="005EB8"/>
          </a:solidFill>
          <a:ln w="6350">
            <a:noFill/>
            <a:miter lim="800000"/>
            <a:headEnd type="none" w="sm" len="sm"/>
            <a:tailEnd type="none" w="sm" len="sm"/>
          </a:ln>
          <a:effectLst/>
        </p:spPr>
        <p:txBody>
          <a:bodyPr wrap="none" lIns="54000" tIns="54000" rIns="54000" bIns="54000" anchor="ctr"/>
          <a:lstStyle/>
          <a:p>
            <a:pPr algn="ctr" defTabSz="762000" eaLnBrk="0" hangingPunct="0"/>
            <a:r>
              <a:rPr lang="en-GB" sz="1000" b="1" dirty="0">
                <a:solidFill>
                  <a:schemeClr val="bg1"/>
                </a:solidFill>
              </a:rPr>
              <a:t>FEASIBILITY STUDY</a:t>
            </a:r>
          </a:p>
        </p:txBody>
      </p:sp>
      <p:sp>
        <p:nvSpPr>
          <p:cNvPr id="539" name="AutoShape 41">
            <a:extLst>
              <a:ext uri="{FF2B5EF4-FFF2-40B4-BE49-F238E27FC236}">
                <a16:creationId xmlns:a16="http://schemas.microsoft.com/office/drawing/2014/main" id="{8CA9F69D-8B7B-4AAE-8358-59D43AE93F0D}"/>
              </a:ext>
            </a:extLst>
          </p:cNvPr>
          <p:cNvSpPr>
            <a:spLocks noChangeArrowheads="1"/>
          </p:cNvSpPr>
          <p:nvPr>
            <p:custDataLst>
              <p:tags r:id="rId2"/>
            </p:custDataLst>
          </p:nvPr>
        </p:nvSpPr>
        <p:spPr bwMode="auto">
          <a:xfrm>
            <a:off x="4897899" y="1059832"/>
            <a:ext cx="2052000" cy="370510"/>
          </a:xfrm>
          <a:prstGeom prst="homePlate">
            <a:avLst>
              <a:gd name="adj" fmla="val 28642"/>
            </a:avLst>
          </a:prstGeom>
          <a:solidFill>
            <a:schemeClr val="accent1"/>
          </a:solidFill>
          <a:ln w="6350">
            <a:noFill/>
            <a:miter lim="800000"/>
            <a:headEnd type="none" w="sm" len="sm"/>
            <a:tailEnd type="none" w="sm" len="sm"/>
          </a:ln>
          <a:effectLst/>
        </p:spPr>
        <p:txBody>
          <a:bodyPr wrap="none" lIns="54000" tIns="54000" rIns="54000" bIns="54000" anchor="ctr"/>
          <a:lstStyle/>
          <a:p>
            <a:pPr algn="ctr" defTabSz="762000" eaLnBrk="0" hangingPunct="0"/>
            <a:r>
              <a:rPr lang="en-GB" sz="1000" b="1" dirty="0">
                <a:solidFill>
                  <a:schemeClr val="bg1"/>
                </a:solidFill>
              </a:rPr>
              <a:t>PREMISES OBTAINMENT</a:t>
            </a:r>
          </a:p>
        </p:txBody>
      </p:sp>
      <p:sp>
        <p:nvSpPr>
          <p:cNvPr id="543" name="AutoShape 41">
            <a:extLst>
              <a:ext uri="{FF2B5EF4-FFF2-40B4-BE49-F238E27FC236}">
                <a16:creationId xmlns:a16="http://schemas.microsoft.com/office/drawing/2014/main" id="{00C59F01-08D3-4430-B64E-21121400D0B1}"/>
              </a:ext>
            </a:extLst>
          </p:cNvPr>
          <p:cNvSpPr>
            <a:spLocks noChangeArrowheads="1"/>
          </p:cNvSpPr>
          <p:nvPr>
            <p:custDataLst>
              <p:tags r:id="rId3"/>
            </p:custDataLst>
          </p:nvPr>
        </p:nvSpPr>
        <p:spPr bwMode="auto">
          <a:xfrm>
            <a:off x="579249" y="1059832"/>
            <a:ext cx="2052000" cy="370510"/>
          </a:xfrm>
          <a:prstGeom prst="homePlate">
            <a:avLst>
              <a:gd name="adj" fmla="val 28642"/>
            </a:avLst>
          </a:prstGeom>
          <a:solidFill>
            <a:schemeClr val="tx2"/>
          </a:solidFill>
          <a:ln w="6350">
            <a:noFill/>
            <a:miter lim="800000"/>
            <a:headEnd type="none" w="sm" len="sm"/>
            <a:tailEnd type="none" w="sm" len="sm"/>
          </a:ln>
          <a:effectLst/>
        </p:spPr>
        <p:txBody>
          <a:bodyPr wrap="none" lIns="54000" tIns="54000" rIns="54000" bIns="54000" anchor="ctr"/>
          <a:lstStyle/>
          <a:p>
            <a:pPr algn="ctr" defTabSz="762000" eaLnBrk="0" hangingPunct="0"/>
            <a:r>
              <a:rPr lang="en-GB" sz="1000" b="1" dirty="0">
                <a:solidFill>
                  <a:schemeClr val="bg1"/>
                </a:solidFill>
              </a:rPr>
              <a:t>PREMILINARY STUDY</a:t>
            </a:r>
          </a:p>
        </p:txBody>
      </p:sp>
      <p:sp>
        <p:nvSpPr>
          <p:cNvPr id="547" name="AutoShape 41">
            <a:extLst>
              <a:ext uri="{FF2B5EF4-FFF2-40B4-BE49-F238E27FC236}">
                <a16:creationId xmlns:a16="http://schemas.microsoft.com/office/drawing/2014/main" id="{3C7CCE77-BD83-456D-B9D4-CE1EC65CFF9F}"/>
              </a:ext>
            </a:extLst>
          </p:cNvPr>
          <p:cNvSpPr>
            <a:spLocks noChangeArrowheads="1"/>
          </p:cNvSpPr>
          <p:nvPr>
            <p:custDataLst>
              <p:tags r:id="rId4"/>
            </p:custDataLst>
          </p:nvPr>
        </p:nvSpPr>
        <p:spPr bwMode="auto">
          <a:xfrm>
            <a:off x="7057225" y="1059832"/>
            <a:ext cx="2052000" cy="370510"/>
          </a:xfrm>
          <a:prstGeom prst="homePlate">
            <a:avLst>
              <a:gd name="adj" fmla="val 28642"/>
            </a:avLst>
          </a:prstGeom>
          <a:solidFill>
            <a:srgbClr val="483698"/>
          </a:solidFill>
          <a:ln w="6350">
            <a:noFill/>
            <a:miter lim="800000"/>
            <a:headEnd type="none" w="sm" len="sm"/>
            <a:tailEnd type="none" w="sm" len="sm"/>
          </a:ln>
          <a:effectLst/>
        </p:spPr>
        <p:txBody>
          <a:bodyPr wrap="none" lIns="54000" tIns="54000" rIns="54000" bIns="54000" anchor="ctr"/>
          <a:lstStyle/>
          <a:p>
            <a:pPr algn="ctr" defTabSz="762000" eaLnBrk="0" hangingPunct="0"/>
            <a:r>
              <a:rPr lang="en-GB" sz="1000" b="1" dirty="0">
                <a:solidFill>
                  <a:schemeClr val="bg1"/>
                </a:solidFill>
              </a:rPr>
              <a:t>CONSTRUCTION AND COD</a:t>
            </a:r>
          </a:p>
        </p:txBody>
      </p:sp>
      <p:sp>
        <p:nvSpPr>
          <p:cNvPr id="551" name="Rectangle 550">
            <a:extLst>
              <a:ext uri="{FF2B5EF4-FFF2-40B4-BE49-F238E27FC236}">
                <a16:creationId xmlns:a16="http://schemas.microsoft.com/office/drawing/2014/main" id="{F7E13415-6E48-4F3A-A908-A11F99B5F353}"/>
              </a:ext>
            </a:extLst>
          </p:cNvPr>
          <p:cNvSpPr/>
          <p:nvPr/>
        </p:nvSpPr>
        <p:spPr bwMode="ltGray">
          <a:xfrm>
            <a:off x="561571" y="1574516"/>
            <a:ext cx="2052000" cy="3852000"/>
          </a:xfrm>
          <a:prstGeom prst="rect">
            <a:avLst/>
          </a:prstGeom>
          <a:solidFill>
            <a:srgbClr val="00338D"/>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540000" bIns="72000" rtlCol="0" anchor="t" anchorCtr="0"/>
          <a:lstStyle/>
          <a:p>
            <a:pPr marL="171450" indent="-171450">
              <a:buFont typeface="Wingdings" panose="05000000000000000000" pitchFamily="2" charset="2"/>
              <a:buChar char="§"/>
            </a:pPr>
            <a:r>
              <a:rPr lang="en-US" sz="800" dirty="0">
                <a:solidFill>
                  <a:schemeClr val="bg1"/>
                </a:solidFill>
              </a:rPr>
              <a:t>Approval of Approach, Study, and Survey </a:t>
            </a:r>
          </a:p>
          <a:p>
            <a:pPr marL="171450" indent="-171450">
              <a:buFont typeface="Wingdings" panose="05000000000000000000" pitchFamily="2" charset="2"/>
              <a:buChar char="§"/>
            </a:pPr>
            <a:r>
              <a:rPr lang="en-US" sz="800" dirty="0">
                <a:solidFill>
                  <a:schemeClr val="bg1"/>
                </a:solidFill>
              </a:rPr>
              <a:t>Approval of Inclusion into Power Development Plan </a:t>
            </a:r>
          </a:p>
          <a:p>
            <a:pPr marL="171450" indent="-171450">
              <a:buFont typeface="Wingdings" panose="05000000000000000000" pitchFamily="2" charset="2"/>
              <a:buChar char="§"/>
            </a:pPr>
            <a:r>
              <a:rPr lang="en-US" sz="800" dirty="0">
                <a:solidFill>
                  <a:schemeClr val="bg1"/>
                </a:solidFill>
              </a:rPr>
              <a:t>Decision on Investment Approval and Investment Registration Certificate </a:t>
            </a:r>
          </a:p>
          <a:p>
            <a:pPr marL="171450" indent="-171450">
              <a:buFont typeface="Wingdings" panose="05000000000000000000" pitchFamily="2" charset="2"/>
              <a:buChar char="§"/>
            </a:pPr>
            <a:r>
              <a:rPr lang="en-US" sz="800" dirty="0">
                <a:solidFill>
                  <a:schemeClr val="bg1"/>
                </a:solidFill>
              </a:rPr>
              <a:t>Enterprise Registration Certificate </a:t>
            </a:r>
          </a:p>
          <a:p>
            <a:pPr marL="171450" indent="-171450">
              <a:buFont typeface="Wingdings" panose="05000000000000000000" pitchFamily="2" charset="2"/>
              <a:buChar char="§"/>
            </a:pPr>
            <a:r>
              <a:rPr lang="en-US" sz="800" dirty="0">
                <a:solidFill>
                  <a:schemeClr val="bg1"/>
                </a:solidFill>
              </a:rPr>
              <a:t>Approval of Power Purchase</a:t>
            </a:r>
          </a:p>
          <a:p>
            <a:endParaRPr lang="en-US" sz="800" dirty="0">
              <a:solidFill>
                <a:schemeClr val="bg1"/>
              </a:solidFill>
            </a:endParaRPr>
          </a:p>
          <a:p>
            <a:endParaRPr lang="en-US" sz="800" dirty="0">
              <a:solidFill>
                <a:schemeClr val="bg1"/>
              </a:solidFill>
            </a:endParaRPr>
          </a:p>
        </p:txBody>
      </p:sp>
      <p:sp>
        <p:nvSpPr>
          <p:cNvPr id="562" name="Rectangle 561">
            <a:extLst>
              <a:ext uri="{FF2B5EF4-FFF2-40B4-BE49-F238E27FC236}">
                <a16:creationId xmlns:a16="http://schemas.microsoft.com/office/drawing/2014/main" id="{48C02059-C1D7-48D8-8E8E-FFA34B685726}"/>
              </a:ext>
            </a:extLst>
          </p:cNvPr>
          <p:cNvSpPr/>
          <p:nvPr/>
        </p:nvSpPr>
        <p:spPr bwMode="ltGray">
          <a:xfrm>
            <a:off x="2738574" y="1574516"/>
            <a:ext cx="2052000" cy="3852000"/>
          </a:xfrm>
          <a:prstGeom prst="rect">
            <a:avLst/>
          </a:prstGeom>
          <a:solidFill>
            <a:srgbClr val="005EB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540000" bIns="72000" rtlCol="0" anchor="t" anchorCtr="0"/>
          <a:lstStyle/>
          <a:p>
            <a:pPr marL="171450" indent="-171450">
              <a:buFont typeface="Wingdings" panose="05000000000000000000" pitchFamily="2" charset="2"/>
              <a:buChar char="§"/>
            </a:pPr>
            <a:r>
              <a:rPr lang="en-US" sz="800" dirty="0">
                <a:solidFill>
                  <a:schemeClr val="bg1"/>
                </a:solidFill>
              </a:rPr>
              <a:t>Approval of Detailed Construction Planning of Function Zone </a:t>
            </a:r>
          </a:p>
          <a:p>
            <a:pPr marL="171450" indent="-171450">
              <a:buFont typeface="Wingdings" panose="05000000000000000000" pitchFamily="2" charset="2"/>
              <a:buChar char="§"/>
            </a:pPr>
            <a:r>
              <a:rPr lang="en-US" sz="800" dirty="0">
                <a:solidFill>
                  <a:schemeClr val="bg1"/>
                </a:solidFill>
              </a:rPr>
              <a:t>Approval of Transmission Line Direction </a:t>
            </a:r>
          </a:p>
          <a:p>
            <a:pPr marL="171450" indent="-171450">
              <a:buFont typeface="Wingdings" panose="05000000000000000000" pitchFamily="2" charset="2"/>
              <a:buChar char="§"/>
            </a:pPr>
            <a:r>
              <a:rPr lang="en-US" sz="800" dirty="0">
                <a:solidFill>
                  <a:schemeClr val="bg1"/>
                </a:solidFill>
              </a:rPr>
              <a:t>Environment Impact Assessment &amp; Environment Protection Plan</a:t>
            </a:r>
          </a:p>
          <a:p>
            <a:pPr marL="171450" indent="-171450">
              <a:buFont typeface="Wingdings" panose="05000000000000000000" pitchFamily="2" charset="2"/>
              <a:buChar char="§"/>
            </a:pPr>
            <a:r>
              <a:rPr lang="en-US" sz="800" dirty="0">
                <a:solidFill>
                  <a:schemeClr val="bg1"/>
                </a:solidFill>
              </a:rPr>
              <a:t>Confirmation of Competent Authorities about Sea Turbine Locations </a:t>
            </a:r>
          </a:p>
          <a:p>
            <a:pPr marL="171450" indent="-171450">
              <a:buFont typeface="Wingdings" panose="05000000000000000000" pitchFamily="2" charset="2"/>
              <a:buChar char="§"/>
            </a:pPr>
            <a:r>
              <a:rPr lang="en-US" sz="800" dirty="0">
                <a:solidFill>
                  <a:schemeClr val="bg1"/>
                </a:solidFill>
              </a:rPr>
              <a:t>Approval of Construction Works’ Height</a:t>
            </a:r>
          </a:p>
          <a:p>
            <a:pPr marL="171450" indent="-171450">
              <a:buFont typeface="Wingdings" panose="05000000000000000000" pitchFamily="2" charset="2"/>
              <a:buChar char="§"/>
            </a:pPr>
            <a:r>
              <a:rPr lang="en-US" sz="800" dirty="0">
                <a:solidFill>
                  <a:schemeClr val="bg1"/>
                </a:solidFill>
              </a:rPr>
              <a:t>Notification of Result of Appraising Basic Design </a:t>
            </a:r>
          </a:p>
          <a:p>
            <a:pPr marL="171450" indent="-171450">
              <a:buFont typeface="Wingdings" panose="05000000000000000000" pitchFamily="2" charset="2"/>
              <a:buChar char="§"/>
            </a:pPr>
            <a:r>
              <a:rPr lang="en-US" sz="800" dirty="0">
                <a:solidFill>
                  <a:schemeClr val="bg1"/>
                </a:solidFill>
              </a:rPr>
              <a:t>Agreements on SCADA/ EMS (SCADA/DMS), Load Dispatch Information and Protective Relay Systems</a:t>
            </a:r>
          </a:p>
          <a:p>
            <a:pPr marL="171450" indent="-171450">
              <a:buFont typeface="Wingdings" panose="05000000000000000000" pitchFamily="2" charset="2"/>
              <a:buChar char="§"/>
            </a:pPr>
            <a:r>
              <a:rPr lang="en-US" sz="800" dirty="0">
                <a:solidFill>
                  <a:schemeClr val="bg1"/>
                </a:solidFill>
              </a:rPr>
              <a:t>Grid Connection Agreement </a:t>
            </a:r>
          </a:p>
          <a:p>
            <a:pPr marL="171450" indent="-171450">
              <a:buFont typeface="Wingdings" panose="05000000000000000000" pitchFamily="2" charset="2"/>
              <a:buChar char="§"/>
            </a:pPr>
            <a:r>
              <a:rPr lang="en-US" sz="800" dirty="0">
                <a:solidFill>
                  <a:schemeClr val="bg1"/>
                </a:solidFill>
              </a:rPr>
              <a:t>Agreement on Technical Design of Metering System and Collection System of Metering Data </a:t>
            </a:r>
          </a:p>
          <a:p>
            <a:pPr marL="171450" indent="-171450">
              <a:buFont typeface="Wingdings" panose="05000000000000000000" pitchFamily="2" charset="2"/>
              <a:buChar char="§"/>
            </a:pPr>
            <a:r>
              <a:rPr lang="en-US" sz="800" dirty="0">
                <a:solidFill>
                  <a:schemeClr val="bg1"/>
                </a:solidFill>
              </a:rPr>
              <a:t>Power Purchase Agreement </a:t>
            </a:r>
          </a:p>
          <a:p>
            <a:pPr marL="171450" indent="-171450">
              <a:buFont typeface="Wingdings" panose="05000000000000000000" pitchFamily="2" charset="2"/>
              <a:buChar char="§"/>
            </a:pPr>
            <a:r>
              <a:rPr lang="en-US" sz="800" dirty="0">
                <a:solidFill>
                  <a:schemeClr val="bg1"/>
                </a:solidFill>
              </a:rPr>
              <a:t>Agreement on Infrastructure Facilities</a:t>
            </a:r>
          </a:p>
        </p:txBody>
      </p:sp>
      <p:sp>
        <p:nvSpPr>
          <p:cNvPr id="563" name="Rectangle 562">
            <a:extLst>
              <a:ext uri="{FF2B5EF4-FFF2-40B4-BE49-F238E27FC236}">
                <a16:creationId xmlns:a16="http://schemas.microsoft.com/office/drawing/2014/main" id="{6744BA9F-70A6-4593-9A0F-E01B41B07953}"/>
              </a:ext>
            </a:extLst>
          </p:cNvPr>
          <p:cNvSpPr/>
          <p:nvPr/>
        </p:nvSpPr>
        <p:spPr bwMode="ltGray">
          <a:xfrm>
            <a:off x="4897899" y="1574516"/>
            <a:ext cx="2052000" cy="3852000"/>
          </a:xfrm>
          <a:prstGeom prst="rect">
            <a:avLst/>
          </a:prstGeom>
          <a:solidFill>
            <a:srgbClr val="0091DA"/>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540000" bIns="72000" rtlCol="0" anchor="t" anchorCtr="0"/>
          <a:lstStyle/>
          <a:p>
            <a:pPr marL="228600" indent="-228600">
              <a:buFont typeface="Wingdings" panose="05000000000000000000" pitchFamily="2" charset="2"/>
              <a:buChar char="§"/>
            </a:pPr>
            <a:r>
              <a:rPr lang="en-GB" sz="800" dirty="0">
                <a:solidFill>
                  <a:schemeClr val="bg1"/>
                </a:solidFill>
              </a:rPr>
              <a:t>Escrow Deposit Agreement </a:t>
            </a:r>
          </a:p>
          <a:p>
            <a:pPr marL="228600" indent="-228600">
              <a:buFont typeface="Wingdings" panose="05000000000000000000" pitchFamily="2" charset="2"/>
              <a:buChar char="§"/>
            </a:pPr>
            <a:r>
              <a:rPr lang="en-US" sz="800" dirty="0">
                <a:solidFill>
                  <a:schemeClr val="bg1"/>
                </a:solidFill>
              </a:rPr>
              <a:t>Assessment of Land-use Need and Conditions for Allocating, Leasing and Repurposing Land </a:t>
            </a:r>
          </a:p>
          <a:p>
            <a:pPr marL="228600" indent="-228600">
              <a:buFont typeface="Wingdings" panose="05000000000000000000" pitchFamily="2" charset="2"/>
              <a:buChar char="§"/>
            </a:pPr>
            <a:r>
              <a:rPr lang="en-US" sz="800" dirty="0">
                <a:solidFill>
                  <a:schemeClr val="bg1"/>
                </a:solidFill>
              </a:rPr>
              <a:t>Adding Project to District Land-use Plan </a:t>
            </a:r>
          </a:p>
          <a:p>
            <a:pPr marL="228600" indent="-228600">
              <a:buFont typeface="Wingdings" panose="05000000000000000000" pitchFamily="2" charset="2"/>
              <a:buChar char="§"/>
            </a:pPr>
            <a:r>
              <a:rPr lang="en-GB" sz="800" dirty="0">
                <a:solidFill>
                  <a:schemeClr val="bg1"/>
                </a:solidFill>
              </a:rPr>
              <a:t>Land Withdrawal/Clearance</a:t>
            </a:r>
          </a:p>
          <a:p>
            <a:pPr marL="228600" indent="-228600">
              <a:buFont typeface="Wingdings" panose="05000000000000000000" pitchFamily="2" charset="2"/>
              <a:buChar char="§"/>
            </a:pPr>
            <a:r>
              <a:rPr lang="en-US" sz="800" dirty="0">
                <a:solidFill>
                  <a:schemeClr val="bg1"/>
                </a:solidFill>
              </a:rPr>
              <a:t>Decision on Land Lease &amp; Land Lease Agreement &amp; Land-use Right Certificate </a:t>
            </a:r>
          </a:p>
          <a:p>
            <a:pPr marL="228600" indent="-228600">
              <a:buFont typeface="Wingdings" panose="05000000000000000000" pitchFamily="2" charset="2"/>
              <a:buChar char="§"/>
            </a:pPr>
            <a:r>
              <a:rPr lang="en-US" sz="800" dirty="0">
                <a:solidFill>
                  <a:schemeClr val="bg1"/>
                </a:solidFill>
              </a:rPr>
              <a:t>Bomb and Explosive Material Clearance</a:t>
            </a:r>
          </a:p>
          <a:p>
            <a:pPr marL="228600" indent="-228600">
              <a:buFont typeface="Wingdings" panose="05000000000000000000" pitchFamily="2" charset="2"/>
              <a:buChar char="§"/>
            </a:pPr>
            <a:r>
              <a:rPr lang="en-US" sz="800" dirty="0">
                <a:solidFill>
                  <a:schemeClr val="bg1"/>
                </a:solidFill>
              </a:rPr>
              <a:t>Decision on Assignment of Given Sea Areas </a:t>
            </a:r>
            <a:endParaRPr lang="en-GB" sz="800" dirty="0">
              <a:solidFill>
                <a:schemeClr val="bg1"/>
              </a:solidFill>
            </a:endParaRPr>
          </a:p>
        </p:txBody>
      </p:sp>
      <p:sp>
        <p:nvSpPr>
          <p:cNvPr id="564" name="Rectangle 563">
            <a:extLst>
              <a:ext uri="{FF2B5EF4-FFF2-40B4-BE49-F238E27FC236}">
                <a16:creationId xmlns:a16="http://schemas.microsoft.com/office/drawing/2014/main" id="{8518656E-1CB1-4DE8-9328-7239D86B766D}"/>
              </a:ext>
            </a:extLst>
          </p:cNvPr>
          <p:cNvSpPr/>
          <p:nvPr/>
        </p:nvSpPr>
        <p:spPr bwMode="ltGray">
          <a:xfrm>
            <a:off x="7057225" y="1574516"/>
            <a:ext cx="2052000" cy="3852000"/>
          </a:xfrm>
          <a:prstGeom prst="rect">
            <a:avLst/>
          </a:prstGeom>
          <a:solidFill>
            <a:srgbClr val="48369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540000" bIns="72000" rtlCol="0" anchor="t" anchorCtr="0"/>
          <a:lstStyle/>
          <a:p>
            <a:pPr marL="171450" indent="-171450">
              <a:buFont typeface="Wingdings" panose="05000000000000000000" pitchFamily="2" charset="2"/>
              <a:buChar char="§"/>
            </a:pPr>
            <a:r>
              <a:rPr lang="en-US" sz="800" dirty="0">
                <a:solidFill>
                  <a:schemeClr val="bg1"/>
                </a:solidFill>
              </a:rPr>
              <a:t>Notification of Result of Appraising Construction Design </a:t>
            </a:r>
          </a:p>
          <a:p>
            <a:pPr marL="171450" indent="-171450">
              <a:buFont typeface="Wingdings" panose="05000000000000000000" pitchFamily="2" charset="2"/>
              <a:buChar char="§"/>
            </a:pPr>
            <a:r>
              <a:rPr lang="en-US" sz="800" dirty="0">
                <a:solidFill>
                  <a:schemeClr val="bg1"/>
                </a:solidFill>
              </a:rPr>
              <a:t>Certificate of Fire Prevention and Fighting Design Appraisal </a:t>
            </a:r>
          </a:p>
          <a:p>
            <a:pPr marL="171450" indent="-171450">
              <a:buFont typeface="Wingdings" panose="05000000000000000000" pitchFamily="2" charset="2"/>
              <a:buChar char="§"/>
            </a:pPr>
            <a:r>
              <a:rPr lang="en-US" sz="800" dirty="0">
                <a:solidFill>
                  <a:schemeClr val="bg1"/>
                </a:solidFill>
              </a:rPr>
              <a:t>Agreements on Grid Connection and Metering System Technical Designs </a:t>
            </a:r>
          </a:p>
          <a:p>
            <a:pPr marL="171450" indent="-171450">
              <a:buFont typeface="Wingdings" panose="05000000000000000000" pitchFamily="2" charset="2"/>
              <a:buChar char="§"/>
            </a:pPr>
            <a:r>
              <a:rPr lang="en-GB" sz="800" dirty="0">
                <a:solidFill>
                  <a:schemeClr val="bg1"/>
                </a:solidFill>
              </a:rPr>
              <a:t>Construction Permit </a:t>
            </a:r>
          </a:p>
          <a:p>
            <a:pPr marL="171450" indent="-171450">
              <a:buFont typeface="Wingdings" panose="05000000000000000000" pitchFamily="2" charset="2"/>
              <a:buChar char="§"/>
            </a:pPr>
            <a:r>
              <a:rPr lang="en-US" sz="800" dirty="0">
                <a:solidFill>
                  <a:schemeClr val="bg1"/>
                </a:solidFill>
              </a:rPr>
              <a:t>Accepting Construction Items and Works</a:t>
            </a:r>
          </a:p>
          <a:p>
            <a:pPr marL="171450" indent="-171450">
              <a:buFont typeface="Wingdings" panose="05000000000000000000" pitchFamily="2" charset="2"/>
              <a:buChar char="§"/>
            </a:pPr>
            <a:r>
              <a:rPr lang="en-US" sz="800" dirty="0">
                <a:solidFill>
                  <a:schemeClr val="bg1"/>
                </a:solidFill>
              </a:rPr>
              <a:t>Accepting Metering System and Collection System of Metering Data </a:t>
            </a:r>
          </a:p>
          <a:p>
            <a:pPr marL="171450" indent="-171450">
              <a:buFont typeface="Wingdings" panose="05000000000000000000" pitchFamily="2" charset="2"/>
              <a:buChar char="§"/>
            </a:pPr>
            <a:r>
              <a:rPr lang="en-GB" sz="800" dirty="0">
                <a:solidFill>
                  <a:schemeClr val="bg1"/>
                </a:solidFill>
              </a:rPr>
              <a:t>Operation Certificate</a:t>
            </a:r>
          </a:p>
          <a:p>
            <a:pPr marL="171450" indent="-171450">
              <a:buFont typeface="Wingdings" panose="05000000000000000000" pitchFamily="2" charset="2"/>
              <a:buChar char="§"/>
            </a:pPr>
            <a:r>
              <a:rPr lang="en-US" sz="800" dirty="0">
                <a:solidFill>
                  <a:schemeClr val="bg1"/>
                </a:solidFill>
              </a:rPr>
              <a:t>Connecting to Electric Grid for the First Time </a:t>
            </a:r>
          </a:p>
          <a:p>
            <a:pPr marL="171450" indent="-171450">
              <a:buFont typeface="Wingdings" panose="05000000000000000000" pitchFamily="2" charset="2"/>
              <a:buChar char="§"/>
            </a:pPr>
            <a:r>
              <a:rPr lang="en-US" sz="800" dirty="0">
                <a:solidFill>
                  <a:schemeClr val="bg1"/>
                </a:solidFill>
              </a:rPr>
              <a:t>Run Tests for COD Recognition </a:t>
            </a:r>
          </a:p>
          <a:p>
            <a:pPr marL="171450" indent="-171450">
              <a:buFont typeface="Wingdings" panose="05000000000000000000" pitchFamily="2" charset="2"/>
              <a:buChar char="§"/>
            </a:pPr>
            <a:r>
              <a:rPr lang="en-GB" sz="800" dirty="0">
                <a:solidFill>
                  <a:schemeClr val="bg1"/>
                </a:solidFill>
              </a:rPr>
              <a:t>Electricity Generation License </a:t>
            </a:r>
          </a:p>
          <a:p>
            <a:pPr marL="171450" indent="-171450">
              <a:buFont typeface="Wingdings" panose="05000000000000000000" pitchFamily="2" charset="2"/>
              <a:buChar char="§"/>
            </a:pPr>
            <a:r>
              <a:rPr lang="en-GB" sz="800" dirty="0">
                <a:solidFill>
                  <a:schemeClr val="bg1"/>
                </a:solidFill>
              </a:rPr>
              <a:t>COD Recognition</a:t>
            </a:r>
          </a:p>
          <a:p>
            <a:pPr marL="171450" indent="-171450">
              <a:buFont typeface="Wingdings" panose="05000000000000000000" pitchFamily="2" charset="2"/>
              <a:buChar char="§"/>
            </a:pPr>
            <a:r>
              <a:rPr lang="en-US" sz="800" dirty="0">
                <a:solidFill>
                  <a:schemeClr val="bg1"/>
                </a:solidFill>
              </a:rPr>
              <a:t>Registration of Ownership over Construction Works</a:t>
            </a:r>
            <a:endParaRPr lang="en-GB" sz="800" dirty="0">
              <a:solidFill>
                <a:schemeClr val="bg1"/>
              </a:solidFill>
            </a:endParaRPr>
          </a:p>
        </p:txBody>
      </p:sp>
    </p:spTree>
    <p:extLst>
      <p:ext uri="{BB962C8B-B14F-4D97-AF65-F5344CB8AC3E}">
        <p14:creationId xmlns:p14="http://schemas.microsoft.com/office/powerpoint/2010/main" val="722460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6F5E623-23CC-43B6-971E-F4FE4EDB8727}"/>
              </a:ext>
            </a:extLst>
          </p:cNvPr>
          <p:cNvSpPr>
            <a:spLocks noGrp="1"/>
          </p:cNvSpPr>
          <p:nvPr>
            <p:ph type="body" sz="quarter" idx="10"/>
          </p:nvPr>
        </p:nvSpPr>
        <p:spPr>
          <a:xfrm>
            <a:off x="488950" y="880531"/>
            <a:ext cx="8928100" cy="4604400"/>
          </a:xfrm>
        </p:spPr>
        <p:txBody>
          <a:bodyPr/>
          <a:lstStyle/>
          <a:p>
            <a:r>
              <a:rPr lang="en-US" sz="1400" b="0" dirty="0">
                <a:solidFill>
                  <a:srgbClr val="00B0F0"/>
                </a:solidFill>
                <a:latin typeface="Univers 55" panose="02000000000000000000" pitchFamily="2" charset="0"/>
              </a:rPr>
              <a:t>Successful development of solar projects requires the acquisition of a number of permits and approvals, highlighting the necessity of a strong local partner with experience developing projects in Vietnam</a:t>
            </a:r>
            <a:endParaRPr lang="en-SG" sz="1400" b="0" dirty="0">
              <a:solidFill>
                <a:srgbClr val="00B0F0"/>
              </a:solidFill>
              <a:latin typeface="Univers 55" panose="02000000000000000000" pitchFamily="2" charset="0"/>
            </a:endParaRPr>
          </a:p>
        </p:txBody>
      </p:sp>
      <p:sp>
        <p:nvSpPr>
          <p:cNvPr id="5" name="Text Placeholder 4">
            <a:extLst>
              <a:ext uri="{FF2B5EF4-FFF2-40B4-BE49-F238E27FC236}">
                <a16:creationId xmlns:a16="http://schemas.microsoft.com/office/drawing/2014/main" id="{8DCBB59C-EB3F-41FE-BFD2-64221B7A8EF4}"/>
              </a:ext>
            </a:extLst>
          </p:cNvPr>
          <p:cNvSpPr>
            <a:spLocks noGrp="1"/>
          </p:cNvSpPr>
          <p:nvPr>
            <p:ph type="body" sz="quarter" idx="11"/>
          </p:nvPr>
        </p:nvSpPr>
        <p:spPr/>
        <p:txBody>
          <a:bodyPr/>
          <a:lstStyle/>
          <a:p>
            <a:r>
              <a:rPr lang="en-AU" dirty="0"/>
              <a:t>Policy &amp; Regulatory Structure</a:t>
            </a:r>
          </a:p>
        </p:txBody>
      </p:sp>
      <p:sp>
        <p:nvSpPr>
          <p:cNvPr id="2" name="Title 1"/>
          <p:cNvSpPr>
            <a:spLocks noGrp="1"/>
          </p:cNvSpPr>
          <p:nvPr>
            <p:ph type="title"/>
          </p:nvPr>
        </p:nvSpPr>
        <p:spPr/>
        <p:txBody>
          <a:bodyPr/>
          <a:lstStyle/>
          <a:p>
            <a:r>
              <a:rPr lang="en-US" dirty="0"/>
              <a:t>Outline of permit and approval process for solar and wind projects</a:t>
            </a:r>
            <a:endParaRPr lang="en-SG" dirty="0">
              <a:solidFill>
                <a:schemeClr val="bg1">
                  <a:lumMod val="50000"/>
                </a:schemeClr>
              </a:solidFill>
            </a:endParaRPr>
          </a:p>
        </p:txBody>
      </p:sp>
      <p:cxnSp>
        <p:nvCxnSpPr>
          <p:cNvPr id="34" name="Straight Connector 33"/>
          <p:cNvCxnSpPr/>
          <p:nvPr/>
        </p:nvCxnSpPr>
        <p:spPr>
          <a:xfrm>
            <a:off x="1378064" y="1347843"/>
            <a:ext cx="0" cy="3026312"/>
          </a:xfrm>
          <a:prstGeom prst="line">
            <a:avLst/>
          </a:prstGeom>
          <a:ln w="57150">
            <a:solidFill>
              <a:srgbClr val="00338D"/>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1378064" y="4467359"/>
            <a:ext cx="0" cy="1180468"/>
          </a:xfrm>
          <a:prstGeom prst="line">
            <a:avLst/>
          </a:prstGeom>
          <a:ln w="57150">
            <a:solidFill>
              <a:srgbClr val="C6007E"/>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1378064" y="5753342"/>
            <a:ext cx="0" cy="515745"/>
          </a:xfrm>
          <a:prstGeom prst="line">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43" name="Freeform 9"/>
          <p:cNvSpPr>
            <a:spLocks noEditPoints="1"/>
          </p:cNvSpPr>
          <p:nvPr/>
        </p:nvSpPr>
        <p:spPr bwMode="auto">
          <a:xfrm>
            <a:off x="623355" y="4842343"/>
            <a:ext cx="430500" cy="430500"/>
          </a:xfrm>
          <a:custGeom>
            <a:avLst/>
            <a:gdLst/>
            <a:ahLst/>
            <a:cxnLst>
              <a:cxn ang="0">
                <a:pos x="300" y="576"/>
              </a:cxn>
              <a:cxn ang="0">
                <a:pos x="144" y="552"/>
              </a:cxn>
              <a:cxn ang="0">
                <a:pos x="540" y="96"/>
              </a:cxn>
              <a:cxn ang="0">
                <a:pos x="488" y="168"/>
              </a:cxn>
              <a:cxn ang="0">
                <a:pos x="512" y="168"/>
              </a:cxn>
              <a:cxn ang="0">
                <a:pos x="564" y="280"/>
              </a:cxn>
              <a:cxn ang="0">
                <a:pos x="576" y="96"/>
              </a:cxn>
              <a:cxn ang="0">
                <a:pos x="240" y="0"/>
              </a:cxn>
              <a:cxn ang="0">
                <a:pos x="216" y="0"/>
              </a:cxn>
              <a:cxn ang="0">
                <a:pos x="156" y="0"/>
              </a:cxn>
              <a:cxn ang="0">
                <a:pos x="144" y="0"/>
              </a:cxn>
              <a:cxn ang="0">
                <a:pos x="0" y="96"/>
              </a:cxn>
              <a:cxn ang="0">
                <a:pos x="144" y="552"/>
              </a:cxn>
              <a:cxn ang="0">
                <a:pos x="216" y="96"/>
              </a:cxn>
              <a:cxn ang="0">
                <a:pos x="168" y="120"/>
              </a:cxn>
              <a:cxn ang="0">
                <a:pos x="168" y="144"/>
              </a:cxn>
              <a:cxn ang="0">
                <a:pos x="216" y="216"/>
              </a:cxn>
              <a:cxn ang="0">
                <a:pos x="168" y="192"/>
              </a:cxn>
              <a:cxn ang="0">
                <a:pos x="216" y="312"/>
              </a:cxn>
              <a:cxn ang="0">
                <a:pos x="168" y="336"/>
              </a:cxn>
              <a:cxn ang="0">
                <a:pos x="168" y="360"/>
              </a:cxn>
              <a:cxn ang="0">
                <a:pos x="216" y="432"/>
              </a:cxn>
              <a:cxn ang="0">
                <a:pos x="168" y="408"/>
              </a:cxn>
              <a:cxn ang="0">
                <a:pos x="216" y="528"/>
              </a:cxn>
              <a:cxn ang="0">
                <a:pos x="16" y="96"/>
              </a:cxn>
              <a:cxn ang="0">
                <a:pos x="16" y="96"/>
              </a:cxn>
              <a:cxn ang="0">
                <a:pos x="484" y="300"/>
              </a:cxn>
              <a:cxn ang="0">
                <a:pos x="468" y="308"/>
              </a:cxn>
              <a:cxn ang="0">
                <a:pos x="470" y="324"/>
              </a:cxn>
              <a:cxn ang="0">
                <a:pos x="514" y="394"/>
              </a:cxn>
              <a:cxn ang="0">
                <a:pos x="516" y="418"/>
              </a:cxn>
              <a:cxn ang="0">
                <a:pos x="532" y="436"/>
              </a:cxn>
              <a:cxn ang="0">
                <a:pos x="540" y="442"/>
              </a:cxn>
              <a:cxn ang="0">
                <a:pos x="544" y="452"/>
              </a:cxn>
              <a:cxn ang="0">
                <a:pos x="534" y="468"/>
              </a:cxn>
              <a:cxn ang="0">
                <a:pos x="520" y="468"/>
              </a:cxn>
              <a:cxn ang="0">
                <a:pos x="510" y="452"/>
              </a:cxn>
              <a:cxn ang="0">
                <a:pos x="506" y="444"/>
              </a:cxn>
              <a:cxn ang="0">
                <a:pos x="498" y="440"/>
              </a:cxn>
              <a:cxn ang="0">
                <a:pos x="486" y="448"/>
              </a:cxn>
              <a:cxn ang="0">
                <a:pos x="486" y="460"/>
              </a:cxn>
              <a:cxn ang="0">
                <a:pos x="498" y="482"/>
              </a:cxn>
              <a:cxn ang="0">
                <a:pos x="518" y="494"/>
              </a:cxn>
              <a:cxn ang="0">
                <a:pos x="534" y="494"/>
              </a:cxn>
              <a:cxn ang="0">
                <a:pos x="556" y="482"/>
              </a:cxn>
              <a:cxn ang="0">
                <a:pos x="566" y="460"/>
              </a:cxn>
              <a:cxn ang="0">
                <a:pos x="566" y="440"/>
              </a:cxn>
              <a:cxn ang="0">
                <a:pos x="542" y="414"/>
              </a:cxn>
              <a:cxn ang="0">
                <a:pos x="538" y="410"/>
              </a:cxn>
              <a:cxn ang="0">
                <a:pos x="542" y="390"/>
              </a:cxn>
              <a:cxn ang="0">
                <a:pos x="586" y="314"/>
              </a:cxn>
              <a:cxn ang="0">
                <a:pos x="582" y="304"/>
              </a:cxn>
              <a:cxn ang="0">
                <a:pos x="570" y="300"/>
              </a:cxn>
            </a:cxnLst>
            <a:rect l="0" t="0" r="r" b="b"/>
            <a:pathLst>
              <a:path w="624" h="624">
                <a:moveTo>
                  <a:pt x="84" y="624"/>
                </a:moveTo>
                <a:lnTo>
                  <a:pt x="300" y="624"/>
                </a:lnTo>
                <a:lnTo>
                  <a:pt x="300" y="576"/>
                </a:lnTo>
                <a:lnTo>
                  <a:pt x="84" y="576"/>
                </a:lnTo>
                <a:lnTo>
                  <a:pt x="84" y="624"/>
                </a:lnTo>
                <a:close/>
                <a:moveTo>
                  <a:pt x="144" y="552"/>
                </a:moveTo>
                <a:lnTo>
                  <a:pt x="240" y="552"/>
                </a:lnTo>
                <a:lnTo>
                  <a:pt x="240" y="8"/>
                </a:lnTo>
                <a:lnTo>
                  <a:pt x="540" y="96"/>
                </a:lnTo>
                <a:lnTo>
                  <a:pt x="264" y="96"/>
                </a:lnTo>
                <a:lnTo>
                  <a:pt x="264" y="168"/>
                </a:lnTo>
                <a:lnTo>
                  <a:pt x="488" y="168"/>
                </a:lnTo>
                <a:lnTo>
                  <a:pt x="488" y="280"/>
                </a:lnTo>
                <a:lnTo>
                  <a:pt x="512" y="280"/>
                </a:lnTo>
                <a:lnTo>
                  <a:pt x="512" y="168"/>
                </a:lnTo>
                <a:lnTo>
                  <a:pt x="540" y="168"/>
                </a:lnTo>
                <a:lnTo>
                  <a:pt x="540" y="280"/>
                </a:lnTo>
                <a:lnTo>
                  <a:pt x="564" y="280"/>
                </a:lnTo>
                <a:lnTo>
                  <a:pt x="564" y="168"/>
                </a:lnTo>
                <a:lnTo>
                  <a:pt x="624" y="168"/>
                </a:lnTo>
                <a:lnTo>
                  <a:pt x="576" y="96"/>
                </a:lnTo>
                <a:lnTo>
                  <a:pt x="576" y="96"/>
                </a:lnTo>
                <a:lnTo>
                  <a:pt x="240" y="0"/>
                </a:lnTo>
                <a:lnTo>
                  <a:pt x="240" y="0"/>
                </a:lnTo>
                <a:lnTo>
                  <a:pt x="240" y="0"/>
                </a:lnTo>
                <a:lnTo>
                  <a:pt x="224" y="0"/>
                </a:lnTo>
                <a:lnTo>
                  <a:pt x="216" y="0"/>
                </a:lnTo>
                <a:lnTo>
                  <a:pt x="216" y="24"/>
                </a:lnTo>
                <a:lnTo>
                  <a:pt x="168" y="0"/>
                </a:lnTo>
                <a:lnTo>
                  <a:pt x="156" y="0"/>
                </a:lnTo>
                <a:lnTo>
                  <a:pt x="146" y="0"/>
                </a:lnTo>
                <a:lnTo>
                  <a:pt x="144" y="0"/>
                </a:lnTo>
                <a:lnTo>
                  <a:pt x="144" y="0"/>
                </a:lnTo>
                <a:lnTo>
                  <a:pt x="2" y="96"/>
                </a:lnTo>
                <a:lnTo>
                  <a:pt x="2" y="96"/>
                </a:lnTo>
                <a:lnTo>
                  <a:pt x="0" y="96"/>
                </a:lnTo>
                <a:lnTo>
                  <a:pt x="0" y="168"/>
                </a:lnTo>
                <a:lnTo>
                  <a:pt x="144" y="168"/>
                </a:lnTo>
                <a:lnTo>
                  <a:pt x="144" y="552"/>
                </a:lnTo>
                <a:close/>
                <a:moveTo>
                  <a:pt x="168" y="48"/>
                </a:moveTo>
                <a:lnTo>
                  <a:pt x="216" y="72"/>
                </a:lnTo>
                <a:lnTo>
                  <a:pt x="216" y="96"/>
                </a:lnTo>
                <a:lnTo>
                  <a:pt x="168" y="72"/>
                </a:lnTo>
                <a:lnTo>
                  <a:pt x="168" y="48"/>
                </a:lnTo>
                <a:close/>
                <a:moveTo>
                  <a:pt x="168" y="120"/>
                </a:moveTo>
                <a:lnTo>
                  <a:pt x="216" y="144"/>
                </a:lnTo>
                <a:lnTo>
                  <a:pt x="216" y="168"/>
                </a:lnTo>
                <a:lnTo>
                  <a:pt x="168" y="144"/>
                </a:lnTo>
                <a:lnTo>
                  <a:pt x="168" y="120"/>
                </a:lnTo>
                <a:close/>
                <a:moveTo>
                  <a:pt x="168" y="192"/>
                </a:moveTo>
                <a:lnTo>
                  <a:pt x="216" y="216"/>
                </a:lnTo>
                <a:lnTo>
                  <a:pt x="216" y="240"/>
                </a:lnTo>
                <a:lnTo>
                  <a:pt x="168" y="216"/>
                </a:lnTo>
                <a:lnTo>
                  <a:pt x="168" y="192"/>
                </a:lnTo>
                <a:close/>
                <a:moveTo>
                  <a:pt x="168" y="264"/>
                </a:moveTo>
                <a:lnTo>
                  <a:pt x="216" y="288"/>
                </a:lnTo>
                <a:lnTo>
                  <a:pt x="216" y="312"/>
                </a:lnTo>
                <a:lnTo>
                  <a:pt x="168" y="288"/>
                </a:lnTo>
                <a:lnTo>
                  <a:pt x="168" y="264"/>
                </a:lnTo>
                <a:close/>
                <a:moveTo>
                  <a:pt x="168" y="336"/>
                </a:moveTo>
                <a:lnTo>
                  <a:pt x="216" y="360"/>
                </a:lnTo>
                <a:lnTo>
                  <a:pt x="216" y="384"/>
                </a:lnTo>
                <a:lnTo>
                  <a:pt x="168" y="360"/>
                </a:lnTo>
                <a:lnTo>
                  <a:pt x="168" y="336"/>
                </a:lnTo>
                <a:close/>
                <a:moveTo>
                  <a:pt x="168" y="408"/>
                </a:moveTo>
                <a:lnTo>
                  <a:pt x="216" y="432"/>
                </a:lnTo>
                <a:lnTo>
                  <a:pt x="216" y="456"/>
                </a:lnTo>
                <a:lnTo>
                  <a:pt x="168" y="432"/>
                </a:lnTo>
                <a:lnTo>
                  <a:pt x="168" y="408"/>
                </a:lnTo>
                <a:close/>
                <a:moveTo>
                  <a:pt x="168" y="480"/>
                </a:moveTo>
                <a:lnTo>
                  <a:pt x="216" y="504"/>
                </a:lnTo>
                <a:lnTo>
                  <a:pt x="216" y="528"/>
                </a:lnTo>
                <a:lnTo>
                  <a:pt x="168" y="504"/>
                </a:lnTo>
                <a:lnTo>
                  <a:pt x="168" y="480"/>
                </a:lnTo>
                <a:close/>
                <a:moveTo>
                  <a:pt x="16" y="96"/>
                </a:moveTo>
                <a:lnTo>
                  <a:pt x="144" y="10"/>
                </a:lnTo>
                <a:lnTo>
                  <a:pt x="144" y="96"/>
                </a:lnTo>
                <a:lnTo>
                  <a:pt x="16" y="96"/>
                </a:lnTo>
                <a:close/>
                <a:moveTo>
                  <a:pt x="570" y="300"/>
                </a:moveTo>
                <a:lnTo>
                  <a:pt x="484" y="300"/>
                </a:lnTo>
                <a:lnTo>
                  <a:pt x="484" y="300"/>
                </a:lnTo>
                <a:lnTo>
                  <a:pt x="474" y="302"/>
                </a:lnTo>
                <a:lnTo>
                  <a:pt x="470" y="304"/>
                </a:lnTo>
                <a:lnTo>
                  <a:pt x="468" y="308"/>
                </a:lnTo>
                <a:lnTo>
                  <a:pt x="466" y="310"/>
                </a:lnTo>
                <a:lnTo>
                  <a:pt x="466" y="314"/>
                </a:lnTo>
                <a:lnTo>
                  <a:pt x="470" y="324"/>
                </a:lnTo>
                <a:lnTo>
                  <a:pt x="512" y="390"/>
                </a:lnTo>
                <a:lnTo>
                  <a:pt x="512" y="390"/>
                </a:lnTo>
                <a:lnTo>
                  <a:pt x="514" y="394"/>
                </a:lnTo>
                <a:lnTo>
                  <a:pt x="514" y="410"/>
                </a:lnTo>
                <a:lnTo>
                  <a:pt x="514" y="410"/>
                </a:lnTo>
                <a:lnTo>
                  <a:pt x="516" y="418"/>
                </a:lnTo>
                <a:lnTo>
                  <a:pt x="520" y="426"/>
                </a:lnTo>
                <a:lnTo>
                  <a:pt x="526" y="432"/>
                </a:lnTo>
                <a:lnTo>
                  <a:pt x="532" y="436"/>
                </a:lnTo>
                <a:lnTo>
                  <a:pt x="532" y="436"/>
                </a:lnTo>
                <a:lnTo>
                  <a:pt x="538" y="440"/>
                </a:lnTo>
                <a:lnTo>
                  <a:pt x="540" y="442"/>
                </a:lnTo>
                <a:lnTo>
                  <a:pt x="542" y="448"/>
                </a:lnTo>
                <a:lnTo>
                  <a:pt x="544" y="452"/>
                </a:lnTo>
                <a:lnTo>
                  <a:pt x="544" y="452"/>
                </a:lnTo>
                <a:lnTo>
                  <a:pt x="542" y="460"/>
                </a:lnTo>
                <a:lnTo>
                  <a:pt x="538" y="464"/>
                </a:lnTo>
                <a:lnTo>
                  <a:pt x="534" y="468"/>
                </a:lnTo>
                <a:lnTo>
                  <a:pt x="526" y="470"/>
                </a:lnTo>
                <a:lnTo>
                  <a:pt x="526" y="470"/>
                </a:lnTo>
                <a:lnTo>
                  <a:pt x="520" y="468"/>
                </a:lnTo>
                <a:lnTo>
                  <a:pt x="514" y="464"/>
                </a:lnTo>
                <a:lnTo>
                  <a:pt x="510" y="460"/>
                </a:lnTo>
                <a:lnTo>
                  <a:pt x="510" y="452"/>
                </a:lnTo>
                <a:lnTo>
                  <a:pt x="510" y="452"/>
                </a:lnTo>
                <a:lnTo>
                  <a:pt x="508" y="448"/>
                </a:lnTo>
                <a:lnTo>
                  <a:pt x="506" y="444"/>
                </a:lnTo>
                <a:lnTo>
                  <a:pt x="502" y="442"/>
                </a:lnTo>
                <a:lnTo>
                  <a:pt x="498" y="440"/>
                </a:lnTo>
                <a:lnTo>
                  <a:pt x="498" y="440"/>
                </a:lnTo>
                <a:lnTo>
                  <a:pt x="492" y="442"/>
                </a:lnTo>
                <a:lnTo>
                  <a:pt x="488" y="444"/>
                </a:lnTo>
                <a:lnTo>
                  <a:pt x="486" y="448"/>
                </a:lnTo>
                <a:lnTo>
                  <a:pt x="486" y="452"/>
                </a:lnTo>
                <a:lnTo>
                  <a:pt x="486" y="452"/>
                </a:lnTo>
                <a:lnTo>
                  <a:pt x="486" y="460"/>
                </a:lnTo>
                <a:lnTo>
                  <a:pt x="488" y="468"/>
                </a:lnTo>
                <a:lnTo>
                  <a:pt x="492" y="476"/>
                </a:lnTo>
                <a:lnTo>
                  <a:pt x="498" y="482"/>
                </a:lnTo>
                <a:lnTo>
                  <a:pt x="504" y="486"/>
                </a:lnTo>
                <a:lnTo>
                  <a:pt x="510" y="490"/>
                </a:lnTo>
                <a:lnTo>
                  <a:pt x="518" y="494"/>
                </a:lnTo>
                <a:lnTo>
                  <a:pt x="526" y="494"/>
                </a:lnTo>
                <a:lnTo>
                  <a:pt x="526" y="494"/>
                </a:lnTo>
                <a:lnTo>
                  <a:pt x="534" y="494"/>
                </a:lnTo>
                <a:lnTo>
                  <a:pt x="542" y="490"/>
                </a:lnTo>
                <a:lnTo>
                  <a:pt x="550" y="486"/>
                </a:lnTo>
                <a:lnTo>
                  <a:pt x="556" y="482"/>
                </a:lnTo>
                <a:lnTo>
                  <a:pt x="560" y="476"/>
                </a:lnTo>
                <a:lnTo>
                  <a:pt x="564" y="468"/>
                </a:lnTo>
                <a:lnTo>
                  <a:pt x="566" y="460"/>
                </a:lnTo>
                <a:lnTo>
                  <a:pt x="568" y="452"/>
                </a:lnTo>
                <a:lnTo>
                  <a:pt x="568" y="452"/>
                </a:lnTo>
                <a:lnTo>
                  <a:pt x="566" y="440"/>
                </a:lnTo>
                <a:lnTo>
                  <a:pt x="560" y="430"/>
                </a:lnTo>
                <a:lnTo>
                  <a:pt x="552" y="420"/>
                </a:lnTo>
                <a:lnTo>
                  <a:pt x="542" y="414"/>
                </a:lnTo>
                <a:lnTo>
                  <a:pt x="542" y="414"/>
                </a:lnTo>
                <a:lnTo>
                  <a:pt x="540" y="412"/>
                </a:lnTo>
                <a:lnTo>
                  <a:pt x="538" y="410"/>
                </a:lnTo>
                <a:lnTo>
                  <a:pt x="538" y="394"/>
                </a:lnTo>
                <a:lnTo>
                  <a:pt x="538" y="394"/>
                </a:lnTo>
                <a:lnTo>
                  <a:pt x="542" y="390"/>
                </a:lnTo>
                <a:lnTo>
                  <a:pt x="582" y="324"/>
                </a:lnTo>
                <a:lnTo>
                  <a:pt x="582" y="324"/>
                </a:lnTo>
                <a:lnTo>
                  <a:pt x="586" y="314"/>
                </a:lnTo>
                <a:lnTo>
                  <a:pt x="586" y="310"/>
                </a:lnTo>
                <a:lnTo>
                  <a:pt x="584" y="308"/>
                </a:lnTo>
                <a:lnTo>
                  <a:pt x="582" y="304"/>
                </a:lnTo>
                <a:lnTo>
                  <a:pt x="580" y="302"/>
                </a:lnTo>
                <a:lnTo>
                  <a:pt x="570" y="300"/>
                </a:lnTo>
                <a:lnTo>
                  <a:pt x="570" y="300"/>
                </a:lnTo>
                <a:close/>
              </a:path>
            </a:pathLst>
          </a:custGeom>
          <a:solidFill>
            <a:srgbClr val="C6007E"/>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5" name="Freeform 111"/>
          <p:cNvSpPr>
            <a:spLocks noEditPoints="1"/>
          </p:cNvSpPr>
          <p:nvPr/>
        </p:nvSpPr>
        <p:spPr bwMode="auto">
          <a:xfrm>
            <a:off x="669040" y="2623004"/>
            <a:ext cx="339130" cy="429900"/>
          </a:xfrm>
          <a:custGeom>
            <a:avLst/>
            <a:gdLst>
              <a:gd name="T0" fmla="*/ 337 w 2693"/>
              <a:gd name="T1" fmla="*/ 2691 h 3412"/>
              <a:gd name="T2" fmla="*/ 315 w 2693"/>
              <a:gd name="T3" fmla="*/ 2772 h 3412"/>
              <a:gd name="T4" fmla="*/ 374 w 2693"/>
              <a:gd name="T5" fmla="*/ 2831 h 3412"/>
              <a:gd name="T6" fmla="*/ 1867 w 2693"/>
              <a:gd name="T7" fmla="*/ 2821 h 3412"/>
              <a:gd name="T8" fmla="*/ 1908 w 2693"/>
              <a:gd name="T9" fmla="*/ 2749 h 3412"/>
              <a:gd name="T10" fmla="*/ 1867 w 2693"/>
              <a:gd name="T11" fmla="*/ 2677 h 3412"/>
              <a:gd name="T12" fmla="*/ 396 w 2693"/>
              <a:gd name="T13" fmla="*/ 2338 h 3412"/>
              <a:gd name="T14" fmla="*/ 323 w 2693"/>
              <a:gd name="T15" fmla="*/ 2380 h 3412"/>
              <a:gd name="T16" fmla="*/ 323 w 2693"/>
              <a:gd name="T17" fmla="*/ 2464 h 3412"/>
              <a:gd name="T18" fmla="*/ 396 w 2693"/>
              <a:gd name="T19" fmla="*/ 2506 h 3412"/>
              <a:gd name="T20" fmla="*/ 1884 w 2693"/>
              <a:gd name="T21" fmla="*/ 2482 h 3412"/>
              <a:gd name="T22" fmla="*/ 1905 w 2693"/>
              <a:gd name="T23" fmla="*/ 2400 h 3412"/>
              <a:gd name="T24" fmla="*/ 1846 w 2693"/>
              <a:gd name="T25" fmla="*/ 2342 h 3412"/>
              <a:gd name="T26" fmla="*/ 374 w 2693"/>
              <a:gd name="T27" fmla="*/ 1496 h 3412"/>
              <a:gd name="T28" fmla="*/ 315 w 2693"/>
              <a:gd name="T29" fmla="*/ 1554 h 3412"/>
              <a:gd name="T30" fmla="*/ 337 w 2693"/>
              <a:gd name="T31" fmla="*/ 1636 h 3412"/>
              <a:gd name="T32" fmla="*/ 1584 w 2693"/>
              <a:gd name="T33" fmla="*/ 1660 h 3412"/>
              <a:gd name="T34" fmla="*/ 1657 w 2693"/>
              <a:gd name="T35" fmla="*/ 1619 h 3412"/>
              <a:gd name="T36" fmla="*/ 1657 w 2693"/>
              <a:gd name="T37" fmla="*/ 1534 h 3412"/>
              <a:gd name="T38" fmla="*/ 1584 w 2693"/>
              <a:gd name="T39" fmla="*/ 1493 h 3412"/>
              <a:gd name="T40" fmla="*/ 354 w 2693"/>
              <a:gd name="T41" fmla="*/ 1177 h 3412"/>
              <a:gd name="T42" fmla="*/ 312 w 2693"/>
              <a:gd name="T43" fmla="*/ 1249 h 3412"/>
              <a:gd name="T44" fmla="*/ 354 w 2693"/>
              <a:gd name="T45" fmla="*/ 1321 h 3412"/>
              <a:gd name="T46" fmla="*/ 1151 w 2693"/>
              <a:gd name="T47" fmla="*/ 1330 h 3412"/>
              <a:gd name="T48" fmla="*/ 1210 w 2693"/>
              <a:gd name="T49" fmla="*/ 1271 h 3412"/>
              <a:gd name="T50" fmla="*/ 1188 w 2693"/>
              <a:gd name="T51" fmla="*/ 1189 h 3412"/>
              <a:gd name="T52" fmla="*/ 396 w 2693"/>
              <a:gd name="T53" fmla="*/ 1165 h 3412"/>
              <a:gd name="T54" fmla="*/ 337 w 2693"/>
              <a:gd name="T55" fmla="*/ 862 h 3412"/>
              <a:gd name="T56" fmla="*/ 315 w 2693"/>
              <a:gd name="T57" fmla="*/ 944 h 3412"/>
              <a:gd name="T58" fmla="*/ 374 w 2693"/>
              <a:gd name="T59" fmla="*/ 1001 h 3412"/>
              <a:gd name="T60" fmla="*/ 1867 w 2693"/>
              <a:gd name="T61" fmla="*/ 993 h 3412"/>
              <a:gd name="T62" fmla="*/ 1908 w 2693"/>
              <a:gd name="T63" fmla="*/ 921 h 3412"/>
              <a:gd name="T64" fmla="*/ 1867 w 2693"/>
              <a:gd name="T65" fmla="*/ 849 h 3412"/>
              <a:gd name="T66" fmla="*/ 84 w 2693"/>
              <a:gd name="T67" fmla="*/ 482 h 3412"/>
              <a:gd name="T68" fmla="*/ 2196 w 2693"/>
              <a:gd name="T69" fmla="*/ 506 h 3412"/>
              <a:gd name="T70" fmla="*/ 2220 w 2693"/>
              <a:gd name="T71" fmla="*/ 3328 h 3412"/>
              <a:gd name="T72" fmla="*/ 2179 w 2693"/>
              <a:gd name="T73" fmla="*/ 3401 h 3412"/>
              <a:gd name="T74" fmla="*/ 62 w 2693"/>
              <a:gd name="T75" fmla="*/ 3409 h 3412"/>
              <a:gd name="T76" fmla="*/ 3 w 2693"/>
              <a:gd name="T77" fmla="*/ 3350 h 3412"/>
              <a:gd name="T78" fmla="*/ 12 w 2693"/>
              <a:gd name="T79" fmla="*/ 522 h 3412"/>
              <a:gd name="T80" fmla="*/ 84 w 2693"/>
              <a:gd name="T81" fmla="*/ 482 h 3412"/>
              <a:gd name="T82" fmla="*/ 2651 w 2693"/>
              <a:gd name="T83" fmla="*/ 11 h 3412"/>
              <a:gd name="T84" fmla="*/ 2693 w 2693"/>
              <a:gd name="T85" fmla="*/ 83 h 3412"/>
              <a:gd name="T86" fmla="*/ 2668 w 2693"/>
              <a:gd name="T87" fmla="*/ 2972 h 3412"/>
              <a:gd name="T88" fmla="*/ 2448 w 2693"/>
              <a:gd name="T89" fmla="*/ 2996 h 3412"/>
              <a:gd name="T90" fmla="*/ 2423 w 2693"/>
              <a:gd name="T91" fmla="*/ 268 h 3412"/>
              <a:gd name="T92" fmla="*/ 477 w 2693"/>
              <a:gd name="T93" fmla="*/ 244 h 3412"/>
              <a:gd name="T94" fmla="*/ 501 w 2693"/>
              <a:gd name="T95" fmla="*/ 24 h 3412"/>
              <a:gd name="T96" fmla="*/ 1080 w 2693"/>
              <a:gd name="T97" fmla="*/ 0 h 3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693" h="3412">
                <a:moveTo>
                  <a:pt x="396" y="2666"/>
                </a:moveTo>
                <a:lnTo>
                  <a:pt x="374" y="2669"/>
                </a:lnTo>
                <a:lnTo>
                  <a:pt x="354" y="2677"/>
                </a:lnTo>
                <a:lnTo>
                  <a:pt x="337" y="2691"/>
                </a:lnTo>
                <a:lnTo>
                  <a:pt x="323" y="2707"/>
                </a:lnTo>
                <a:lnTo>
                  <a:pt x="315" y="2727"/>
                </a:lnTo>
                <a:lnTo>
                  <a:pt x="312" y="2749"/>
                </a:lnTo>
                <a:lnTo>
                  <a:pt x="315" y="2772"/>
                </a:lnTo>
                <a:lnTo>
                  <a:pt x="323" y="2792"/>
                </a:lnTo>
                <a:lnTo>
                  <a:pt x="337" y="2809"/>
                </a:lnTo>
                <a:lnTo>
                  <a:pt x="354" y="2821"/>
                </a:lnTo>
                <a:lnTo>
                  <a:pt x="374" y="2831"/>
                </a:lnTo>
                <a:lnTo>
                  <a:pt x="396" y="2833"/>
                </a:lnTo>
                <a:lnTo>
                  <a:pt x="1824" y="2833"/>
                </a:lnTo>
                <a:lnTo>
                  <a:pt x="1846" y="2831"/>
                </a:lnTo>
                <a:lnTo>
                  <a:pt x="1867" y="2821"/>
                </a:lnTo>
                <a:lnTo>
                  <a:pt x="1884" y="2809"/>
                </a:lnTo>
                <a:lnTo>
                  <a:pt x="1896" y="2792"/>
                </a:lnTo>
                <a:lnTo>
                  <a:pt x="1905" y="2772"/>
                </a:lnTo>
                <a:lnTo>
                  <a:pt x="1908" y="2749"/>
                </a:lnTo>
                <a:lnTo>
                  <a:pt x="1905" y="2727"/>
                </a:lnTo>
                <a:lnTo>
                  <a:pt x="1896" y="2707"/>
                </a:lnTo>
                <a:lnTo>
                  <a:pt x="1884" y="2691"/>
                </a:lnTo>
                <a:lnTo>
                  <a:pt x="1867" y="2677"/>
                </a:lnTo>
                <a:lnTo>
                  <a:pt x="1846" y="2669"/>
                </a:lnTo>
                <a:lnTo>
                  <a:pt x="1824" y="2666"/>
                </a:lnTo>
                <a:lnTo>
                  <a:pt x="396" y="2666"/>
                </a:lnTo>
                <a:close/>
                <a:moveTo>
                  <a:pt x="396" y="2338"/>
                </a:moveTo>
                <a:lnTo>
                  <a:pt x="374" y="2342"/>
                </a:lnTo>
                <a:lnTo>
                  <a:pt x="354" y="2350"/>
                </a:lnTo>
                <a:lnTo>
                  <a:pt x="337" y="2362"/>
                </a:lnTo>
                <a:lnTo>
                  <a:pt x="323" y="2380"/>
                </a:lnTo>
                <a:lnTo>
                  <a:pt x="315" y="2400"/>
                </a:lnTo>
                <a:lnTo>
                  <a:pt x="312" y="2422"/>
                </a:lnTo>
                <a:lnTo>
                  <a:pt x="315" y="2444"/>
                </a:lnTo>
                <a:lnTo>
                  <a:pt x="323" y="2464"/>
                </a:lnTo>
                <a:lnTo>
                  <a:pt x="337" y="2482"/>
                </a:lnTo>
                <a:lnTo>
                  <a:pt x="354" y="2494"/>
                </a:lnTo>
                <a:lnTo>
                  <a:pt x="374" y="2503"/>
                </a:lnTo>
                <a:lnTo>
                  <a:pt x="396" y="2506"/>
                </a:lnTo>
                <a:lnTo>
                  <a:pt x="1824" y="2506"/>
                </a:lnTo>
                <a:lnTo>
                  <a:pt x="1846" y="2503"/>
                </a:lnTo>
                <a:lnTo>
                  <a:pt x="1867" y="2494"/>
                </a:lnTo>
                <a:lnTo>
                  <a:pt x="1884" y="2482"/>
                </a:lnTo>
                <a:lnTo>
                  <a:pt x="1896" y="2464"/>
                </a:lnTo>
                <a:lnTo>
                  <a:pt x="1905" y="2444"/>
                </a:lnTo>
                <a:lnTo>
                  <a:pt x="1908" y="2422"/>
                </a:lnTo>
                <a:lnTo>
                  <a:pt x="1905" y="2400"/>
                </a:lnTo>
                <a:lnTo>
                  <a:pt x="1896" y="2380"/>
                </a:lnTo>
                <a:lnTo>
                  <a:pt x="1884" y="2362"/>
                </a:lnTo>
                <a:lnTo>
                  <a:pt x="1867" y="2350"/>
                </a:lnTo>
                <a:lnTo>
                  <a:pt x="1846" y="2342"/>
                </a:lnTo>
                <a:lnTo>
                  <a:pt x="1824" y="2338"/>
                </a:lnTo>
                <a:lnTo>
                  <a:pt x="396" y="2338"/>
                </a:lnTo>
                <a:close/>
                <a:moveTo>
                  <a:pt x="396" y="1493"/>
                </a:moveTo>
                <a:lnTo>
                  <a:pt x="374" y="1496"/>
                </a:lnTo>
                <a:lnTo>
                  <a:pt x="354" y="1504"/>
                </a:lnTo>
                <a:lnTo>
                  <a:pt x="337" y="1518"/>
                </a:lnTo>
                <a:lnTo>
                  <a:pt x="323" y="1534"/>
                </a:lnTo>
                <a:lnTo>
                  <a:pt x="315" y="1554"/>
                </a:lnTo>
                <a:lnTo>
                  <a:pt x="312" y="1576"/>
                </a:lnTo>
                <a:lnTo>
                  <a:pt x="315" y="1598"/>
                </a:lnTo>
                <a:lnTo>
                  <a:pt x="323" y="1619"/>
                </a:lnTo>
                <a:lnTo>
                  <a:pt x="337" y="1636"/>
                </a:lnTo>
                <a:lnTo>
                  <a:pt x="354" y="1648"/>
                </a:lnTo>
                <a:lnTo>
                  <a:pt x="374" y="1657"/>
                </a:lnTo>
                <a:lnTo>
                  <a:pt x="396" y="1660"/>
                </a:lnTo>
                <a:lnTo>
                  <a:pt x="1584" y="1660"/>
                </a:lnTo>
                <a:lnTo>
                  <a:pt x="1607" y="1657"/>
                </a:lnTo>
                <a:lnTo>
                  <a:pt x="1627" y="1648"/>
                </a:lnTo>
                <a:lnTo>
                  <a:pt x="1644" y="1636"/>
                </a:lnTo>
                <a:lnTo>
                  <a:pt x="1657" y="1619"/>
                </a:lnTo>
                <a:lnTo>
                  <a:pt x="1665" y="1598"/>
                </a:lnTo>
                <a:lnTo>
                  <a:pt x="1668" y="1576"/>
                </a:lnTo>
                <a:lnTo>
                  <a:pt x="1665" y="1554"/>
                </a:lnTo>
                <a:lnTo>
                  <a:pt x="1657" y="1534"/>
                </a:lnTo>
                <a:lnTo>
                  <a:pt x="1644" y="1518"/>
                </a:lnTo>
                <a:lnTo>
                  <a:pt x="1627" y="1504"/>
                </a:lnTo>
                <a:lnTo>
                  <a:pt x="1607" y="1496"/>
                </a:lnTo>
                <a:lnTo>
                  <a:pt x="1584" y="1493"/>
                </a:lnTo>
                <a:lnTo>
                  <a:pt x="396" y="1493"/>
                </a:lnTo>
                <a:close/>
                <a:moveTo>
                  <a:pt x="396" y="1165"/>
                </a:moveTo>
                <a:lnTo>
                  <a:pt x="374" y="1169"/>
                </a:lnTo>
                <a:lnTo>
                  <a:pt x="354" y="1177"/>
                </a:lnTo>
                <a:lnTo>
                  <a:pt x="337" y="1189"/>
                </a:lnTo>
                <a:lnTo>
                  <a:pt x="323" y="1206"/>
                </a:lnTo>
                <a:lnTo>
                  <a:pt x="315" y="1226"/>
                </a:lnTo>
                <a:lnTo>
                  <a:pt x="312" y="1249"/>
                </a:lnTo>
                <a:lnTo>
                  <a:pt x="315" y="1271"/>
                </a:lnTo>
                <a:lnTo>
                  <a:pt x="323" y="1291"/>
                </a:lnTo>
                <a:lnTo>
                  <a:pt x="337" y="1308"/>
                </a:lnTo>
                <a:lnTo>
                  <a:pt x="354" y="1321"/>
                </a:lnTo>
                <a:lnTo>
                  <a:pt x="374" y="1330"/>
                </a:lnTo>
                <a:lnTo>
                  <a:pt x="396" y="1333"/>
                </a:lnTo>
                <a:lnTo>
                  <a:pt x="1128" y="1333"/>
                </a:lnTo>
                <a:lnTo>
                  <a:pt x="1151" y="1330"/>
                </a:lnTo>
                <a:lnTo>
                  <a:pt x="1171" y="1321"/>
                </a:lnTo>
                <a:lnTo>
                  <a:pt x="1188" y="1308"/>
                </a:lnTo>
                <a:lnTo>
                  <a:pt x="1201" y="1291"/>
                </a:lnTo>
                <a:lnTo>
                  <a:pt x="1210" y="1271"/>
                </a:lnTo>
                <a:lnTo>
                  <a:pt x="1212" y="1249"/>
                </a:lnTo>
                <a:lnTo>
                  <a:pt x="1210" y="1226"/>
                </a:lnTo>
                <a:lnTo>
                  <a:pt x="1201" y="1206"/>
                </a:lnTo>
                <a:lnTo>
                  <a:pt x="1188" y="1189"/>
                </a:lnTo>
                <a:lnTo>
                  <a:pt x="1171" y="1177"/>
                </a:lnTo>
                <a:lnTo>
                  <a:pt x="1151" y="1169"/>
                </a:lnTo>
                <a:lnTo>
                  <a:pt x="1128" y="1165"/>
                </a:lnTo>
                <a:lnTo>
                  <a:pt x="396" y="1165"/>
                </a:lnTo>
                <a:close/>
                <a:moveTo>
                  <a:pt x="396" y="837"/>
                </a:moveTo>
                <a:lnTo>
                  <a:pt x="374" y="840"/>
                </a:lnTo>
                <a:lnTo>
                  <a:pt x="354" y="849"/>
                </a:lnTo>
                <a:lnTo>
                  <a:pt x="337" y="862"/>
                </a:lnTo>
                <a:lnTo>
                  <a:pt x="323" y="879"/>
                </a:lnTo>
                <a:lnTo>
                  <a:pt x="315" y="899"/>
                </a:lnTo>
                <a:lnTo>
                  <a:pt x="312" y="921"/>
                </a:lnTo>
                <a:lnTo>
                  <a:pt x="315" y="944"/>
                </a:lnTo>
                <a:lnTo>
                  <a:pt x="323" y="964"/>
                </a:lnTo>
                <a:lnTo>
                  <a:pt x="337" y="980"/>
                </a:lnTo>
                <a:lnTo>
                  <a:pt x="354" y="993"/>
                </a:lnTo>
                <a:lnTo>
                  <a:pt x="374" y="1001"/>
                </a:lnTo>
                <a:lnTo>
                  <a:pt x="396" y="1004"/>
                </a:lnTo>
                <a:lnTo>
                  <a:pt x="1824" y="1004"/>
                </a:lnTo>
                <a:lnTo>
                  <a:pt x="1846" y="1001"/>
                </a:lnTo>
                <a:lnTo>
                  <a:pt x="1867" y="993"/>
                </a:lnTo>
                <a:lnTo>
                  <a:pt x="1884" y="980"/>
                </a:lnTo>
                <a:lnTo>
                  <a:pt x="1896" y="964"/>
                </a:lnTo>
                <a:lnTo>
                  <a:pt x="1905" y="944"/>
                </a:lnTo>
                <a:lnTo>
                  <a:pt x="1908" y="921"/>
                </a:lnTo>
                <a:lnTo>
                  <a:pt x="1905" y="899"/>
                </a:lnTo>
                <a:lnTo>
                  <a:pt x="1896" y="879"/>
                </a:lnTo>
                <a:lnTo>
                  <a:pt x="1884" y="862"/>
                </a:lnTo>
                <a:lnTo>
                  <a:pt x="1867" y="849"/>
                </a:lnTo>
                <a:lnTo>
                  <a:pt x="1846" y="840"/>
                </a:lnTo>
                <a:lnTo>
                  <a:pt x="1824" y="837"/>
                </a:lnTo>
                <a:lnTo>
                  <a:pt x="396" y="837"/>
                </a:lnTo>
                <a:close/>
                <a:moveTo>
                  <a:pt x="84" y="482"/>
                </a:moveTo>
                <a:lnTo>
                  <a:pt x="2136" y="482"/>
                </a:lnTo>
                <a:lnTo>
                  <a:pt x="2159" y="484"/>
                </a:lnTo>
                <a:lnTo>
                  <a:pt x="2179" y="493"/>
                </a:lnTo>
                <a:lnTo>
                  <a:pt x="2196" y="506"/>
                </a:lnTo>
                <a:lnTo>
                  <a:pt x="2208" y="522"/>
                </a:lnTo>
                <a:lnTo>
                  <a:pt x="2218" y="542"/>
                </a:lnTo>
                <a:lnTo>
                  <a:pt x="2220" y="565"/>
                </a:lnTo>
                <a:lnTo>
                  <a:pt x="2220" y="3328"/>
                </a:lnTo>
                <a:lnTo>
                  <a:pt x="2218" y="3350"/>
                </a:lnTo>
                <a:lnTo>
                  <a:pt x="2208" y="3370"/>
                </a:lnTo>
                <a:lnTo>
                  <a:pt x="2196" y="3388"/>
                </a:lnTo>
                <a:lnTo>
                  <a:pt x="2179" y="3401"/>
                </a:lnTo>
                <a:lnTo>
                  <a:pt x="2159" y="3409"/>
                </a:lnTo>
                <a:lnTo>
                  <a:pt x="2136" y="3412"/>
                </a:lnTo>
                <a:lnTo>
                  <a:pt x="84" y="3412"/>
                </a:lnTo>
                <a:lnTo>
                  <a:pt x="62" y="3409"/>
                </a:lnTo>
                <a:lnTo>
                  <a:pt x="42" y="3401"/>
                </a:lnTo>
                <a:lnTo>
                  <a:pt x="24" y="3388"/>
                </a:lnTo>
                <a:lnTo>
                  <a:pt x="12" y="3370"/>
                </a:lnTo>
                <a:lnTo>
                  <a:pt x="3" y="3350"/>
                </a:lnTo>
                <a:lnTo>
                  <a:pt x="0" y="3328"/>
                </a:lnTo>
                <a:lnTo>
                  <a:pt x="0" y="565"/>
                </a:lnTo>
                <a:lnTo>
                  <a:pt x="3" y="542"/>
                </a:lnTo>
                <a:lnTo>
                  <a:pt x="12" y="522"/>
                </a:lnTo>
                <a:lnTo>
                  <a:pt x="24" y="506"/>
                </a:lnTo>
                <a:lnTo>
                  <a:pt x="42" y="493"/>
                </a:lnTo>
                <a:lnTo>
                  <a:pt x="62" y="484"/>
                </a:lnTo>
                <a:lnTo>
                  <a:pt x="84" y="482"/>
                </a:lnTo>
                <a:close/>
                <a:moveTo>
                  <a:pt x="1080" y="0"/>
                </a:moveTo>
                <a:lnTo>
                  <a:pt x="2609" y="0"/>
                </a:lnTo>
                <a:lnTo>
                  <a:pt x="2631" y="3"/>
                </a:lnTo>
                <a:lnTo>
                  <a:pt x="2651" y="11"/>
                </a:lnTo>
                <a:lnTo>
                  <a:pt x="2668" y="24"/>
                </a:lnTo>
                <a:lnTo>
                  <a:pt x="2681" y="42"/>
                </a:lnTo>
                <a:lnTo>
                  <a:pt x="2690" y="61"/>
                </a:lnTo>
                <a:lnTo>
                  <a:pt x="2693" y="83"/>
                </a:lnTo>
                <a:lnTo>
                  <a:pt x="2693" y="2912"/>
                </a:lnTo>
                <a:lnTo>
                  <a:pt x="2690" y="2935"/>
                </a:lnTo>
                <a:lnTo>
                  <a:pt x="2681" y="2955"/>
                </a:lnTo>
                <a:lnTo>
                  <a:pt x="2668" y="2972"/>
                </a:lnTo>
                <a:lnTo>
                  <a:pt x="2651" y="2986"/>
                </a:lnTo>
                <a:lnTo>
                  <a:pt x="2631" y="2994"/>
                </a:lnTo>
                <a:lnTo>
                  <a:pt x="2609" y="2996"/>
                </a:lnTo>
                <a:lnTo>
                  <a:pt x="2448" y="2996"/>
                </a:lnTo>
                <a:lnTo>
                  <a:pt x="2448" y="328"/>
                </a:lnTo>
                <a:lnTo>
                  <a:pt x="2445" y="306"/>
                </a:lnTo>
                <a:lnTo>
                  <a:pt x="2436" y="285"/>
                </a:lnTo>
                <a:lnTo>
                  <a:pt x="2423" y="268"/>
                </a:lnTo>
                <a:lnTo>
                  <a:pt x="2406" y="256"/>
                </a:lnTo>
                <a:lnTo>
                  <a:pt x="2386" y="248"/>
                </a:lnTo>
                <a:lnTo>
                  <a:pt x="2364" y="244"/>
                </a:lnTo>
                <a:lnTo>
                  <a:pt x="477" y="244"/>
                </a:lnTo>
                <a:lnTo>
                  <a:pt x="477" y="83"/>
                </a:lnTo>
                <a:lnTo>
                  <a:pt x="480" y="61"/>
                </a:lnTo>
                <a:lnTo>
                  <a:pt x="489" y="42"/>
                </a:lnTo>
                <a:lnTo>
                  <a:pt x="501" y="24"/>
                </a:lnTo>
                <a:lnTo>
                  <a:pt x="519" y="11"/>
                </a:lnTo>
                <a:lnTo>
                  <a:pt x="539" y="3"/>
                </a:lnTo>
                <a:lnTo>
                  <a:pt x="561" y="0"/>
                </a:lnTo>
                <a:lnTo>
                  <a:pt x="1080" y="0"/>
                </a:lnTo>
                <a:close/>
              </a:path>
            </a:pathLst>
          </a:custGeom>
          <a:solidFill>
            <a:srgbClr val="00338D"/>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s-SV"/>
          </a:p>
        </p:txBody>
      </p:sp>
      <p:graphicFrame>
        <p:nvGraphicFramePr>
          <p:cNvPr id="3" name="Table 2"/>
          <p:cNvGraphicFramePr>
            <a:graphicFrameLocks noGrp="1"/>
          </p:cNvGraphicFramePr>
          <p:nvPr/>
        </p:nvGraphicFramePr>
        <p:xfrm>
          <a:off x="1583440" y="1347843"/>
          <a:ext cx="7838628" cy="4924550"/>
        </p:xfrm>
        <a:graphic>
          <a:graphicData uri="http://schemas.openxmlformats.org/drawingml/2006/table">
            <a:tbl>
              <a:tblPr firstRow="1" bandRow="1">
                <a:tableStyleId>{5C22544A-7EE6-4342-B048-85BDC9FD1C3A}</a:tableStyleId>
              </a:tblPr>
              <a:tblGrid>
                <a:gridCol w="958560">
                  <a:extLst>
                    <a:ext uri="{9D8B030D-6E8A-4147-A177-3AD203B41FA5}">
                      <a16:colId xmlns:a16="http://schemas.microsoft.com/office/drawing/2014/main" val="20000"/>
                    </a:ext>
                  </a:extLst>
                </a:gridCol>
                <a:gridCol w="958560">
                  <a:extLst>
                    <a:ext uri="{9D8B030D-6E8A-4147-A177-3AD203B41FA5}">
                      <a16:colId xmlns:a16="http://schemas.microsoft.com/office/drawing/2014/main" val="20001"/>
                    </a:ext>
                  </a:extLst>
                </a:gridCol>
                <a:gridCol w="487373">
                  <a:extLst>
                    <a:ext uri="{9D8B030D-6E8A-4147-A177-3AD203B41FA5}">
                      <a16:colId xmlns:a16="http://schemas.microsoft.com/office/drawing/2014/main" val="20002"/>
                    </a:ext>
                  </a:extLst>
                </a:gridCol>
                <a:gridCol w="5434135">
                  <a:extLst>
                    <a:ext uri="{9D8B030D-6E8A-4147-A177-3AD203B41FA5}">
                      <a16:colId xmlns:a16="http://schemas.microsoft.com/office/drawing/2014/main" val="20003"/>
                    </a:ext>
                  </a:extLst>
                </a:gridCol>
              </a:tblGrid>
              <a:tr h="357630">
                <a:tc gridSpan="2">
                  <a:txBody>
                    <a:bodyPr/>
                    <a:lstStyle/>
                    <a:p>
                      <a:pPr algn="ctr">
                        <a:spcAft>
                          <a:spcPts val="50"/>
                        </a:spcAft>
                      </a:pPr>
                      <a:r>
                        <a:rPr lang="en-US" sz="800" b="0" dirty="0">
                          <a:solidFill>
                            <a:schemeClr val="tx1"/>
                          </a:solidFill>
                          <a:latin typeface="+mn-lt"/>
                        </a:rPr>
                        <a:t>1. Site exclusivity</a:t>
                      </a:r>
                      <a:endParaRPr lang="en-SG" sz="800" b="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lang="en-SG"/>
                    </a:p>
                  </a:txBody>
                  <a:tcPr/>
                </a:tc>
                <a:tc>
                  <a:txBody>
                    <a:bodyPr/>
                    <a:lstStyle/>
                    <a:p>
                      <a:pPr algn="ctr">
                        <a:spcAft>
                          <a:spcPts val="50"/>
                        </a:spcAft>
                      </a:pPr>
                      <a:r>
                        <a:rPr lang="en-SG" sz="800" b="0" dirty="0">
                          <a:solidFill>
                            <a:schemeClr val="tx1"/>
                          </a:solidFill>
                          <a:latin typeface="+mn-lt"/>
                        </a:rPr>
                        <a:t>1</a:t>
                      </a:r>
                    </a:p>
                    <a:p>
                      <a:pPr algn="ctr">
                        <a:spcAft>
                          <a:spcPts val="50"/>
                        </a:spcAft>
                      </a:pP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50"/>
                        </a:spcAft>
                        <a:buClrTx/>
                        <a:buSzTx/>
                        <a:buFontTx/>
                        <a:buNone/>
                        <a:tabLst/>
                        <a:defRPr/>
                      </a:pPr>
                      <a:r>
                        <a:rPr lang="en-SG" sz="800" b="0" dirty="0">
                          <a:solidFill>
                            <a:schemeClr val="tx1"/>
                          </a:solidFill>
                          <a:latin typeface="+mn-lt"/>
                        </a:rPr>
                        <a:t>After securing a suitable site and submitting a letter of interest, the developer submits to Provincial PC and DOIT for an acceptance letter with site exclusivity allowing to perform site study and pre-FS</a:t>
                      </a: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97638">
                <a:tc gridSpan="2">
                  <a:txBody>
                    <a:bodyPr/>
                    <a:lstStyle/>
                    <a:p>
                      <a:pPr algn="ctr">
                        <a:spcAft>
                          <a:spcPts val="50"/>
                        </a:spcAft>
                      </a:pPr>
                      <a:r>
                        <a:rPr lang="en-US" sz="800" dirty="0">
                          <a:solidFill>
                            <a:schemeClr val="tx1"/>
                          </a:solidFill>
                          <a:latin typeface="+mn-lt"/>
                        </a:rPr>
                        <a:t>2. Pre-Feasibility</a:t>
                      </a:r>
                      <a:r>
                        <a:rPr lang="en-US" sz="800" baseline="0" dirty="0">
                          <a:solidFill>
                            <a:schemeClr val="tx1"/>
                          </a:solidFill>
                          <a:latin typeface="+mn-lt"/>
                        </a:rPr>
                        <a:t> Study (Pre-FS)</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lang="en-SG"/>
                    </a:p>
                  </a:txBody>
                  <a:tcPr/>
                </a:tc>
                <a:tc rowSpan="2">
                  <a:txBody>
                    <a:bodyPr/>
                    <a:lstStyle/>
                    <a:p>
                      <a:pPr algn="ctr">
                        <a:spcAft>
                          <a:spcPts val="50"/>
                        </a:spcAft>
                      </a:pPr>
                      <a:r>
                        <a:rPr lang="en-US" sz="800" dirty="0">
                          <a:solidFill>
                            <a:schemeClr val="tx1"/>
                          </a:solidFill>
                          <a:latin typeface="+mn-lt"/>
                        </a:rPr>
                        <a:t>2</a:t>
                      </a:r>
                      <a:r>
                        <a:rPr lang="en-US" sz="800" baseline="0" dirty="0">
                          <a:solidFill>
                            <a:schemeClr val="tx1"/>
                          </a:solidFill>
                          <a:latin typeface="+mn-lt"/>
                        </a:rPr>
                        <a:t> &amp; 3</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0" marR="0" lvl="0" indent="0" algn="l" defTabSz="914400" rtl="0" eaLnBrk="1" fontAlgn="auto" latinLnBrk="0" hangingPunct="1">
                        <a:lnSpc>
                          <a:spcPct val="100000"/>
                        </a:lnSpc>
                        <a:spcBef>
                          <a:spcPts val="0"/>
                        </a:spcBef>
                        <a:spcAft>
                          <a:spcPts val="50"/>
                        </a:spcAft>
                        <a:buClrTx/>
                        <a:buSzTx/>
                        <a:buFontTx/>
                        <a:buNone/>
                        <a:tabLst/>
                        <a:defRPr/>
                      </a:pPr>
                      <a:r>
                        <a:rPr lang="en-SG" sz="800" dirty="0">
                          <a:latin typeface="+mn-lt"/>
                          <a:cs typeface="Arial" panose="020B0604020202020204" pitchFamily="34" charset="0"/>
                        </a:rPr>
                        <a:t>A pre-FS to demonstrate the potential of the site and information about potential risks and impacts of the project is submitted to the Provincial PC or MOIT for the project to be included in the PPDP/ NPDP.</a:t>
                      </a: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23509">
                <a:tc gridSpan="2">
                  <a:txBody>
                    <a:bodyPr/>
                    <a:lstStyle/>
                    <a:p>
                      <a:pPr algn="ctr">
                        <a:spcAft>
                          <a:spcPts val="50"/>
                        </a:spcAft>
                      </a:pPr>
                      <a:r>
                        <a:rPr lang="en-US" sz="800" dirty="0">
                          <a:solidFill>
                            <a:schemeClr val="tx1"/>
                          </a:solidFill>
                          <a:latin typeface="+mn-lt"/>
                        </a:rPr>
                        <a:t>3. Approval for inclusion in National/Provincial</a:t>
                      </a:r>
                      <a:r>
                        <a:rPr lang="en-US" sz="800" baseline="0" dirty="0">
                          <a:solidFill>
                            <a:schemeClr val="tx1"/>
                          </a:solidFill>
                          <a:latin typeface="+mn-lt"/>
                        </a:rPr>
                        <a:t> Power Development Plan (NPDP/PPDP)</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lang="en-SG"/>
                    </a:p>
                  </a:txBody>
                  <a:tcPr/>
                </a:tc>
                <a:tc vMerge="1">
                  <a:txBody>
                    <a:bodyPr/>
                    <a:lstStyle/>
                    <a:p>
                      <a:endParaRPr lang="en-SG" sz="900" dirty="0">
                        <a:solidFill>
                          <a:schemeClr val="tx1"/>
                        </a:solidFill>
                      </a:endParaRPr>
                    </a:p>
                  </a:txBody>
                  <a:tcPr>
                    <a:lnL w="12700" cap="flat" cmpd="sng" algn="ctr">
                      <a:solidFill>
                        <a:schemeClr val="bg1">
                          <a:lumMod val="6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vMerge="1">
                  <a:txBody>
                    <a:bodyPr/>
                    <a:lstStyle/>
                    <a:p>
                      <a:endParaRPr lang="en-SG" sz="900"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10574">
                <a:tc gridSpan="2">
                  <a:txBody>
                    <a:bodyPr/>
                    <a:lstStyle/>
                    <a:p>
                      <a:pPr algn="ctr">
                        <a:spcAft>
                          <a:spcPts val="50"/>
                        </a:spcAft>
                      </a:pPr>
                      <a:r>
                        <a:rPr lang="en-US" sz="800" dirty="0">
                          <a:solidFill>
                            <a:schemeClr val="tx1"/>
                          </a:solidFill>
                          <a:latin typeface="+mn-lt"/>
                        </a:rPr>
                        <a:t>4. Decision on Investment</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lang="en-SG"/>
                    </a:p>
                  </a:txBody>
                  <a:tcPr/>
                </a:tc>
                <a:tc>
                  <a:txBody>
                    <a:bodyPr/>
                    <a:lstStyle/>
                    <a:p>
                      <a:pPr algn="ctr">
                        <a:spcAft>
                          <a:spcPts val="50"/>
                        </a:spcAft>
                      </a:pPr>
                      <a:r>
                        <a:rPr lang="en-US" sz="800" dirty="0">
                          <a:solidFill>
                            <a:schemeClr val="tx1"/>
                          </a:solidFill>
                          <a:latin typeface="+mn-lt"/>
                        </a:rPr>
                        <a:t>4</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50"/>
                        </a:spcAft>
                        <a:buClrTx/>
                        <a:buSzTx/>
                        <a:buFontTx/>
                        <a:buNone/>
                        <a:tabLst/>
                        <a:defRPr/>
                      </a:pPr>
                      <a:r>
                        <a:rPr lang="en-SG" sz="800" dirty="0">
                          <a:latin typeface="+mn-lt"/>
                          <a:cs typeface="Arial" panose="020B0604020202020204" pitchFamily="34" charset="0"/>
                        </a:rPr>
                        <a:t>After being included in PPDP/NPPD, the developer shall submit a request to the MPI/DOIT for the Decision on Investment which grants the developer rights to start project development at the site </a:t>
                      </a: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3509">
                <a:tc gridSpan="2">
                  <a:txBody>
                    <a:bodyPr/>
                    <a:lstStyle/>
                    <a:p>
                      <a:pPr algn="ctr">
                        <a:spcAft>
                          <a:spcPts val="50"/>
                        </a:spcAft>
                      </a:pPr>
                      <a:r>
                        <a:rPr lang="en-US" sz="800" dirty="0">
                          <a:solidFill>
                            <a:schemeClr val="tx1"/>
                          </a:solidFill>
                          <a:latin typeface="+mn-lt"/>
                        </a:rPr>
                        <a:t>5. Investment Certification and</a:t>
                      </a:r>
                      <a:r>
                        <a:rPr lang="en-US" sz="800" baseline="0" dirty="0">
                          <a:solidFill>
                            <a:schemeClr val="tx1"/>
                          </a:solidFill>
                          <a:latin typeface="+mn-lt"/>
                        </a:rPr>
                        <a:t> Enterprise Registration Certificate</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lang="en-SG"/>
                    </a:p>
                  </a:txBody>
                  <a:tcPr/>
                </a:tc>
                <a:tc>
                  <a:txBody>
                    <a:bodyPr/>
                    <a:lstStyle/>
                    <a:p>
                      <a:pPr algn="ctr">
                        <a:spcAft>
                          <a:spcPts val="50"/>
                        </a:spcAft>
                      </a:pPr>
                      <a:r>
                        <a:rPr lang="en-US" sz="800" dirty="0">
                          <a:solidFill>
                            <a:schemeClr val="tx1"/>
                          </a:solidFill>
                          <a:latin typeface="+mn-lt"/>
                        </a:rPr>
                        <a:t>5</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50"/>
                        </a:spcAft>
                        <a:buClrTx/>
                        <a:buSzTx/>
                        <a:buFontTx/>
                        <a:buNone/>
                        <a:tabLst/>
                        <a:defRPr/>
                      </a:pPr>
                      <a:r>
                        <a:rPr lang="en-SG" sz="800" dirty="0">
                          <a:latin typeface="+mn-lt"/>
                          <a:cs typeface="Arial" panose="020B0604020202020204" pitchFamily="34" charset="0"/>
                        </a:rPr>
                        <a:t>For foreign companies, the Investment Certificate is required from the DPI or the MPI to gain the right to develop projects in Vietnam. The next step is to acquire the Enterprise Registration Certificate from DPI/MPI to establish an enterprise. </a:t>
                      </a: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809374">
                <a:tc>
                  <a:txBody>
                    <a:bodyPr/>
                    <a:lstStyle/>
                    <a:p>
                      <a:pPr algn="ctr">
                        <a:spcAft>
                          <a:spcPts val="50"/>
                        </a:spcAft>
                      </a:pPr>
                      <a:r>
                        <a:rPr lang="en-US" sz="800" dirty="0">
                          <a:solidFill>
                            <a:schemeClr val="tx1"/>
                          </a:solidFill>
                          <a:latin typeface="+mn-lt"/>
                        </a:rPr>
                        <a:t>6. Feasibility Study (FS)</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spcAft>
                          <a:spcPts val="50"/>
                        </a:spcAft>
                      </a:pPr>
                      <a:r>
                        <a:rPr lang="en-US" sz="800" dirty="0">
                          <a:solidFill>
                            <a:schemeClr val="tx1"/>
                          </a:solidFill>
                          <a:latin typeface="+mn-lt"/>
                        </a:rPr>
                        <a:t>7. Grid Interconnection Agreement</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spcAft>
                          <a:spcPts val="50"/>
                        </a:spcAft>
                      </a:pPr>
                      <a:r>
                        <a:rPr lang="en-US" sz="800" dirty="0">
                          <a:solidFill>
                            <a:schemeClr val="tx1"/>
                          </a:solidFill>
                          <a:latin typeface="+mn-lt"/>
                        </a:rPr>
                        <a:t>6</a:t>
                      </a:r>
                      <a:br>
                        <a:rPr lang="en-US" sz="800" dirty="0">
                          <a:solidFill>
                            <a:schemeClr val="tx1"/>
                          </a:solidFill>
                          <a:latin typeface="+mn-lt"/>
                        </a:rPr>
                      </a:br>
                      <a:br>
                        <a:rPr lang="en-US" sz="800" dirty="0">
                          <a:solidFill>
                            <a:schemeClr val="tx1"/>
                          </a:solidFill>
                          <a:latin typeface="+mn-lt"/>
                        </a:rPr>
                      </a:br>
                      <a:endParaRPr lang="en-US" sz="800" dirty="0">
                        <a:solidFill>
                          <a:schemeClr val="tx1"/>
                        </a:solidFill>
                        <a:latin typeface="+mn-lt"/>
                      </a:endParaRPr>
                    </a:p>
                    <a:p>
                      <a:pPr algn="ctr">
                        <a:spcAft>
                          <a:spcPts val="50"/>
                        </a:spcAft>
                      </a:pPr>
                      <a:r>
                        <a:rPr lang="en-US" sz="800" dirty="0">
                          <a:solidFill>
                            <a:schemeClr val="tx1"/>
                          </a:solidFill>
                          <a:latin typeface="+mn-lt"/>
                        </a:rPr>
                        <a:t>7</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50"/>
                        </a:spcAft>
                        <a:buClrTx/>
                        <a:buSzTx/>
                        <a:buFontTx/>
                        <a:buNone/>
                        <a:tabLst/>
                        <a:defRPr/>
                      </a:pPr>
                      <a:r>
                        <a:rPr lang="en-SG" sz="800" dirty="0">
                          <a:latin typeface="+mn-lt"/>
                          <a:cs typeface="Arial" panose="020B0604020202020204" pitchFamily="34" charset="0"/>
                        </a:rPr>
                        <a:t>A full FS of the project - covering the project’s complete technical design, cost and funding structure – needs to be submitted to MOIT/DOIT in order to assess the project, and provide the information required to obtain the various Project Agreements.</a:t>
                      </a:r>
                    </a:p>
                    <a:p>
                      <a:pPr marL="0" marR="0" lvl="0" indent="0" algn="l" defTabSz="914400" rtl="0" eaLnBrk="1" fontAlgn="auto" latinLnBrk="0" hangingPunct="1">
                        <a:lnSpc>
                          <a:spcPct val="100000"/>
                        </a:lnSpc>
                        <a:spcBef>
                          <a:spcPts val="0"/>
                        </a:spcBef>
                        <a:spcAft>
                          <a:spcPts val="50"/>
                        </a:spcAft>
                        <a:buClrTx/>
                        <a:buSzTx/>
                        <a:buFontTx/>
                        <a:buNone/>
                        <a:tabLst/>
                        <a:defRPr/>
                      </a:pPr>
                      <a:r>
                        <a:rPr lang="en-SG" sz="800" dirty="0">
                          <a:latin typeface="+mn-lt"/>
                          <a:cs typeface="Arial" panose="020B0604020202020204" pitchFamily="34" charset="0"/>
                        </a:rPr>
                        <a:t>Various project agreements will need to be secured in parallel with the FS, including Grid Interconnection Agreement with Regional Power Corporation (</a:t>
                      </a:r>
                      <a:r>
                        <a:rPr lang="en-SG" sz="800" dirty="0" err="1">
                          <a:latin typeface="+mn-lt"/>
                          <a:cs typeface="Arial" panose="020B0604020202020204" pitchFamily="34" charset="0"/>
                        </a:rPr>
                        <a:t>RPCo</a:t>
                      </a:r>
                      <a:r>
                        <a:rPr lang="en-SG" sz="800" dirty="0">
                          <a:latin typeface="+mn-lt"/>
                          <a:cs typeface="Arial" panose="020B0604020202020204" pitchFamily="34" charset="0"/>
                        </a:rPr>
                        <a:t>)/National Power Transmission Corporation (NPT) as well as Power measuring agreement, Agreement on SCADA/EMS (DMS) and Agreement on Relay protection, etc. </a:t>
                      </a: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3509">
                <a:tc gridSpan="2">
                  <a:txBody>
                    <a:bodyPr/>
                    <a:lstStyle/>
                    <a:p>
                      <a:pPr algn="ctr">
                        <a:spcAft>
                          <a:spcPts val="50"/>
                        </a:spcAft>
                      </a:pPr>
                      <a:r>
                        <a:rPr lang="en-US" sz="800" dirty="0">
                          <a:solidFill>
                            <a:schemeClr val="tx1"/>
                          </a:solidFill>
                          <a:latin typeface="+mn-lt"/>
                        </a:rPr>
                        <a:t>8. Power Purchase Agreement (PPA)</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lang="en-SG"/>
                    </a:p>
                  </a:txBody>
                  <a:tcPr/>
                </a:tc>
                <a:tc>
                  <a:txBody>
                    <a:bodyPr/>
                    <a:lstStyle/>
                    <a:p>
                      <a:pPr algn="ctr">
                        <a:spcAft>
                          <a:spcPts val="50"/>
                        </a:spcAft>
                      </a:pPr>
                      <a:r>
                        <a:rPr lang="en-US" sz="800" dirty="0">
                          <a:solidFill>
                            <a:schemeClr val="tx1"/>
                          </a:solidFill>
                          <a:latin typeface="+mn-lt"/>
                        </a:rPr>
                        <a:t>8</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50"/>
                        </a:spcAft>
                        <a:buClrTx/>
                        <a:buSzTx/>
                        <a:buFontTx/>
                        <a:buNone/>
                        <a:tabLst/>
                        <a:defRPr/>
                      </a:pPr>
                      <a:r>
                        <a:rPr lang="en-SG" sz="800" dirty="0">
                          <a:latin typeface="+mn-lt"/>
                          <a:cs typeface="Arial" panose="020B0604020202020204" pitchFamily="34" charset="0"/>
                        </a:rPr>
                        <a:t>Once the feasibility study and project agreements are approved and secured, all approvals and agreements can be sent to the Electricity Power Trading Company (EPTC) / Electricity of Vietnam (EVN) so that  a PPA with EVN can be signed with a binding contract for the feed-in-tariff price.</a:t>
                      </a: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583502">
                <a:tc>
                  <a:txBody>
                    <a:bodyPr/>
                    <a:lstStyle/>
                    <a:p>
                      <a:pPr algn="ctr">
                        <a:spcAft>
                          <a:spcPts val="50"/>
                        </a:spcAft>
                      </a:pPr>
                      <a:r>
                        <a:rPr lang="en-US" sz="800" dirty="0">
                          <a:solidFill>
                            <a:schemeClr val="tx1"/>
                          </a:solidFill>
                          <a:latin typeface="+mn-lt"/>
                        </a:rPr>
                        <a:t>9. Land Clearance</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spcAft>
                          <a:spcPts val="50"/>
                        </a:spcAft>
                      </a:pPr>
                      <a:r>
                        <a:rPr lang="en-US" sz="800" dirty="0">
                          <a:solidFill>
                            <a:schemeClr val="tx1"/>
                          </a:solidFill>
                          <a:latin typeface="+mn-lt"/>
                        </a:rPr>
                        <a:t>10. Land Lease</a:t>
                      </a:r>
                      <a:r>
                        <a:rPr lang="en-US" sz="800" baseline="0" dirty="0">
                          <a:solidFill>
                            <a:schemeClr val="tx1"/>
                          </a:solidFill>
                          <a:latin typeface="+mn-lt"/>
                        </a:rPr>
                        <a:t> Agreement / Land Use Right</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spcAft>
                          <a:spcPts val="50"/>
                        </a:spcAft>
                      </a:pPr>
                      <a:r>
                        <a:rPr lang="en-US" sz="800" dirty="0">
                          <a:solidFill>
                            <a:schemeClr val="tx1"/>
                          </a:solidFill>
                          <a:latin typeface="+mn-lt"/>
                        </a:rPr>
                        <a:t>9</a:t>
                      </a:r>
                    </a:p>
                    <a:p>
                      <a:pPr algn="ctr">
                        <a:spcAft>
                          <a:spcPts val="50"/>
                        </a:spcAft>
                      </a:pPr>
                      <a:endParaRPr lang="en-US" sz="800" dirty="0">
                        <a:solidFill>
                          <a:schemeClr val="tx1"/>
                        </a:solidFill>
                        <a:latin typeface="+mn-lt"/>
                      </a:endParaRPr>
                    </a:p>
                    <a:p>
                      <a:pPr algn="ctr">
                        <a:spcAft>
                          <a:spcPts val="50"/>
                        </a:spcAft>
                      </a:pPr>
                      <a:r>
                        <a:rPr lang="en-US" sz="800" dirty="0">
                          <a:solidFill>
                            <a:schemeClr val="tx1"/>
                          </a:solidFill>
                          <a:latin typeface="+mn-lt"/>
                        </a:rPr>
                        <a:t>10</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50"/>
                        </a:spcAft>
                        <a:buClrTx/>
                        <a:buSzTx/>
                        <a:buFontTx/>
                        <a:buNone/>
                        <a:tabLst/>
                        <a:defRPr/>
                      </a:pPr>
                      <a:r>
                        <a:rPr lang="en-SG" sz="800" dirty="0">
                          <a:latin typeface="+mn-lt"/>
                          <a:cs typeface="Arial" panose="020B0604020202020204" pitchFamily="34" charset="0"/>
                        </a:rPr>
                        <a:t>The developer coordinates with the Communal PC to generate a land compensation and resettlement plan and submit this to the DONRE for review. Final approval will be given by the Provincial PC. </a:t>
                      </a:r>
                    </a:p>
                    <a:p>
                      <a:pPr marL="0" marR="0" lvl="0" indent="0" algn="l" defTabSz="914400" rtl="0" eaLnBrk="1" fontAlgn="auto" latinLnBrk="0" hangingPunct="1">
                        <a:lnSpc>
                          <a:spcPct val="100000"/>
                        </a:lnSpc>
                        <a:spcBef>
                          <a:spcPts val="0"/>
                        </a:spcBef>
                        <a:spcAft>
                          <a:spcPts val="50"/>
                        </a:spcAft>
                        <a:buClrTx/>
                        <a:buSzTx/>
                        <a:buFontTx/>
                        <a:buNone/>
                        <a:tabLst/>
                        <a:defRPr/>
                      </a:pPr>
                      <a:r>
                        <a:rPr lang="en-SG" sz="800" dirty="0">
                          <a:latin typeface="+mn-lt"/>
                          <a:cs typeface="Arial" panose="020B0604020202020204" pitchFamily="34" charset="0"/>
                        </a:rPr>
                        <a:t>Once the land clearance process is complete and any issues with resettlement are cleared, the developer will obtain the Land Use Right Certificate from the Provincial PC. </a:t>
                      </a: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310574">
                <a:tc gridSpan="2">
                  <a:txBody>
                    <a:bodyPr/>
                    <a:lstStyle/>
                    <a:p>
                      <a:pPr algn="ctr">
                        <a:spcAft>
                          <a:spcPts val="50"/>
                        </a:spcAft>
                      </a:pPr>
                      <a:r>
                        <a:rPr lang="en-US" sz="800" dirty="0">
                          <a:solidFill>
                            <a:schemeClr val="tx1"/>
                          </a:solidFill>
                          <a:latin typeface="+mn-lt"/>
                        </a:rPr>
                        <a:t>11. Approval on Construction</a:t>
                      </a:r>
                      <a:r>
                        <a:rPr lang="en-US" sz="800" baseline="0" dirty="0">
                          <a:solidFill>
                            <a:schemeClr val="tx1"/>
                          </a:solidFill>
                          <a:latin typeface="+mn-lt"/>
                        </a:rPr>
                        <a:t> Design</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en-SG"/>
                    </a:p>
                  </a:txBody>
                  <a:tcPr/>
                </a:tc>
                <a:tc>
                  <a:txBody>
                    <a:bodyPr/>
                    <a:lstStyle/>
                    <a:p>
                      <a:pPr algn="ctr">
                        <a:spcAft>
                          <a:spcPts val="50"/>
                        </a:spcAft>
                      </a:pPr>
                      <a:r>
                        <a:rPr lang="en-US" sz="800" dirty="0">
                          <a:solidFill>
                            <a:schemeClr val="tx1"/>
                          </a:solidFill>
                          <a:latin typeface="+mn-lt"/>
                        </a:rPr>
                        <a:t>11</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50"/>
                        </a:spcAft>
                        <a:buClrTx/>
                        <a:buSzTx/>
                        <a:buFontTx/>
                        <a:buNone/>
                        <a:tabLst/>
                        <a:defRPr/>
                      </a:pPr>
                      <a:r>
                        <a:rPr lang="en-SG" sz="800" dirty="0">
                          <a:latin typeface="+mn-lt"/>
                          <a:cs typeface="Arial" panose="020B0604020202020204" pitchFamily="34" charset="0"/>
                        </a:rPr>
                        <a:t>In parallel, a detailed technical design needs to be submitted to MOIT/DOIT for approval in preparation for project implementation. </a:t>
                      </a: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310574">
                <a:tc gridSpan="2">
                  <a:txBody>
                    <a:bodyPr/>
                    <a:lstStyle/>
                    <a:p>
                      <a:pPr algn="ctr">
                        <a:spcAft>
                          <a:spcPts val="50"/>
                        </a:spcAft>
                      </a:pPr>
                      <a:r>
                        <a:rPr lang="en-US" sz="800" dirty="0">
                          <a:solidFill>
                            <a:schemeClr val="tx1"/>
                          </a:solidFill>
                          <a:latin typeface="+mn-lt"/>
                        </a:rPr>
                        <a:t>12. Construction Permit</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en-SG"/>
                    </a:p>
                  </a:txBody>
                  <a:tcPr/>
                </a:tc>
                <a:tc>
                  <a:txBody>
                    <a:bodyPr/>
                    <a:lstStyle/>
                    <a:p>
                      <a:pPr algn="ctr">
                        <a:spcAft>
                          <a:spcPts val="50"/>
                        </a:spcAft>
                      </a:pPr>
                      <a:r>
                        <a:rPr lang="en-US" sz="800" dirty="0">
                          <a:solidFill>
                            <a:schemeClr val="tx1"/>
                          </a:solidFill>
                          <a:latin typeface="+mn-lt"/>
                        </a:rPr>
                        <a:t>12</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50"/>
                        </a:spcAft>
                        <a:buClrTx/>
                        <a:buSzTx/>
                        <a:buFontTx/>
                        <a:buNone/>
                        <a:tabLst/>
                        <a:defRPr/>
                      </a:pPr>
                      <a:r>
                        <a:rPr lang="en-SG" sz="800" dirty="0">
                          <a:latin typeface="+mn-lt"/>
                          <a:cs typeface="Arial" panose="020B0604020202020204" pitchFamily="34" charset="0"/>
                        </a:rPr>
                        <a:t>The developer should submit the project specifications of the project to the Department of Construction (DOC) to receive a construction permit allowing for construction to begin.</a:t>
                      </a: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310574">
                <a:tc gridSpan="2">
                  <a:txBody>
                    <a:bodyPr/>
                    <a:lstStyle/>
                    <a:p>
                      <a:pPr algn="ctr">
                        <a:spcAft>
                          <a:spcPts val="50"/>
                        </a:spcAft>
                      </a:pPr>
                      <a:r>
                        <a:rPr lang="en-US" sz="800" dirty="0">
                          <a:solidFill>
                            <a:schemeClr val="tx1"/>
                          </a:solidFill>
                          <a:latin typeface="+mn-lt"/>
                        </a:rPr>
                        <a:t>13. Electricity </a:t>
                      </a:r>
                      <a:r>
                        <a:rPr lang="en-US" sz="800" dirty="0" err="1">
                          <a:solidFill>
                            <a:schemeClr val="tx1"/>
                          </a:solidFill>
                          <a:latin typeface="+mn-lt"/>
                        </a:rPr>
                        <a:t>Licence</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endParaRPr lang="en-SG"/>
                    </a:p>
                  </a:txBody>
                  <a:tcPr/>
                </a:tc>
                <a:tc>
                  <a:txBody>
                    <a:bodyPr/>
                    <a:lstStyle/>
                    <a:p>
                      <a:pPr algn="ctr">
                        <a:spcAft>
                          <a:spcPts val="50"/>
                        </a:spcAft>
                      </a:pPr>
                      <a:r>
                        <a:rPr lang="en-US" sz="800" dirty="0">
                          <a:solidFill>
                            <a:schemeClr val="tx1"/>
                          </a:solidFill>
                          <a:latin typeface="+mn-lt"/>
                        </a:rPr>
                        <a:t>13</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50"/>
                        </a:spcAft>
                        <a:buClrTx/>
                        <a:buSzTx/>
                        <a:buFontTx/>
                        <a:buNone/>
                        <a:tabLst/>
                        <a:defRPr/>
                      </a:pPr>
                      <a:r>
                        <a:rPr lang="en-SG" sz="800" dirty="0">
                          <a:latin typeface="+mn-lt"/>
                          <a:cs typeface="Arial" panose="020B0604020202020204" pitchFamily="34" charset="0"/>
                        </a:rPr>
                        <a:t>In order to operate in electricity sector, the developer needs to obtain Electricity License from MOIT/ Electricity Regulatory Authority/Provincial PC </a:t>
                      </a: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197638">
                <a:tc gridSpan="2">
                  <a:txBody>
                    <a:bodyPr/>
                    <a:lstStyle/>
                    <a:p>
                      <a:pPr algn="ctr">
                        <a:spcAft>
                          <a:spcPts val="50"/>
                        </a:spcAft>
                      </a:pPr>
                      <a:r>
                        <a:rPr lang="en-US" sz="800" dirty="0">
                          <a:solidFill>
                            <a:schemeClr val="tx1"/>
                          </a:solidFill>
                          <a:latin typeface="+mn-lt"/>
                        </a:rPr>
                        <a:t>14. COD</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endParaRPr lang="en-SG"/>
                    </a:p>
                  </a:txBody>
                  <a:tcPr/>
                </a:tc>
                <a:tc>
                  <a:txBody>
                    <a:bodyPr/>
                    <a:lstStyle/>
                    <a:p>
                      <a:pPr algn="ctr">
                        <a:spcAft>
                          <a:spcPts val="50"/>
                        </a:spcAft>
                      </a:pPr>
                      <a:r>
                        <a:rPr lang="en-US" sz="800" dirty="0">
                          <a:solidFill>
                            <a:schemeClr val="tx1"/>
                          </a:solidFill>
                          <a:latin typeface="+mn-lt"/>
                        </a:rPr>
                        <a:t>14</a:t>
                      </a:r>
                      <a:endParaRPr lang="en-SG" sz="800" dirty="0">
                        <a:solidFill>
                          <a:schemeClr val="tx1"/>
                        </a:solidFill>
                        <a:latin typeface="+mn-lt"/>
                      </a:endParaRPr>
                    </a:p>
                  </a:txBody>
                  <a:tcPr anchor="ctr">
                    <a:lnL w="28575"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spcAft>
                          <a:spcPts val="50"/>
                        </a:spcAft>
                      </a:pPr>
                      <a:r>
                        <a:rPr lang="en-SG" sz="800" dirty="0">
                          <a:solidFill>
                            <a:schemeClr val="tx1"/>
                          </a:solidFill>
                          <a:latin typeface="+mn-lt"/>
                        </a:rPr>
                        <a:t>The project is ready to commence operation</a:t>
                      </a: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bl>
          </a:graphicData>
        </a:graphic>
      </p:graphicFrame>
      <p:sp>
        <p:nvSpPr>
          <p:cNvPr id="46" name="TextBox 45"/>
          <p:cNvSpPr txBox="1"/>
          <p:nvPr/>
        </p:nvSpPr>
        <p:spPr>
          <a:xfrm>
            <a:off x="381405" y="3013200"/>
            <a:ext cx="914400" cy="247108"/>
          </a:xfrm>
          <a:prstGeom prst="rect">
            <a:avLst/>
          </a:prstGeom>
          <a:noFill/>
        </p:spPr>
        <p:txBody>
          <a:bodyPr wrap="none" lIns="54610" tIns="54610" rIns="54610" bIns="54610" rtlCol="0">
            <a:noAutofit/>
          </a:bodyPr>
          <a:lstStyle/>
          <a:p>
            <a:pPr algn="ctr">
              <a:spcAft>
                <a:spcPts val="600"/>
              </a:spcAft>
            </a:pPr>
            <a:r>
              <a:rPr lang="en-US" sz="1000" b="1" dirty="0">
                <a:solidFill>
                  <a:schemeClr val="tx2"/>
                </a:solidFill>
              </a:rPr>
              <a:t>Preparation</a:t>
            </a:r>
            <a:endParaRPr lang="en-SG" sz="1000" b="1" dirty="0" err="1">
              <a:solidFill>
                <a:schemeClr val="tx2"/>
              </a:solidFill>
            </a:endParaRPr>
          </a:p>
        </p:txBody>
      </p:sp>
      <p:sp>
        <p:nvSpPr>
          <p:cNvPr id="47" name="TextBox 46"/>
          <p:cNvSpPr txBox="1"/>
          <p:nvPr/>
        </p:nvSpPr>
        <p:spPr>
          <a:xfrm>
            <a:off x="381405" y="5228883"/>
            <a:ext cx="914400" cy="247108"/>
          </a:xfrm>
          <a:prstGeom prst="rect">
            <a:avLst/>
          </a:prstGeom>
          <a:noFill/>
        </p:spPr>
        <p:txBody>
          <a:bodyPr wrap="none" lIns="54610" tIns="54610" rIns="54610" bIns="54610" rtlCol="0">
            <a:noAutofit/>
          </a:bodyPr>
          <a:lstStyle/>
          <a:p>
            <a:pPr algn="ctr">
              <a:spcAft>
                <a:spcPts val="600"/>
              </a:spcAft>
            </a:pPr>
            <a:r>
              <a:rPr lang="en-US" sz="1000" b="1" dirty="0">
                <a:solidFill>
                  <a:srgbClr val="C6007E"/>
                </a:solidFill>
              </a:rPr>
              <a:t>Construction</a:t>
            </a:r>
            <a:endParaRPr lang="en-SG" sz="1000" b="1" dirty="0" err="1">
              <a:solidFill>
                <a:srgbClr val="C6007E"/>
              </a:solidFill>
            </a:endParaRPr>
          </a:p>
        </p:txBody>
      </p:sp>
      <p:sp>
        <p:nvSpPr>
          <p:cNvPr id="48" name="TextBox 47"/>
          <p:cNvSpPr txBox="1"/>
          <p:nvPr/>
        </p:nvSpPr>
        <p:spPr>
          <a:xfrm>
            <a:off x="381405" y="6084124"/>
            <a:ext cx="914400" cy="247108"/>
          </a:xfrm>
          <a:prstGeom prst="rect">
            <a:avLst/>
          </a:prstGeom>
          <a:noFill/>
        </p:spPr>
        <p:txBody>
          <a:bodyPr wrap="none" lIns="54610" tIns="54610" rIns="54610" bIns="54610" rtlCol="0">
            <a:noAutofit/>
          </a:bodyPr>
          <a:lstStyle/>
          <a:p>
            <a:pPr algn="ctr">
              <a:spcAft>
                <a:spcPts val="600"/>
              </a:spcAft>
            </a:pPr>
            <a:r>
              <a:rPr lang="en-US" sz="1000" b="1" dirty="0">
                <a:solidFill>
                  <a:schemeClr val="accent4"/>
                </a:solidFill>
              </a:rPr>
              <a:t>Operation</a:t>
            </a:r>
            <a:endParaRPr lang="en-SG" sz="1000" b="1" dirty="0" err="1">
              <a:solidFill>
                <a:schemeClr val="accent4"/>
              </a:solidFill>
            </a:endParaRPr>
          </a:p>
        </p:txBody>
      </p:sp>
      <p:sp>
        <p:nvSpPr>
          <p:cNvPr id="49" name="Freeform 118"/>
          <p:cNvSpPr>
            <a:spLocks noChangeAspect="1" noEditPoints="1"/>
          </p:cNvSpPr>
          <p:nvPr/>
        </p:nvSpPr>
        <p:spPr bwMode="auto">
          <a:xfrm>
            <a:off x="646838" y="5753342"/>
            <a:ext cx="383534" cy="383534"/>
          </a:xfrm>
          <a:custGeom>
            <a:avLst/>
            <a:gdLst>
              <a:gd name="T0" fmla="*/ 393 w 400"/>
              <a:gd name="T1" fmla="*/ 162 h 400"/>
              <a:gd name="T2" fmla="*/ 335 w 400"/>
              <a:gd name="T3" fmla="*/ 130 h 400"/>
              <a:gd name="T4" fmla="*/ 362 w 400"/>
              <a:gd name="T5" fmla="*/ 94 h 400"/>
              <a:gd name="T6" fmla="*/ 362 w 400"/>
              <a:gd name="T7" fmla="*/ 82 h 400"/>
              <a:gd name="T8" fmla="*/ 313 w 400"/>
              <a:gd name="T9" fmla="*/ 35 h 400"/>
              <a:gd name="T10" fmla="*/ 269 w 400"/>
              <a:gd name="T11" fmla="*/ 65 h 400"/>
              <a:gd name="T12" fmla="*/ 239 w 400"/>
              <a:gd name="T13" fmla="*/ 8 h 400"/>
              <a:gd name="T14" fmla="*/ 229 w 400"/>
              <a:gd name="T15" fmla="*/ 0 h 400"/>
              <a:gd name="T16" fmla="*/ 162 w 400"/>
              <a:gd name="T17" fmla="*/ 7 h 400"/>
              <a:gd name="T18" fmla="*/ 131 w 400"/>
              <a:gd name="T19" fmla="*/ 66 h 400"/>
              <a:gd name="T20" fmla="*/ 88 w 400"/>
              <a:gd name="T21" fmla="*/ 35 h 400"/>
              <a:gd name="T22" fmla="*/ 38 w 400"/>
              <a:gd name="T23" fmla="*/ 82 h 400"/>
              <a:gd name="T24" fmla="*/ 38 w 400"/>
              <a:gd name="T25" fmla="*/ 94 h 400"/>
              <a:gd name="T26" fmla="*/ 56 w 400"/>
              <a:gd name="T27" fmla="*/ 154 h 400"/>
              <a:gd name="T28" fmla="*/ 2 w 400"/>
              <a:gd name="T29" fmla="*/ 165 h 400"/>
              <a:gd name="T30" fmla="*/ 0 w 400"/>
              <a:gd name="T31" fmla="*/ 229 h 400"/>
              <a:gd name="T32" fmla="*/ 8 w 400"/>
              <a:gd name="T33" fmla="*/ 238 h 400"/>
              <a:gd name="T34" fmla="*/ 66 w 400"/>
              <a:gd name="T35" fmla="*/ 271 h 400"/>
              <a:gd name="T36" fmla="*/ 39 w 400"/>
              <a:gd name="T37" fmla="*/ 307 h 400"/>
              <a:gd name="T38" fmla="*/ 38 w 400"/>
              <a:gd name="T39" fmla="*/ 319 h 400"/>
              <a:gd name="T40" fmla="*/ 88 w 400"/>
              <a:gd name="T41" fmla="*/ 365 h 400"/>
              <a:gd name="T42" fmla="*/ 131 w 400"/>
              <a:gd name="T43" fmla="*/ 335 h 400"/>
              <a:gd name="T44" fmla="*/ 162 w 400"/>
              <a:gd name="T45" fmla="*/ 393 h 400"/>
              <a:gd name="T46" fmla="*/ 171 w 400"/>
              <a:gd name="T47" fmla="*/ 400 h 400"/>
              <a:gd name="T48" fmla="*/ 239 w 400"/>
              <a:gd name="T49" fmla="*/ 393 h 400"/>
              <a:gd name="T50" fmla="*/ 270 w 400"/>
              <a:gd name="T51" fmla="*/ 335 h 400"/>
              <a:gd name="T52" fmla="*/ 313 w 400"/>
              <a:gd name="T53" fmla="*/ 365 h 400"/>
              <a:gd name="T54" fmla="*/ 363 w 400"/>
              <a:gd name="T55" fmla="*/ 319 h 400"/>
              <a:gd name="T56" fmla="*/ 363 w 400"/>
              <a:gd name="T57" fmla="*/ 306 h 400"/>
              <a:gd name="T58" fmla="*/ 345 w 400"/>
              <a:gd name="T59" fmla="*/ 246 h 400"/>
              <a:gd name="T60" fmla="*/ 398 w 400"/>
              <a:gd name="T61" fmla="*/ 236 h 400"/>
              <a:gd name="T62" fmla="*/ 400 w 400"/>
              <a:gd name="T63" fmla="*/ 172 h 400"/>
              <a:gd name="T64" fmla="*/ 247 w 400"/>
              <a:gd name="T65" fmla="*/ 247 h 400"/>
              <a:gd name="T66" fmla="*/ 153 w 400"/>
              <a:gd name="T67" fmla="*/ 247 h 400"/>
              <a:gd name="T68" fmla="*/ 153 w 400"/>
              <a:gd name="T69" fmla="*/ 153 h 400"/>
              <a:gd name="T70" fmla="*/ 247 w 400"/>
              <a:gd name="T71" fmla="*/ 153 h 400"/>
              <a:gd name="T72" fmla="*/ 247 w 400"/>
              <a:gd name="T73" fmla="*/ 247 h 400"/>
              <a:gd name="T74" fmla="*/ 247 w 400"/>
              <a:gd name="T75" fmla="*/ 2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00" h="400">
                <a:moveTo>
                  <a:pt x="398" y="166"/>
                </a:moveTo>
                <a:cubicBezTo>
                  <a:pt x="397" y="164"/>
                  <a:pt x="395" y="163"/>
                  <a:pt x="393" y="162"/>
                </a:cubicBezTo>
                <a:cubicBezTo>
                  <a:pt x="345" y="155"/>
                  <a:pt x="345" y="155"/>
                  <a:pt x="345" y="155"/>
                </a:cubicBezTo>
                <a:cubicBezTo>
                  <a:pt x="343" y="147"/>
                  <a:pt x="339" y="138"/>
                  <a:pt x="335" y="130"/>
                </a:cubicBezTo>
                <a:cubicBezTo>
                  <a:pt x="338" y="125"/>
                  <a:pt x="342" y="119"/>
                  <a:pt x="349" y="111"/>
                </a:cubicBezTo>
                <a:cubicBezTo>
                  <a:pt x="355" y="103"/>
                  <a:pt x="359" y="97"/>
                  <a:pt x="362" y="94"/>
                </a:cubicBezTo>
                <a:cubicBezTo>
                  <a:pt x="363" y="92"/>
                  <a:pt x="364" y="90"/>
                  <a:pt x="364" y="88"/>
                </a:cubicBezTo>
                <a:cubicBezTo>
                  <a:pt x="364" y="85"/>
                  <a:pt x="363" y="84"/>
                  <a:pt x="362" y="82"/>
                </a:cubicBezTo>
                <a:cubicBezTo>
                  <a:pt x="356" y="73"/>
                  <a:pt x="342" y="58"/>
                  <a:pt x="319" y="38"/>
                </a:cubicBezTo>
                <a:cubicBezTo>
                  <a:pt x="317" y="36"/>
                  <a:pt x="315" y="35"/>
                  <a:pt x="313" y="35"/>
                </a:cubicBezTo>
                <a:cubicBezTo>
                  <a:pt x="310" y="35"/>
                  <a:pt x="308" y="36"/>
                  <a:pt x="306" y="38"/>
                </a:cubicBezTo>
                <a:cubicBezTo>
                  <a:pt x="269" y="65"/>
                  <a:pt x="269" y="65"/>
                  <a:pt x="269" y="65"/>
                </a:cubicBezTo>
                <a:cubicBezTo>
                  <a:pt x="262" y="62"/>
                  <a:pt x="254" y="59"/>
                  <a:pt x="246" y="56"/>
                </a:cubicBezTo>
                <a:cubicBezTo>
                  <a:pt x="239" y="8"/>
                  <a:pt x="239" y="8"/>
                  <a:pt x="239" y="8"/>
                </a:cubicBezTo>
                <a:cubicBezTo>
                  <a:pt x="238" y="6"/>
                  <a:pt x="237" y="4"/>
                  <a:pt x="236" y="2"/>
                </a:cubicBezTo>
                <a:cubicBezTo>
                  <a:pt x="234" y="1"/>
                  <a:pt x="232" y="0"/>
                  <a:pt x="229" y="0"/>
                </a:cubicBezTo>
                <a:cubicBezTo>
                  <a:pt x="171" y="0"/>
                  <a:pt x="171" y="0"/>
                  <a:pt x="171" y="0"/>
                </a:cubicBezTo>
                <a:cubicBezTo>
                  <a:pt x="166" y="0"/>
                  <a:pt x="163" y="2"/>
                  <a:pt x="162" y="7"/>
                </a:cubicBezTo>
                <a:cubicBezTo>
                  <a:pt x="160" y="16"/>
                  <a:pt x="157" y="32"/>
                  <a:pt x="154" y="56"/>
                </a:cubicBezTo>
                <a:cubicBezTo>
                  <a:pt x="146" y="58"/>
                  <a:pt x="138" y="62"/>
                  <a:pt x="131" y="66"/>
                </a:cubicBezTo>
                <a:cubicBezTo>
                  <a:pt x="95" y="38"/>
                  <a:pt x="95" y="38"/>
                  <a:pt x="95" y="38"/>
                </a:cubicBezTo>
                <a:cubicBezTo>
                  <a:pt x="92" y="36"/>
                  <a:pt x="90" y="35"/>
                  <a:pt x="88" y="35"/>
                </a:cubicBezTo>
                <a:cubicBezTo>
                  <a:pt x="84" y="35"/>
                  <a:pt x="76" y="41"/>
                  <a:pt x="63" y="54"/>
                </a:cubicBezTo>
                <a:cubicBezTo>
                  <a:pt x="51" y="66"/>
                  <a:pt x="42" y="76"/>
                  <a:pt x="38" y="82"/>
                </a:cubicBezTo>
                <a:cubicBezTo>
                  <a:pt x="36" y="84"/>
                  <a:pt x="35" y="86"/>
                  <a:pt x="35" y="88"/>
                </a:cubicBezTo>
                <a:cubicBezTo>
                  <a:pt x="35" y="90"/>
                  <a:pt x="36" y="92"/>
                  <a:pt x="38" y="94"/>
                </a:cubicBezTo>
                <a:cubicBezTo>
                  <a:pt x="49" y="108"/>
                  <a:pt x="59" y="120"/>
                  <a:pt x="66" y="130"/>
                </a:cubicBezTo>
                <a:cubicBezTo>
                  <a:pt x="61" y="138"/>
                  <a:pt x="58" y="146"/>
                  <a:pt x="56" y="154"/>
                </a:cubicBezTo>
                <a:cubicBezTo>
                  <a:pt x="7" y="161"/>
                  <a:pt x="7" y="161"/>
                  <a:pt x="7" y="161"/>
                </a:cubicBezTo>
                <a:cubicBezTo>
                  <a:pt x="5" y="162"/>
                  <a:pt x="3" y="163"/>
                  <a:pt x="2" y="165"/>
                </a:cubicBezTo>
                <a:cubicBezTo>
                  <a:pt x="1" y="167"/>
                  <a:pt x="0" y="169"/>
                  <a:pt x="0" y="171"/>
                </a:cubicBezTo>
                <a:cubicBezTo>
                  <a:pt x="0" y="229"/>
                  <a:pt x="0" y="229"/>
                  <a:pt x="0" y="229"/>
                </a:cubicBezTo>
                <a:cubicBezTo>
                  <a:pt x="0" y="231"/>
                  <a:pt x="1" y="233"/>
                  <a:pt x="2" y="235"/>
                </a:cubicBezTo>
                <a:cubicBezTo>
                  <a:pt x="3" y="237"/>
                  <a:pt x="5" y="238"/>
                  <a:pt x="8" y="238"/>
                </a:cubicBezTo>
                <a:cubicBezTo>
                  <a:pt x="55" y="245"/>
                  <a:pt x="55" y="245"/>
                  <a:pt x="55" y="245"/>
                </a:cubicBezTo>
                <a:cubicBezTo>
                  <a:pt x="58" y="254"/>
                  <a:pt x="61" y="262"/>
                  <a:pt x="66" y="271"/>
                </a:cubicBezTo>
                <a:cubicBezTo>
                  <a:pt x="63" y="275"/>
                  <a:pt x="58" y="281"/>
                  <a:pt x="52" y="289"/>
                </a:cubicBezTo>
                <a:cubicBezTo>
                  <a:pt x="46" y="297"/>
                  <a:pt x="41" y="303"/>
                  <a:pt x="39" y="307"/>
                </a:cubicBezTo>
                <a:cubicBezTo>
                  <a:pt x="37" y="309"/>
                  <a:pt x="37" y="310"/>
                  <a:pt x="37" y="313"/>
                </a:cubicBezTo>
                <a:cubicBezTo>
                  <a:pt x="37" y="315"/>
                  <a:pt x="37" y="317"/>
                  <a:pt x="38" y="319"/>
                </a:cubicBezTo>
                <a:cubicBezTo>
                  <a:pt x="45" y="328"/>
                  <a:pt x="59" y="343"/>
                  <a:pt x="81" y="362"/>
                </a:cubicBezTo>
                <a:cubicBezTo>
                  <a:pt x="83" y="364"/>
                  <a:pt x="85" y="365"/>
                  <a:pt x="88" y="365"/>
                </a:cubicBezTo>
                <a:cubicBezTo>
                  <a:pt x="90" y="365"/>
                  <a:pt x="93" y="364"/>
                  <a:pt x="94" y="363"/>
                </a:cubicBezTo>
                <a:cubicBezTo>
                  <a:pt x="131" y="335"/>
                  <a:pt x="131" y="335"/>
                  <a:pt x="131" y="335"/>
                </a:cubicBezTo>
                <a:cubicBezTo>
                  <a:pt x="138" y="339"/>
                  <a:pt x="146" y="342"/>
                  <a:pt x="155" y="345"/>
                </a:cubicBezTo>
                <a:cubicBezTo>
                  <a:pt x="162" y="393"/>
                  <a:pt x="162" y="393"/>
                  <a:pt x="162" y="393"/>
                </a:cubicBezTo>
                <a:cubicBezTo>
                  <a:pt x="162" y="395"/>
                  <a:pt x="163" y="397"/>
                  <a:pt x="165" y="398"/>
                </a:cubicBezTo>
                <a:cubicBezTo>
                  <a:pt x="167" y="400"/>
                  <a:pt x="169" y="400"/>
                  <a:pt x="171" y="400"/>
                </a:cubicBezTo>
                <a:cubicBezTo>
                  <a:pt x="229" y="400"/>
                  <a:pt x="229" y="400"/>
                  <a:pt x="229" y="400"/>
                </a:cubicBezTo>
                <a:cubicBezTo>
                  <a:pt x="234" y="400"/>
                  <a:pt x="237" y="398"/>
                  <a:pt x="239" y="393"/>
                </a:cubicBezTo>
                <a:cubicBezTo>
                  <a:pt x="241" y="384"/>
                  <a:pt x="243" y="368"/>
                  <a:pt x="246" y="345"/>
                </a:cubicBezTo>
                <a:cubicBezTo>
                  <a:pt x="254" y="342"/>
                  <a:pt x="262" y="339"/>
                  <a:pt x="270" y="335"/>
                </a:cubicBezTo>
                <a:cubicBezTo>
                  <a:pt x="306" y="363"/>
                  <a:pt x="306" y="363"/>
                  <a:pt x="306" y="363"/>
                </a:cubicBezTo>
                <a:cubicBezTo>
                  <a:pt x="308" y="364"/>
                  <a:pt x="311" y="365"/>
                  <a:pt x="313" y="365"/>
                </a:cubicBezTo>
                <a:cubicBezTo>
                  <a:pt x="316" y="365"/>
                  <a:pt x="325" y="359"/>
                  <a:pt x="337" y="347"/>
                </a:cubicBezTo>
                <a:cubicBezTo>
                  <a:pt x="350" y="334"/>
                  <a:pt x="358" y="325"/>
                  <a:pt x="363" y="319"/>
                </a:cubicBezTo>
                <a:cubicBezTo>
                  <a:pt x="364" y="317"/>
                  <a:pt x="365" y="315"/>
                  <a:pt x="365" y="313"/>
                </a:cubicBezTo>
                <a:cubicBezTo>
                  <a:pt x="365" y="310"/>
                  <a:pt x="364" y="308"/>
                  <a:pt x="363" y="306"/>
                </a:cubicBezTo>
                <a:cubicBezTo>
                  <a:pt x="350" y="291"/>
                  <a:pt x="341" y="279"/>
                  <a:pt x="335" y="270"/>
                </a:cubicBezTo>
                <a:cubicBezTo>
                  <a:pt x="338" y="264"/>
                  <a:pt x="342" y="256"/>
                  <a:pt x="345" y="246"/>
                </a:cubicBezTo>
                <a:cubicBezTo>
                  <a:pt x="393" y="239"/>
                  <a:pt x="393" y="239"/>
                  <a:pt x="393" y="239"/>
                </a:cubicBezTo>
                <a:cubicBezTo>
                  <a:pt x="395" y="239"/>
                  <a:pt x="397" y="238"/>
                  <a:pt x="398" y="236"/>
                </a:cubicBezTo>
                <a:cubicBezTo>
                  <a:pt x="400" y="234"/>
                  <a:pt x="400" y="232"/>
                  <a:pt x="400" y="230"/>
                </a:cubicBezTo>
                <a:cubicBezTo>
                  <a:pt x="400" y="172"/>
                  <a:pt x="400" y="172"/>
                  <a:pt x="400" y="172"/>
                </a:cubicBezTo>
                <a:cubicBezTo>
                  <a:pt x="400" y="170"/>
                  <a:pt x="400" y="168"/>
                  <a:pt x="398" y="166"/>
                </a:cubicBezTo>
                <a:close/>
                <a:moveTo>
                  <a:pt x="247" y="247"/>
                </a:moveTo>
                <a:cubicBezTo>
                  <a:pt x="234" y="260"/>
                  <a:pt x="219" y="267"/>
                  <a:pt x="200" y="267"/>
                </a:cubicBezTo>
                <a:cubicBezTo>
                  <a:pt x="182" y="267"/>
                  <a:pt x="166" y="260"/>
                  <a:pt x="153" y="247"/>
                </a:cubicBezTo>
                <a:cubicBezTo>
                  <a:pt x="140" y="234"/>
                  <a:pt x="133" y="219"/>
                  <a:pt x="133" y="200"/>
                </a:cubicBezTo>
                <a:cubicBezTo>
                  <a:pt x="133" y="182"/>
                  <a:pt x="140" y="166"/>
                  <a:pt x="153" y="153"/>
                </a:cubicBezTo>
                <a:cubicBezTo>
                  <a:pt x="166" y="140"/>
                  <a:pt x="182" y="133"/>
                  <a:pt x="200" y="133"/>
                </a:cubicBezTo>
                <a:cubicBezTo>
                  <a:pt x="219" y="133"/>
                  <a:pt x="234" y="140"/>
                  <a:pt x="247" y="153"/>
                </a:cubicBezTo>
                <a:cubicBezTo>
                  <a:pt x="260" y="166"/>
                  <a:pt x="267" y="182"/>
                  <a:pt x="267" y="200"/>
                </a:cubicBezTo>
                <a:cubicBezTo>
                  <a:pt x="267" y="219"/>
                  <a:pt x="260" y="234"/>
                  <a:pt x="247" y="247"/>
                </a:cubicBezTo>
                <a:close/>
                <a:moveTo>
                  <a:pt x="247" y="247"/>
                </a:moveTo>
                <a:cubicBezTo>
                  <a:pt x="247" y="247"/>
                  <a:pt x="247" y="247"/>
                  <a:pt x="247" y="247"/>
                </a:cubicBezTo>
              </a:path>
            </a:pathLst>
          </a:custGeom>
          <a:solidFill>
            <a:schemeClr val="accent4"/>
          </a:solidFill>
          <a:ln>
            <a:noFill/>
          </a:ln>
        </p:spPr>
        <p:txBody>
          <a:bodyPr vert="horz" wrap="square" lIns="121928" tIns="60964" rIns="121928" bIns="60964" numCol="1" anchor="t" anchorCtr="0" compatLnSpc="1">
            <a:prstTxWarp prst="textNoShape">
              <a:avLst/>
            </a:prstTxWarp>
          </a:bodyPr>
          <a:lstStyle/>
          <a:p>
            <a:endParaRPr lang="en-US" sz="6400"/>
          </a:p>
        </p:txBody>
      </p:sp>
      <p:sp>
        <p:nvSpPr>
          <p:cNvPr id="16" name="TextBox 15">
            <a:extLst>
              <a:ext uri="{FF2B5EF4-FFF2-40B4-BE49-F238E27FC236}">
                <a16:creationId xmlns:a16="http://schemas.microsoft.com/office/drawing/2014/main" id="{90E6CD91-998D-4360-8721-685F6F115B0A}"/>
              </a:ext>
            </a:extLst>
          </p:cNvPr>
          <p:cNvSpPr txBox="1"/>
          <p:nvPr/>
        </p:nvSpPr>
        <p:spPr>
          <a:xfrm>
            <a:off x="7455717" y="99286"/>
            <a:ext cx="2297883" cy="305452"/>
          </a:xfrm>
          <a:prstGeom prst="rect">
            <a:avLst/>
          </a:prstGeom>
          <a:solidFill>
            <a:srgbClr val="FFFF00"/>
          </a:solidFill>
        </p:spPr>
        <p:txBody>
          <a:bodyPr wrap="square" lIns="54610" tIns="54610" rIns="54610" bIns="54610" rtlCol="0">
            <a:noAutofit/>
          </a:bodyPr>
          <a:lstStyle/>
          <a:p>
            <a:pPr algn="ctr">
              <a:spcAft>
                <a:spcPts val="600"/>
              </a:spcAft>
            </a:pPr>
            <a:r>
              <a:rPr lang="en-US" sz="1200" b="1" dirty="0">
                <a:solidFill>
                  <a:srgbClr val="FF0000"/>
                </a:solidFill>
              </a:rPr>
              <a:t>Outline option 2</a:t>
            </a:r>
            <a:endParaRPr lang="en-SG" sz="1200" b="1" dirty="0" err="1">
              <a:solidFill>
                <a:srgbClr val="FF0000"/>
              </a:solidFill>
            </a:endParaRPr>
          </a:p>
        </p:txBody>
      </p:sp>
    </p:spTree>
    <p:extLst>
      <p:ext uri="{BB962C8B-B14F-4D97-AF65-F5344CB8AC3E}">
        <p14:creationId xmlns:p14="http://schemas.microsoft.com/office/powerpoint/2010/main" val="2299752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rPr lang="en-US" b="0" dirty="0"/>
              <a:t>Current Vietnam regulations is generally open for foreign investor, especially in power sector since Vietnam is in need of significant capital for power source development. As of now, there is no documents specifying limitation of foreign ownership in the renewable energy sector. Foreign investors can might own up to 100 percent of equity in power projects in practice.</a:t>
            </a:r>
          </a:p>
          <a:p>
            <a:r>
              <a:rPr lang="en-US" b="0" dirty="0"/>
              <a:t>Pursuant to Vietnamese regulations, the electricity generation in Vietnam is a conditional business activity. Decree 137/2013/ ND-CP (“Decree 137”), amended by Decree 08/2018/ND-CP (guiding the Law of electricity and the Law on amending the Law on electricity), provide general conditions to be met by organizations that are power generators.</a:t>
            </a:r>
          </a:p>
          <a:p>
            <a:r>
              <a:rPr lang="en-US" b="0" dirty="0"/>
              <a:t>Even though the current regulation does not specify the minimum investment capital in this industry, in practice, the local authorities may have their own requirement. The authorities will also assess the paid-up capital of the foreign investor to determine if it would be feasible to carry out the power project.</a:t>
            </a:r>
          </a:p>
          <a:p>
            <a:r>
              <a:rPr lang="en-US" b="0" dirty="0"/>
              <a:t>The competent authorities will generally not make a decision on whether the proposed total investment capital is sufficient.  They may comment on the total investment capital based on guidance from the </a:t>
            </a:r>
            <a:r>
              <a:rPr lang="en-US" b="0" dirty="0" err="1"/>
              <a:t>MoIT</a:t>
            </a:r>
            <a:r>
              <a:rPr lang="en-US" b="0" dirty="0"/>
              <a:t>. The </a:t>
            </a:r>
            <a:r>
              <a:rPr lang="en-US" b="0" dirty="0" err="1"/>
              <a:t>MoIT</a:t>
            </a:r>
            <a:r>
              <a:rPr lang="en-US" b="0" dirty="0"/>
              <a:t> does not publish official guidelines as to a minimum capital commitment per megawatt of power generation, but in our experience, it appears to be between USD 600,000 and USD 1,000,000 per megawatt, consisting of both equity and debt.</a:t>
            </a:r>
          </a:p>
          <a:p>
            <a:r>
              <a:rPr lang="en-US" b="0" dirty="0"/>
              <a:t>The licensing authority (usually the DPI) will review the proposed capital structure before granting an IRC to the Investor.  If the authorities believe the paid up equity is inadequate, they will be reluctant to issue the IRC and further discussions and negotiations may be required. Final approval is depended on the licensing authorities.</a:t>
            </a:r>
          </a:p>
          <a:p>
            <a:endParaRPr lang="en-US" b="0" dirty="0"/>
          </a:p>
        </p:txBody>
      </p:sp>
      <p:sp>
        <p:nvSpPr>
          <p:cNvPr id="5" name="Text Placeholder 4">
            <a:extLst>
              <a:ext uri="{FF2B5EF4-FFF2-40B4-BE49-F238E27FC236}">
                <a16:creationId xmlns:a16="http://schemas.microsoft.com/office/drawing/2014/main" id="{9BA6D4DB-8B38-4385-8D0F-372CA81EB960}"/>
              </a:ext>
            </a:extLst>
          </p:cNvPr>
          <p:cNvSpPr>
            <a:spLocks noGrp="1"/>
          </p:cNvSpPr>
          <p:nvPr>
            <p:ph type="body" sz="quarter" idx="11"/>
          </p:nvPr>
        </p:nvSpPr>
        <p:spPr/>
        <p:txBody>
          <a:bodyPr/>
          <a:lstStyle/>
          <a:p>
            <a:endParaRPr lang="en-AU" b="0" dirty="0"/>
          </a:p>
        </p:txBody>
      </p:sp>
      <p:sp>
        <p:nvSpPr>
          <p:cNvPr id="2" name="Title 1"/>
          <p:cNvSpPr>
            <a:spLocks noGrp="1"/>
          </p:cNvSpPr>
          <p:nvPr>
            <p:ph type="title"/>
          </p:nvPr>
        </p:nvSpPr>
        <p:spPr/>
        <p:txBody>
          <a:bodyPr/>
          <a:lstStyle/>
          <a:p>
            <a:r>
              <a:rPr lang="en-US" dirty="0"/>
              <a:t>Foreign investment restriction</a:t>
            </a:r>
            <a:endParaRPr lang="en-SG" dirty="0"/>
          </a:p>
        </p:txBody>
      </p:sp>
      <p:sp>
        <p:nvSpPr>
          <p:cNvPr id="6" name="Text Placeholder 5">
            <a:extLst>
              <a:ext uri="{FF2B5EF4-FFF2-40B4-BE49-F238E27FC236}">
                <a16:creationId xmlns:a16="http://schemas.microsoft.com/office/drawing/2014/main" id="{33F55BE1-1723-49DE-8440-2EA1F0D6EB21}"/>
              </a:ext>
            </a:extLst>
          </p:cNvPr>
          <p:cNvSpPr>
            <a:spLocks noGrp="1"/>
          </p:cNvSpPr>
          <p:nvPr>
            <p:ph type="body" sz="quarter" idx="12"/>
          </p:nvPr>
        </p:nvSpPr>
        <p:spPr/>
        <p:txBody>
          <a:bodyPr/>
          <a:lstStyle/>
          <a:p>
            <a:r>
              <a:rPr lang="en-AU" dirty="0"/>
              <a:t>Policy &amp; Regulatory Structure</a:t>
            </a:r>
          </a:p>
        </p:txBody>
      </p:sp>
    </p:spTree>
    <p:extLst>
      <p:ext uri="{BB962C8B-B14F-4D97-AF65-F5344CB8AC3E}">
        <p14:creationId xmlns:p14="http://schemas.microsoft.com/office/powerpoint/2010/main" val="3488253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rPr lang="en-SG" dirty="0"/>
              <a:t>Law change protection</a:t>
            </a:r>
          </a:p>
          <a:p>
            <a:r>
              <a:rPr lang="en-US" b="0" dirty="0"/>
              <a:t>Due to the current status of Vietnamese economy development, the Vietnamese tax policies, laws and regulations are known to be frequently changed.</a:t>
            </a:r>
          </a:p>
          <a:p>
            <a:r>
              <a:rPr lang="en-US" b="0" dirty="0"/>
              <a:t>Where a new legal instrument issued by a competent State agency contains provisions changing the investment incentives which are being applied to an investor prior to the effective date of such legal instrument, the investor shall be guaranteed for implementation of the investment incentives pursuant to Article 13, Law on Investment.</a:t>
            </a:r>
          </a:p>
          <a:p>
            <a:r>
              <a:rPr lang="en-US" b="0" dirty="0"/>
              <a:t>The investment incentives prescribed in the investment </a:t>
            </a:r>
            <a:r>
              <a:rPr lang="en-US" b="0" dirty="0" err="1"/>
              <a:t>licence</a:t>
            </a:r>
            <a:r>
              <a:rPr lang="en-US" b="0" dirty="0"/>
              <a:t>, business </a:t>
            </a:r>
            <a:r>
              <a:rPr lang="en-US" b="0" dirty="0" err="1"/>
              <a:t>licence</a:t>
            </a:r>
            <a:r>
              <a:rPr lang="en-US" b="0" dirty="0"/>
              <a:t>, investment incentive certificate, investment certificate, IRC, investment policy decision or other document of a competent State agency.</a:t>
            </a:r>
          </a:p>
          <a:p>
            <a:endParaRPr lang="en-US" b="0" dirty="0"/>
          </a:p>
          <a:p>
            <a:endParaRPr lang="en-AU" b="0" dirty="0"/>
          </a:p>
        </p:txBody>
      </p:sp>
      <p:sp>
        <p:nvSpPr>
          <p:cNvPr id="5" name="Text Placeholder 4">
            <a:extLst>
              <a:ext uri="{FF2B5EF4-FFF2-40B4-BE49-F238E27FC236}">
                <a16:creationId xmlns:a16="http://schemas.microsoft.com/office/drawing/2014/main" id="{2AB1BDDD-C5C4-4A7D-8209-82EF1E36A6AB}"/>
              </a:ext>
            </a:extLst>
          </p:cNvPr>
          <p:cNvSpPr>
            <a:spLocks noGrp="1"/>
          </p:cNvSpPr>
          <p:nvPr>
            <p:ph type="body" sz="quarter" idx="11"/>
          </p:nvPr>
        </p:nvSpPr>
        <p:spPr/>
        <p:txBody>
          <a:bodyPr/>
          <a:lstStyle/>
          <a:p>
            <a:r>
              <a:rPr lang="en-AU" dirty="0"/>
              <a:t>Import duty </a:t>
            </a:r>
            <a:r>
              <a:rPr lang="en-US" dirty="0"/>
              <a:t>exemption</a:t>
            </a:r>
            <a:endParaRPr lang="en-AU" dirty="0"/>
          </a:p>
          <a:p>
            <a:pPr marL="171450" indent="-171450">
              <a:buFont typeface="Wingdings" panose="05000000000000000000" pitchFamily="2" charset="2"/>
              <a:buChar char="§"/>
            </a:pPr>
            <a:r>
              <a:rPr lang="en-US" b="0" dirty="0"/>
              <a:t>Import duty exemption for machinery, equipment, and construction material contributing to the fixed assets of the Project.</a:t>
            </a:r>
          </a:p>
          <a:p>
            <a:pPr marL="171450" indent="-171450">
              <a:buFont typeface="Wingdings" panose="05000000000000000000" pitchFamily="2" charset="2"/>
              <a:buChar char="§"/>
            </a:pPr>
            <a:r>
              <a:rPr lang="en-US" b="0" dirty="0"/>
              <a:t>Import duty exemption for tools, materials which can not be produced domestically within 5 years from the 1</a:t>
            </a:r>
            <a:r>
              <a:rPr lang="en-US" b="0" baseline="30000" dirty="0"/>
              <a:t>st</a:t>
            </a:r>
            <a:r>
              <a:rPr lang="en-US" b="0" dirty="0"/>
              <a:t> operating year of the Project.</a:t>
            </a:r>
          </a:p>
          <a:p>
            <a:endParaRPr lang="en-AU" b="0" dirty="0"/>
          </a:p>
          <a:p>
            <a:r>
              <a:rPr lang="en-US" dirty="0"/>
              <a:t>Applicable CIT incentive for a renewable project</a:t>
            </a:r>
          </a:p>
          <a:p>
            <a:pPr marL="171450" indent="-171450">
              <a:buFont typeface="Wingdings" panose="05000000000000000000" pitchFamily="2" charset="2"/>
              <a:buChar char="§"/>
            </a:pPr>
            <a:r>
              <a:rPr lang="en-US" b="0" dirty="0"/>
              <a:t>CIT rate: 10% for 15 years from the first year of income generation;</a:t>
            </a:r>
          </a:p>
          <a:p>
            <a:pPr marL="171450" indent="-171450">
              <a:buFont typeface="Wingdings" panose="05000000000000000000" pitchFamily="2" charset="2"/>
              <a:buChar char="§"/>
            </a:pPr>
            <a:r>
              <a:rPr lang="en-US" b="0" dirty="0"/>
              <a:t>CIT exemption: 4 years (from the 1st years having taxable income or the 4th years of income generation if the first 3 operating years have no taxable income);</a:t>
            </a:r>
          </a:p>
          <a:p>
            <a:pPr marL="171450" indent="-171450">
              <a:buFont typeface="Wingdings" panose="05000000000000000000" pitchFamily="2" charset="2"/>
              <a:buChar char="§"/>
            </a:pPr>
            <a:r>
              <a:rPr lang="en-US" b="0" dirty="0"/>
              <a:t>CIT reduction: 50% reduction for 9 years after the exemption period;</a:t>
            </a:r>
          </a:p>
          <a:p>
            <a:r>
              <a:rPr lang="en-US" b="0" dirty="0"/>
              <a:t>There may be possibility to extend period for 10% CIT if the Project Company qualifies the conditions to be socialized company. </a:t>
            </a:r>
          </a:p>
          <a:p>
            <a:endParaRPr lang="en-AU" b="0" dirty="0"/>
          </a:p>
          <a:p>
            <a:r>
              <a:rPr lang="en-AU" dirty="0"/>
              <a:t>Land lease 	</a:t>
            </a:r>
          </a:p>
          <a:p>
            <a:pPr marL="171450" indent="-171450">
              <a:buFont typeface="Wingdings" panose="05000000000000000000" pitchFamily="2" charset="2"/>
              <a:buChar char="§"/>
            </a:pPr>
            <a:r>
              <a:rPr lang="en-US" b="0" dirty="0"/>
              <a:t>Depending on the project location, land rental fee can be exempted between (</a:t>
            </a:r>
            <a:r>
              <a:rPr lang="en-US" b="0" dirty="0" err="1"/>
              <a:t>i</a:t>
            </a:r>
            <a:r>
              <a:rPr lang="en-US" b="0" dirty="0"/>
              <a:t>) the first 11 years after a 3 years construction and investment phase, up to (ii) the whole life of the project.</a:t>
            </a:r>
            <a:endParaRPr lang="en-AU" b="0" dirty="0"/>
          </a:p>
          <a:p>
            <a:endParaRPr lang="en-AU" b="0" dirty="0"/>
          </a:p>
        </p:txBody>
      </p:sp>
      <p:sp>
        <p:nvSpPr>
          <p:cNvPr id="2" name="Title 1"/>
          <p:cNvSpPr>
            <a:spLocks noGrp="1"/>
          </p:cNvSpPr>
          <p:nvPr>
            <p:ph type="title"/>
          </p:nvPr>
        </p:nvSpPr>
        <p:spPr/>
        <p:txBody>
          <a:bodyPr/>
          <a:lstStyle/>
          <a:p>
            <a:r>
              <a:rPr lang="en-US" dirty="0"/>
              <a:t>Other relevant regulatory issues (2/2)</a:t>
            </a:r>
            <a:endParaRPr lang="en-SG" dirty="0"/>
          </a:p>
        </p:txBody>
      </p:sp>
      <p:sp>
        <p:nvSpPr>
          <p:cNvPr id="6" name="Text Placeholder 5">
            <a:extLst>
              <a:ext uri="{FF2B5EF4-FFF2-40B4-BE49-F238E27FC236}">
                <a16:creationId xmlns:a16="http://schemas.microsoft.com/office/drawing/2014/main" id="{984F95E2-2170-4DEB-9DEA-61706436ACDD}"/>
              </a:ext>
            </a:extLst>
          </p:cNvPr>
          <p:cNvSpPr>
            <a:spLocks noGrp="1"/>
          </p:cNvSpPr>
          <p:nvPr>
            <p:ph type="body" sz="quarter" idx="12"/>
          </p:nvPr>
        </p:nvSpPr>
        <p:spPr/>
        <p:txBody>
          <a:bodyPr/>
          <a:lstStyle/>
          <a:p>
            <a:r>
              <a:rPr lang="en-AU" dirty="0"/>
              <a:t>Policy &amp; Regulatory Structure</a:t>
            </a:r>
          </a:p>
        </p:txBody>
      </p:sp>
    </p:spTree>
    <p:extLst>
      <p:ext uri="{BB962C8B-B14F-4D97-AF65-F5344CB8AC3E}">
        <p14:creationId xmlns:p14="http://schemas.microsoft.com/office/powerpoint/2010/main" val="1056265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rPr lang="en-US" dirty="0"/>
              <a:t>Debt-to-equity requirements and thin capitalization</a:t>
            </a:r>
          </a:p>
          <a:p>
            <a:r>
              <a:rPr lang="en-US" b="0" dirty="0"/>
              <a:t>In the Law on Land, Investors that rent land or are granted a LUR by the government are subject to minimum equity levels:</a:t>
            </a:r>
            <a:endParaRPr lang="en-AU" b="0" dirty="0"/>
          </a:p>
          <a:p>
            <a:pPr marL="171450" lvl="0" indent="-171450">
              <a:buFont typeface="Wingdings" panose="05000000000000000000" pitchFamily="2" charset="2"/>
              <a:buChar char="§"/>
            </a:pPr>
            <a:r>
              <a:rPr lang="en-US" b="0" dirty="0"/>
              <a:t>The minimum equity is 20% of the total investment capital where a Project uses less than 20 hectares of land.</a:t>
            </a:r>
            <a:endParaRPr lang="en-AU" b="0" dirty="0"/>
          </a:p>
          <a:p>
            <a:pPr marL="171450" lvl="0" indent="-171450">
              <a:buFont typeface="Wingdings" panose="05000000000000000000" pitchFamily="2" charset="2"/>
              <a:buChar char="§"/>
            </a:pPr>
            <a:r>
              <a:rPr lang="en-US" b="0" dirty="0"/>
              <a:t>The minimum equity is 15% of total investment capital where a Project uses 20 hectares of land or more.</a:t>
            </a:r>
            <a:endParaRPr lang="en-AU" b="0" dirty="0"/>
          </a:p>
          <a:p>
            <a:r>
              <a:rPr lang="en-US" b="0" dirty="0"/>
              <a:t>Additionally, in Circular 16/2017/TT-BCT issued by the </a:t>
            </a:r>
            <a:r>
              <a:rPr lang="en-US" b="0" dirty="0" err="1"/>
              <a:t>MoIT</a:t>
            </a:r>
            <a:r>
              <a:rPr lang="en-US" b="0" dirty="0"/>
              <a:t>, the minimum equity for solar projects is 20% of the total investment capital. The new Circular 02/2019/TT-BTC on wind project does not mention the minimum equity for wind projects. </a:t>
            </a:r>
          </a:p>
          <a:p>
            <a:r>
              <a:rPr lang="en-US" b="0" dirty="0"/>
              <a:t>In practice, authorities still consider the minimum equity of 20% for both wind and solar project application.</a:t>
            </a:r>
          </a:p>
          <a:p>
            <a:r>
              <a:rPr lang="en-US" b="0" dirty="0"/>
              <a:t>.</a:t>
            </a:r>
            <a:endParaRPr lang="en-AU" b="0" dirty="0"/>
          </a:p>
        </p:txBody>
      </p:sp>
      <p:sp>
        <p:nvSpPr>
          <p:cNvPr id="5" name="Text Placeholder 4">
            <a:extLst>
              <a:ext uri="{FF2B5EF4-FFF2-40B4-BE49-F238E27FC236}">
                <a16:creationId xmlns:a16="http://schemas.microsoft.com/office/drawing/2014/main" id="{2AB1BDDD-C5C4-4A7D-8209-82EF1E36A6AB}"/>
              </a:ext>
            </a:extLst>
          </p:cNvPr>
          <p:cNvSpPr>
            <a:spLocks noGrp="1"/>
          </p:cNvSpPr>
          <p:nvPr>
            <p:ph type="body" sz="quarter" idx="11"/>
          </p:nvPr>
        </p:nvSpPr>
        <p:spPr/>
        <p:txBody>
          <a:bodyPr/>
          <a:lstStyle/>
          <a:p>
            <a:r>
              <a:rPr lang="en-AU" dirty="0"/>
              <a:t>Income repatriation</a:t>
            </a:r>
          </a:p>
          <a:p>
            <a:r>
              <a:rPr lang="en-US" b="0" dirty="0"/>
              <a:t>The Law on Investment permits foreign investors to remit profit derived from business activities in Vietnam.</a:t>
            </a:r>
          </a:p>
          <a:p>
            <a:r>
              <a:rPr lang="en-US" b="0" dirty="0"/>
              <a:t>A Vietnamese company owned by a non-resident investor is permitted to purchase foreign currency for profit repatriation purposes.</a:t>
            </a:r>
          </a:p>
          <a:p>
            <a:r>
              <a:rPr lang="en-US" b="0" dirty="0"/>
              <a:t>Foreign exchange transactions are governed by State Bank of Vietnam regulations and apply to all Vietnamese persons. There is no special rules or regulations for a renewable energy project.</a:t>
            </a:r>
          </a:p>
          <a:p>
            <a:r>
              <a:rPr lang="en-US" b="0" dirty="0"/>
              <a:t>Your financial institution may require evidence that the Project Company filed and paid its corporate income taxes before proceeding with a profit remittance overseas.</a:t>
            </a:r>
          </a:p>
          <a:p>
            <a:r>
              <a:rPr lang="en-US" b="0" dirty="0"/>
              <a:t>After tax profit may be distributed as a dividend without additional withholding tax.</a:t>
            </a:r>
          </a:p>
          <a:p>
            <a:r>
              <a:rPr lang="en-AU" dirty="0"/>
              <a:t>Currency conversion</a:t>
            </a:r>
          </a:p>
          <a:p>
            <a:r>
              <a:rPr lang="en-US" b="0" dirty="0"/>
              <a:t>As noted above, foreign investors are generally allowed to purchase foreign currency for profit repatriation purposes. However, there is currently no legal mechanism for foreign investors to guarantee that local credit institutes will maintain sufficient foreign currency for profit repatriation purposes at any given time.</a:t>
            </a:r>
          </a:p>
          <a:p>
            <a:r>
              <a:rPr lang="en-US" b="0" dirty="0"/>
              <a:t>In practice, per our observation, there is no difficulty in term of purchasing foreign currency for profit repatriation purposes for the last 10 years.</a:t>
            </a:r>
          </a:p>
          <a:p>
            <a:endParaRPr lang="en-US" b="0" dirty="0"/>
          </a:p>
          <a:p>
            <a:endParaRPr lang="en-US" dirty="0"/>
          </a:p>
        </p:txBody>
      </p:sp>
      <p:sp>
        <p:nvSpPr>
          <p:cNvPr id="2" name="Title 1"/>
          <p:cNvSpPr>
            <a:spLocks noGrp="1"/>
          </p:cNvSpPr>
          <p:nvPr>
            <p:ph type="title"/>
          </p:nvPr>
        </p:nvSpPr>
        <p:spPr/>
        <p:txBody>
          <a:bodyPr/>
          <a:lstStyle/>
          <a:p>
            <a:r>
              <a:rPr lang="en-US" dirty="0"/>
              <a:t>Other relevant regulatory issues (1/2)</a:t>
            </a:r>
            <a:endParaRPr lang="en-SG" dirty="0"/>
          </a:p>
        </p:txBody>
      </p:sp>
      <p:sp>
        <p:nvSpPr>
          <p:cNvPr id="6" name="Text Placeholder 5">
            <a:extLst>
              <a:ext uri="{FF2B5EF4-FFF2-40B4-BE49-F238E27FC236}">
                <a16:creationId xmlns:a16="http://schemas.microsoft.com/office/drawing/2014/main" id="{984F95E2-2170-4DEB-9DEA-61706436ACDD}"/>
              </a:ext>
            </a:extLst>
          </p:cNvPr>
          <p:cNvSpPr>
            <a:spLocks noGrp="1"/>
          </p:cNvSpPr>
          <p:nvPr>
            <p:ph type="body" sz="quarter" idx="12"/>
          </p:nvPr>
        </p:nvSpPr>
        <p:spPr/>
        <p:txBody>
          <a:bodyPr/>
          <a:lstStyle/>
          <a:p>
            <a:r>
              <a:rPr lang="en-AU" dirty="0"/>
              <a:t>Policy &amp; Regulatory Structure</a:t>
            </a:r>
          </a:p>
        </p:txBody>
      </p:sp>
    </p:spTree>
    <p:extLst>
      <p:ext uri="{BB962C8B-B14F-4D97-AF65-F5344CB8AC3E}">
        <p14:creationId xmlns:p14="http://schemas.microsoft.com/office/powerpoint/2010/main" val="4741152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Report"/>
  <p:tag name="KEYWORD" val="REPORT"/>
  <p:tag name="TEMPLATEVERSION" val="12/02/2016 01:32:30"/>
</p:tagLst>
</file>

<file path=ppt/tags/tag2.xml><?xml version="1.0" encoding="utf-8"?>
<p:tagLst xmlns:a="http://schemas.openxmlformats.org/drawingml/2006/main" xmlns:r="http://schemas.openxmlformats.org/officeDocument/2006/relationships" xmlns:p="http://schemas.openxmlformats.org/presentationml/2006/main">
  <p:tag name="FASFONT" val="Univers55"/>
</p:tagLst>
</file>

<file path=ppt/tags/tag3.xml><?xml version="1.0" encoding="utf-8"?>
<p:tagLst xmlns:a="http://schemas.openxmlformats.org/drawingml/2006/main" xmlns:r="http://schemas.openxmlformats.org/officeDocument/2006/relationships" xmlns:p="http://schemas.openxmlformats.org/presentationml/2006/main">
  <p:tag name="FASFONT" val="Univers55"/>
</p:tagLst>
</file>

<file path=ppt/tags/tag4.xml><?xml version="1.0" encoding="utf-8"?>
<p:tagLst xmlns:a="http://schemas.openxmlformats.org/drawingml/2006/main" xmlns:r="http://schemas.openxmlformats.org/officeDocument/2006/relationships" xmlns:p="http://schemas.openxmlformats.org/presentationml/2006/main">
  <p:tag name="FASFONT" val="Univers55"/>
</p:tagLst>
</file>

<file path=ppt/tags/tag5.xml><?xml version="1.0" encoding="utf-8"?>
<p:tagLst xmlns:a="http://schemas.openxmlformats.org/drawingml/2006/main" xmlns:r="http://schemas.openxmlformats.org/officeDocument/2006/relationships" xmlns:p="http://schemas.openxmlformats.org/presentationml/2006/main">
  <p:tag name="FASFONT" val="Univers55"/>
</p:tagLst>
</file>

<file path=ppt/tags/tag6.xml><?xml version="1.0" encoding="utf-8"?>
<p:tagLst xmlns:a="http://schemas.openxmlformats.org/drawingml/2006/main" xmlns:r="http://schemas.openxmlformats.org/officeDocument/2006/relationships" xmlns:p="http://schemas.openxmlformats.org/presentationml/2006/main">
  <p:tag name="FASFONT" val="Univers55"/>
</p:tagLst>
</file>

<file path=ppt/tags/tag7.xml><?xml version="1.0" encoding="utf-8"?>
<p:tagLst xmlns:a="http://schemas.openxmlformats.org/drawingml/2006/main" xmlns:r="http://schemas.openxmlformats.org/officeDocument/2006/relationships" xmlns:p="http://schemas.openxmlformats.org/presentationml/2006/main">
  <p:tag name="FASFONT" val="Univers55"/>
</p:tagLst>
</file>

<file path=ppt/tags/tag8.xml><?xml version="1.0" encoding="utf-8"?>
<p:tagLst xmlns:a="http://schemas.openxmlformats.org/drawingml/2006/main" xmlns:r="http://schemas.openxmlformats.org/officeDocument/2006/relationships" xmlns:p="http://schemas.openxmlformats.org/presentationml/2006/main">
  <p:tag name="FASFONT" val="Univers55"/>
</p:tagLst>
</file>

<file path=ppt/tags/tag9.xml><?xml version="1.0" encoding="utf-8"?>
<p:tagLst xmlns:a="http://schemas.openxmlformats.org/drawingml/2006/main" xmlns:r="http://schemas.openxmlformats.org/officeDocument/2006/relationships" xmlns:p="http://schemas.openxmlformats.org/presentationml/2006/main">
  <p:tag name="FASFONT" val="Univers55"/>
</p:tagLst>
</file>

<file path=ppt/tags/tag10.xml><?xml version="1.0" encoding="utf-8"?>
<p:tagLst xmlns:a="http://schemas.openxmlformats.org/drawingml/2006/main" xmlns:r="http://schemas.openxmlformats.org/officeDocument/2006/relationships" xmlns:p="http://schemas.openxmlformats.org/presentationml/2006/main">
  <p:tag name="FASFONT" val="Univers55"/>
</p:tagLst>
</file>

<file path=ppt/tags/tag11.xml><?xml version="1.0" encoding="utf-8"?>
<p:tagLst xmlns:a="http://schemas.openxmlformats.org/drawingml/2006/main" xmlns:r="http://schemas.openxmlformats.org/officeDocument/2006/relationships" xmlns:p="http://schemas.openxmlformats.org/presentationml/2006/main">
  <p:tag name="FASFONT" val="Univers55"/>
</p:tagLst>
</file>

<file path=ppt/tags/tag12.xml><?xml version="1.0" encoding="utf-8"?>
<p:tagLst xmlns:a="http://schemas.openxmlformats.org/drawingml/2006/main" xmlns:r="http://schemas.openxmlformats.org/officeDocument/2006/relationships" xmlns:p="http://schemas.openxmlformats.org/presentationml/2006/main">
  <p:tag name="FASFONT" val="Univers55"/>
</p:tagLst>
</file>

<file path=ppt/tags/tag13.xml><?xml version="1.0" encoding="utf-8"?>
<p:tagLst xmlns:a="http://schemas.openxmlformats.org/drawingml/2006/main" xmlns:r="http://schemas.openxmlformats.org/officeDocument/2006/relationships" xmlns:p="http://schemas.openxmlformats.org/presentationml/2006/main">
  <p:tag name="FASFONT" val="Univers55"/>
</p:tagLst>
</file>

<file path=ppt/tags/tag14.xml><?xml version="1.0" encoding="utf-8"?>
<p:tagLst xmlns:a="http://schemas.openxmlformats.org/drawingml/2006/main" xmlns:r="http://schemas.openxmlformats.org/officeDocument/2006/relationships" xmlns:p="http://schemas.openxmlformats.org/presentationml/2006/main">
  <p:tag name="FASFONT" val="Univers55"/>
</p:tagLst>
</file>

<file path=ppt/theme/theme1.xml><?xml version="1.0" encoding="utf-8"?>
<a:theme xmlns:a="http://schemas.openxmlformats.org/drawingml/2006/main" name="KPMG_Report_4x3_050216_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000" tIns="54000" rIns="54000" bIns="54000" rtlCol="0" anchor="ctr"/>
      <a:lstStyle>
        <a:defPPr algn="ctr">
          <a:defRPr sz="9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9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Presentation1" id="{7DE3AB95-3DAA-4166-ADEA-58D32315F205}" vid="{C8834128-B4CD-455C-8F22-EBF003A977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7D393A4D99C844D9A4B971B2D400DEB" ma:contentTypeVersion="12" ma:contentTypeDescription="Create a new document." ma:contentTypeScope="" ma:versionID="3aba055997ffeadd4291d08e12ec2159">
  <xsd:schema xmlns:xsd="http://www.w3.org/2001/XMLSchema" xmlns:xs="http://www.w3.org/2001/XMLSchema" xmlns:p="http://schemas.microsoft.com/office/2006/metadata/properties" xmlns:ns2="bd94fe42-bbdc-4890-86f8-1cce7b488dc1" xmlns:ns3="097e1a6a-fc06-45b2-8873-15e0270064ac" targetNamespace="http://schemas.microsoft.com/office/2006/metadata/properties" ma:root="true" ma:fieldsID="fe45f8cf68b585c69f4c7dd409a58a0b" ns2:_="" ns3:_="">
    <xsd:import namespace="bd94fe42-bbdc-4890-86f8-1cce7b488dc1"/>
    <xsd:import namespace="097e1a6a-fc06-45b2-8873-15e0270064ac"/>
    <xsd:element name="properties">
      <xsd:complexType>
        <xsd:sequence>
          <xsd:element name="documentManagement">
            <xsd:complexType>
              <xsd:all>
                <xsd:element ref="ns2:Industry"/>
                <xsd:element ref="ns2:Taxissue" minOccurs="0"/>
                <xsd:element ref="ns2:PIC"/>
                <xsd:element ref="ns2:MIC"/>
                <xsd:element ref="ns2:MediaServiceMetadata" minOccurs="0"/>
                <xsd:element ref="ns2:MediaServiceFastMetadata" minOccurs="0"/>
                <xsd:element ref="ns2:MediaServiceAutoKeyPoints" minOccurs="0"/>
                <xsd:element ref="ns2:MediaServiceKeyPoints" minOccurs="0"/>
                <xsd:element ref="ns2:Year"/>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94fe42-bbdc-4890-86f8-1cce7b488dc1" elementFormDefault="qualified">
    <xsd:import namespace="http://schemas.microsoft.com/office/2006/documentManagement/types"/>
    <xsd:import namespace="http://schemas.microsoft.com/office/infopath/2007/PartnerControls"/>
    <xsd:element name="Industry" ma:index="8" ma:displayName="Industry" ma:format="RadioButtons" ma:internalName="Industry">
      <xsd:simpleType>
        <xsd:restriction base="dms:Choice">
          <xsd:enumeration value="General"/>
          <xsd:enumeration value="Automotive"/>
          <xsd:enumeration value="Building and Construction"/>
          <xsd:enumeration value="Chemicals"/>
          <xsd:enumeration value="Banking and Capital Markets"/>
          <xsd:enumeration value="Energy"/>
          <xsd:enumeration value="Consumer Markets"/>
          <xsd:enumeration value="Healthcare"/>
          <xsd:enumeration value="Industrial manufacturing"/>
          <xsd:enumeration value="Infrastructure"/>
          <xsd:enumeration value="Insurance"/>
          <xsd:enumeration value="Retail"/>
          <xsd:enumeration value="Technology"/>
          <xsd:enumeration value="Transport and Logistics"/>
          <xsd:enumeration value="Real estate"/>
          <xsd:enumeration value="Goverment and Public Sector"/>
          <xsd:enumeration value="Asset Management"/>
          <xsd:enumeration value="Media"/>
          <xsd:enumeration value="Mining"/>
          <xsd:enumeration value="Telecom"/>
          <xsd:enumeration value="Private Business"/>
          <xsd:enumeration value="Sports"/>
          <xsd:enumeration value="Others"/>
        </xsd:restriction>
      </xsd:simpleType>
    </xsd:element>
    <xsd:element name="Taxissue" ma:index="9" nillable="true" ma:displayName="Technical area" ma:internalName="Taxissue" ma:requiredMultiChoice="true">
      <xsd:complexType>
        <xsd:complexContent>
          <xsd:extension base="dms:MultiChoice">
            <xsd:sequence>
              <xsd:element name="Value" maxOccurs="unbounded" minOccurs="0" nillable="true">
                <xsd:simpleType>
                  <xsd:restriction base="dms:Choice">
                    <xsd:enumeration value="Not specified"/>
                    <xsd:enumeration value="VAT"/>
                    <xsd:enumeration value="CIT"/>
                    <xsd:enumeration value="CAPT"/>
                    <xsd:enumeration value="FCT"/>
                    <xsd:enumeration value="DTA"/>
                    <xsd:enumeration value="IIT"/>
                    <xsd:enumeration value="Customs"/>
                    <xsd:enumeration value="GMS"/>
                    <xsd:enumeration value="Immigration"/>
                  </xsd:restriction>
                </xsd:simpleType>
              </xsd:element>
            </xsd:sequence>
          </xsd:extension>
        </xsd:complexContent>
      </xsd:complexType>
    </xsd:element>
    <xsd:element name="PIC" ma:index="10" ma:displayName="PIC" ma:format="Dropdown" ma:list="UserInfo" ma:SharePointGroup="0" ma:internalName="PIC">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MIC" ma:index="11" ma:displayName="MIC" ma:format="Dropdown" ma:list="UserInfo" ma:SharePointGroup="0" ma:internalName="MIC">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Year" ma:index="16" ma:displayName="Year" ma:format="Dropdown" ma:internalName="Year">
      <xsd:simpleType>
        <xsd:restriction base="dms:Text">
          <xsd:maxLength value="4"/>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7e1a6a-fc06-45b2-8873-15e0270064ac"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IC xmlns="bd94fe42-bbdc-4890-86f8-1cce7b488dc1">
      <UserInfo>
        <DisplayName>Do, Thi Thu Ha</DisplayName>
        <AccountId>107</AccountId>
        <AccountType/>
      </UserInfo>
    </PIC>
    <MIC xmlns="bd94fe42-bbdc-4890-86f8-1cce7b488dc1">
      <UserInfo>
        <DisplayName>Tran, Van Trung</DisplayName>
        <AccountId>131</AccountId>
        <AccountType/>
      </UserInfo>
    </MIC>
    <Taxissue xmlns="bd94fe42-bbdc-4890-86f8-1cce7b488dc1">
      <Value>Not specified</Value>
    </Taxissue>
    <Industry xmlns="bd94fe42-bbdc-4890-86f8-1cce7b488dc1">Energy</Industry>
    <Year xmlns="bd94fe42-bbdc-4890-86f8-1cce7b488dc1">2019</Year>
    <SharedWithUsers xmlns="097e1a6a-fc06-45b2-8873-15e0270064ac">
      <UserInfo>
        <DisplayName>Le, Kim Ngan</DisplayName>
        <AccountId>926</AccountId>
        <AccountType/>
      </UserInfo>
    </SharedWithUsers>
  </documentManagement>
</p:properties>
</file>

<file path=customXml/itemProps1.xml><?xml version="1.0" encoding="utf-8"?>
<ds:datastoreItem xmlns:ds="http://schemas.openxmlformats.org/officeDocument/2006/customXml" ds:itemID="{5257CB16-90CB-4FB8-9873-6BB0177B6242}"/>
</file>

<file path=customXml/itemProps2.xml><?xml version="1.0" encoding="utf-8"?>
<ds:datastoreItem xmlns:ds="http://schemas.openxmlformats.org/officeDocument/2006/customXml" ds:itemID="{09F44D39-B4BD-41B9-8563-F88822B2E840}"/>
</file>

<file path=customXml/itemProps3.xml><?xml version="1.0" encoding="utf-8"?>
<ds:datastoreItem xmlns:ds="http://schemas.openxmlformats.org/officeDocument/2006/customXml" ds:itemID="{7CC1EAB0-C309-4BC9-932E-D54CDB1F2826}"/>
</file>

<file path=docProps/app.xml><?xml version="1.0" encoding="utf-8"?>
<Properties xmlns="http://schemas.openxmlformats.org/officeDocument/2006/extended-properties" xmlns:vt="http://schemas.openxmlformats.org/officeDocument/2006/docPropsVTypes">
  <Template>KPMG Report Standard Template</Template>
  <TotalTime>3075</TotalTime>
  <Words>2525</Words>
  <Application>Microsoft Office PowerPoint</Application>
  <PresentationFormat>A4 Paper (210x297 mm)</PresentationFormat>
  <Paragraphs>171</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KPMG Extralight</vt:lpstr>
      <vt:lpstr>Univers 55</vt:lpstr>
      <vt:lpstr>Wingdings</vt:lpstr>
      <vt:lpstr>KPMG_Report_4x3_050216_2016</vt:lpstr>
      <vt:lpstr>Vietnam Renewable Energy Market Entry Study</vt:lpstr>
      <vt:lpstr>Policy &amp; Regulatory Structure</vt:lpstr>
      <vt:lpstr>Electricity market overview</vt:lpstr>
      <vt:lpstr>Legal framework</vt:lpstr>
      <vt:lpstr>Outline of permit and approval process for solar and wind projects</vt:lpstr>
      <vt:lpstr>Outline of permit and approval process for solar and wind projects</vt:lpstr>
      <vt:lpstr>Foreign investment restriction</vt:lpstr>
      <vt:lpstr>Other relevant regulatory issues (2/2)</vt:lpstr>
      <vt:lpstr>Other relevant regulatory issues (1/2)</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  template</dc:title>
  <dc:creator>Aditya, Michael (SG/Advisory)</dc:creator>
  <cp:lastModifiedBy>Chu, Minh Long</cp:lastModifiedBy>
  <cp:revision>471</cp:revision>
  <dcterms:created xsi:type="dcterms:W3CDTF">2019-07-02T06:09:59Z</dcterms:created>
  <dcterms:modified xsi:type="dcterms:W3CDTF">2021-10-29T03:19:34Z</dcterms:modified>
  <cp:category>KPMG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0x01010027D393A4D99C844D9A4B971B2D400DEB</vt:lpwstr>
  </property>
</Properties>
</file>